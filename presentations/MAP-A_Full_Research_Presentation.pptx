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1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64" r:id="rId10"/>
    <p:sldId id="265" r:id="rId11"/>
  </p:sldIdLst>
  <p:sldSz cx="18288000" cy="10287000"/>
  <p:notesSz cx="6858000" cy="9144000"/>
  <p:embeddedFontLst>
    <p:embeddedFont>
      <p:font typeface="ITC Avant Garde Gothic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19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font" Target="fonts/font1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8B0707"/>
                </a:solidFill>
              </a:rPr>
              <a:t>Population by legislative district, 2020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(2020)</c:v>
                </c:pt>
              </c:strCache>
            </c:strRef>
          </c:tx>
          <c:spPr>
            <a:solidFill>
              <a:srgbClr val="8B0707"/>
            </a:solidFill>
          </c:spPr>
          <c:cat>
            <c:strRef>
              <c:f>Sheet1!$A$2:$A$4</c:f>
              <c:strCache>
                <c:ptCount val="3"/>
                <c:pt idx="0">
                  <c:v>First District</c:v>
                </c:pt>
                <c:pt idx="1">
                  <c:v>Second District</c:v>
                </c:pt>
                <c:pt idx="2">
                  <c:v>Third District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395907</c:v>
                </c:pt>
                <c:pt idx="1">
                  <c:v>477781</c:v>
                </c:pt>
                <c:pt idx="2">
                  <c:v>501080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00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Access within 30 min (%)</c:v>
                </c:pt>
              </c:strCache>
            </c:strRef>
          </c:tx>
          <c:spPr>
            <a:solidFill>
              <a:srgbClr val="C98C8C"/>
            </a:solidFill>
          </c:spPr>
          <c:dPt>
            <c:idx val="13"/>
            <c:spPr>
              <a:solidFill>
                <a:srgbClr val="8B0707"/>
              </a:solidFill>
            </c:spPr>
          </c:dPt>
          <c:dPt>
            <c:idx val="14"/>
            <c:spPr>
              <a:solidFill>
                <a:srgbClr val="8B0707"/>
              </a:solidFill>
            </c:spPr>
          </c:dPt>
          <c:dPt>
            <c:idx val="15"/>
            <c:spPr>
              <a:solidFill>
                <a:srgbClr val="8B0707"/>
              </a:solidFill>
            </c:spPr>
          </c:dPt>
          <c:dPt>
            <c:idx val="16"/>
            <c:spPr>
              <a:solidFill>
                <a:srgbClr val="8B0707"/>
              </a:solidFill>
            </c:spPr>
          </c:dPt>
          <c:dPt>
            <c:idx val="17"/>
            <c:spPr>
              <a:solidFill>
                <a:srgbClr val="8B0707"/>
              </a:solidFill>
            </c:spPr>
          </c:dPt>
          <c:cat>
            <c:strRef>
              <c:f>Sheet1!$A$2:$A$19</c:f>
              <c:strCache>
                <c:ptCount val="18"/>
                <c:pt idx="0">
                  <c:v>Rapu-Rapu</c:v>
                </c:pt>
                <c:pt idx="1">
                  <c:v>Manito</c:v>
                </c:pt>
                <c:pt idx="2">
                  <c:v>Sto. Domingo</c:v>
                </c:pt>
                <c:pt idx="3">
                  <c:v>Bacacay</c:v>
                </c:pt>
                <c:pt idx="4">
                  <c:v>Jovellar</c:v>
                </c:pt>
                <c:pt idx="5">
                  <c:v>Tiwi</c:v>
                </c:pt>
                <c:pt idx="6">
                  <c:v>Pio Duran</c:v>
                </c:pt>
                <c:pt idx="7">
                  <c:v>Libon</c:v>
                </c:pt>
                <c:pt idx="8">
                  <c:v>Malilipot</c:v>
                </c:pt>
                <c:pt idx="9">
                  <c:v>Tabaco City</c:v>
                </c:pt>
                <c:pt idx="10">
                  <c:v>Malinao</c:v>
                </c:pt>
                <c:pt idx="11">
                  <c:v>Guinobatan</c:v>
                </c:pt>
                <c:pt idx="12">
                  <c:v>Oas</c:v>
                </c:pt>
                <c:pt idx="13">
                  <c:v>Polangui</c:v>
                </c:pt>
                <c:pt idx="14">
                  <c:v>Ligao City</c:v>
                </c:pt>
                <c:pt idx="15">
                  <c:v>Camalig</c:v>
                </c:pt>
                <c:pt idx="16">
                  <c:v>Legazpi City</c:v>
                </c:pt>
                <c:pt idx="17">
                  <c:v>Daraga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0.4</c:v>
                </c:pt>
                <c:pt idx="1">
                  <c:v>0.5</c:v>
                </c:pt>
                <c:pt idx="2">
                  <c:v>0.7</c:v>
                </c:pt>
                <c:pt idx="3">
                  <c:v>0.8</c:v>
                </c:pt>
                <c:pt idx="4">
                  <c:v>1</c:v>
                </c:pt>
                <c:pt idx="5">
                  <c:v>1.5</c:v>
                </c:pt>
                <c:pt idx="6">
                  <c:v>1.9</c:v>
                </c:pt>
                <c:pt idx="7">
                  <c:v>8.1</c:v>
                </c:pt>
                <c:pt idx="8">
                  <c:v>13.2</c:v>
                </c:pt>
                <c:pt idx="9">
                  <c:v>13.9</c:v>
                </c:pt>
                <c:pt idx="10">
                  <c:v>14</c:v>
                </c:pt>
                <c:pt idx="11">
                  <c:v>16.9</c:v>
                </c:pt>
                <c:pt idx="12">
                  <c:v>19.5</c:v>
                </c:pt>
                <c:pt idx="13">
                  <c:v>22.3</c:v>
                </c:pt>
                <c:pt idx="14">
                  <c:v>23</c:v>
                </c:pt>
                <c:pt idx="15">
                  <c:v>29</c:v>
                </c:pt>
                <c:pt idx="16">
                  <c:v>48.3</c:v>
                </c:pt>
                <c:pt idx="17">
                  <c:v>50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Gini, from poblacion</c:v>
                </c:pt>
              </c:strCache>
            </c:strRef>
          </c:tx>
          <c:spPr>
            <a:ln w="44450">
              <a:solidFill>
                <a:srgbClr val="8B0707"/>
              </a:solidFill>
            </a:ln>
          </c:spPr>
          <c:marker>
            <c:symbol val="circle"/>
            <c:size val="10"/>
            <c:spPr>
              <a:solidFill>
                <a:srgbClr val="8B0707"/>
              </a:solidFill>
              <a:ln>
                <a:solidFill>
                  <a:srgbClr val="8B0707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15 min</c:v>
                </c:pt>
                <c:pt idx="1">
                  <c:v>30 min</c:v>
                </c:pt>
                <c:pt idx="2">
                  <c:v>45 min</c:v>
                </c:pt>
                <c:pt idx="3">
                  <c:v>60 min</c:v>
                </c:pt>
                <c:pt idx="4">
                  <c:v>90 min</c:v>
                </c:pt>
                <c:pt idx="5">
                  <c:v>120 min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0.601</c:v>
                </c:pt>
                <c:pt idx="1">
                  <c:v>0.431</c:v>
                </c:pt>
                <c:pt idx="2">
                  <c:v>0.364</c:v>
                </c:pt>
                <c:pt idx="3">
                  <c:v>0.313</c:v>
                </c:pt>
                <c:pt idx="4">
                  <c:v>0.19</c:v>
                </c:pt>
                <c:pt idx="5">
                  <c:v>0.103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Gini, from centroid</c:v>
                </c:pt>
              </c:strCache>
            </c:strRef>
          </c:tx>
          <c:spPr>
            <a:ln w="44450">
              <a:solidFill>
                <a:srgbClr val="C8962E"/>
              </a:solidFill>
            </a:ln>
          </c:spPr>
          <c:marker>
            <c:symbol val="circle"/>
            <c:size val="10"/>
            <c:spPr>
              <a:solidFill>
                <a:srgbClr val="C8962E"/>
              </a:solidFill>
              <a:ln>
                <a:solidFill>
                  <a:srgbClr val="C8962E"/>
                </a:solidFill>
              </a:ln>
            </c:spPr>
          </c:marker>
          <c:dLbls>
            <c:numFmt formatCode="0.00" sourceLinked="0"/>
            <c:txPr>
              <a:bodyPr/>
              <a:lstStyle/>
              <a:p>
                <a:pPr>
                  <a:defRPr sz="1400"/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15 min</c:v>
                </c:pt>
                <c:pt idx="1">
                  <c:v>30 min</c:v>
                </c:pt>
                <c:pt idx="2">
                  <c:v>45 min</c:v>
                </c:pt>
                <c:pt idx="3">
                  <c:v>60 min</c:v>
                </c:pt>
                <c:pt idx="4">
                  <c:v>90 min</c:v>
                </c:pt>
                <c:pt idx="5">
                  <c:v>120 min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0.589</c:v>
                </c:pt>
                <c:pt idx="1">
                  <c:v>0.544</c:v>
                </c:pt>
                <c:pt idx="2">
                  <c:v>0.458</c:v>
                </c:pt>
                <c:pt idx="3">
                  <c:v>0.36</c:v>
                </c:pt>
                <c:pt idx="4">
                  <c:v>0.246</c:v>
                </c:pt>
                <c:pt idx="5">
                  <c:v>0.183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14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5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7"/>
          <c:min val="0.0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600"/>
          </a:pPr>
        </a:p>
      </c:txPr>
    </c:legend>
    <c:plotVisOnly val="1"/>
    <c:dispBlanksAs val="gap"/>
    <c:showDLblsOverMax val="0"/>
  </c:chart>
  <c:txPr>
    <a:bodyPr/>
    <a:lstStyle/>
    <a:p>
      <a:pPr>
        <a:defRPr sz="15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day. We present our study, a landmark-anchored timetable-graph model of informal public transport in Albay, with verified accessibility and inequality measures and a hospital routing layer fed by agent-reported bed capacity. Researchers: Brimbuela, De Asis and Shin; adviser: Mr. Dick Anthony M. Calleja, Legazpi City Science High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scene: Albay depends on informal transport that has no published data. Name the three groups who pay for that gap: riders, planners and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gaps, one model. Each card is a problem that the later objectives answer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strands of literature. Read the left column, point to the right column for what we take from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Synthesis: the methods exist separately, but nobody has combined them for informal transport in a Philippine province, with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theories, each anchoring one part of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Input-Process-Output paradigm. Inputs are all public registers; the feedback loop is verification against independent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benefits, and how. Keep it to one sentence per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 objective first, then the six specific objectives. Each specific objective maps to one method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Computational hypotheses, each with a decisive test. A single counter-example rejects H1, H2, H4, H5 and H6.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design and locale. Developmental-computational: specify, implement, verify,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sources. Stress that there are no respondents; each layer traces to a public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stages from open data to the app. Stages 1-3 build data, 4-5 compute access, 6-7 the hospital layer, 8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formulation. Define the graph, the earliest-arrival query and the fare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Accessibility and inequality measures. Cumulative opportunity, then population-weighted Gini, Theil, Palma and Lorenz.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Hospital routing rules. Acuity sets the minimum care level and the ER requirement; payment class filters cost except for acuity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Bed-reporting agents. Five roles, strict contact limits, and a report expires after 12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and data analysis. Each component is checked against independent reference code on synthetic instances before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Ethics, scope and delimitations. No hospital contacted before SRC approval; results are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was built. Coverage figures of the model, version 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results. All six computational hypotheses that admit a counter-example passed on synthetic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Thirty-minute access per LGU. Legazpi and Daraga reach about half of all opportunities; boat- and corridor-dependent towns reach almost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Inequality falls as the time budget grows: H3 supported. The centroid column shows how much of a town's access comes from standing in the poblacion.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Hospital routing findings. The stabilisation rule changes the answer in five places; data gaps are reported as gaps, not as inaccessibility.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MAP-A application. Mention it installs from the browser and works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on each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conclusions, one per gap plus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by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References, APA 7th edition.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References, APA 7th edition.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3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1.png"/><Relationship Id="rId5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8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svg"/><Relationship Id="rId4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Relationship Id="rId4" Type="http://schemas.openxmlformats.org/officeDocument/2006/relationships/chart" Target="../charts/char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Relationship Id="rId4" Type="http://schemas.openxmlformats.org/officeDocument/2006/relationships/chart" Target="../charts/char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11.png"/><Relationship Id="rId7" Type="http://schemas.openxmlformats.org/officeDocument/2006/relationships/image" Target="../media/image35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7.png"/><Relationship Id="rId7" Type="http://schemas.openxmlformats.org/officeDocument/2006/relationships/image" Target="../media/image1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6.png"/><Relationship Id="rId7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5" name="Freeform 5"/>
          <p:cNvSpPr/>
          <p:nvPr/>
        </p:nvSpPr>
        <p:spPr>
          <a:xfrm>
            <a:off x="699585" y="546888"/>
            <a:ext cx="2392319" cy="2426082"/>
          </a:xfrm>
          <a:custGeom>
            <a:avLst/>
            <a:gdLst/>
            <a:ahLst/>
            <a:cxnLst/>
            <a:rect l="l" t="t" r="r" b="b"/>
            <a:pathLst>
              <a:path w="2392319" h="2426082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TextBox 6"/>
          <p:cNvSpPr txBox="1"/>
          <p:nvPr/>
        </p:nvSpPr>
        <p:spPr>
          <a:xfrm>
            <a:off x="1662243" y="2438344"/>
            <a:ext cx="15482757" cy="5724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200" b="1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A Landmark-Anchored Timetable-Graph Model of Informal Public Transport: Verified Computation of Accessibility and Its Inequality from Open Data, with Agent-Reported Hospital Bed Capacity for Ambulance and Patient Routing</a:t>
            </a:r>
          </a:p>
        </p:txBody>
      </p:sp>
      <p:sp>
        <p:nvSpPr>
          <p:cNvPr id="7" name="AutoShape 7"/>
          <p:cNvSpPr/>
          <p:nvPr/>
        </p:nvSpPr>
        <p:spPr>
          <a:xfrm>
            <a:off x="3200400" y="8123027"/>
            <a:ext cx="1164656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 dirty="0"/>
          </a:p>
        </p:txBody>
      </p:sp>
      <p:sp>
        <p:nvSpPr>
          <p:cNvPr id="8" name="AutoShape 8"/>
          <p:cNvSpPr/>
          <p:nvPr/>
        </p:nvSpPr>
        <p:spPr>
          <a:xfrm>
            <a:off x="3200400" y="9791700"/>
            <a:ext cx="1164656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Box 9"/>
          <p:cNvSpPr txBox="1"/>
          <p:nvPr/>
        </p:nvSpPr>
        <p:spPr>
          <a:xfrm>
            <a:off x="4048686" y="8123027"/>
            <a:ext cx="9949987" cy="1676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Brimbuela, Peter John A.</a:t>
            </a:r>
          </a:p>
          <a:p>
            <a:pPr algn="ctr">
              <a:lnSpc>
                <a:spcPts val="4315"/>
              </a:lnSpc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 De Asis, Dave Justin Ll. </a:t>
            </a:r>
          </a:p>
          <a:p>
            <a:pPr algn="ctr">
              <a:lnSpc>
                <a:spcPts val="4315"/>
              </a:lnSpc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Shin, Yeaseong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3216875" y="3089694"/>
            <a:ext cx="11854250" cy="425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QUESTIONS &amp; ANSWERS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691817" y="4031050"/>
            <a:ext cx="12904366" cy="236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5486400" y="7677223"/>
            <a:ext cx="7315200" cy="465513"/>
          </a:xfrm>
          <a:custGeom>
            <a:avLst/>
            <a:gdLst/>
            <a:ahLst/>
            <a:cxnLst/>
            <a:rect l="l" t="t" r="r" b="b"/>
            <a:pathLst>
              <a:path w="7315200" h="465513">
                <a:moveTo>
                  <a:pt x="0" y="0"/>
                </a:moveTo>
                <a:lnTo>
                  <a:pt x="7315200" y="0"/>
                </a:lnTo>
                <a:lnTo>
                  <a:pt x="7315200" y="465513"/>
                </a:lnTo>
                <a:lnTo>
                  <a:pt x="0" y="465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Freeform 6"/>
          <p:cNvSpPr/>
          <p:nvPr/>
        </p:nvSpPr>
        <p:spPr>
          <a:xfrm>
            <a:off x="7534466" y="-2049686"/>
            <a:ext cx="3219068" cy="3219068"/>
          </a:xfrm>
          <a:custGeom>
            <a:avLst/>
            <a:gdLst/>
            <a:ahLst/>
            <a:cxnLst/>
            <a:rect l="l" t="t" r="r" b="b"/>
            <a:pathLst>
              <a:path w="3219068" h="3219068">
                <a:moveTo>
                  <a:pt x="0" y="0"/>
                </a:moveTo>
                <a:lnTo>
                  <a:pt x="3219068" y="0"/>
                </a:lnTo>
                <a:lnTo>
                  <a:pt x="3219068" y="3219068"/>
                </a:lnTo>
                <a:lnTo>
                  <a:pt x="0" y="3219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Freeform 7"/>
          <p:cNvSpPr/>
          <p:nvPr/>
        </p:nvSpPr>
        <p:spPr>
          <a:xfrm>
            <a:off x="-837818" y="7909979"/>
            <a:ext cx="3219068" cy="3219068"/>
          </a:xfrm>
          <a:custGeom>
            <a:avLst/>
            <a:gdLst/>
            <a:ahLst/>
            <a:cxnLst/>
            <a:rect l="l" t="t" r="r" b="b"/>
            <a:pathLst>
              <a:path w="3219068" h="3219068">
                <a:moveTo>
                  <a:pt x="0" y="0"/>
                </a:moveTo>
                <a:lnTo>
                  <a:pt x="3219068" y="0"/>
                </a:lnTo>
                <a:lnTo>
                  <a:pt x="3219068" y="3219069"/>
                </a:lnTo>
                <a:lnTo>
                  <a:pt x="0" y="3219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Background of the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509760" cy="658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49250" indent="-349250">
              <a:lnSpc>
                <a:spcPct val="108000"/>
              </a:lnSpc>
              <a:spcAft>
                <a:spcPts val="1600"/>
              </a:spcAft>
              <a:buClr>
                <a:srgbClr val="8B0707"/>
              </a:buClr>
              <a:buFont typeface="Arial"/>
              <a:buChar char="■"/>
            </a:pPr>
            <a:r>
              <a:rPr sz="2500" b="0" i="0">
                <a:solidFill>
                  <a:srgbClr val="2B2B2B"/>
                </a:solidFill>
                <a:latin typeface="Arial"/>
              </a:rPr>
              <a:t>Albay’s 1.37 million residents move mainly by </a:t>
            </a:r>
            <a:r>
              <a:rPr sz="2500" b="1" i="0">
                <a:solidFill>
                  <a:srgbClr val="2B2B2B"/>
                </a:solidFill>
                <a:latin typeface="Arial"/>
              </a:rPr>
              <a:t>jeepney, UV Express van, bus and tricycle</a:t>
            </a:r>
            <a:r>
              <a:rPr sz="2500" b="0" i="0">
                <a:solidFill>
                  <a:srgbClr val="2B2B2B"/>
                </a:solidFill>
                <a:latin typeface="Arial"/>
              </a:rPr>
              <a:t> — informal services with no published timetables, stop lists or route maps.</a:t>
            </a:r>
          </a:p>
          <a:p>
            <a:pPr algn="l" marL="349250" indent="-349250">
              <a:lnSpc>
                <a:spcPct val="108000"/>
              </a:lnSpc>
              <a:spcAft>
                <a:spcPts val="1600"/>
              </a:spcAft>
              <a:buClr>
                <a:srgbClr val="8B0707"/>
              </a:buClr>
              <a:buFont typeface="Arial"/>
              <a:buChar char="■"/>
            </a:pPr>
            <a:r>
              <a:rPr sz="2500" b="0" i="0">
                <a:solidFill>
                  <a:srgbClr val="2B2B2B"/>
                </a:solidFill>
                <a:latin typeface="Arial"/>
              </a:rPr>
              <a:t>Riders cannot know the route, travel time or legal fare before they ride.</a:t>
            </a:r>
          </a:p>
          <a:p>
            <a:pPr algn="l" marL="349250" indent="-349250">
              <a:lnSpc>
                <a:spcPct val="108000"/>
              </a:lnSpc>
              <a:spcAft>
                <a:spcPts val="1600"/>
              </a:spcAft>
              <a:buClr>
                <a:srgbClr val="8B0707"/>
              </a:buClr>
              <a:buFont typeface="Arial"/>
              <a:buChar char="■"/>
            </a:pPr>
            <a:r>
              <a:rPr sz="2500" b="0" i="0">
                <a:solidFill>
                  <a:srgbClr val="2B2B2B"/>
                </a:solidFill>
                <a:latin typeface="Arial"/>
              </a:rPr>
              <a:t>Planners cannot measure which towns are under-served, or how unevenly access is shared.</a:t>
            </a:r>
          </a:p>
          <a:p>
            <a:pPr algn="l" marL="349250" indent="-349250">
              <a:lnSpc>
                <a:spcPct val="108000"/>
              </a:lnSpc>
              <a:spcAft>
                <a:spcPts val="1600"/>
              </a:spcAft>
              <a:buClr>
                <a:srgbClr val="8B0707"/>
              </a:buClr>
              <a:buFont typeface="Arial"/>
              <a:buChar char="■"/>
            </a:pPr>
            <a:r>
              <a:rPr sz="2500" b="0" i="0">
                <a:solidFill>
                  <a:srgbClr val="2B2B2B"/>
                </a:solidFill>
                <a:latin typeface="Arial"/>
              </a:rPr>
              <a:t>Ambulance crews and families cannot see which hospital still has a </a:t>
            </a:r>
            <a:r>
              <a:rPr sz="2500" b="1" i="0">
                <a:solidFill>
                  <a:srgbClr val="2B2B2B"/>
                </a:solidFill>
                <a:latin typeface="Arial"/>
              </a:rPr>
              <a:t>free bed</a:t>
            </a:r>
            <a:r>
              <a:rPr sz="250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 marL="349250" indent="-349250">
              <a:lnSpc>
                <a:spcPct val="108000"/>
              </a:lnSpc>
              <a:spcAft>
                <a:spcPts val="1600"/>
              </a:spcAft>
              <a:buClr>
                <a:srgbClr val="8B0707"/>
              </a:buClr>
              <a:buFont typeface="Arial"/>
              <a:buChar char="■"/>
            </a:pPr>
            <a:r>
              <a:rPr sz="2500" b="0" i="0">
                <a:solidFill>
                  <a:srgbClr val="2B2B2B"/>
                </a:solidFill>
                <a:latin typeface="Arial"/>
              </a:rPr>
              <a:t>Typhoons and Mayon Volcano alerts make reliable routing for people, relief trucks and ambulances a recurring provincial need.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81360" y="2834640"/>
            <a:ext cx="32004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109960" y="3017520"/>
            <a:ext cx="2743200" cy="151424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400" b="1" i="0">
                <a:solidFill>
                  <a:srgbClr val="8B0707"/>
                </a:solidFill>
                <a:latin typeface="Arial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4594860"/>
            <a:ext cx="2651760" cy="11452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cities and municipalities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356080" y="2834640"/>
            <a:ext cx="32004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584680" y="3017520"/>
            <a:ext cx="2743200" cy="151424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400" b="1" i="0">
                <a:solidFill>
                  <a:srgbClr val="8B0707"/>
                </a:solidFill>
                <a:latin typeface="Arial"/>
              </a:rPr>
              <a:t>720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0" y="4594860"/>
            <a:ext cx="2651760" cy="11452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barangays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81360" y="6263640"/>
            <a:ext cx="32004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2743200" cy="151424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400" b="1" i="0">
                <a:solidFill>
                  <a:srgbClr val="8B0707"/>
                </a:solidFill>
                <a:latin typeface="Arial"/>
              </a:rPr>
              <a:t>1.37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8023860"/>
            <a:ext cx="2651760" cy="11452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residents, 2020 census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356080" y="6263640"/>
            <a:ext cx="32004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584680" y="6446520"/>
            <a:ext cx="2743200" cy="151424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400" b="1" i="0">
                <a:solidFill>
                  <a:srgbClr val="8B0707"/>
                </a:solidFill>
                <a:latin typeface="Arial"/>
              </a:rPr>
              <a:t>1,363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0" y="8023860"/>
            <a:ext cx="2651760" cy="11452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licensed beds in 27 inpatient facilities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9646920"/>
            <a:ext cx="1664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E5E5E"/>
                </a:solidFill>
                <a:latin typeface="Arial"/>
              </a:rPr>
              <a:t>Sources: PSA 2020 Census of Population and Housing; DOH National Health Facility Registry, Region V export.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Statement of the problem: three gaps in the same province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52578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BusAlt"/>
          <p:cNvSpPr/>
          <p:nvPr/>
        </p:nvSpPr>
        <p:spPr>
          <a:xfrm>
            <a:off x="1143000" y="31546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BusAlt" descr="FaBus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83" y="336316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315468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8B0707"/>
                </a:solidFill>
                <a:latin typeface="Arial"/>
              </a:rPr>
              <a:t>No transit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51960"/>
            <a:ext cx="4526280" cy="3383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400" b="0" i="0">
                <a:solidFill>
                  <a:srgbClr val="2B2B2B"/>
                </a:solidFill>
                <a:latin typeface="Arial"/>
              </a:rPr>
              <a:t>Informal routes exist only in drivers’ practice. With no GTFS feed, no journey planner or accessibility study can use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0" y="2834640"/>
            <a:ext cx="52578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BalanceScale"/>
          <p:cNvSpPr/>
          <p:nvPr/>
        </p:nvSpPr>
        <p:spPr>
          <a:xfrm>
            <a:off x="6835140" y="31546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BalanceScale" descr="FaBalanceSca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623" y="3363163"/>
            <a:ext cx="451713" cy="451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8140" y="315468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8B0707"/>
                </a:solidFill>
                <a:latin typeface="Arial"/>
              </a:rPr>
              <a:t>No measure of access or equity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0860" y="4251960"/>
            <a:ext cx="4526280" cy="3383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400" b="0" i="0">
                <a:solidFill>
                  <a:srgbClr val="2B2B2B"/>
                </a:solidFill>
                <a:latin typeface="Arial"/>
              </a:rPr>
              <a:t>No figure says what share of the province’s beds, school seats and jobs each town reaches in 30 minutes, or how unequally that is shared.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07240" y="2834640"/>
            <a:ext cx="52578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Bed"/>
          <p:cNvSpPr/>
          <p:nvPr/>
        </p:nvSpPr>
        <p:spPr>
          <a:xfrm>
            <a:off x="12527280" y="31546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Bed" descr="FaBe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5763" y="3363163"/>
            <a:ext cx="451713" cy="4517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670280" y="315468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8B0707"/>
                </a:solidFill>
                <a:latin typeface="Arial"/>
              </a:rPr>
              <a:t>No live bed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0" y="4251960"/>
            <a:ext cx="4526280" cy="3383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400" b="0" i="0">
                <a:solidFill>
                  <a:srgbClr val="2B2B2B"/>
                </a:solidFill>
                <a:latin typeface="Arial"/>
              </a:rPr>
              <a:t>Registries list licensed beds, not free ones. Patients and crews learn that a ward is full only when they arrive.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8229600"/>
            <a:ext cx="16642080" cy="114300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188720" y="8229600"/>
            <a:ext cx="15910559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This study builds one verified, open-data model that closes all three gaps.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RRL / RRS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Review of related literature and studies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6642080" cy="6272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931920"/>
                <a:gridCol w="5943600"/>
                <a:gridCol w="6766560"/>
              </a:tblGrid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Theme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Key works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What the study takes from 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Accessibility measurement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Hansen (1959); Geurs &amp; van Wee (2004)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Cumulative-opportunity measure of access within a time budget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Timetable routing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Dijkstra (1959); Pyrga et al. (2008); Delling et al. (2015)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Exact earliest-arrival search on a time-expanded graph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Transport equity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Delbosc &amp; Currie (2011); Lucas et al. (2016)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Lorenz curve and Gini coefficient for transit service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Mapping informal transit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Williams et al. (2015), Digital Matatus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Informal paratransit can be written as a GTFS feed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Access to hospital care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Ouma et al. (2018); Weiss et al. (2020)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Travel time to care as a health-system indicator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Philippine context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RA 10932 (2017); DOTr PUVMP (2017); LTFRB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No-deposit emergency rule; legal fare matrix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RRL / RRS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Synthesis and research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7498079" cy="6309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BookOpen"/>
          <p:cNvSpPr/>
          <p:nvPr/>
        </p:nvSpPr>
        <p:spPr>
          <a:xfrm>
            <a:off x="1188720" y="31546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BookOpen" descr="FaBookO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203" y="336316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31720" y="3154680"/>
            <a:ext cx="5760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What the literature establishes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297680"/>
            <a:ext cx="676656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Accessibility is best read as opportunities reachable within a travel-time budget.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Time-expanded graphs give exact earliest-arrival times on a timetable.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Gini, Theil and the Lorenz curve quantify how fairly access is shared.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Informal transit can be mapped into the open GTFS standard.</a:t>
            </a:r>
          </a:p>
        </p:txBody>
      </p:sp>
      <p:sp>
        <p:nvSpPr>
          <p:cNvPr id="13" name="Arrow"/>
          <p:cNvSpPr/>
          <p:nvPr/>
        </p:nvSpPr>
        <p:spPr>
          <a:xfrm>
            <a:off x="8549640" y="5394960"/>
            <a:ext cx="1188720" cy="118872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966960" y="2834640"/>
            <a:ext cx="7498079" cy="630936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isc FaSearch"/>
          <p:cNvSpPr/>
          <p:nvPr/>
        </p:nvSpPr>
        <p:spPr>
          <a:xfrm>
            <a:off x="10332720" y="31546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Icon FaSearch" descr="FaSearch_8B07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203" y="3363163"/>
            <a:ext cx="451713" cy="45171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75720" y="3154680"/>
            <a:ext cx="5760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FFFFFF"/>
                </a:solidFill>
                <a:latin typeface="Arial"/>
              </a:rPr>
              <a:t>The gap this study fills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4297680"/>
            <a:ext cx="676656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■"/>
            </a:pPr>
            <a:r>
              <a:rPr sz="2100" b="0" i="0">
                <a:solidFill>
                  <a:srgbClr val="FFFFFF"/>
                </a:solidFill>
                <a:latin typeface="Arial"/>
              </a:rPr>
              <a:t>No timetable model of Albay’s informal transport exists.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■"/>
            </a:pPr>
            <a:r>
              <a:rPr sz="2100" b="0" i="0">
                <a:solidFill>
                  <a:srgbClr val="FFFFFF"/>
                </a:solidFill>
                <a:latin typeface="Arial"/>
              </a:rPr>
              <a:t>Accessibility studies seldom verify their routing against an exact reference.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■"/>
            </a:pPr>
            <a:r>
              <a:rPr sz="2100" b="0" i="0">
                <a:solidFill>
                  <a:srgbClr val="FFFFFF"/>
                </a:solidFill>
                <a:latin typeface="Arial"/>
              </a:rPr>
              <a:t>Hospital routing rarely accounts for free beds, care level and cost together.</a:t>
            </a:r>
          </a:p>
          <a:p>
            <a:pPr algn="l" marL="293370" indent="-293370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■"/>
            </a:pPr>
            <a:r>
              <a:rPr sz="2100" b="0" i="0">
                <a:solidFill>
                  <a:srgbClr val="FFFFFF"/>
                </a:solidFill>
                <a:latin typeface="Arial"/>
              </a:rPr>
              <a:t>No low-cost way exists to collect bed availability from provincial hospitals.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THEORETICAL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Four theories anchor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8138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MapMarkedAlt"/>
          <p:cNvSpPr/>
          <p:nvPr/>
        </p:nvSpPr>
        <p:spPr>
          <a:xfrm>
            <a:off x="114300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MapMarkedAlt" descr="FaMapMarke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83" y="331744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Accessibility 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7406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100" b="0" i="0">
                <a:solidFill>
                  <a:srgbClr val="2B2B2B"/>
                </a:solidFill>
                <a:latin typeface="Arial"/>
              </a:rPr>
              <a:t>Hansen (1959); Geurs &amp; van Wee (2004). Access is the share of opportunities a place reaches within a travel-time budget.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788920"/>
            <a:ext cx="8138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ProjectDiagram"/>
          <p:cNvSpPr/>
          <p:nvPr/>
        </p:nvSpPr>
        <p:spPr>
          <a:xfrm>
            <a:off x="964692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ProjectDiagram" descr="FaProjectDiagra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403" y="3317443"/>
            <a:ext cx="451713" cy="451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0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Graph theory and shortest paths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206240"/>
            <a:ext cx="7406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100" b="0" i="0">
                <a:solidFill>
                  <a:srgbClr val="2B2B2B"/>
                </a:solidFill>
                <a:latin typeface="Arial"/>
              </a:rPr>
              <a:t>Dijkstra (1959); Pyrga et al. (2008). A timetable becomes a time-expanded graph; earliest arrival is a shortest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6400800"/>
            <a:ext cx="8138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BalanceScale"/>
          <p:cNvSpPr/>
          <p:nvPr/>
        </p:nvSpPr>
        <p:spPr>
          <a:xfrm>
            <a:off x="1143000" y="672084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BalanceScale" descr="FaBalanceSca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483" y="6929323"/>
            <a:ext cx="451713" cy="4517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0" y="672084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Distributive equity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7818119"/>
            <a:ext cx="7406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100" b="0" i="0">
                <a:solidFill>
                  <a:srgbClr val="2B2B2B"/>
                </a:solidFill>
                <a:latin typeface="Arial"/>
              </a:rPr>
              <a:t>Gini (1912); Theil (1967); Lucas et al. (2016). Inequality of access is summarised by Gini, Theil, Palma and the Lorenz curve.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6400800"/>
            <a:ext cx="8138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Disc FaRobot"/>
          <p:cNvSpPr/>
          <p:nvPr/>
        </p:nvSpPr>
        <p:spPr>
          <a:xfrm>
            <a:off x="9646920" y="672084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Icon FaRobot" descr="FaRobo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403" y="6929323"/>
            <a:ext cx="451713" cy="45171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789920" y="672084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Multi-agent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7818119"/>
            <a:ext cx="7406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100" b="0" i="0">
                <a:solidFill>
                  <a:srgbClr val="2B2B2B"/>
                </a:solidFill>
                <a:latin typeface="Arial"/>
              </a:rPr>
              <a:t>Wooldridge (2009). Autonomous agents with narrow roles cooperate to collect and validate hospital bed reports.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CONCEPTUAL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Research paradigm: Input – Process –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754880" cy="82296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ITC Avant Garde Gothic"/>
              </a:rPr>
              <a:t>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388620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OpenStreetMap roads and limits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PSA census and boundaries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DOH facility registry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PhilHealth and Malasakit lists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DepEd school masterlist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LTFRB fare matrix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LGU route and DRRM plans</a:t>
            </a:r>
          </a:p>
        </p:txBody>
      </p:sp>
      <p:sp>
        <p:nvSpPr>
          <p:cNvPr id="12" name="Arrow"/>
          <p:cNvSpPr/>
          <p:nvPr/>
        </p:nvSpPr>
        <p:spPr>
          <a:xfrm>
            <a:off x="5806440" y="5486400"/>
            <a:ext cx="731520" cy="82296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766560" y="2743200"/>
            <a:ext cx="4754880" cy="82296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ITC Avant Garde Gothic"/>
              </a:rPr>
              <a:t>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657600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86600" y="388620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Landmark anchoring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GTFS feed construction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Time-expanded timetable graph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Earliest arrival and fares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Accessibility and inequality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Hospital filtering and routing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E-mail agent bed reporting</a:t>
            </a:r>
          </a:p>
        </p:txBody>
      </p:sp>
      <p:sp>
        <p:nvSpPr>
          <p:cNvPr id="17" name="Arrow"/>
          <p:cNvSpPr/>
          <p:nvPr/>
        </p:nvSpPr>
        <p:spPr>
          <a:xfrm>
            <a:off x="11750040" y="5486400"/>
            <a:ext cx="731520" cy="82296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2710160" y="2743200"/>
            <a:ext cx="4754880" cy="82296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710160" y="2743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ITC Avant Garde Gothic"/>
              </a:rPr>
              <a:t>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710160" y="3657600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030200" y="388620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Verified route, time and fare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30-minute access per LGU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Gini, Theil, Palma, Lorenz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Hospital pick with bed status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MAP-A web application</a:t>
            </a:r>
          </a:p>
          <a:p>
            <a:pPr algn="l" marL="293370" indent="-293370">
              <a:lnSpc>
                <a:spcPct val="100000"/>
              </a:lnSpc>
              <a:spcAft>
                <a:spcPts val="9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PHO bed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8549640"/>
            <a:ext cx="16642080" cy="868680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 w="19050">
            <a:solidFill>
              <a:srgbClr val="8B07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Icon FaCheckCircle" descr="FaCheckCircle_8B07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8686800"/>
            <a:ext cx="594360" cy="594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74519" y="8549640"/>
            <a:ext cx="15361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100" b="1" i="0">
                <a:solidFill>
                  <a:srgbClr val="5C0404"/>
                </a:solidFill>
                <a:latin typeface="Arial"/>
              </a:rPr>
              <a:t>Feedback: </a:t>
            </a:r>
            <a:r>
              <a:rPr sz="2100" b="0" i="0">
                <a:solidFill>
                  <a:srgbClr val="5C0404"/>
                </a:solidFill>
                <a:latin typeface="Arial"/>
              </a:rPr>
              <a:t>every process is verified against independently written reference code before any result is reported.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SIGNIFICANCE OF THE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Who benefits from the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Users"/>
          <p:cNvSpPr/>
          <p:nvPr/>
        </p:nvSpPr>
        <p:spPr>
          <a:xfrm>
            <a:off x="1143000" y="310896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Users" descr="Fa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510" y="3306470"/>
            <a:ext cx="427939" cy="4279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40279" y="310896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Commuters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Know the route, time and legal fare before boarding.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0" y="278892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Wheelchair"/>
          <p:cNvSpPr/>
          <p:nvPr/>
        </p:nvSpPr>
        <p:spPr>
          <a:xfrm>
            <a:off x="6835140" y="310896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Wheelchair" descr="FaWheelchai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650" y="3306470"/>
            <a:ext cx="427939" cy="4279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32420" y="310896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Students, seniors, PWD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0860" y="416052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See the 20% discounted fare on every leg.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07240" y="278892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Ambulance"/>
          <p:cNvSpPr/>
          <p:nvPr/>
        </p:nvSpPr>
        <p:spPr>
          <a:xfrm>
            <a:off x="12527280" y="310896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Ambulance" descr="FaAmbulanc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4790" y="3306470"/>
            <a:ext cx="427939" cy="4279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624560" y="310896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Patients and ambulance crews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0" y="416052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Reach the nearest hospital with the right care and a free bed.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626364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Disc FaHospital"/>
          <p:cNvSpPr/>
          <p:nvPr/>
        </p:nvSpPr>
        <p:spPr>
          <a:xfrm>
            <a:off x="1143000" y="6583679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Icon FaHospital" descr="FaHospital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0510" y="6781190"/>
            <a:ext cx="427939" cy="4279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40279" y="6583679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Provincial Health Office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763524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A town-by-town bed dashboard with report 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5100" y="626364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Disc FaLandmark"/>
          <p:cNvSpPr/>
          <p:nvPr/>
        </p:nvSpPr>
        <p:spPr>
          <a:xfrm>
            <a:off x="6835140" y="6583679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Icon FaLandmark" descr="FaLandmar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2650" y="6781190"/>
            <a:ext cx="427939" cy="42793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32420" y="6583679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LGUs and DRRM offices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0860" y="763524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Evidence on under-served towns; routes for relief trucks.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207240" y="6263640"/>
            <a:ext cx="5257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Disc FaGraduationCap"/>
          <p:cNvSpPr/>
          <p:nvPr/>
        </p:nvSpPr>
        <p:spPr>
          <a:xfrm>
            <a:off x="12527280" y="6583679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Icon FaGraduationCap" descr="FaGraduationCap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4790" y="6781190"/>
            <a:ext cx="427939" cy="42793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624560" y="6583679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300" b="1" i="0">
                <a:solidFill>
                  <a:srgbClr val="8B0707"/>
                </a:solidFill>
                <a:latin typeface="Arial"/>
              </a:rPr>
              <a:t>Future researchers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3000" y="763524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An open, reproducible method that any province can repeat.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THE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6642080" cy="160020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301752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FFFFFF"/>
                </a:solidFill>
                <a:latin typeface="ITC Avant Garde Gothic"/>
              </a:rPr>
              <a:t>GENERAL</a:t>
            </a:r>
          </a:p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FFFFFF"/>
                </a:solidFill>
                <a:latin typeface="ITC Avant Garde Gothic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40280"/>
            <a:ext cx="1280160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FFFFFF"/>
                </a:solidFill>
                <a:latin typeface="Arial"/>
              </a:rPr>
              <a:t>To develop and verify a landmark-anchored timetable-graph model of Albay’s informal public transport that computes travel time, fare, accessibility and its inequality from open data, and routes ambulances and patients using agent-reported hospital bed capacity.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60520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Number 1"/>
          <p:cNvSpPr/>
          <p:nvPr/>
        </p:nvSpPr>
        <p:spPr>
          <a:xfrm>
            <a:off x="1097280" y="45262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425195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Build a landmark-anchored road network and GTFS transit feed for all 18 LGUs of Albay from open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6035040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Number 2"/>
          <p:cNvSpPr/>
          <p:nvPr/>
        </p:nvSpPr>
        <p:spPr>
          <a:xfrm>
            <a:off x="1097280" y="640080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612647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Compute earliest-arrival journeys and legal LTFRB fares between landmarks for any departure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7909559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umber 3"/>
          <p:cNvSpPr/>
          <p:nvPr/>
        </p:nvSpPr>
        <p:spPr>
          <a:xfrm>
            <a:off x="1097280" y="8275319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800099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Measure 30-minute access to beds, school seats, jobs and goods per LGU, and its inequality.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4160520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Number 4"/>
          <p:cNvSpPr/>
          <p:nvPr/>
        </p:nvSpPr>
        <p:spPr>
          <a:xfrm>
            <a:off x="9601200" y="45262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425195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Route ambulances and patients to the nearest suitable hospital by acuity, payment and bed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6035040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Number 5"/>
          <p:cNvSpPr/>
          <p:nvPr/>
        </p:nvSpPr>
        <p:spPr>
          <a:xfrm>
            <a:off x="9601200" y="640080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12647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Design and test a multi-agent e-mail system that collects and validates hospital bed reports.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7909559"/>
            <a:ext cx="8138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Number 6"/>
          <p:cNvSpPr/>
          <p:nvPr/>
        </p:nvSpPr>
        <p:spPr>
          <a:xfrm>
            <a:off x="9601200" y="8275319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8000999"/>
            <a:ext cx="64465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Verify every component against independent reference code and deploy it as the MAP-A web app.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HYPOTHESES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Each hypothesis has a decisive computational test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6642080" cy="6400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9692640"/>
                <a:gridCol w="5943600"/>
              </a:tblGrid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Hypothesis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The time-expanded search returns the exact earliest arrival for every query.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Random queries vs. complete enumeration of all journeys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The per-leg fare f(d) is subadditive: one ride never costs more than the same distance split in two.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Random fare splits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Thirty-minute access is unequally shared across LGUs, and inequality falls as the budget grows.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Gini, Theil, Palma at 15–120 min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Class-aware routing never uses a road too narrow, low or weak for the vehicle.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Origin–destination pairs, 10 classes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H5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Hospital-mode answers agree with independently written reference code.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Random hospital-mode queries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H6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The validator accepts no forged bed report.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Forged reports in a simulated mailbox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Research design and locale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7863840" cy="6492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Flask"/>
          <p:cNvSpPr/>
          <p:nvPr/>
        </p:nvSpPr>
        <p:spPr>
          <a:xfrm>
            <a:off x="1188720" y="315468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Flask" descr="FaFlas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203" y="336316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31720" y="315468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Developmental–computational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297680"/>
            <a:ext cx="713232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3370" indent="-293370">
              <a:lnSpc>
                <a:spcPct val="105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100" b="1" i="0">
                <a:solidFill>
                  <a:srgbClr val="2B2B2B"/>
                </a:solidFill>
                <a:latin typeface="Arial"/>
              </a:rPr>
              <a:t>Quantitative: </a:t>
            </a:r>
            <a:r>
              <a:rPr sz="2100" b="0" i="0">
                <a:solidFill>
                  <a:srgbClr val="2B2B2B"/>
                </a:solidFill>
                <a:latin typeface="Arial"/>
              </a:rPr>
              <a:t>a mathematical model is specified, implemented, verified, then applied.</a:t>
            </a:r>
          </a:p>
          <a:p>
            <a:pPr algn="l" marL="293370" indent="-293370">
              <a:lnSpc>
                <a:spcPct val="105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100" b="1" i="0">
                <a:solidFill>
                  <a:srgbClr val="2B2B2B"/>
                </a:solidFill>
                <a:latin typeface="Arial"/>
              </a:rPr>
              <a:t>Unit of analysis: </a:t>
            </a:r>
            <a:r>
              <a:rPr sz="2100" b="0" i="0">
                <a:solidFill>
                  <a:srgbClr val="2B2B2B"/>
                </a:solidFill>
                <a:latin typeface="Arial"/>
              </a:rPr>
              <a:t>landmarks — terminals, town halls, markets, schools, hospitals.</a:t>
            </a:r>
          </a:p>
          <a:p>
            <a:pPr algn="l" marL="293370" indent="-293370">
              <a:lnSpc>
                <a:spcPct val="105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100" b="1" i="0">
                <a:solidFill>
                  <a:srgbClr val="2B2B2B"/>
                </a:solidFill>
                <a:latin typeface="Arial"/>
              </a:rPr>
              <a:t>Locale: </a:t>
            </a:r>
            <a:r>
              <a:rPr sz="2100" b="0" i="0">
                <a:solidFill>
                  <a:srgbClr val="2B2B2B"/>
                </a:solidFill>
                <a:latin typeface="Arial"/>
              </a:rPr>
              <a:t>all 18 LGUs of Albay, 3 legislative districts, 720 barangays.</a:t>
            </a:r>
          </a:p>
          <a:p>
            <a:pPr algn="l" marL="293370" indent="-293370">
              <a:lnSpc>
                <a:spcPct val="105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100" b="1" i="0">
                <a:solidFill>
                  <a:srgbClr val="2B2B2B"/>
                </a:solidFill>
                <a:latin typeface="Arial"/>
              </a:rPr>
              <a:t>No field survey and no respondents: </a:t>
            </a:r>
            <a:r>
              <a:rPr sz="2100" b="0" i="0">
                <a:solidFill>
                  <a:srgbClr val="2B2B2B"/>
                </a:solidFill>
                <a:latin typeface="Arial"/>
              </a:rPr>
              <a:t>every input is a public register.</a:t>
            </a:r>
          </a:p>
        </p:txBody>
      </p:sp>
      <p:graphicFrame>
        <p:nvGraphicFramePr>
          <p:cNvPr id="13" name="Chart district population"/>
          <p:cNvGraphicFramePr>
            <a:graphicFrameLocks noGrp="1"/>
          </p:cNvGraphicFramePr>
          <p:nvPr/>
        </p:nvGraphicFramePr>
        <p:xfrm>
          <a:off x="9144000" y="2834640"/>
          <a:ext cx="8321040" cy="64922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22960" y="9646920"/>
            <a:ext cx="1664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E5E5E"/>
                </a:solidFill>
                <a:latin typeface="Arial"/>
              </a:rPr>
              <a:t>Source: PSA 2020 Census of Population and Housing. Total 1,374,768 residents.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Data sources: open public registers only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6642080" cy="6583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6583680"/>
                <a:gridCol w="585216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Data used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Role in the model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OpenStreetMap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Roads, paths, width / height / mass / axle tags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Road graph, vehicle-class limits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PSA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2020 census, PSGC codes, boundaries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Population weights, LGU units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DOH NHFR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27 inpatient facilities, service level, licensed beds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Hospital layer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PhilHealth, DOH Malasakit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Accreditation list, Malasakit Centers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Cost (payment) class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DepEd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Masterlist of schools, classrooms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School-seat opportunities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LTFRB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Fare matrix in force from 28 Sept 2026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Fare function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PPA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Ports and piers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Sea crossing to Rapu-Rapu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LGU plans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Route plans, DRRM plans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Services and hazard routing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Procedure: from open data to a trip plan in eight stages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Road"/>
          <p:cNvSpPr/>
          <p:nvPr/>
        </p:nvSpPr>
        <p:spPr>
          <a:xfrm>
            <a:off x="1097280" y="306323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Road" descr="FaRoa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817" y="3249777"/>
            <a:ext cx="404164" cy="404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11680" y="306323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Road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OSM roads with width, height, mass and axle limits</a:t>
            </a:r>
          </a:p>
        </p:txBody>
      </p:sp>
      <p:sp>
        <p:nvSpPr>
          <p:cNvPr id="14" name="Arrow"/>
          <p:cNvSpPr/>
          <p:nvPr/>
        </p:nvSpPr>
        <p:spPr>
          <a:xfrm>
            <a:off x="4416552" y="4091939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196840" y="278892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Disc FaLandmark"/>
          <p:cNvSpPr/>
          <p:nvPr/>
        </p:nvSpPr>
        <p:spPr>
          <a:xfrm>
            <a:off x="5471160" y="306323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Icon FaLandmark" descr="FaLandmar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697" y="324977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5560" y="306323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1160" y="39776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Landmarks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1160" y="457200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Registry places tied to the nearest road node</a:t>
            </a:r>
          </a:p>
        </p:txBody>
      </p:sp>
      <p:sp>
        <p:nvSpPr>
          <p:cNvPr id="21" name="Arrow"/>
          <p:cNvSpPr/>
          <p:nvPr/>
        </p:nvSpPr>
        <p:spPr>
          <a:xfrm>
            <a:off x="8790432" y="4091939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570720" y="278892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Disc FaBusAlt"/>
          <p:cNvSpPr/>
          <p:nvPr/>
        </p:nvSpPr>
        <p:spPr>
          <a:xfrm>
            <a:off x="9845040" y="306323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Icon FaBusAlt" descr="FaBusA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1577" y="3249777"/>
            <a:ext cx="404164" cy="404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759440" y="306323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5040" y="39776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Transit feed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5040" y="457200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Stops, trips, fares, shapes as a validated GTFS feed</a:t>
            </a:r>
          </a:p>
        </p:txBody>
      </p:sp>
      <p:sp>
        <p:nvSpPr>
          <p:cNvPr id="28" name="Arrow"/>
          <p:cNvSpPr/>
          <p:nvPr/>
        </p:nvSpPr>
        <p:spPr>
          <a:xfrm>
            <a:off x="13164312" y="4091939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3944600" y="278892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Disc FaProjectDiagram"/>
          <p:cNvSpPr/>
          <p:nvPr/>
        </p:nvSpPr>
        <p:spPr>
          <a:xfrm>
            <a:off x="14218920" y="306323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Icon FaProjectDiagram" descr="FaProjectDiagram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05457" y="3249777"/>
            <a:ext cx="404164" cy="4041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133320" y="306323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18920" y="39776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Timetable 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18920" y="457200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Time-expanded graph for earliest-arrival queries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626364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Disc FaBalanceScale"/>
          <p:cNvSpPr/>
          <p:nvPr/>
        </p:nvSpPr>
        <p:spPr>
          <a:xfrm>
            <a:off x="1097280" y="653795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Icon FaBalanceScale" descr="FaBalanceScal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817" y="6724497"/>
            <a:ext cx="404164" cy="404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011680" y="653795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7452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Access and fairness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8046719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30-min access; Gini, Theil, Palma, Lorenz</a:t>
            </a:r>
          </a:p>
        </p:txBody>
      </p:sp>
      <p:sp>
        <p:nvSpPr>
          <p:cNvPr id="41" name="Arrow"/>
          <p:cNvSpPr/>
          <p:nvPr/>
        </p:nvSpPr>
        <p:spPr>
          <a:xfrm>
            <a:off x="4416552" y="7566660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5196840" y="626364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Disc FaHospital"/>
          <p:cNvSpPr/>
          <p:nvPr/>
        </p:nvSpPr>
        <p:spPr>
          <a:xfrm>
            <a:off x="5471160" y="653795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Icon FaHospital" descr="FaHospital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7697" y="6724497"/>
            <a:ext cx="404164" cy="40416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85560" y="653795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71160" y="7452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Hospital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1160" y="8046719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Level, ER, ownership, PhilHealth, Malasakit, cost</a:t>
            </a:r>
          </a:p>
        </p:txBody>
      </p:sp>
      <p:sp>
        <p:nvSpPr>
          <p:cNvPr id="48" name="Arrow"/>
          <p:cNvSpPr/>
          <p:nvPr/>
        </p:nvSpPr>
        <p:spPr>
          <a:xfrm>
            <a:off x="8790432" y="7566660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9570720" y="626364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Disc FaEnvelope"/>
          <p:cNvSpPr/>
          <p:nvPr/>
        </p:nvSpPr>
        <p:spPr>
          <a:xfrm>
            <a:off x="9845040" y="653795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Icon FaEnvelope" descr="FaEnvelop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1577" y="6724497"/>
            <a:ext cx="404164" cy="40416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759440" y="653795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45040" y="7452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Bed tracking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45040" y="8046719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E-mail agents collect free beds and report age</a:t>
            </a:r>
          </a:p>
        </p:txBody>
      </p:sp>
      <p:sp>
        <p:nvSpPr>
          <p:cNvPr id="55" name="Arrow"/>
          <p:cNvSpPr/>
          <p:nvPr/>
        </p:nvSpPr>
        <p:spPr>
          <a:xfrm>
            <a:off x="13164312" y="7566660"/>
            <a:ext cx="707135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3944600" y="6263640"/>
            <a:ext cx="3520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Disc FaMobileAlt"/>
          <p:cNvSpPr/>
          <p:nvPr/>
        </p:nvSpPr>
        <p:spPr>
          <a:xfrm>
            <a:off x="14218920" y="6537959"/>
            <a:ext cx="777240" cy="77724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Icon FaMobileAlt" descr="FaMobileAlt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5457" y="6724497"/>
            <a:ext cx="404164" cy="40416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133320" y="6537959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 i="0">
                <a:solidFill>
                  <a:srgbClr val="5E5E5E"/>
                </a:solidFill>
                <a:latin typeface="Arial"/>
              </a:rPr>
              <a:t>STAGE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218920" y="74523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The app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218920" y="8046719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Routing, fares, access maps, hospital mode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Model formulation: timetable graph, earliest arrival and fare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257800" cy="6583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ProjectDiagram"/>
          <p:cNvSpPr/>
          <p:nvPr/>
        </p:nvSpPr>
        <p:spPr>
          <a:xfrm>
            <a:off x="114300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ProjectDiagram" descr="FaProjectDiagram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510" y="3260750"/>
            <a:ext cx="427939" cy="4279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30632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Timetable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452628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800"/>
              </a:spcAft>
              <a:buNone/>
            </a:pPr>
            <a:r>
              <a:rPr sz="2400" b="1" i="0">
                <a:solidFill>
                  <a:srgbClr val="2B2B2B"/>
                </a:solidFill>
                <a:latin typeface="Cambria"/>
              </a:rPr>
              <a:t>G = (V, E)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V: departure and arrival events (stop, time).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E: ride, wait, transfer and walk arcs.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Wait = half headway; transfer 3 min; boarding 1 min.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Walk 4.6 km/h × 1.25 detour, at most 2.2 km.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0" y="2788920"/>
            <a:ext cx="5257800" cy="6583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Clock"/>
          <p:cNvSpPr/>
          <p:nvPr/>
        </p:nvSpPr>
        <p:spPr>
          <a:xfrm>
            <a:off x="683514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Clock" descr="Fa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650" y="3260750"/>
            <a:ext cx="427939" cy="4279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86700" y="30632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Earliest arrival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0860" y="4160520"/>
            <a:ext cx="452628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800"/>
              </a:spcAft>
              <a:buNone/>
            </a:pPr>
            <a:r>
              <a:rPr sz="2400" b="1" i="0">
                <a:solidFill>
                  <a:srgbClr val="2B2B2B"/>
                </a:solidFill>
                <a:latin typeface="Cambria"/>
              </a:rPr>
              <a:t>EA(o, d, τ) = min arr(J)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over journeys J from o to d leaving at or after τ.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Time-expanded Dijkstra with three objectives: fastest, fewest transfers, cheapest.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Light, typical or heavy traffic factor.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07240" y="2788920"/>
            <a:ext cx="5257800" cy="6583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Coins"/>
          <p:cNvSpPr/>
          <p:nvPr/>
        </p:nvSpPr>
        <p:spPr>
          <a:xfrm>
            <a:off x="1252728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Coins" descr="FaCoin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4790" y="3260750"/>
            <a:ext cx="427939" cy="4279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578840" y="306324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Fare per leg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0" y="4160520"/>
            <a:ext cx="452628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800"/>
              </a:spcAft>
              <a:buNone/>
            </a:pPr>
            <a:r>
              <a:rPr sz="2400" b="1" i="0">
                <a:solidFill>
                  <a:srgbClr val="2B2B2B"/>
                </a:solidFill>
                <a:latin typeface="Cambria"/>
              </a:rPr>
              <a:t>f(d) = f₀ + r·⌈max(0, d − d₀)⌉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Trip fare = sum over legs; a transfer starts a new minimum fare.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Jeepney ₱14 / 4 km + ₱2.00 per km.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Modern ₱17 / 4 km + ₱2.40; bus ₱12 / 5 km + ₱2.20.</a:t>
            </a:r>
          </a:p>
          <a:p>
            <a:pPr algn="l" marL="293370" indent="-29337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2100" b="0" i="0">
                <a:solidFill>
                  <a:srgbClr val="2B2B2B"/>
                </a:solidFill>
                <a:latin typeface="Arial"/>
              </a:rPr>
              <a:t>20% off for student, senior, PWD.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Accessibility and inequality measures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8138160" cy="6583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MapMarkedAlt"/>
          <p:cNvSpPr/>
          <p:nvPr/>
        </p:nvSpPr>
        <p:spPr>
          <a:xfrm>
            <a:off x="114300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MapMarkedAlt" descr="FaMapMarke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510" y="3260750"/>
            <a:ext cx="427939" cy="4279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306324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Cumulative-opportunity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160520"/>
            <a:ext cx="7406640" cy="1188720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7406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800" b="1" i="0">
                <a:solidFill>
                  <a:srgbClr val="5C0404"/>
                </a:solidFill>
                <a:latin typeface="Cambria"/>
              </a:rPr>
              <a:t>Aᵢ(T) = Σⱼ Oⱼ · 1[tᵢⱼ ≤ T] / Σⱼ Oⱼ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62356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65430" indent="-265430">
              <a:lnSpc>
                <a:spcPct val="103000"/>
              </a:lnSpc>
              <a:spcAft>
                <a:spcPts val="1000"/>
              </a:spcAft>
              <a:buClr>
                <a:srgbClr val="8B0707"/>
              </a:buClr>
              <a:buFont typeface="Arial"/>
              <a:buChar char="■"/>
            </a:pPr>
            <a:r>
              <a:rPr sz="1900" b="1" i="0">
                <a:solidFill>
                  <a:srgbClr val="2B2B2B"/>
                </a:solidFill>
                <a:latin typeface="Arial"/>
              </a:rPr>
              <a:t>Oⱼ </a:t>
            </a:r>
            <a:r>
              <a:rPr sz="1900" b="0" i="0">
                <a:solidFill>
                  <a:srgbClr val="2B2B2B"/>
                </a:solidFill>
                <a:latin typeface="Arial"/>
              </a:rPr>
              <a:t>opportunities: hospital beds, school seats, jobs, essential goods</a:t>
            </a:r>
          </a:p>
          <a:p>
            <a:pPr algn="l" marL="265430" indent="-265430">
              <a:lnSpc>
                <a:spcPct val="103000"/>
              </a:lnSpc>
              <a:spcAft>
                <a:spcPts val="1000"/>
              </a:spcAft>
              <a:buClr>
                <a:srgbClr val="8B0707"/>
              </a:buClr>
              <a:buFont typeface="Arial"/>
              <a:buChar char="■"/>
            </a:pPr>
            <a:r>
              <a:rPr sz="1900" b="1" i="0">
                <a:solidFill>
                  <a:srgbClr val="2B2B2B"/>
                </a:solidFill>
                <a:latin typeface="Arial"/>
              </a:rPr>
              <a:t>tᵢⱼ </a:t>
            </a:r>
            <a:r>
              <a:rPr sz="1900" b="0" i="0">
                <a:solidFill>
                  <a:srgbClr val="2B2B2B"/>
                </a:solidFill>
                <a:latin typeface="Arial"/>
              </a:rPr>
              <a:t>earliest-arrival time from LGU i to opportunity j</a:t>
            </a:r>
          </a:p>
          <a:p>
            <a:pPr algn="l" marL="265430" indent="-265430">
              <a:lnSpc>
                <a:spcPct val="103000"/>
              </a:lnSpc>
              <a:spcAft>
                <a:spcPts val="1000"/>
              </a:spcAft>
              <a:buClr>
                <a:srgbClr val="8B0707"/>
              </a:buClr>
              <a:buFont typeface="Arial"/>
              <a:buChar char="■"/>
            </a:pPr>
            <a:r>
              <a:rPr sz="1900" b="1" i="0">
                <a:solidFill>
                  <a:srgbClr val="2B2B2B"/>
                </a:solidFill>
                <a:latin typeface="Arial"/>
              </a:rPr>
              <a:t>T </a:t>
            </a:r>
            <a:r>
              <a:rPr sz="1900" b="0" i="0">
                <a:solidFill>
                  <a:srgbClr val="2B2B2B"/>
                </a:solidFill>
                <a:latin typeface="Arial"/>
              </a:rPr>
              <a:t>time budget, 15 to 120 min; base case 30 min</a:t>
            </a:r>
          </a:p>
          <a:p>
            <a:pPr algn="l" marL="265430" indent="-265430">
              <a:lnSpc>
                <a:spcPct val="103000"/>
              </a:lnSpc>
              <a:spcAft>
                <a:spcPts val="1000"/>
              </a:spcAft>
              <a:buClr>
                <a:srgbClr val="8B0707"/>
              </a:buClr>
              <a:buFont typeface="Arial"/>
              <a:buChar char="■"/>
            </a:pPr>
            <a:r>
              <a:rPr sz="1900" b="1" i="0">
                <a:solidFill>
                  <a:srgbClr val="2B2B2B"/>
                </a:solidFill>
                <a:latin typeface="Arial"/>
              </a:rPr>
              <a:t>Robustness: </a:t>
            </a:r>
            <a:r>
              <a:rPr sz="1900" b="0" i="0">
                <a:solidFill>
                  <a:srgbClr val="2B2B2B"/>
                </a:solidFill>
                <a:latin typeface="Arial"/>
              </a:rPr>
              <a:t>measured from the poblacion and from the LGU centroid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788920"/>
            <a:ext cx="8138160" cy="6583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Disc FaBalanceScale"/>
          <p:cNvSpPr/>
          <p:nvPr/>
        </p:nvSpPr>
        <p:spPr>
          <a:xfrm>
            <a:off x="964692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Icon FaBalanceScale" descr="FaBalanceSca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4430" y="3260750"/>
            <a:ext cx="427939" cy="4279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98480" y="306324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Inequality of access</a:t>
            </a:r>
          </a:p>
        </p:txBody>
      </p:sp>
      <p:graphicFrame>
        <p:nvGraphicFramePr>
          <p:cNvPr id="19" name="Table"/>
          <p:cNvGraphicFramePr>
            <a:graphicFrameLocks noGrp="1"/>
          </p:cNvGraphicFramePr>
          <p:nvPr/>
        </p:nvGraphicFramePr>
        <p:xfrm>
          <a:off x="9692640" y="4160520"/>
          <a:ext cx="7406640" cy="4343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5852160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Index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Definition (population-weighted)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Gini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ΣᵢΣⱼ wᵢwⱼ |Aᵢ − Aⱼ| / (2W²Ā)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Theil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(1/W) Σᵢ wᵢ (Aᵢ/Ā) ln(Aᵢ/Ā)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Palma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share of top 10% ÷ share of bottom 40%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Lorenz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cumulative population vs. cumulative access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92640" y="864108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0" i="1">
                <a:solidFill>
                  <a:srgbClr val="5E5E5E"/>
                </a:solidFill>
                <a:latin typeface="Arial"/>
              </a:rPr>
              <a:t>wᵢ = population of LGU i (PSA 2020); 0 = perfect equality.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Hospital routing: acuity, payment class and bed status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0241280" cy="52120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80160"/>
                <a:gridCol w="5760720"/>
                <a:gridCol w="2011680"/>
                <a:gridCol w="1188720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Acuity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Patient status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Min. level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ER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Needs an immediate life-saving intervention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Level 3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High-risk, new confusion, lethargy, or severe pain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Level 2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Stable; likely to need two or more resources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Level 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Stable; likely to need one resource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Level 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Stable; likely to need no resources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Infirmary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11430000" y="2788920"/>
          <a:ext cx="6035040" cy="4343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2926080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Payment class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Accepted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  Free or assisted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Gov’t + Malasakit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1  Public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Any government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2  PhilHealth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+ accredited private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3  Any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No restriction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8229600"/>
            <a:ext cx="16642080" cy="128016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88720" y="8229600"/>
            <a:ext cx="15910559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900" b="1" i="0">
                <a:solidFill>
                  <a:srgbClr val="FFFFFF"/>
                </a:solidFill>
                <a:latin typeface="Arial"/>
              </a:rPr>
              <a:t>Suitable: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level ≥ minimum, ER when required, not reported full, cost ≤ class. 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Acuity 1–2: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cost filter lifted (RA 10932). 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Stabilise first: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an open ER &gt; 15 min nearer is offered first for acuity 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Agent-reported bed capacity: five cooperating e-mail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2926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Clock"/>
          <p:cNvSpPr/>
          <p:nvPr/>
        </p:nvSpPr>
        <p:spPr>
          <a:xfrm>
            <a:off x="1828800" y="3017520"/>
            <a:ext cx="914400" cy="91440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Clock" descr="Fa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256" y="3236976"/>
            <a:ext cx="475488" cy="475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63440"/>
            <a:ext cx="246888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2B2B2B"/>
                </a:solidFill>
                <a:latin typeface="Arial"/>
              </a:rPr>
              <a:t>Opens a cycle every 8 h, one per nursing shift</a:t>
            </a:r>
          </a:p>
        </p:txBody>
      </p:sp>
      <p:sp>
        <p:nvSpPr>
          <p:cNvPr id="13" name="Arrow"/>
          <p:cNvSpPr/>
          <p:nvPr/>
        </p:nvSpPr>
        <p:spPr>
          <a:xfrm>
            <a:off x="3813048" y="4389120"/>
            <a:ext cx="374903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251960" y="2788920"/>
            <a:ext cx="2926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isc FaEnvelope"/>
          <p:cNvSpPr/>
          <p:nvPr/>
        </p:nvSpPr>
        <p:spPr>
          <a:xfrm>
            <a:off x="5257800" y="3017520"/>
            <a:ext cx="914400" cy="91440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Icon FaEnvelope" descr="FaEnvelop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56" y="3236976"/>
            <a:ext cx="475488" cy="4754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3484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Inquiry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663440"/>
            <a:ext cx="246888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2B2B2B"/>
                </a:solidFill>
                <a:latin typeface="Arial"/>
              </a:rPr>
              <a:t>E-mails each hospital a short form with a one-time code</a:t>
            </a:r>
          </a:p>
        </p:txBody>
      </p:sp>
      <p:sp>
        <p:nvSpPr>
          <p:cNvPr id="19" name="Arrow"/>
          <p:cNvSpPr/>
          <p:nvPr/>
        </p:nvSpPr>
        <p:spPr>
          <a:xfrm>
            <a:off x="7242048" y="4389120"/>
            <a:ext cx="374903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680960" y="2788920"/>
            <a:ext cx="2926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Disc FaSearch"/>
          <p:cNvSpPr/>
          <p:nvPr/>
        </p:nvSpPr>
        <p:spPr>
          <a:xfrm>
            <a:off x="8686800" y="3017520"/>
            <a:ext cx="914400" cy="91440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Icon FaSearch" descr="FaSearc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3236976"/>
            <a:ext cx="475488" cy="475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6384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Reader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663440"/>
            <a:ext cx="246888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2B2B2B"/>
                </a:solidFill>
                <a:latin typeface="Arial"/>
              </a:rPr>
              <a:t>Reads replies in English or Filipino every 10 min</a:t>
            </a:r>
          </a:p>
        </p:txBody>
      </p:sp>
      <p:sp>
        <p:nvSpPr>
          <p:cNvPr id="25" name="Arrow"/>
          <p:cNvSpPr/>
          <p:nvPr/>
        </p:nvSpPr>
        <p:spPr>
          <a:xfrm>
            <a:off x="10671048" y="4389120"/>
            <a:ext cx="374903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1109960" y="2788920"/>
            <a:ext cx="2926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Disc FaClipboardCheck"/>
          <p:cNvSpPr/>
          <p:nvPr/>
        </p:nvSpPr>
        <p:spPr>
          <a:xfrm>
            <a:off x="12115800" y="3017520"/>
            <a:ext cx="914400" cy="91440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Icon FaClipboardCheck" descr="FaClipboard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5256" y="3236976"/>
            <a:ext cx="475488" cy="4754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9284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Validator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4663440"/>
            <a:ext cx="246888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2B2B2B"/>
                </a:solidFill>
                <a:latin typeface="Arial"/>
              </a:rPr>
              <a:t>Sender and code, completeness, capacity, occupancy, recency</a:t>
            </a:r>
          </a:p>
        </p:txBody>
      </p:sp>
      <p:sp>
        <p:nvSpPr>
          <p:cNvPr id="31" name="Arrow"/>
          <p:cNvSpPr/>
          <p:nvPr/>
        </p:nvSpPr>
        <p:spPr>
          <a:xfrm>
            <a:off x="14100048" y="4389120"/>
            <a:ext cx="374903" cy="457200"/>
          </a:xfrm>
          <a:prstGeom prst="rightArrow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4538960" y="2788920"/>
            <a:ext cx="2926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Disc FaBed"/>
          <p:cNvSpPr/>
          <p:nvPr/>
        </p:nvSpPr>
        <p:spPr>
          <a:xfrm>
            <a:off x="15544800" y="3017520"/>
            <a:ext cx="914400" cy="91440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Icon FaBed" descr="FaBe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64255" y="3236976"/>
            <a:ext cx="475488" cy="4754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721840" y="40690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1" i="0">
                <a:solidFill>
                  <a:srgbClr val="8B0707"/>
                </a:solidFill>
                <a:latin typeface="Arial"/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767559" y="4663440"/>
            <a:ext cx="2468880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2B2B2B"/>
                </a:solidFill>
                <a:latin typeface="Arial"/>
              </a:rPr>
              <a:t>Shows free beds with the time of the report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6766560"/>
            <a:ext cx="3920489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51560" y="6949440"/>
            <a:ext cx="3463289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000" b="1" i="0">
                <a:solidFill>
                  <a:srgbClr val="8B0707"/>
                </a:solidFill>
                <a:latin typeface="Arial"/>
              </a:rPr>
              <a:t>≤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8252460"/>
            <a:ext cx="3371849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messages to a hospital per cycle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63490" y="6766560"/>
            <a:ext cx="3920489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292090" y="6949440"/>
            <a:ext cx="3463289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000" b="1" i="0">
                <a:solidFill>
                  <a:srgbClr val="8B0707"/>
                </a:solidFill>
                <a:latin typeface="Arial"/>
              </a:rPr>
              <a:t>≤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7809" y="8252460"/>
            <a:ext cx="3371849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messages to a hospital per day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04019" y="6766560"/>
            <a:ext cx="3920489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532619" y="6949440"/>
            <a:ext cx="3463289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000" b="1" i="0">
                <a:solidFill>
                  <a:srgbClr val="8B0707"/>
                </a:solidFill>
                <a:latin typeface="Arial"/>
              </a:rPr>
              <a:t>12 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8340" y="8252460"/>
            <a:ext cx="3371849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age before a report reads unknown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544549" y="6766560"/>
            <a:ext cx="3920489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3773149" y="6949440"/>
            <a:ext cx="3463289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000" b="1" i="0">
                <a:solidFill>
                  <a:srgbClr val="8B0707"/>
                </a:solidFill>
                <a:latin typeface="Arial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18869" y="8252460"/>
            <a:ext cx="3371849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messages after a hospital opts out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Verification protocol and data analysis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0607040" cy="6080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3840480"/>
                <a:gridCol w="3474720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Verification test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Pass criterion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Timetable routing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Random journey queries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Equal to complete enumeration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Naive single scan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Same queries, common shortcut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Share of late answers (baseline)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Fare function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Random fare splits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Subadditive in every split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Vehicle classes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Origin–destination pairs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Zero limit violations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Hospital mode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Random hospital-mode queries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Agreement with reference code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Bed validator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Forged reports in mailbox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None accepted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1887200" y="2788920"/>
            <a:ext cx="5577840" cy="6080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Disc FaChartLine"/>
          <p:cNvSpPr/>
          <p:nvPr/>
        </p:nvSpPr>
        <p:spPr>
          <a:xfrm>
            <a:off x="1220724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Icon FaChartLine" descr="FaChartLi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4750" y="326075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13080" y="30632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0" y="416052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65430" indent="-26543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1900" b="0" i="0">
                <a:solidFill>
                  <a:srgbClr val="2B2B2B"/>
                </a:solidFill>
                <a:latin typeface="Arial"/>
              </a:rPr>
              <a:t>Descriptive statistics of access per LGU</a:t>
            </a:r>
          </a:p>
          <a:p>
            <a:pPr algn="l" marL="265430" indent="-26543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1900" b="0" i="0">
                <a:solidFill>
                  <a:srgbClr val="2B2B2B"/>
                </a:solidFill>
                <a:latin typeface="Arial"/>
              </a:rPr>
              <a:t>Gini, Theil and Palma at 15–120 min</a:t>
            </a:r>
          </a:p>
          <a:p>
            <a:pPr algn="l" marL="265430" indent="-26543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1900" b="0" i="0">
                <a:solidFill>
                  <a:srgbClr val="2B2B2B"/>
                </a:solidFill>
                <a:latin typeface="Arial"/>
              </a:rPr>
              <a:t>Lorenz curves by budget</a:t>
            </a:r>
          </a:p>
          <a:p>
            <a:pPr algn="l" marL="265430" indent="-26543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1900" b="0" i="0">
                <a:solidFill>
                  <a:srgbClr val="2B2B2B"/>
                </a:solidFill>
                <a:latin typeface="Arial"/>
              </a:rPr>
              <a:t>Sensitivity to traffic level</a:t>
            </a:r>
          </a:p>
          <a:p>
            <a:pPr algn="l" marL="265430" indent="-265430">
              <a:lnSpc>
                <a:spcPct val="103000"/>
              </a:lnSpc>
              <a:spcAft>
                <a:spcPts val="1200"/>
              </a:spcAft>
              <a:buClr>
                <a:srgbClr val="8B0707"/>
              </a:buClr>
              <a:buFont typeface="Arial"/>
              <a:buChar char="■"/>
            </a:pPr>
            <a:r>
              <a:rPr sz="1900" b="0" i="0">
                <a:solidFill>
                  <a:srgbClr val="2B2B2B"/>
                </a:solidFill>
                <a:latin typeface="Arial"/>
              </a:rPr>
              <a:t>Poblacion vs. centroid origin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9646920"/>
            <a:ext cx="1664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E5E5E"/>
                </a:solidFill>
                <a:latin typeface="Arial"/>
              </a:rPr>
              <a:t>All verification runs use synthetic test instances, so pass rates describe the code, not Albay’s roads or hospitals.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Ethical considerations, scope and delimitations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81381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ShieldAlt"/>
          <p:cNvSpPr/>
          <p:nvPr/>
        </p:nvSpPr>
        <p:spPr>
          <a:xfrm>
            <a:off x="114300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ShieldAlt" descr="FaShiel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83" y="331744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Ethical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7406640" cy="347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No hospital is contacted until the Scientific Review Committee approves the protocol and each facility agrees.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Agents tested only on synthetic data in a simulated mail environment.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RA 10173: the app stores no personal data.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Hospital mode is navigation support, not triage; it never replaces 911.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788920"/>
            <a:ext cx="81381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Filter"/>
          <p:cNvSpPr/>
          <p:nvPr/>
        </p:nvSpPr>
        <p:spPr>
          <a:xfrm>
            <a:off x="9646919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Filter" descr="FaFilt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403" y="3317443"/>
            <a:ext cx="451713" cy="451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19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Scope and delimitations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206240"/>
            <a:ext cx="7406640" cy="347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Albay only: 18 LGUs, 30 modelled services.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Routes are modelled from open data; headways are derived from fleet size, not timed.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Tricycle fares are set by each LGU ordinance and are not modelled.</a:t>
            </a:r>
          </a:p>
          <a:p>
            <a:pPr algn="l" marL="307340" indent="-307340">
              <a:lnSpc>
                <a:spcPct val="105000"/>
              </a:lnSpc>
              <a:spcAft>
                <a:spcPts val="6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The registry has no coordinates; unverified facility positions are flagged.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8229600"/>
            <a:ext cx="16642080" cy="118872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" y="8229600"/>
            <a:ext cx="15910559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300" b="0" i="0">
                <a:solidFill>
                  <a:srgbClr val="FFFFFF"/>
                </a:solidFill>
                <a:latin typeface="Arial"/>
              </a:rPr>
              <a:t>Times, fares and scores are </a:t>
            </a:r>
            <a:r>
              <a:rPr sz="2300" b="1" i="0">
                <a:solidFill>
                  <a:srgbClr val="FFFFFF"/>
                </a:solidFill>
                <a:latin typeface="Arial"/>
              </a:rPr>
              <a:t>model outputs</a:t>
            </a:r>
            <a:r>
              <a:rPr sz="2300" b="0" i="0">
                <a:solidFill>
                  <a:srgbClr val="FFFFFF"/>
                </a:solidFill>
                <a:latin typeface="Arial"/>
              </a:rPr>
              <a:t>, not field measurements.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3216875" y="3089694"/>
            <a:ext cx="11854250" cy="425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12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 AND DISCUSSION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The model covers the whole province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30352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4846320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6000" b="1" i="0">
                <a:solidFill>
                  <a:srgbClr val="8B0707"/>
                </a:solidFill>
                <a:latin typeface="Arial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74820"/>
            <a:ext cx="4754880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cities and municipalities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88920"/>
            <a:ext cx="530352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20840" y="2971800"/>
            <a:ext cx="4846320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6000" b="1" i="0">
                <a:solidFill>
                  <a:srgbClr val="8B0707"/>
                </a:solidFill>
                <a:latin typeface="Arial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274820"/>
            <a:ext cx="4754880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transit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61520" y="2788920"/>
            <a:ext cx="530352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390120" y="2971800"/>
            <a:ext cx="4846320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6000" b="1" i="0">
                <a:solidFill>
                  <a:srgbClr val="8B0707"/>
                </a:solidFill>
                <a:latin typeface="Arial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0" y="4274820"/>
            <a:ext cx="4754880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hospitals and infirmaries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669279"/>
            <a:ext cx="530352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5852159"/>
            <a:ext cx="4846320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6000" b="1" i="0">
                <a:solidFill>
                  <a:srgbClr val="8B0707"/>
                </a:solidFill>
                <a:latin typeface="Arial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155179"/>
            <a:ext cx="4754880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vehicle classes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5669279"/>
            <a:ext cx="530352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20840" y="5852159"/>
            <a:ext cx="4846320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6000" b="1" i="0">
                <a:solidFill>
                  <a:srgbClr val="8B0707"/>
                </a:solidFill>
                <a:latin typeface="Arial"/>
              </a:rPr>
              <a:t>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7155179"/>
            <a:ext cx="4754880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opportunity sites in the access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61520" y="5669279"/>
            <a:ext cx="530352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390120" y="5852159"/>
            <a:ext cx="4846320" cy="12508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6000" b="1" i="0">
                <a:solidFill>
                  <a:srgbClr val="8B0707"/>
                </a:solidFill>
                <a:latin typeface="Arial"/>
              </a:rPr>
              <a:t>1,437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0" y="7155179"/>
            <a:ext cx="4754880" cy="898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beds in service (1,363 licensed)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8732520"/>
            <a:ext cx="16642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000" b="1" i="0">
                <a:solidFill>
                  <a:srgbClr val="8B0707"/>
                </a:solidFill>
                <a:latin typeface="Arial"/>
              </a:rPr>
              <a:t>Services: </a:t>
            </a:r>
            <a:r>
              <a:rPr sz="2000" b="0" i="0">
                <a:solidFill>
                  <a:srgbClr val="2B2B2B"/>
                </a:solidFill>
                <a:latin typeface="Arial"/>
              </a:rPr>
              <a:t>city jeepney loops, provincial jeepneys, UV Express vans, provincial buses and the Legazpi–Rapu-Rapu motorboat.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Verification: every check passed on synthetic test instances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3035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4846320" cy="136062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800" b="1" i="0">
                <a:solidFill>
                  <a:srgbClr val="8B0707"/>
                </a:solidFill>
                <a:latin typeface="Arial"/>
              </a:rPr>
              <a:t>618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4754880" cy="1001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random journey queries match complete enumeration (H1)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88920"/>
            <a:ext cx="53035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20840" y="2971800"/>
            <a:ext cx="4846320" cy="136062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800" b="1" i="0">
                <a:solidFill>
                  <a:srgbClr val="8B0707"/>
                </a:solidFill>
                <a:latin typeface="Arial"/>
              </a:rPr>
              <a:t>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389120"/>
            <a:ext cx="4754880" cy="1001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random fare splits, subadditive in every one (H2)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61520" y="2788920"/>
            <a:ext cx="53035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390120" y="2971800"/>
            <a:ext cx="4846320" cy="136062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800" b="1" i="0">
                <a:solidFill>
                  <a:srgbClr val="8B0707"/>
                </a:solidFill>
                <a:latin typeface="Arial"/>
              </a:rPr>
              <a:t>11,620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0" y="4389120"/>
            <a:ext cx="4754880" cy="1001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O–D pairs with no vehicle-class violation (H4)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897879"/>
            <a:ext cx="53035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6080759"/>
            <a:ext cx="4846320" cy="136062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800" b="1" i="0">
                <a:solidFill>
                  <a:srgbClr val="8B0707"/>
                </a:solidFill>
                <a:latin typeface="Arial"/>
              </a:rPr>
              <a:t>5,200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498079"/>
            <a:ext cx="4754880" cy="1001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hospital-mode queries agree with reference code (H5)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5897879"/>
            <a:ext cx="53035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20840" y="6080759"/>
            <a:ext cx="4846320" cy="136062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800" b="1" i="0">
                <a:solidFill>
                  <a:srgbClr val="8B0707"/>
                </a:solidFill>
                <a:latin typeface="Arial"/>
              </a:rPr>
              <a:t>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7498079"/>
            <a:ext cx="4754880" cy="1001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forged bed reports, none accepted (H6)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61520" y="5897879"/>
            <a:ext cx="5303520" cy="2834640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390120" y="6080759"/>
            <a:ext cx="4846320" cy="136062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800" b="1" i="0">
                <a:solidFill>
                  <a:srgbClr val="8B0707"/>
                </a:solidFill>
                <a:latin typeface="Arial"/>
              </a:rPr>
              <a:t>47.5%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0" y="7498079"/>
            <a:ext cx="4754880" cy="1001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of reachable queries came out late with the naive single 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9646920"/>
            <a:ext cx="1664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E5E5E"/>
                </a:solidFill>
                <a:latin typeface="Arial"/>
              </a:rPr>
              <a:t>The naive single scan is the reason the app uses the full time-expanded search.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Thirty-minute access: share of all opportunities reachable by public transport</a:t>
            </a:r>
          </a:p>
        </p:txBody>
      </p:sp>
      <p:graphicFrame>
        <p:nvGraphicFramePr>
          <p:cNvPr id="8" name="Chart access 30 min"/>
          <p:cNvGraphicFramePr>
            <a:graphicFrameLocks noGrp="1"/>
          </p:cNvGraphicFramePr>
          <p:nvPr/>
        </p:nvGraphicFramePr>
        <p:xfrm>
          <a:off x="822960" y="2697480"/>
          <a:ext cx="11247120" cy="6903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2435840" y="274320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664440" y="2926080"/>
            <a:ext cx="4572000" cy="100949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400" b="1" i="0">
                <a:solidFill>
                  <a:srgbClr val="8B0707"/>
                </a:solidFill>
                <a:latin typeface="Arial"/>
              </a:rPr>
              <a:t>0.43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3977639"/>
            <a:ext cx="4480560" cy="672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population-weighted Gini at 30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35840" y="507492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664440" y="5257800"/>
            <a:ext cx="4572000" cy="100949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5400" b="1" i="0">
                <a:solidFill>
                  <a:srgbClr val="8B0707"/>
                </a:solidFill>
                <a:latin typeface="Arial"/>
              </a:rPr>
              <a:t>22.4%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0" y="6309360"/>
            <a:ext cx="4480560" cy="672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2B2B2B"/>
                </a:solidFill>
                <a:latin typeface="Arial"/>
              </a:rPr>
              <a:t>population-weighted mean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435840" y="740664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664440" y="740664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  <a:buNone/>
            </a:pPr>
            <a:r>
              <a:rPr sz="1900" b="1" i="0">
                <a:solidFill>
                  <a:srgbClr val="FFFFFF"/>
                </a:solidFill>
                <a:latin typeface="Arial"/>
              </a:rPr>
              <a:t>Rapu-Rapu (boat) and the Manito corridor drive most of the inequality.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9646920"/>
            <a:ext cx="1664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E5E5E"/>
                </a:solidFill>
                <a:latin typeface="Arial"/>
              </a:rPr>
              <a:t>Model output, MAP-A v49, typical traffic, measured from each poblacion. Opportunities: beds, school seats, jobs, essential goods.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Inequality of access falls as the time budget grows (H3)</a:t>
            </a:r>
          </a:p>
        </p:txBody>
      </p:sp>
      <p:graphicFrame>
        <p:nvGraphicFramePr>
          <p:cNvPr id="8" name="Chart Gini by budget"/>
          <p:cNvGraphicFramePr>
            <a:graphicFrameLocks noGrp="1"/>
          </p:cNvGraphicFramePr>
          <p:nvPr/>
        </p:nvGraphicFramePr>
        <p:xfrm>
          <a:off x="822960" y="2697480"/>
          <a:ext cx="9326880" cy="6766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10515600" y="2788920"/>
          <a:ext cx="6949440" cy="49926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1645920"/>
                <a:gridCol w="1645920"/>
                <a:gridCol w="164592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Gini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Theil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Palma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15 min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0.60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0.68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9.12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30 min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0.43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0.34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1.96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45 min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0.36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0.24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1.46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60 min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0.31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1.05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90 min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0.19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0.52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2B2B2B"/>
                          </a:solidFill>
                          <a:latin typeface="Arial"/>
                        </a:rPr>
                        <a:t>120 min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0.04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>
                          <a:solidFill>
                            <a:srgbClr val="2B2B2B"/>
                          </a:solidFill>
                          <a:latin typeface="Arial"/>
                        </a:rPr>
                        <a:t>0.35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515600" y="8001000"/>
            <a:ext cx="6949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At 30 min the richest 10% of residents hold </a:t>
            </a:r>
            <a:r>
              <a:rPr sz="1900" b="1" i="0">
                <a:solidFill>
                  <a:srgbClr val="8B0707"/>
                </a:solidFill>
                <a:latin typeface="Arial"/>
              </a:rPr>
              <a:t>2.0×</a:t>
            </a:r>
            <a:r>
              <a:rPr sz="1900" b="0" i="0">
                <a:solidFill>
                  <a:srgbClr val="2B2B2B"/>
                </a:solidFill>
                <a:latin typeface="Arial"/>
              </a:rPr>
              <a:t> the access of the poorest 40%; by 60 min the ratio is near parity.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9646920"/>
            <a:ext cx="1664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E5E5E"/>
                </a:solidFill>
                <a:latin typeface="Arial"/>
              </a:rPr>
              <a:t>Model output, MAP-A v49. Theil and Palma computed from the same population-weighted LGU scores.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Hospital mode: what the routing layer 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2578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Ambulance"/>
          <p:cNvSpPr/>
          <p:nvPr/>
        </p:nvSpPr>
        <p:spPr>
          <a:xfrm>
            <a:off x="114300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Ambulance" descr="FaAmbulanc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83" y="331744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310896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Stabilise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4526280" cy="347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2B2B2B"/>
                </a:solidFill>
                <a:latin typeface="Arial"/>
              </a:rPr>
              <a:t>From Libon, Pantao, Tiwi, Bacacay and Pio Duran the nearest open ER is more than 15 min nearer than a Level 3 hospital, so acuity-1 patients go there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0" y="2788920"/>
            <a:ext cx="52578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Road"/>
          <p:cNvSpPr/>
          <p:nvPr/>
        </p:nvSpPr>
        <p:spPr>
          <a:xfrm>
            <a:off x="683514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Road" descr="FaRoa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623" y="3317443"/>
            <a:ext cx="451713" cy="451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8140" y="310896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A missing road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0860" y="4206240"/>
            <a:ext cx="4526280" cy="347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2B2B2B"/>
                </a:solidFill>
                <a:latin typeface="Arial"/>
              </a:rPr>
              <a:t>Adding the Malilipot–Sogod–Bacacay coastal road cut Sogod–Malilipot from 18.0 km to 4.2 km; an ambulance from Sogod now reaches care in 19 min.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07240" y="2788920"/>
            <a:ext cx="52578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ExclamationTriangle"/>
          <p:cNvSpPr/>
          <p:nvPr/>
        </p:nvSpPr>
        <p:spPr>
          <a:xfrm>
            <a:off x="1252728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ExclamationTriangle" descr="FaExclamationTriang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5763" y="3317443"/>
            <a:ext cx="451713" cy="4517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670280" y="310896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Zeros were missing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0" y="4206240"/>
            <a:ext cx="4526280" cy="347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2B2B2B"/>
                </a:solidFill>
                <a:latin typeface="Arial"/>
              </a:rPr>
              <a:t>Eight towns read 0% hospital access until 13 licensed hospitals were added; the opportunity Gini fell from 0.53 to 0.31.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8229600"/>
            <a:ext cx="16642080" cy="118872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188720" y="8229600"/>
            <a:ext cx="15910559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200" b="0" i="0">
                <a:solidFill>
                  <a:srgbClr val="FFFFFF"/>
                </a:solidFill>
                <a:latin typeface="Arial"/>
              </a:rPr>
              <a:t>A hospital that has not reported is shown as </a:t>
            </a:r>
            <a:r>
              <a:rPr sz="2200" b="1" i="0">
                <a:solidFill>
                  <a:srgbClr val="FFFFFF"/>
                </a:solidFill>
                <a:latin typeface="Arial"/>
              </a:rPr>
              <a:t>unknown</a:t>
            </a:r>
            <a:r>
              <a:rPr sz="2200" b="0" i="0">
                <a:solidFill>
                  <a:srgbClr val="FFFFFF"/>
                </a:solidFill>
                <a:latin typeface="Arial"/>
              </a:rPr>
              <a:t>, never as available. Capacity is never rendered as a free bed.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The model deployed: MAP-A web application, version 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25780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Route"/>
          <p:cNvSpPr/>
          <p:nvPr/>
        </p:nvSpPr>
        <p:spPr>
          <a:xfrm>
            <a:off x="1143000" y="310896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Route" descr="FaRout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510" y="3306470"/>
            <a:ext cx="427939" cy="4279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40279" y="310896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Door-to-door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4526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2B2B2B"/>
                </a:solidFill>
                <a:latin typeface="Arial"/>
              </a:rPr>
              <a:t>Fastest, shortest, fewest transfers or cheapest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0" y="2788920"/>
            <a:ext cx="525780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Calculator"/>
          <p:cNvSpPr/>
          <p:nvPr/>
        </p:nvSpPr>
        <p:spPr>
          <a:xfrm>
            <a:off x="6835140" y="310896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Calculator" descr="FaCalculato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650" y="3306470"/>
            <a:ext cx="427939" cy="4279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32420" y="310896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Legal fares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0860" y="4160520"/>
            <a:ext cx="4526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2B2B2B"/>
                </a:solidFill>
                <a:latin typeface="Arial"/>
              </a:rPr>
              <a:t>LTFRB matrix per leg, 20% discount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07240" y="2788920"/>
            <a:ext cx="525780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MapMarkedAlt"/>
          <p:cNvSpPr/>
          <p:nvPr/>
        </p:nvSpPr>
        <p:spPr>
          <a:xfrm>
            <a:off x="12527280" y="310896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MapMarkedAlt" descr="FaMapMarkedA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4790" y="3306470"/>
            <a:ext cx="427939" cy="4279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624560" y="310896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Thirty-minute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0" y="4160520"/>
            <a:ext cx="4526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2B2B2B"/>
                </a:solidFill>
                <a:latin typeface="Arial"/>
              </a:rPr>
              <a:t>Access map, budget 15–120 min, Gini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6172200"/>
            <a:ext cx="525780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Disc FaTruck"/>
          <p:cNvSpPr/>
          <p:nvPr/>
        </p:nvSpPr>
        <p:spPr>
          <a:xfrm>
            <a:off x="1143000" y="6492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Icon FaTruck" descr="FaTru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0510" y="6689750"/>
            <a:ext cx="427939" cy="4279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40279" y="649224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Vehicle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7543800"/>
            <a:ext cx="4526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2B2B2B"/>
                </a:solidFill>
                <a:latin typeface="Arial"/>
              </a:rPr>
              <a:t>Ten classes; relief trucks avoid unfit roads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5100" y="6172200"/>
            <a:ext cx="525780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Disc FaHospital"/>
          <p:cNvSpPr/>
          <p:nvPr/>
        </p:nvSpPr>
        <p:spPr>
          <a:xfrm>
            <a:off x="6835140" y="6492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Icon FaHospital" descr="FaHospita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2650" y="6689750"/>
            <a:ext cx="427939" cy="42793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32420" y="649224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Hospital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0860" y="7543800"/>
            <a:ext cx="4526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2B2B2B"/>
                </a:solidFill>
                <a:latin typeface="Arial"/>
              </a:rPr>
              <a:t>Acuity, payment class, beds, one-tap 911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207240" y="6172200"/>
            <a:ext cx="525780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Disc FaWifi"/>
          <p:cNvSpPr/>
          <p:nvPr/>
        </p:nvSpPr>
        <p:spPr>
          <a:xfrm>
            <a:off x="12527280" y="6492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Icon FaWifi" descr="FaWifi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4790" y="6689750"/>
            <a:ext cx="427939" cy="42793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624560" y="6492240"/>
            <a:ext cx="35204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Works offline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3000" y="7543800"/>
            <a:ext cx="4526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2B2B2B"/>
                </a:solidFill>
                <a:latin typeface="Arial"/>
              </a:rPr>
              <a:t>Installs from the browser; about 2 MB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9646920"/>
            <a:ext cx="1664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1">
                <a:solidFill>
                  <a:srgbClr val="5E5E5E"/>
                </a:solidFill>
                <a:latin typeface="Arial"/>
              </a:rPr>
              <a:t>https://pogi6969.github.io/MAP---A/  ·  Features have not yet been tested with outside users.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Decision on each hypothesis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22960" y="2788920"/>
          <a:ext cx="10424160" cy="6272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6949440"/>
                <a:gridCol w="2468880"/>
              </a:tblGrid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8B070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618 / 618 queries equal to complete enumeration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Supported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1,000 / 1,000 fare splits subadditive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Supported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Gini 0.60 at 15 min → 0.10 at 120 min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Supported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H4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0 violations in 11,620 O–D pairs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Supported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H5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5,200 / 5,200 hospital queries agree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Supported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2B2B2B"/>
                          </a:solidFill>
                          <a:latin typeface="Arial"/>
                        </a:rPr>
                        <a:t>H6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0 of 200 forged reports accepted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Arial"/>
                        </a:rPr>
                        <a:t>Supported</a:t>
                      </a:r>
                    </a:p>
                  </a:txBody>
                  <a:tcPr marL="109728" marR="109728" marT="45720" marB="45720" anchor="ctr">
                    <a:lnL w="9525">
                      <a:solidFill>
                        <a:srgbClr val="E3C9C9"/>
                      </a:solidFill>
                    </a:lnL>
                    <a:lnR w="9525">
                      <a:solidFill>
                        <a:srgbClr val="E3C9C9"/>
                      </a:solidFill>
                    </a:lnR>
                    <a:lnT w="9525">
                      <a:solidFill>
                        <a:srgbClr val="E3C9C9"/>
                      </a:solidFill>
                    </a:lnT>
                    <a:lnB w="9525">
                      <a:solidFill>
                        <a:srgbClr val="E3C9C9"/>
                      </a:solidFill>
                    </a:lnB>
                    <a:solidFill>
                      <a:srgbClr val="F7E9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1704320" y="2788920"/>
            <a:ext cx="5760720" cy="6263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Disc FaLightbulb"/>
          <p:cNvSpPr/>
          <p:nvPr/>
        </p:nvSpPr>
        <p:spPr>
          <a:xfrm>
            <a:off x="12024360" y="3063240"/>
            <a:ext cx="822960" cy="82296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Icon FaLightbulb" descr="FaLightbul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1870" y="326075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030200" y="306324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500" b="1" i="0">
                <a:solidFill>
                  <a:srgbClr val="8B0707"/>
                </a:solidFill>
                <a:latin typeface="Arial"/>
              </a:rPr>
              <a:t>What it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0" y="4160520"/>
            <a:ext cx="5029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07340" indent="-307340">
              <a:lnSpc>
                <a:spcPct val="103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Exactness matters: a common shortcut was late on 47.5% of queries.</a:t>
            </a:r>
          </a:p>
          <a:p>
            <a:pPr algn="l" marL="307340" indent="-307340">
              <a:lnSpc>
                <a:spcPct val="103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Inequality is a short-trip problem; it fades as budgets lengthen.</a:t>
            </a:r>
          </a:p>
          <a:p>
            <a:pPr algn="l" marL="307340" indent="-307340">
              <a:lnSpc>
                <a:spcPct val="103000"/>
              </a:lnSpc>
              <a:spcAft>
                <a:spcPts val="1400"/>
              </a:spcAft>
              <a:buClr>
                <a:srgbClr val="8B0707"/>
              </a:buClr>
              <a:buFont typeface="Arial"/>
              <a:buChar char="■"/>
            </a:pPr>
            <a:r>
              <a:rPr sz="2200" b="0" i="0">
                <a:solidFill>
                  <a:srgbClr val="2B2B2B"/>
                </a:solidFill>
                <a:latin typeface="Arial"/>
              </a:rPr>
              <a:t>Missing data can masquerade as inaccessibility.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Conclusions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8138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Database"/>
          <p:cNvSpPr/>
          <p:nvPr/>
        </p:nvSpPr>
        <p:spPr>
          <a:xfrm>
            <a:off x="114300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Database" descr="Fa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83" y="331744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Open data is enough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7406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A province-wide timetable model of informal transport can be built from public registers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788920"/>
            <a:ext cx="8138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CheckCircle"/>
          <p:cNvSpPr/>
          <p:nvPr/>
        </p:nvSpPr>
        <p:spPr>
          <a:xfrm>
            <a:off x="964692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CheckCircle" descr="Fa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403" y="3317443"/>
            <a:ext cx="451713" cy="451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0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Verified, not assumed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206240"/>
            <a:ext cx="7406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Routing, fares, vehicle limits, hospital answers and the bed validator all matched independent reference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6263640"/>
            <a:ext cx="8138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BalanceScale"/>
          <p:cNvSpPr/>
          <p:nvPr/>
        </p:nvSpPr>
        <p:spPr>
          <a:xfrm>
            <a:off x="1143000" y="6583679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BalanceScale" descr="FaBalanceSca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483" y="6792163"/>
            <a:ext cx="451713" cy="4517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0" y="6583679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Access is unequal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7680959"/>
            <a:ext cx="7406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At 30 min the Gini is 0.43; island and thin-corridor towns are left behind.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6263640"/>
            <a:ext cx="8138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Disc FaHospital"/>
          <p:cNvSpPr/>
          <p:nvPr/>
        </p:nvSpPr>
        <p:spPr>
          <a:xfrm>
            <a:off x="9646920" y="6583679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Icon FaHospital" descr="FaHospital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403" y="6792163"/>
            <a:ext cx="451713" cy="45171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789920" y="6583679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Beds can be tracked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7680959"/>
            <a:ext cx="7406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Five e-mail agents can collect and validate free-bed reports without new hardware.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400" b="0" i="1">
                <a:solidFill>
                  <a:srgbClr val="5C0404"/>
                </a:solidFill>
                <a:latin typeface="Arial"/>
              </a:rPr>
              <a:t>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8138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isc FaLandmark"/>
          <p:cNvSpPr/>
          <p:nvPr/>
        </p:nvSpPr>
        <p:spPr>
          <a:xfrm>
            <a:off x="114300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Icon FaLandmark" descr="FaLandm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83" y="331744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Provincial Government and LGUs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7406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Prioritise service on the Rapu-Rapu and Manito corridors; publish route and fare data as GTFS.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788920"/>
            <a:ext cx="8138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isc FaHospital"/>
          <p:cNvSpPr/>
          <p:nvPr/>
        </p:nvSpPr>
        <p:spPr>
          <a:xfrm>
            <a:off x="9646920" y="3108960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Icon FaHospital" descr="FaHospita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403" y="3317443"/>
            <a:ext cx="451713" cy="451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0" y="310896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Provincial Health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206240"/>
            <a:ext cx="7406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Pilot the bed-reporting agents with consenting hospitals after SRC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6263640"/>
            <a:ext cx="8138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sc FaBusAlt"/>
          <p:cNvSpPr/>
          <p:nvPr/>
        </p:nvSpPr>
        <p:spPr>
          <a:xfrm>
            <a:off x="1143000" y="6583679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FaBusAlt" descr="FaBusA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483" y="6792163"/>
            <a:ext cx="451713" cy="4517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0" y="6583679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LTFRB and transport operators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7680959"/>
            <a:ext cx="7406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Release official route lists so modelled corridors can be replaced by surveyed ones.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6263640"/>
            <a:ext cx="8138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Disc FaGraduationCap"/>
          <p:cNvSpPr/>
          <p:nvPr/>
        </p:nvSpPr>
        <p:spPr>
          <a:xfrm>
            <a:off x="9646920" y="6583679"/>
            <a:ext cx="868680" cy="868680"/>
          </a:xfrm>
          <a:prstGeom prst="ellipse">
            <a:avLst/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Icon FaGraduationCap" descr="FaGraduationCap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403" y="6792163"/>
            <a:ext cx="451713" cy="45171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789920" y="6583679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8B0707"/>
                </a:solidFill>
                <a:latin typeface="Arial"/>
              </a:rPr>
              <a:t>Future researchers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7680959"/>
            <a:ext cx="7406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2B2B2B"/>
                </a:solidFill>
                <a:latin typeface="Arial"/>
              </a:rPr>
              <a:t>Validate with GPS traces and field-timed headways; extend to other Bicol provinces.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6642080" cy="768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Cobham, A., &amp; Sumner, A. (2013). Is it all about the tails? The Palma measure of income inequality. Center for Global Development, Working Paper 343.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Delbosc, A., &amp; Currie, G. (2011). Using Lorenz curves to assess public transport equity. Journal of Transport Geography, 19(6), 1252–1259.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Delling, D., Pajor, T., &amp; Werneck, R. F. (2015). Round-based public transit routing. Transportation Science, 49(3), 591–604.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Dijkstra, E. W. (1959). A note on two problems in connexion with graphs. Numerische Mathematik, 1, 269–271.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Geurs, K. T., &amp; van Wee, B. (2004). Accessibility evaluation of land-use and transport strategies: Review and research directions. Journal of Transport Geography, 12(2), 127–140.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Gini, C. (1912). Variabilità e mutabilità. Tipografia di Paolo Cuppini.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Hansen, W. G. (1959). How accessibility shapes land use. Journal of the American Institute of Planners, 25(2), 73–76.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Lucas, K., van Wee, B., &amp; Maat, K. (2016). A method to evaluate equitable accessibility. Transportation, 43(3), 473–490.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Ouma, P. O., et al. (2018). Access to emergency hospital care provided by the public sector in sub-Saharan Africa in 2015. The Lancet Global Health, 6(3), e342–e350.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84048"/>
            <a:ext cx="17556480" cy="122976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lang="en-US" sz="5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6642080" cy="768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Philippine Statistics Authority. (2021). 2020 Census of Population and Housing.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Pyrga, E., Schulz, F., Wagner, D., &amp; Zaroliagis, C. (2008). Efficient models for timetable information in public transportation systems. ACM Journal of Experimental Algorithmics, 12, 2.4.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Republic Act No. 10173. (2012). Data Privacy Act of 2012.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Republic Act No. 10932. (2017). An Act strengthening the anti-hospital deposit law.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Theil, H. (1967). Economics and information theory. North-Holland.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Weiss, D. J., et al. (2020). Global maps of travel time to healthcare facilities. Nature Medicine, 26, 1835–1838.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Williams, S., White, A., Waiganjo, P., Orwa, D., &amp; Klopp, J. (2015). The digital matatu project. Journal of Transport Geography, 49, 39–51.</a:t>
            </a:r>
          </a:p>
          <a:p>
            <a:pPr algn="l" marL="457200" indent="-457200">
              <a:lnSpc>
                <a:spcPct val="100000"/>
              </a:lnSpc>
              <a:spcAft>
                <a:spcPts val="1100"/>
              </a:spcAft>
              <a:buNone/>
            </a:pPr>
            <a:r>
              <a:rPr sz="1900" b="0" i="0">
                <a:solidFill>
                  <a:srgbClr val="2B2B2B"/>
                </a:solidFill>
                <a:latin typeface="Arial"/>
              </a:rPr>
              <a:t>Wooldridge, M. (2009). An introduction to multiagent systems (2nd ed.). Wiley.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91</Words>
  <Application>Microsoft Office PowerPoint</Application>
  <PresentationFormat>Custom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ITC Avant Garde Gothic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PR2 TEMPLATE</dc:title>
  <cp:lastModifiedBy>Dave Justin De Asis</cp:lastModifiedBy>
  <cp:revision>2</cp:revision>
  <dcterms:created xsi:type="dcterms:W3CDTF">2006-08-16T00:00:00Z</dcterms:created>
  <dcterms:modified xsi:type="dcterms:W3CDTF">2026-10-08T04:57:00Z</dcterms:modified>
  <dc:identifier>DAHXUrdeoSg</dc:identifier>
</cp:coreProperties>
</file>