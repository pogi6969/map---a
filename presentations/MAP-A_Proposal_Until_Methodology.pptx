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1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64" r:id="rId10"/>
    <p:sldId id="265" r:id="rId11"/>
  </p:sldIdLst>
  <p:sldSz cx="18288000" cy="10287000"/>
  <p:notesSz cx="6858000" cy="9144000"/>
  <p:embeddedFontLst>
    <p:embeddedFont>
      <p:font typeface="ITC Avant Garde Gothic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119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font" Target="fonts/font1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8B0707"/>
                </a:solidFill>
              </a:rPr>
              <a:t>Population by legislative district, 2020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 (2020)</c:v>
                </c:pt>
              </c:strCache>
            </c:strRef>
          </c:tx>
          <c:spPr>
            <a:solidFill>
              <a:srgbClr val="8B0707"/>
            </a:solidFill>
          </c:spPr>
          <c:cat>
            <c:strRef>
              <c:f>Sheet1!$A$2:$A$4</c:f>
              <c:strCache>
                <c:ptCount val="3"/>
                <c:pt idx="0">
                  <c:v>First District</c:v>
                </c:pt>
                <c:pt idx="1">
                  <c:v>Second District</c:v>
                </c:pt>
                <c:pt idx="2">
                  <c:v>Third District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395907</c:v>
                </c:pt>
                <c:pt idx="1">
                  <c:v>477781</c:v>
                </c:pt>
                <c:pt idx="2">
                  <c:v>501080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8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000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7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day. We present our study, a landmark-anchored timetable-graph model of informal public transport in Albay, with verified accessibility and inequality measures and a hospital routing layer fed by agent-reported bed capacity. Researchers: Brimbuela, De Asis and Shin; adviser: Mr. Dick Anthony M. Calleja, Legazpi City Science High School.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scene: Albay depends on informal transport that has no published data. Name the three groups who pay for that gap: riders, planners and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gaps, one model. Each card is a problem that the later objectives answer one by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strands of literature. Read the left column, point to the right column for what we take from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Synthesis: the methods exist separately, but nobody has combined them for informal transport in a Philippine province, with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theories, each anchoring one part of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Input-Process-Output paradigm. Inputs are all public registers; the feedback loop is verification against independent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benefits, and how. Keep it to one sentence per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General objective first, then the six specific objectives. Each specific objective maps to one method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Computational hypotheses, each with a decisive test. A single counter-example rejects H1, H2, H4, H5 and H6.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 design and locale. Developmental-computational: specify, implement, verify,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sources. Stress that there are no respondents; each layer traces to a public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stages from open data to the app. Stages 1-3 build data, 4-5 compute access, 6-7 the hospital layer, 8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formulation. Define the graph, the earliest-arrival query and the fare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Accessibility and inequality measures. Cumulative opportunity, then population-weighted Gini, Theil, Palma and Lorenz.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Hospital routing rules. Acuity sets the minimum care level and the ER requirement; payment class filters cost except for acuity 1-2.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Bed-reporting agents. Five roles, strict contact limits, and a report expires after 12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Verification and data analysis. Each component is checked against independent reference code on synthetic instances before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Ethics, scope and delimitations. No hospital contacted before SRC approval; results are model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4.sv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2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21.png"/><Relationship Id="rId5" Type="http://schemas.openxmlformats.org/officeDocument/2006/relationships/chart" Target="../charts/char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6.png"/><Relationship Id="rId7" Type="http://schemas.openxmlformats.org/officeDocument/2006/relationships/image" Target="../media/image12.png"/><Relationship Id="rId8" Type="http://schemas.openxmlformats.org/officeDocument/2006/relationships/image" Target="../media/image7.png"/><Relationship Id="rId9" Type="http://schemas.openxmlformats.org/officeDocument/2006/relationships/image" Target="../media/image18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12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25.png"/><Relationship Id="rId5" Type="http://schemas.openxmlformats.org/officeDocument/2006/relationships/image" Target="../media/image23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2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308939" y="-440152"/>
            <a:ext cx="3942365" cy="3942365"/>
          </a:xfrm>
          <a:custGeom>
            <a:avLst/>
            <a:gdLst/>
            <a:ahLst/>
            <a:cxnLst/>
            <a:rect l="l" t="t" r="r" b="b"/>
            <a:pathLst>
              <a:path w="3942365" h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/>
          <p:cNvSpPr/>
          <p:nvPr/>
        </p:nvSpPr>
        <p:spPr>
          <a:xfrm flipH="1">
            <a:off x="15910979" y="7909979"/>
            <a:ext cx="2696641" cy="2696641"/>
          </a:xfrm>
          <a:custGeom>
            <a:avLst/>
            <a:gdLst/>
            <a:ahLst/>
            <a:cxnLst/>
            <a:rect l="l" t="t" r="r" b="b"/>
            <a:pathLst>
              <a:path w="2696641" h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Freeform 4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5" name="Freeform 5"/>
          <p:cNvSpPr/>
          <p:nvPr/>
        </p:nvSpPr>
        <p:spPr>
          <a:xfrm>
            <a:off x="699585" y="546888"/>
            <a:ext cx="2392319" cy="2426082"/>
          </a:xfrm>
          <a:custGeom>
            <a:avLst/>
            <a:gdLst/>
            <a:ahLst/>
            <a:cxnLst/>
            <a:rect l="l" t="t" r="r" b="b"/>
            <a:pathLst>
              <a:path w="2392319" h="2426082">
                <a:moveTo>
                  <a:pt x="0" y="0"/>
                </a:moveTo>
                <a:lnTo>
                  <a:pt x="2392319" y="0"/>
                </a:lnTo>
                <a:lnTo>
                  <a:pt x="2392319" y="2426082"/>
                </a:lnTo>
                <a:lnTo>
                  <a:pt x="0" y="24260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6" name="TextBox 6"/>
          <p:cNvSpPr txBox="1"/>
          <p:nvPr/>
        </p:nvSpPr>
        <p:spPr>
          <a:xfrm>
            <a:off x="1662243" y="2438344"/>
            <a:ext cx="15482757" cy="57246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200" b="1" dirty="0">
                <a:solidFill>
                  <a:srgbClr val="FFFFFF"/>
                </a:solidFill>
                <a:latin typeface="Times New Roman" panose="02020603050405020304" pitchFamily="18" charset="0"/>
                <a:ea typeface="ITC Avant Garde Gothic"/>
                <a:cs typeface="Times New Roman" panose="02020603050405020304" pitchFamily="18" charset="0"/>
                <a:sym typeface="ITC Avant Garde Gothic"/>
              </a:rPr>
              <a:t>A Landmark-Anchored Timetable-Graph Model of Informal Public Transport: Verified Computation of Accessibility and Its Inequality from Open Data, with Agent-Reported Hospital Bed Capacity for Ambulance and Patient Routing</a:t>
            </a:r>
          </a:p>
        </p:txBody>
      </p:sp>
      <p:sp>
        <p:nvSpPr>
          <p:cNvPr id="7" name="AutoShape 7"/>
          <p:cNvSpPr/>
          <p:nvPr/>
        </p:nvSpPr>
        <p:spPr>
          <a:xfrm>
            <a:off x="3200400" y="8123027"/>
            <a:ext cx="1164656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 dirty="0"/>
          </a:p>
        </p:txBody>
      </p:sp>
      <p:sp>
        <p:nvSpPr>
          <p:cNvPr id="8" name="AutoShape 8"/>
          <p:cNvSpPr/>
          <p:nvPr/>
        </p:nvSpPr>
        <p:spPr>
          <a:xfrm>
            <a:off x="3200400" y="9791700"/>
            <a:ext cx="1164656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Box 9"/>
          <p:cNvSpPr txBox="1"/>
          <p:nvPr/>
        </p:nvSpPr>
        <p:spPr>
          <a:xfrm>
            <a:off x="4048686" y="8123027"/>
            <a:ext cx="9949987" cy="1676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5"/>
              </a:lnSpc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ITC Avant Garde Gothic"/>
                <a:cs typeface="Times New Roman" panose="02020603050405020304" pitchFamily="18" charset="0"/>
                <a:sym typeface="ITC Avant Garde Gothic"/>
              </a:rPr>
              <a:t>Brimbuela, Peter John A.</a:t>
            </a:r>
          </a:p>
          <a:p>
            <a:pPr algn="ctr">
              <a:lnSpc>
                <a:spcPts val="4315"/>
              </a:lnSpc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ITC Avant Garde Gothic"/>
                <a:cs typeface="Times New Roman" panose="02020603050405020304" pitchFamily="18" charset="0"/>
                <a:sym typeface="ITC Avant Garde Gothic"/>
              </a:rPr>
              <a:t> De Asis, Dave Justin Ll. </a:t>
            </a:r>
          </a:p>
          <a:p>
            <a:pPr algn="ctr">
              <a:lnSpc>
                <a:spcPts val="4315"/>
              </a:lnSpc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ITC Avant Garde Gothic"/>
                <a:cs typeface="Times New Roman" panose="02020603050405020304" pitchFamily="18" charset="0"/>
                <a:sym typeface="ITC Avant Garde Gothic"/>
              </a:rPr>
              <a:t>Shin, Yeaseong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308939" y="-440152"/>
            <a:ext cx="3942365" cy="3942365"/>
          </a:xfrm>
          <a:custGeom>
            <a:avLst/>
            <a:gdLst/>
            <a:ahLst/>
            <a:cxnLst/>
            <a:rect l="l" t="t" r="r" b="b"/>
            <a:pathLst>
              <a:path w="3942365" h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3216875" y="3089694"/>
            <a:ext cx="11854250" cy="4250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2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QUESTIONS &amp; ANSWERS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15910979" y="7909979"/>
            <a:ext cx="2696641" cy="2696641"/>
          </a:xfrm>
          <a:custGeom>
            <a:avLst/>
            <a:gdLst/>
            <a:ahLst/>
            <a:cxnLst/>
            <a:rect l="l" t="t" r="r" b="b"/>
            <a:pathLst>
              <a:path w="2696641" h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5" name="Freeform 5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308939" y="-440152"/>
            <a:ext cx="3942365" cy="3942365"/>
          </a:xfrm>
          <a:custGeom>
            <a:avLst/>
            <a:gdLst/>
            <a:ahLst/>
            <a:cxnLst/>
            <a:rect l="l" t="t" r="r" b="b"/>
            <a:pathLst>
              <a:path w="3942365" h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2691817" y="4031050"/>
            <a:ext cx="12904366" cy="236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33"/>
              </a:lnSpc>
            </a:pPr>
            <a:r>
              <a:rPr lang="en-US" sz="16481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15910979" y="7909979"/>
            <a:ext cx="2696641" cy="2696641"/>
          </a:xfrm>
          <a:custGeom>
            <a:avLst/>
            <a:gdLst/>
            <a:ahLst/>
            <a:cxnLst/>
            <a:rect l="l" t="t" r="r" b="b"/>
            <a:pathLst>
              <a:path w="2696641" h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5" name="Freeform 5"/>
          <p:cNvSpPr/>
          <p:nvPr/>
        </p:nvSpPr>
        <p:spPr>
          <a:xfrm>
            <a:off x="5486400" y="7677223"/>
            <a:ext cx="7315200" cy="465513"/>
          </a:xfrm>
          <a:custGeom>
            <a:avLst/>
            <a:gdLst/>
            <a:ahLst/>
            <a:cxnLst/>
            <a:rect l="l" t="t" r="r" b="b"/>
            <a:pathLst>
              <a:path w="7315200" h="465513">
                <a:moveTo>
                  <a:pt x="0" y="0"/>
                </a:moveTo>
                <a:lnTo>
                  <a:pt x="7315200" y="0"/>
                </a:lnTo>
                <a:lnTo>
                  <a:pt x="7315200" y="465513"/>
                </a:lnTo>
                <a:lnTo>
                  <a:pt x="0" y="465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6" name="Freeform 6"/>
          <p:cNvSpPr/>
          <p:nvPr/>
        </p:nvSpPr>
        <p:spPr>
          <a:xfrm>
            <a:off x="7534466" y="-2049686"/>
            <a:ext cx="3219068" cy="3219068"/>
          </a:xfrm>
          <a:custGeom>
            <a:avLst/>
            <a:gdLst/>
            <a:ahLst/>
            <a:cxnLst/>
            <a:rect l="l" t="t" r="r" b="b"/>
            <a:pathLst>
              <a:path w="3219068" h="3219068">
                <a:moveTo>
                  <a:pt x="0" y="0"/>
                </a:moveTo>
                <a:lnTo>
                  <a:pt x="3219068" y="0"/>
                </a:lnTo>
                <a:lnTo>
                  <a:pt x="3219068" y="3219068"/>
                </a:lnTo>
                <a:lnTo>
                  <a:pt x="0" y="32190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7" name="Freeform 7"/>
          <p:cNvSpPr/>
          <p:nvPr/>
        </p:nvSpPr>
        <p:spPr>
          <a:xfrm>
            <a:off x="-837818" y="7909979"/>
            <a:ext cx="3219068" cy="3219068"/>
          </a:xfrm>
          <a:custGeom>
            <a:avLst/>
            <a:gdLst/>
            <a:ahLst/>
            <a:cxnLst/>
            <a:rect l="l" t="t" r="r" b="b"/>
            <a:pathLst>
              <a:path w="3219068" h="3219068">
                <a:moveTo>
                  <a:pt x="0" y="0"/>
                </a:moveTo>
                <a:lnTo>
                  <a:pt x="3219068" y="0"/>
                </a:lnTo>
                <a:lnTo>
                  <a:pt x="3219068" y="3219069"/>
                </a:lnTo>
                <a:lnTo>
                  <a:pt x="0" y="32190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8" name="Freeform 8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Background of the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9509760" cy="6583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49250" indent="-349250">
              <a:lnSpc>
                <a:spcPct val="108000"/>
              </a:lnSpc>
              <a:spcAft>
                <a:spcPts val="1600"/>
              </a:spcAft>
              <a:buClr>
                <a:srgbClr val="8B0707"/>
              </a:buClr>
              <a:buFont typeface="Arial"/>
              <a:buChar char="■"/>
            </a:pPr>
            <a:r>
              <a:rPr sz="2500" b="0" i="0">
                <a:solidFill>
                  <a:srgbClr val="2B2B2B"/>
                </a:solidFill>
                <a:latin typeface="Arial"/>
              </a:rPr>
              <a:t>Albay’s 1.37 million residents move mainly by </a:t>
            </a:r>
            <a:r>
              <a:rPr sz="2500" b="1" i="0">
                <a:solidFill>
                  <a:srgbClr val="2B2B2B"/>
                </a:solidFill>
                <a:latin typeface="Arial"/>
              </a:rPr>
              <a:t>jeepney, UV Express van, bus and tricycle</a:t>
            </a:r>
            <a:r>
              <a:rPr sz="2500" b="0" i="0">
                <a:solidFill>
                  <a:srgbClr val="2B2B2B"/>
                </a:solidFill>
                <a:latin typeface="Arial"/>
              </a:rPr>
              <a:t> — informal services with no published timetables, stop lists or route maps.</a:t>
            </a:r>
          </a:p>
          <a:p>
            <a:pPr algn="l" marL="349250" indent="-349250">
              <a:lnSpc>
                <a:spcPct val="108000"/>
              </a:lnSpc>
              <a:spcAft>
                <a:spcPts val="1600"/>
              </a:spcAft>
              <a:buClr>
                <a:srgbClr val="8B0707"/>
              </a:buClr>
              <a:buFont typeface="Arial"/>
              <a:buChar char="■"/>
            </a:pPr>
            <a:r>
              <a:rPr sz="2500" b="0" i="0">
                <a:solidFill>
                  <a:srgbClr val="2B2B2B"/>
                </a:solidFill>
                <a:latin typeface="Arial"/>
              </a:rPr>
              <a:t>Riders cannot know the route, travel time or legal fare before they ride.</a:t>
            </a:r>
          </a:p>
          <a:p>
            <a:pPr algn="l" marL="349250" indent="-349250">
              <a:lnSpc>
                <a:spcPct val="108000"/>
              </a:lnSpc>
              <a:spcAft>
                <a:spcPts val="1600"/>
              </a:spcAft>
              <a:buClr>
                <a:srgbClr val="8B0707"/>
              </a:buClr>
              <a:buFont typeface="Arial"/>
              <a:buChar char="■"/>
            </a:pPr>
            <a:r>
              <a:rPr sz="2500" b="0" i="0">
                <a:solidFill>
                  <a:srgbClr val="2B2B2B"/>
                </a:solidFill>
                <a:latin typeface="Arial"/>
              </a:rPr>
              <a:t>Planners cannot measure which towns are under-served, or how unevenly access is shared.</a:t>
            </a:r>
          </a:p>
          <a:p>
            <a:pPr algn="l" marL="349250" indent="-349250">
              <a:lnSpc>
                <a:spcPct val="108000"/>
              </a:lnSpc>
              <a:spcAft>
                <a:spcPts val="1600"/>
              </a:spcAft>
              <a:buClr>
                <a:srgbClr val="8B0707"/>
              </a:buClr>
              <a:buFont typeface="Arial"/>
              <a:buChar char="■"/>
            </a:pPr>
            <a:r>
              <a:rPr sz="2500" b="0" i="0">
                <a:solidFill>
                  <a:srgbClr val="2B2B2B"/>
                </a:solidFill>
                <a:latin typeface="Arial"/>
              </a:rPr>
              <a:t>Ambulance crews and families cannot see which hospital still has a </a:t>
            </a:r>
            <a:r>
              <a:rPr sz="2500" b="1" i="0">
                <a:solidFill>
                  <a:srgbClr val="2B2B2B"/>
                </a:solidFill>
                <a:latin typeface="Arial"/>
              </a:rPr>
              <a:t>free bed</a:t>
            </a:r>
            <a:r>
              <a:rPr sz="2500" b="0" i="0">
                <a:solidFill>
                  <a:srgbClr val="2B2B2B"/>
                </a:solidFill>
                <a:latin typeface="Arial"/>
              </a:rPr>
              <a:t>.</a:t>
            </a:r>
          </a:p>
          <a:p>
            <a:pPr algn="l" marL="349250" indent="-349250">
              <a:lnSpc>
                <a:spcPct val="108000"/>
              </a:lnSpc>
              <a:spcAft>
                <a:spcPts val="1600"/>
              </a:spcAft>
              <a:buClr>
                <a:srgbClr val="8B0707"/>
              </a:buClr>
              <a:buFont typeface="Arial"/>
              <a:buChar char="■"/>
            </a:pPr>
            <a:r>
              <a:rPr sz="2500" b="0" i="0">
                <a:solidFill>
                  <a:srgbClr val="2B2B2B"/>
                </a:solidFill>
                <a:latin typeface="Arial"/>
              </a:rPr>
              <a:t>Typhoons and Mayon Volcano alerts make reliable routing for people, relief trucks and ambulances a recurring provincial need.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881360" y="2834640"/>
            <a:ext cx="32004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109960" y="3017520"/>
            <a:ext cx="2743200" cy="151424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5400" b="1" i="0">
                <a:solidFill>
                  <a:srgbClr val="8B0707"/>
                </a:solidFill>
                <a:latin typeface="Arial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4594860"/>
            <a:ext cx="2651760" cy="11452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cities and municipalities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356080" y="2834640"/>
            <a:ext cx="32004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4584680" y="3017520"/>
            <a:ext cx="2743200" cy="151424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5400" b="1" i="0">
                <a:solidFill>
                  <a:srgbClr val="8B0707"/>
                </a:solidFill>
                <a:latin typeface="Arial"/>
              </a:rPr>
              <a:t>720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0" y="4594860"/>
            <a:ext cx="2651760" cy="11452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barangays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81360" y="6263640"/>
            <a:ext cx="32004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109960" y="6446520"/>
            <a:ext cx="2743200" cy="151424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5400" b="1" i="0">
                <a:solidFill>
                  <a:srgbClr val="8B0707"/>
                </a:solidFill>
                <a:latin typeface="Arial"/>
              </a:rPr>
              <a:t>1.37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8023860"/>
            <a:ext cx="2651760" cy="11452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residents, 2020 census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356080" y="6263640"/>
            <a:ext cx="32004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4584680" y="6446520"/>
            <a:ext cx="2743200" cy="151424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5400" b="1" i="0">
                <a:solidFill>
                  <a:srgbClr val="8B0707"/>
                </a:solidFill>
                <a:latin typeface="Arial"/>
              </a:rPr>
              <a:t>1,363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0" y="8023860"/>
            <a:ext cx="2651760" cy="11452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licensed beds in 27 inpatient facilities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9646920"/>
            <a:ext cx="1664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0" i="1">
                <a:solidFill>
                  <a:srgbClr val="5E5E5E"/>
                </a:solidFill>
                <a:latin typeface="Arial"/>
              </a:rPr>
              <a:t>Sources: PSA 2020 Census of Population and Housing; DOH National Health Facility Registry, Region V export.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Statement of the problem: three gaps in the same province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34640"/>
            <a:ext cx="525780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isc FaBusAlt"/>
          <p:cNvSpPr/>
          <p:nvPr/>
        </p:nvSpPr>
        <p:spPr>
          <a:xfrm>
            <a:off x="1143000" y="315468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Icon FaBusAlt" descr="FaBusAl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483" y="3363163"/>
            <a:ext cx="451713" cy="4517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86000" y="3154680"/>
            <a:ext cx="3474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8B0707"/>
                </a:solidFill>
                <a:latin typeface="Arial"/>
              </a:rPr>
              <a:t>No transit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51960"/>
            <a:ext cx="4526280" cy="3383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400" b="0" i="0">
                <a:solidFill>
                  <a:srgbClr val="2B2B2B"/>
                </a:solidFill>
                <a:latin typeface="Arial"/>
              </a:rPr>
              <a:t>Informal routes exist only in drivers’ practice. With no GTFS feed, no journey planner or accessibility study can use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5100" y="2834640"/>
            <a:ext cx="525780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isc FaBalanceScale"/>
          <p:cNvSpPr/>
          <p:nvPr/>
        </p:nvSpPr>
        <p:spPr>
          <a:xfrm>
            <a:off x="6835140" y="315468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Icon FaBalanceScale" descr="FaBalanceSca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3623" y="3363163"/>
            <a:ext cx="451713" cy="45171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78140" y="3154680"/>
            <a:ext cx="3474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8B0707"/>
                </a:solidFill>
                <a:latin typeface="Arial"/>
              </a:rPr>
              <a:t>No measure of access or equity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0860" y="4251960"/>
            <a:ext cx="4526280" cy="3383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400" b="0" i="0">
                <a:solidFill>
                  <a:srgbClr val="2B2B2B"/>
                </a:solidFill>
                <a:latin typeface="Arial"/>
              </a:rPr>
              <a:t>No figure says what share of the province’s beds, school seats and jobs each town reaches in 30 minutes, or how unequally that is shared.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07240" y="2834640"/>
            <a:ext cx="525780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Disc FaBed"/>
          <p:cNvSpPr/>
          <p:nvPr/>
        </p:nvSpPr>
        <p:spPr>
          <a:xfrm>
            <a:off x="12527280" y="315468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Icon FaBed" descr="FaBe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35763" y="3363163"/>
            <a:ext cx="451713" cy="45171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670280" y="3154680"/>
            <a:ext cx="3474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8B0707"/>
                </a:solidFill>
                <a:latin typeface="Arial"/>
              </a:rPr>
              <a:t>No live bed information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73000" y="4251960"/>
            <a:ext cx="4526280" cy="3383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400" b="0" i="0">
                <a:solidFill>
                  <a:srgbClr val="2B2B2B"/>
                </a:solidFill>
                <a:latin typeface="Arial"/>
              </a:rPr>
              <a:t>Registries list licensed beds, not free ones. Patients and crews learn that a ward is full only when they arrive.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8229600"/>
            <a:ext cx="16642080" cy="1143000"/>
          </a:xfrm>
          <a:prstGeom prst="roundRect">
            <a:avLst>
              <a:gd name="adj" fmla="val 6000"/>
            </a:avLst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188720" y="8229600"/>
            <a:ext cx="15910559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Arial"/>
              </a:rPr>
              <a:t>This study builds one verified, open-data model that closes all three gaps.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RRL / RRS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Review of related literature and studies</a:t>
            </a:r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822960" y="2788920"/>
          <a:ext cx="16642080" cy="62727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931920"/>
                <a:gridCol w="5943600"/>
                <a:gridCol w="6766560"/>
              </a:tblGrid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Theme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Key works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What the study takes from it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Accessibility measurement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Hansen (1959); Geurs &amp; van Wee (2004)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Cumulative-opportunity measure of access within a time budget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Timetable routing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Dijkstra (1959); Pyrga et al. (2008); Delling et al. (2015)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Exact earliest-arrival search on a time-expanded graph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Transport equity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Delbosc &amp; Currie (2011); Lucas et al. (2016)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Lorenz curve and Gini coefficient for transit service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Mapping informal transit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Williams et al. (2015), Digital Matatus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Informal paratransit can be written as a GTFS feed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Access to hospital care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Ouma et al. (2018); Weiss et al. (2020)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Travel time to care as a health-system indicator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Philippine context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RA 10932 (2017); DOTr PUVMP (2017); LTFRB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No-deposit emergency rule; legal fare matrix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RRL / RRS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Synthesis and research gap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34640"/>
            <a:ext cx="7498079" cy="6309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isc FaBookOpen"/>
          <p:cNvSpPr/>
          <p:nvPr/>
        </p:nvSpPr>
        <p:spPr>
          <a:xfrm>
            <a:off x="1188720" y="315468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Icon FaBookOpen" descr="FaBookOpe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203" y="3363163"/>
            <a:ext cx="451713" cy="4517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31720" y="3154680"/>
            <a:ext cx="5760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What the literature establishes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297680"/>
            <a:ext cx="676656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93370" indent="-293370">
              <a:lnSpc>
                <a:spcPct val="105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Accessibility is best read as opportunities reachable within a travel-time budget.</a:t>
            </a:r>
          </a:p>
          <a:p>
            <a:pPr algn="l" marL="293370" indent="-293370">
              <a:lnSpc>
                <a:spcPct val="105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Time-expanded graphs give exact earliest-arrival times on a timetable.</a:t>
            </a:r>
          </a:p>
          <a:p>
            <a:pPr algn="l" marL="293370" indent="-293370">
              <a:lnSpc>
                <a:spcPct val="105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Gini, Theil and the Lorenz curve quantify how fairly access is shared.</a:t>
            </a:r>
          </a:p>
          <a:p>
            <a:pPr algn="l" marL="293370" indent="-293370">
              <a:lnSpc>
                <a:spcPct val="105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Informal transit can be mapped into the open GTFS standard.</a:t>
            </a:r>
          </a:p>
        </p:txBody>
      </p:sp>
      <p:sp>
        <p:nvSpPr>
          <p:cNvPr id="13" name="Arrow"/>
          <p:cNvSpPr/>
          <p:nvPr/>
        </p:nvSpPr>
        <p:spPr>
          <a:xfrm>
            <a:off x="8549640" y="5394960"/>
            <a:ext cx="1188720" cy="1188720"/>
          </a:xfrm>
          <a:prstGeom prst="rightArrow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9966960" y="2834640"/>
            <a:ext cx="7498079" cy="6309360"/>
          </a:xfrm>
          <a:prstGeom prst="roundRect">
            <a:avLst>
              <a:gd name="adj" fmla="val 6000"/>
            </a:avLst>
          </a:prstGeom>
          <a:solidFill>
            <a:srgbClr val="8B0707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isc FaSearch"/>
          <p:cNvSpPr/>
          <p:nvPr/>
        </p:nvSpPr>
        <p:spPr>
          <a:xfrm>
            <a:off x="10332720" y="315468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Icon FaSearch" descr="FaSearch_8B07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1203" y="3363163"/>
            <a:ext cx="451713" cy="45171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475720" y="3154680"/>
            <a:ext cx="5760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500" b="1" i="0">
                <a:solidFill>
                  <a:srgbClr val="FFFFFF"/>
                </a:solidFill>
                <a:latin typeface="Arial"/>
              </a:rPr>
              <a:t>The gap this study fills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8440" y="4297680"/>
            <a:ext cx="676656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93370" indent="-293370">
              <a:lnSpc>
                <a:spcPct val="105000"/>
              </a:lnSpc>
              <a:spcAft>
                <a:spcPts val="1200"/>
              </a:spcAft>
              <a:buClr>
                <a:srgbClr val="FFFFFF"/>
              </a:buClr>
              <a:buFont typeface="Arial"/>
              <a:buChar char="■"/>
            </a:pPr>
            <a:r>
              <a:rPr sz="2100" b="0" i="0">
                <a:solidFill>
                  <a:srgbClr val="FFFFFF"/>
                </a:solidFill>
                <a:latin typeface="Arial"/>
              </a:rPr>
              <a:t>No timetable model of Albay’s informal transport exists.</a:t>
            </a:r>
          </a:p>
          <a:p>
            <a:pPr algn="l" marL="293370" indent="-293370">
              <a:lnSpc>
                <a:spcPct val="105000"/>
              </a:lnSpc>
              <a:spcAft>
                <a:spcPts val="1200"/>
              </a:spcAft>
              <a:buClr>
                <a:srgbClr val="FFFFFF"/>
              </a:buClr>
              <a:buFont typeface="Arial"/>
              <a:buChar char="■"/>
            </a:pPr>
            <a:r>
              <a:rPr sz="2100" b="0" i="0">
                <a:solidFill>
                  <a:srgbClr val="FFFFFF"/>
                </a:solidFill>
                <a:latin typeface="Arial"/>
              </a:rPr>
              <a:t>Accessibility studies seldom verify their routing against an exact reference.</a:t>
            </a:r>
          </a:p>
          <a:p>
            <a:pPr algn="l" marL="293370" indent="-293370">
              <a:lnSpc>
                <a:spcPct val="105000"/>
              </a:lnSpc>
              <a:spcAft>
                <a:spcPts val="1200"/>
              </a:spcAft>
              <a:buClr>
                <a:srgbClr val="FFFFFF"/>
              </a:buClr>
              <a:buFont typeface="Arial"/>
              <a:buChar char="■"/>
            </a:pPr>
            <a:r>
              <a:rPr sz="2100" b="0" i="0">
                <a:solidFill>
                  <a:srgbClr val="FFFFFF"/>
                </a:solidFill>
                <a:latin typeface="Arial"/>
              </a:rPr>
              <a:t>Hospital routing rarely accounts for free beds, care level and cost together.</a:t>
            </a:r>
          </a:p>
          <a:p>
            <a:pPr algn="l" marL="293370" indent="-293370">
              <a:lnSpc>
                <a:spcPct val="105000"/>
              </a:lnSpc>
              <a:spcAft>
                <a:spcPts val="1200"/>
              </a:spcAft>
              <a:buClr>
                <a:srgbClr val="FFFFFF"/>
              </a:buClr>
              <a:buFont typeface="Arial"/>
              <a:buChar char="■"/>
            </a:pPr>
            <a:r>
              <a:rPr sz="2100" b="0" i="0">
                <a:solidFill>
                  <a:srgbClr val="FFFFFF"/>
                </a:solidFill>
                <a:latin typeface="Arial"/>
              </a:rPr>
              <a:t>No low-cost way exists to collect bed availability from provincial hospitals.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THEORETICAL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Four theories anchor the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8138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isc FaMapMarkedAlt"/>
          <p:cNvSpPr/>
          <p:nvPr/>
        </p:nvSpPr>
        <p:spPr>
          <a:xfrm>
            <a:off x="1143000" y="310896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Icon FaMapMarkedAlt" descr="FaMapMarkedAl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483" y="3317443"/>
            <a:ext cx="451713" cy="4517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86000" y="3108960"/>
            <a:ext cx="6355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Accessibility theory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06240"/>
            <a:ext cx="74066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100" b="0" i="0">
                <a:solidFill>
                  <a:srgbClr val="2B2B2B"/>
                </a:solidFill>
                <a:latin typeface="Arial"/>
              </a:rPr>
              <a:t>Hansen (1959); Geurs &amp; van Wee (2004). Access is the share of opportunities a place reaches within a travel-time budget.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2788920"/>
            <a:ext cx="8138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isc FaProjectDiagram"/>
          <p:cNvSpPr/>
          <p:nvPr/>
        </p:nvSpPr>
        <p:spPr>
          <a:xfrm>
            <a:off x="9646920" y="310896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Icon FaProjectDiagram" descr="FaProjectDiagram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5403" y="3317443"/>
            <a:ext cx="451713" cy="45171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789920" y="3108960"/>
            <a:ext cx="6355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Graph theory and shortest paths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4206240"/>
            <a:ext cx="74066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100" b="0" i="0">
                <a:solidFill>
                  <a:srgbClr val="2B2B2B"/>
                </a:solidFill>
                <a:latin typeface="Arial"/>
              </a:rPr>
              <a:t>Dijkstra (1959); Pyrga et al. (2008). A timetable becomes a time-expanded graph; earliest arrival is a shortest path.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6400800"/>
            <a:ext cx="8138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Disc FaBalanceScale"/>
          <p:cNvSpPr/>
          <p:nvPr/>
        </p:nvSpPr>
        <p:spPr>
          <a:xfrm>
            <a:off x="1143000" y="672084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Icon FaBalanceScale" descr="FaBalanceScal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1483" y="6929323"/>
            <a:ext cx="451713" cy="45171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86000" y="6720840"/>
            <a:ext cx="6355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Distributive equity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7818119"/>
            <a:ext cx="74066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100" b="0" i="0">
                <a:solidFill>
                  <a:srgbClr val="2B2B2B"/>
                </a:solidFill>
                <a:latin typeface="Arial"/>
              </a:rPr>
              <a:t>Gini (1912); Theil (1967); Lucas et al. (2016). Inequality of access is summarised by Gini, Theil, Palma and the Lorenz curve.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6400800"/>
            <a:ext cx="8138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Disc FaRobot"/>
          <p:cNvSpPr/>
          <p:nvPr/>
        </p:nvSpPr>
        <p:spPr>
          <a:xfrm>
            <a:off x="9646920" y="672084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Icon FaRobot" descr="FaRobo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5403" y="6929323"/>
            <a:ext cx="451713" cy="45171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789920" y="6720840"/>
            <a:ext cx="6355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Multi-agent systems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7818119"/>
            <a:ext cx="74066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100" b="0" i="0">
                <a:solidFill>
                  <a:srgbClr val="2B2B2B"/>
                </a:solidFill>
                <a:latin typeface="Arial"/>
              </a:rPr>
              <a:t>Wooldridge (2009). Autonomous agents with narrow roles cooperate to collect and validate hospital bed reports.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CONCEPTUAL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Research paradigm: Input – Process –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4754880" cy="822960"/>
          </a:xfrm>
          <a:prstGeom prst="roundRect">
            <a:avLst>
              <a:gd name="adj" fmla="val 6000"/>
            </a:avLst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ITC Avant Garde Gothic"/>
              </a:rPr>
              <a:t>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57600"/>
            <a:ext cx="47548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43000" y="3886200"/>
            <a:ext cx="4206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OpenStreetMap roads and limits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PSA census and boundaries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DOH facility registry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PhilHealth and Malasakit lists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DepEd school masterlist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LTFRB fare matrix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LGU route and DRRM plans</a:t>
            </a:r>
          </a:p>
        </p:txBody>
      </p:sp>
      <p:sp>
        <p:nvSpPr>
          <p:cNvPr id="12" name="Arrow"/>
          <p:cNvSpPr/>
          <p:nvPr/>
        </p:nvSpPr>
        <p:spPr>
          <a:xfrm>
            <a:off x="5806440" y="5486400"/>
            <a:ext cx="731520" cy="822960"/>
          </a:xfrm>
          <a:prstGeom prst="rightArrow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766560" y="2743200"/>
            <a:ext cx="4754880" cy="822960"/>
          </a:xfrm>
          <a:prstGeom prst="roundRect">
            <a:avLst>
              <a:gd name="adj" fmla="val 6000"/>
            </a:avLst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766560" y="2743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ITC Avant Garde Gothic"/>
              </a:rPr>
              <a:t>PROCESS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3657600"/>
            <a:ext cx="47548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086600" y="3886200"/>
            <a:ext cx="4206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Landmark anchoring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GTFS feed construction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Time-expanded timetable graph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Earliest arrival and fares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Accessibility and inequality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Hospital filtering and routing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E-mail agent bed reporting</a:t>
            </a:r>
          </a:p>
        </p:txBody>
      </p:sp>
      <p:sp>
        <p:nvSpPr>
          <p:cNvPr id="17" name="Arrow"/>
          <p:cNvSpPr/>
          <p:nvPr/>
        </p:nvSpPr>
        <p:spPr>
          <a:xfrm>
            <a:off x="11750040" y="5486400"/>
            <a:ext cx="731520" cy="822960"/>
          </a:xfrm>
          <a:prstGeom prst="rightArrow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12710160" y="2743200"/>
            <a:ext cx="4754880" cy="822960"/>
          </a:xfrm>
          <a:prstGeom prst="roundRect">
            <a:avLst>
              <a:gd name="adj" fmla="val 6000"/>
            </a:avLst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710160" y="2743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ITC Avant Garde Gothic"/>
              </a:rPr>
              <a:t>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710160" y="3657600"/>
            <a:ext cx="47548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3030200" y="3886200"/>
            <a:ext cx="4206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Verified route, time and fare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30-minute access per LGU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Gini, Theil, Palma, Lorenz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Hospital pick with bed status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MAP-A web application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PHO bed dashboard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8549640"/>
            <a:ext cx="16642080" cy="868680"/>
          </a:xfrm>
          <a:prstGeom prst="roundRect">
            <a:avLst>
              <a:gd name="adj" fmla="val 6000"/>
            </a:avLst>
          </a:prstGeom>
          <a:solidFill>
            <a:srgbClr val="F7E9E9"/>
          </a:solidFill>
          <a:ln w="19050">
            <a:solidFill>
              <a:srgbClr val="8B07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Icon FaCheckCircle" descr="FaCheckCircle_8B07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8686800"/>
            <a:ext cx="594360" cy="5943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874519" y="8549640"/>
            <a:ext cx="153619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100" b="1" i="0">
                <a:solidFill>
                  <a:srgbClr val="5C0404"/>
                </a:solidFill>
                <a:latin typeface="Arial"/>
              </a:rPr>
              <a:t>Feedback: </a:t>
            </a:r>
            <a:r>
              <a:rPr sz="2100" b="0" i="0">
                <a:solidFill>
                  <a:srgbClr val="5C0404"/>
                </a:solidFill>
                <a:latin typeface="Arial"/>
              </a:rPr>
              <a:t>every process is verified against independently written reference code before any result is reported.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SIGNIFICANCE OF THE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Who benefits from the study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52578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isc FaUsers"/>
          <p:cNvSpPr/>
          <p:nvPr/>
        </p:nvSpPr>
        <p:spPr>
          <a:xfrm>
            <a:off x="1143000" y="3108960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Icon FaUsers" descr="FaUs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0510" y="3306470"/>
            <a:ext cx="427939" cy="4279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40279" y="3108960"/>
            <a:ext cx="35204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300" b="1" i="0">
                <a:solidFill>
                  <a:srgbClr val="8B0707"/>
                </a:solidFill>
                <a:latin typeface="Arial"/>
              </a:rPr>
              <a:t>Commuters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160520"/>
            <a:ext cx="45262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Know the route, time and legal fare before boarding.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5100" y="2788920"/>
            <a:ext cx="52578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isc FaWheelchair"/>
          <p:cNvSpPr/>
          <p:nvPr/>
        </p:nvSpPr>
        <p:spPr>
          <a:xfrm>
            <a:off x="6835140" y="3108960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Icon FaWheelchair" descr="FaWheelchai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2650" y="3306470"/>
            <a:ext cx="427939" cy="42793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32420" y="3108960"/>
            <a:ext cx="35204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300" b="1" i="0">
                <a:solidFill>
                  <a:srgbClr val="8B0707"/>
                </a:solidFill>
                <a:latin typeface="Arial"/>
              </a:rPr>
              <a:t>Students, seniors, PWD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0860" y="4160520"/>
            <a:ext cx="45262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See the 20% discounted fare on every leg.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07240" y="2788920"/>
            <a:ext cx="52578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Disc FaAmbulance"/>
          <p:cNvSpPr/>
          <p:nvPr/>
        </p:nvSpPr>
        <p:spPr>
          <a:xfrm>
            <a:off x="12527280" y="3108960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Icon FaAmbulance" descr="FaAmbulanc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24790" y="3306470"/>
            <a:ext cx="427939" cy="42793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624560" y="3108960"/>
            <a:ext cx="35204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300" b="1" i="0">
                <a:solidFill>
                  <a:srgbClr val="8B0707"/>
                </a:solidFill>
                <a:latin typeface="Arial"/>
              </a:rPr>
              <a:t>Patients and ambulance crews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73000" y="4160520"/>
            <a:ext cx="45262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Reach the nearest hospital with the right care and a free bed.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6263640"/>
            <a:ext cx="52578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Disc FaHospital"/>
          <p:cNvSpPr/>
          <p:nvPr/>
        </p:nvSpPr>
        <p:spPr>
          <a:xfrm>
            <a:off x="1143000" y="6583679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Icon FaHospital" descr="FaHospital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0510" y="6781190"/>
            <a:ext cx="427939" cy="42793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240279" y="6583679"/>
            <a:ext cx="35204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300" b="1" i="0">
                <a:solidFill>
                  <a:srgbClr val="8B0707"/>
                </a:solidFill>
                <a:latin typeface="Arial"/>
              </a:rPr>
              <a:t>Provincial Health Office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7635240"/>
            <a:ext cx="45262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A town-by-town bed dashboard with report 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5100" y="6263640"/>
            <a:ext cx="52578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Disc FaLandmark"/>
          <p:cNvSpPr/>
          <p:nvPr/>
        </p:nvSpPr>
        <p:spPr>
          <a:xfrm>
            <a:off x="6835140" y="6583679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Icon FaLandmark" descr="FaLandmark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2650" y="6781190"/>
            <a:ext cx="427939" cy="42793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932420" y="6583679"/>
            <a:ext cx="35204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300" b="1" i="0">
                <a:solidFill>
                  <a:srgbClr val="8B0707"/>
                </a:solidFill>
                <a:latin typeface="Arial"/>
              </a:rPr>
              <a:t>LGUs and DRRM offices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0860" y="7635240"/>
            <a:ext cx="45262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Evidence on under-served towns; routes for relief trucks.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207240" y="6263640"/>
            <a:ext cx="52578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Disc FaGraduationCap"/>
          <p:cNvSpPr/>
          <p:nvPr/>
        </p:nvSpPr>
        <p:spPr>
          <a:xfrm>
            <a:off x="12527280" y="6583679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Icon FaGraduationCap" descr="FaGraduationCap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24790" y="6781190"/>
            <a:ext cx="427939" cy="42793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624560" y="6583679"/>
            <a:ext cx="35204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300" b="1" i="0">
                <a:solidFill>
                  <a:srgbClr val="8B0707"/>
                </a:solidFill>
                <a:latin typeface="Arial"/>
              </a:rPr>
              <a:t>Future researchers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73000" y="7635240"/>
            <a:ext cx="45262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An open, reproducible method that any province can repeat.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OBJECTIVES OF THE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16642080" cy="1600200"/>
          </a:xfrm>
          <a:prstGeom prst="roundRect">
            <a:avLst>
              <a:gd name="adj" fmla="val 6000"/>
            </a:avLst>
          </a:prstGeom>
          <a:solidFill>
            <a:srgbClr val="8B0707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34440" y="2240280"/>
            <a:ext cx="301752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FFFFFF"/>
                </a:solidFill>
                <a:latin typeface="ITC Avant Garde Gothic"/>
              </a:rPr>
              <a:t>GENERAL</a:t>
            </a:r>
          </a:p>
          <a:p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FFFFFF"/>
                </a:solidFill>
                <a:latin typeface="ITC Avant Garde Gothic"/>
              </a:rP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240280"/>
            <a:ext cx="1280160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FFFFFF"/>
                </a:solidFill>
                <a:latin typeface="Arial"/>
              </a:rPr>
              <a:t>To develop and verify a landmark-anchored timetable-graph model of Albay’s informal public transport that computes travel time, fare, accessibility and its inequality from open data, and routes ambulances and patients using agent-reported hospital bed capacity.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160520"/>
            <a:ext cx="81381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Number 1"/>
          <p:cNvSpPr/>
          <p:nvPr/>
        </p:nvSpPr>
        <p:spPr>
          <a:xfrm>
            <a:off x="1097280" y="452628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  <a:buNone/>
            </a:pPr>
            <a:r>
              <a:rPr sz="2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4251959"/>
            <a:ext cx="644652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Build a landmark-anchored road network and GTFS transit feed for all 18 LGUs of Albay from open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6035040"/>
            <a:ext cx="81381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Number 2"/>
          <p:cNvSpPr/>
          <p:nvPr/>
        </p:nvSpPr>
        <p:spPr>
          <a:xfrm>
            <a:off x="1097280" y="640080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  <a:buNone/>
            </a:pPr>
            <a:r>
              <a:rPr sz="2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6126479"/>
            <a:ext cx="644652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Compute earliest-arrival journeys and legal LTFRB fares between landmarks for any departure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7909559"/>
            <a:ext cx="81381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Number 3"/>
          <p:cNvSpPr/>
          <p:nvPr/>
        </p:nvSpPr>
        <p:spPr>
          <a:xfrm>
            <a:off x="1097280" y="8275319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  <a:buNone/>
            </a:pPr>
            <a:r>
              <a:rPr sz="2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8000999"/>
            <a:ext cx="644652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Measure 30-minute access to beds, school seats, jobs and goods per LGU, and its inequality.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4160520"/>
            <a:ext cx="81381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Number 4"/>
          <p:cNvSpPr/>
          <p:nvPr/>
        </p:nvSpPr>
        <p:spPr>
          <a:xfrm>
            <a:off x="9601200" y="452628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  <a:buNone/>
            </a:pPr>
            <a:r>
              <a:rPr sz="2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4251959"/>
            <a:ext cx="644652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Route ambulances and patients to the nearest suitable hospital by acuity, payment and bed status.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6035040"/>
            <a:ext cx="81381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Number 5"/>
          <p:cNvSpPr/>
          <p:nvPr/>
        </p:nvSpPr>
        <p:spPr>
          <a:xfrm>
            <a:off x="9601200" y="640080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  <a:buNone/>
            </a:pPr>
            <a:r>
              <a:rPr sz="2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200" y="6126479"/>
            <a:ext cx="644652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Design and test a multi-agent e-mail system that collects and validates hospital bed reports.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7909559"/>
            <a:ext cx="81381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Number 6"/>
          <p:cNvSpPr/>
          <p:nvPr/>
        </p:nvSpPr>
        <p:spPr>
          <a:xfrm>
            <a:off x="9601200" y="8275319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  <a:buNone/>
            </a:pPr>
            <a:r>
              <a:rPr sz="2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8000999"/>
            <a:ext cx="644652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Verify every component against independent reference code and deploy it as the MAP-A web app.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HYPOTHESES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Each hypothesis has a decisive computational test</a:t>
            </a:r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822960" y="2788920"/>
          <a:ext cx="16642080" cy="6400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5840"/>
                <a:gridCol w="9692640"/>
                <a:gridCol w="5943600"/>
              </a:tblGrid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Hypothesis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The time-expanded search returns the exact earliest arrival for every query.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Random queries vs. complete enumeration of all journeys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The per-leg fare f(d) is subadditive: one ride never costs more than the same distance split in two.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Random fare splits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H3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Thirty-minute access is unequally shared across LGUs, and inequality falls as the budget grows.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Gini, Theil, Palma at 15–120 min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H4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Class-aware routing never uses a road too narrow, low or weak for the vehicle.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Origin–destination pairs, 10 classes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H5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Hospital-mode answers agree with independently written reference code.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Random hospital-mode queries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H6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The validator accepts no forged bed report.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Forged reports in a simulated mailbox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Research design and locale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34640"/>
            <a:ext cx="7863840" cy="6492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isc FaFlask"/>
          <p:cNvSpPr/>
          <p:nvPr/>
        </p:nvSpPr>
        <p:spPr>
          <a:xfrm>
            <a:off x="1188720" y="315468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Icon FaFlask" descr="FaFlas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203" y="3363163"/>
            <a:ext cx="451713" cy="4517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31720" y="3154680"/>
            <a:ext cx="60350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1" i="0">
                <a:solidFill>
                  <a:srgbClr val="8B0707"/>
                </a:solidFill>
                <a:latin typeface="Arial"/>
              </a:rPr>
              <a:t>Developmental–computational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297680"/>
            <a:ext cx="713232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93370" indent="-293370">
              <a:lnSpc>
                <a:spcPct val="105000"/>
              </a:lnSpc>
              <a:spcAft>
                <a:spcPts val="1400"/>
              </a:spcAft>
              <a:buClr>
                <a:srgbClr val="8B0707"/>
              </a:buClr>
              <a:buFont typeface="Arial"/>
              <a:buChar char="■"/>
            </a:pPr>
            <a:r>
              <a:rPr sz="2100" b="1" i="0">
                <a:solidFill>
                  <a:srgbClr val="2B2B2B"/>
                </a:solidFill>
                <a:latin typeface="Arial"/>
              </a:rPr>
              <a:t>Quantitative: </a:t>
            </a:r>
            <a:r>
              <a:rPr sz="2100" b="0" i="0">
                <a:solidFill>
                  <a:srgbClr val="2B2B2B"/>
                </a:solidFill>
                <a:latin typeface="Arial"/>
              </a:rPr>
              <a:t>a mathematical model is specified, implemented, verified, then applied.</a:t>
            </a:r>
          </a:p>
          <a:p>
            <a:pPr algn="l" marL="293370" indent="-293370">
              <a:lnSpc>
                <a:spcPct val="105000"/>
              </a:lnSpc>
              <a:spcAft>
                <a:spcPts val="1400"/>
              </a:spcAft>
              <a:buClr>
                <a:srgbClr val="8B0707"/>
              </a:buClr>
              <a:buFont typeface="Arial"/>
              <a:buChar char="■"/>
            </a:pPr>
            <a:r>
              <a:rPr sz="2100" b="1" i="0">
                <a:solidFill>
                  <a:srgbClr val="2B2B2B"/>
                </a:solidFill>
                <a:latin typeface="Arial"/>
              </a:rPr>
              <a:t>Unit of analysis: </a:t>
            </a:r>
            <a:r>
              <a:rPr sz="2100" b="0" i="0">
                <a:solidFill>
                  <a:srgbClr val="2B2B2B"/>
                </a:solidFill>
                <a:latin typeface="Arial"/>
              </a:rPr>
              <a:t>landmarks — terminals, town halls, markets, schools, hospitals.</a:t>
            </a:r>
          </a:p>
          <a:p>
            <a:pPr algn="l" marL="293370" indent="-293370">
              <a:lnSpc>
                <a:spcPct val="105000"/>
              </a:lnSpc>
              <a:spcAft>
                <a:spcPts val="1400"/>
              </a:spcAft>
              <a:buClr>
                <a:srgbClr val="8B0707"/>
              </a:buClr>
              <a:buFont typeface="Arial"/>
              <a:buChar char="■"/>
            </a:pPr>
            <a:r>
              <a:rPr sz="2100" b="1" i="0">
                <a:solidFill>
                  <a:srgbClr val="2B2B2B"/>
                </a:solidFill>
                <a:latin typeface="Arial"/>
              </a:rPr>
              <a:t>Locale: </a:t>
            </a:r>
            <a:r>
              <a:rPr sz="2100" b="0" i="0">
                <a:solidFill>
                  <a:srgbClr val="2B2B2B"/>
                </a:solidFill>
                <a:latin typeface="Arial"/>
              </a:rPr>
              <a:t>all 18 LGUs of Albay, 3 legislative districts, 720 barangays.</a:t>
            </a:r>
          </a:p>
          <a:p>
            <a:pPr algn="l" marL="293370" indent="-293370">
              <a:lnSpc>
                <a:spcPct val="105000"/>
              </a:lnSpc>
              <a:spcAft>
                <a:spcPts val="1400"/>
              </a:spcAft>
              <a:buClr>
                <a:srgbClr val="8B0707"/>
              </a:buClr>
              <a:buFont typeface="Arial"/>
              <a:buChar char="■"/>
            </a:pPr>
            <a:r>
              <a:rPr sz="2100" b="1" i="0">
                <a:solidFill>
                  <a:srgbClr val="2B2B2B"/>
                </a:solidFill>
                <a:latin typeface="Arial"/>
              </a:rPr>
              <a:t>No field survey and no respondents: </a:t>
            </a:r>
            <a:r>
              <a:rPr sz="2100" b="0" i="0">
                <a:solidFill>
                  <a:srgbClr val="2B2B2B"/>
                </a:solidFill>
                <a:latin typeface="Arial"/>
              </a:rPr>
              <a:t>every input is a public register.</a:t>
            </a:r>
          </a:p>
        </p:txBody>
      </p:sp>
      <p:graphicFrame>
        <p:nvGraphicFramePr>
          <p:cNvPr id="13" name="Chart district population"/>
          <p:cNvGraphicFramePr>
            <a:graphicFrameLocks noGrp="1"/>
          </p:cNvGraphicFramePr>
          <p:nvPr/>
        </p:nvGraphicFramePr>
        <p:xfrm>
          <a:off x="9144000" y="2834640"/>
          <a:ext cx="8321040" cy="64922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22960" y="9646920"/>
            <a:ext cx="1664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0" i="1">
                <a:solidFill>
                  <a:srgbClr val="5E5E5E"/>
                </a:solidFill>
                <a:latin typeface="Arial"/>
              </a:rPr>
              <a:t>Source: PSA 2020 Census of Population and Housing. Total 1,374,768 residents.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Data sources: open public registers only</a:t>
            </a:r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822960" y="2788920"/>
          <a:ext cx="16642080" cy="65836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206240"/>
                <a:gridCol w="6583680"/>
                <a:gridCol w="5852160"/>
              </a:tblGrid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Data used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Role in the model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OpenStreetMap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Roads, paths, width / height / mass / axle tags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Road graph, vehicle-class limits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PSA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2020 census, PSGC codes, boundaries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Population weights, LGU units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DOH NHFR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27 inpatient facilities, service level, licensed beds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Hospital layer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PhilHealth, DOH Malasakit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Accreditation list, Malasakit Centers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Cost (payment) class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DepEd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Masterlist of schools, classrooms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School-seat opportunities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LTFRB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Fare matrix in force from 28 Sept 2026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Fare function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PPA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Ports and piers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Sea crossing to Rapu-Rapu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LGU plans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Route plans, DRRM plans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Services and hazard routing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Procedure: from open data to a trip plan in eight stages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35204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isc FaRoad"/>
          <p:cNvSpPr/>
          <p:nvPr/>
        </p:nvSpPr>
        <p:spPr>
          <a:xfrm>
            <a:off x="1097280" y="3063239"/>
            <a:ext cx="777240" cy="77724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Icon FaRoad" descr="FaRoa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817" y="3249777"/>
            <a:ext cx="404164" cy="404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11680" y="3063239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 i="0">
                <a:solidFill>
                  <a:srgbClr val="5E5E5E"/>
                </a:solidFill>
                <a:latin typeface="Arial"/>
              </a:rPr>
              <a:t>STAGE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977639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200" b="1" i="0">
                <a:solidFill>
                  <a:srgbClr val="8B0707"/>
                </a:solidFill>
                <a:latin typeface="Arial"/>
              </a:rPr>
              <a:t>Road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572000"/>
            <a:ext cx="2971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2B2B2B"/>
                </a:solidFill>
                <a:latin typeface="Arial"/>
              </a:rPr>
              <a:t>OSM roads with width, height, mass and axle limits</a:t>
            </a:r>
          </a:p>
        </p:txBody>
      </p:sp>
      <p:sp>
        <p:nvSpPr>
          <p:cNvPr id="14" name="Arrow"/>
          <p:cNvSpPr/>
          <p:nvPr/>
        </p:nvSpPr>
        <p:spPr>
          <a:xfrm>
            <a:off x="4416552" y="4091939"/>
            <a:ext cx="707135" cy="457200"/>
          </a:xfrm>
          <a:prstGeom prst="rightArrow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5196840" y="2788920"/>
            <a:ext cx="35204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Disc FaLandmark"/>
          <p:cNvSpPr/>
          <p:nvPr/>
        </p:nvSpPr>
        <p:spPr>
          <a:xfrm>
            <a:off x="5471160" y="3063239"/>
            <a:ext cx="777240" cy="77724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Icon FaLandmark" descr="FaLandmar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7697" y="3249777"/>
            <a:ext cx="404164" cy="4041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85560" y="3063239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 i="0">
                <a:solidFill>
                  <a:srgbClr val="5E5E5E"/>
                </a:solidFill>
                <a:latin typeface="Arial"/>
              </a:rPr>
              <a:t>STAGE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1160" y="3977639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200" b="1" i="0">
                <a:solidFill>
                  <a:srgbClr val="8B0707"/>
                </a:solidFill>
                <a:latin typeface="Arial"/>
              </a:rPr>
              <a:t>Landmarks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71160" y="4572000"/>
            <a:ext cx="2971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2B2B2B"/>
                </a:solidFill>
                <a:latin typeface="Arial"/>
              </a:rPr>
              <a:t>Registry places tied to the nearest road node</a:t>
            </a:r>
          </a:p>
        </p:txBody>
      </p:sp>
      <p:sp>
        <p:nvSpPr>
          <p:cNvPr id="21" name="Arrow"/>
          <p:cNvSpPr/>
          <p:nvPr/>
        </p:nvSpPr>
        <p:spPr>
          <a:xfrm>
            <a:off x="8790432" y="4091939"/>
            <a:ext cx="707135" cy="457200"/>
          </a:xfrm>
          <a:prstGeom prst="rightArrow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9570720" y="2788920"/>
            <a:ext cx="35204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Disc FaBusAlt"/>
          <p:cNvSpPr/>
          <p:nvPr/>
        </p:nvSpPr>
        <p:spPr>
          <a:xfrm>
            <a:off x="9845040" y="3063239"/>
            <a:ext cx="777240" cy="77724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Icon FaBusAlt" descr="FaBusAl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1577" y="3249777"/>
            <a:ext cx="404164" cy="40416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759440" y="3063239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 i="0">
                <a:solidFill>
                  <a:srgbClr val="5E5E5E"/>
                </a:solidFill>
                <a:latin typeface="Arial"/>
              </a:rPr>
              <a:t>STAGE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45040" y="3977639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200" b="1" i="0">
                <a:solidFill>
                  <a:srgbClr val="8B0707"/>
                </a:solidFill>
                <a:latin typeface="Arial"/>
              </a:rPr>
              <a:t>Transit feed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5040" y="4572000"/>
            <a:ext cx="2971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2B2B2B"/>
                </a:solidFill>
                <a:latin typeface="Arial"/>
              </a:rPr>
              <a:t>Stops, trips, fares, shapes as a validated GTFS feed</a:t>
            </a:r>
          </a:p>
        </p:txBody>
      </p:sp>
      <p:sp>
        <p:nvSpPr>
          <p:cNvPr id="28" name="Arrow"/>
          <p:cNvSpPr/>
          <p:nvPr/>
        </p:nvSpPr>
        <p:spPr>
          <a:xfrm>
            <a:off x="13164312" y="4091939"/>
            <a:ext cx="707135" cy="457200"/>
          </a:xfrm>
          <a:prstGeom prst="rightArrow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3944600" y="2788920"/>
            <a:ext cx="35204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Disc FaProjectDiagram"/>
          <p:cNvSpPr/>
          <p:nvPr/>
        </p:nvSpPr>
        <p:spPr>
          <a:xfrm>
            <a:off x="14218920" y="3063239"/>
            <a:ext cx="777240" cy="77724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Icon FaProjectDiagram" descr="FaProjectDiagram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05457" y="3249777"/>
            <a:ext cx="404164" cy="4041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133320" y="3063239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 i="0">
                <a:solidFill>
                  <a:srgbClr val="5E5E5E"/>
                </a:solidFill>
                <a:latin typeface="Arial"/>
              </a:rPr>
              <a:t>STAGE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218920" y="3977639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200" b="1" i="0">
                <a:solidFill>
                  <a:srgbClr val="8B0707"/>
                </a:solidFill>
                <a:latin typeface="Arial"/>
              </a:rPr>
              <a:t>Timetable graph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218920" y="4572000"/>
            <a:ext cx="2971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2B2B2B"/>
                </a:solidFill>
                <a:latin typeface="Arial"/>
              </a:rPr>
              <a:t>Time-expanded graph for earliest-arrival queries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6263640"/>
            <a:ext cx="35204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Disc FaBalanceScale"/>
          <p:cNvSpPr/>
          <p:nvPr/>
        </p:nvSpPr>
        <p:spPr>
          <a:xfrm>
            <a:off x="1097280" y="6537959"/>
            <a:ext cx="777240" cy="77724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Icon FaBalanceScale" descr="FaBalanceScal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3817" y="6724497"/>
            <a:ext cx="404164" cy="40416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011680" y="6537959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 i="0">
                <a:solidFill>
                  <a:srgbClr val="5E5E5E"/>
                </a:solidFill>
                <a:latin typeface="Arial"/>
              </a:rPr>
              <a:t>STAGE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745236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200" b="1" i="0">
                <a:solidFill>
                  <a:srgbClr val="8B0707"/>
                </a:solidFill>
                <a:latin typeface="Arial"/>
              </a:rPr>
              <a:t>Access and fairness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8046719"/>
            <a:ext cx="2971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2B2B2B"/>
                </a:solidFill>
                <a:latin typeface="Arial"/>
              </a:rPr>
              <a:t>30-min access; Gini, Theil, Palma, Lorenz</a:t>
            </a:r>
          </a:p>
        </p:txBody>
      </p:sp>
      <p:sp>
        <p:nvSpPr>
          <p:cNvPr id="41" name="Arrow"/>
          <p:cNvSpPr/>
          <p:nvPr/>
        </p:nvSpPr>
        <p:spPr>
          <a:xfrm>
            <a:off x="4416552" y="7566660"/>
            <a:ext cx="707135" cy="457200"/>
          </a:xfrm>
          <a:prstGeom prst="rightArrow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5196840" y="6263640"/>
            <a:ext cx="35204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Disc FaHospital"/>
          <p:cNvSpPr/>
          <p:nvPr/>
        </p:nvSpPr>
        <p:spPr>
          <a:xfrm>
            <a:off x="5471160" y="6537959"/>
            <a:ext cx="777240" cy="77724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4" name="Icon FaHospital" descr="FaHospital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57697" y="6724497"/>
            <a:ext cx="404164" cy="40416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385560" y="6537959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 i="0">
                <a:solidFill>
                  <a:srgbClr val="5E5E5E"/>
                </a:solidFill>
                <a:latin typeface="Arial"/>
              </a:rPr>
              <a:t>STAGE 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71160" y="745236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200" b="1" i="0">
                <a:solidFill>
                  <a:srgbClr val="8B0707"/>
                </a:solidFill>
                <a:latin typeface="Arial"/>
              </a:rPr>
              <a:t>Hospital layer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71160" y="8046719"/>
            <a:ext cx="2971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2B2B2B"/>
                </a:solidFill>
                <a:latin typeface="Arial"/>
              </a:rPr>
              <a:t>Level, ER, ownership, PhilHealth, Malasakit, cost</a:t>
            </a:r>
          </a:p>
        </p:txBody>
      </p:sp>
      <p:sp>
        <p:nvSpPr>
          <p:cNvPr id="48" name="Arrow"/>
          <p:cNvSpPr/>
          <p:nvPr/>
        </p:nvSpPr>
        <p:spPr>
          <a:xfrm>
            <a:off x="8790432" y="7566660"/>
            <a:ext cx="707135" cy="457200"/>
          </a:xfrm>
          <a:prstGeom prst="rightArrow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9570720" y="6263640"/>
            <a:ext cx="35204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Disc FaEnvelope"/>
          <p:cNvSpPr/>
          <p:nvPr/>
        </p:nvSpPr>
        <p:spPr>
          <a:xfrm>
            <a:off x="9845040" y="6537959"/>
            <a:ext cx="777240" cy="77724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1" name="Icon FaEnvelope" descr="FaEnvelope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31577" y="6724497"/>
            <a:ext cx="404164" cy="40416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759440" y="6537959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 i="0">
                <a:solidFill>
                  <a:srgbClr val="5E5E5E"/>
                </a:solidFill>
                <a:latin typeface="Arial"/>
              </a:rPr>
              <a:t>STAGE 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45040" y="745236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200" b="1" i="0">
                <a:solidFill>
                  <a:srgbClr val="8B0707"/>
                </a:solidFill>
                <a:latin typeface="Arial"/>
              </a:rPr>
              <a:t>Bed tracking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45040" y="8046719"/>
            <a:ext cx="2971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2B2B2B"/>
                </a:solidFill>
                <a:latin typeface="Arial"/>
              </a:rPr>
              <a:t>E-mail agents collect free beds and report age</a:t>
            </a:r>
          </a:p>
        </p:txBody>
      </p:sp>
      <p:sp>
        <p:nvSpPr>
          <p:cNvPr id="55" name="Arrow"/>
          <p:cNvSpPr/>
          <p:nvPr/>
        </p:nvSpPr>
        <p:spPr>
          <a:xfrm>
            <a:off x="13164312" y="7566660"/>
            <a:ext cx="707135" cy="457200"/>
          </a:xfrm>
          <a:prstGeom prst="rightArrow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13944600" y="6263640"/>
            <a:ext cx="35204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Disc FaMobileAlt"/>
          <p:cNvSpPr/>
          <p:nvPr/>
        </p:nvSpPr>
        <p:spPr>
          <a:xfrm>
            <a:off x="14218920" y="6537959"/>
            <a:ext cx="777240" cy="77724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8" name="Icon FaMobileAlt" descr="FaMobileAlt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05457" y="6724497"/>
            <a:ext cx="404164" cy="40416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5133320" y="6537959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 i="0">
                <a:solidFill>
                  <a:srgbClr val="5E5E5E"/>
                </a:solidFill>
                <a:latin typeface="Arial"/>
              </a:rPr>
              <a:t>STAGE 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218920" y="745236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200" b="1" i="0">
                <a:solidFill>
                  <a:srgbClr val="8B0707"/>
                </a:solidFill>
                <a:latin typeface="Arial"/>
              </a:rPr>
              <a:t>The app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218920" y="8046719"/>
            <a:ext cx="2971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2B2B2B"/>
                </a:solidFill>
                <a:latin typeface="Arial"/>
              </a:rPr>
              <a:t>Routing, fares, access maps, hospital mode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Model formulation: timetable graph, earliest arrival and fare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5257800" cy="6583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isc FaProjectDiagram"/>
          <p:cNvSpPr/>
          <p:nvPr/>
        </p:nvSpPr>
        <p:spPr>
          <a:xfrm>
            <a:off x="1143000" y="3063240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Icon FaProjectDiagram" descr="FaProjectDiagram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0510" y="3260750"/>
            <a:ext cx="427939" cy="4279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306324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Timetable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160520"/>
            <a:ext cx="452628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1800"/>
              </a:spcAft>
              <a:buNone/>
            </a:pPr>
            <a:r>
              <a:rPr sz="2400" b="1" i="0">
                <a:solidFill>
                  <a:srgbClr val="2B2B2B"/>
                </a:solidFill>
                <a:latin typeface="Cambria"/>
              </a:rPr>
              <a:t>G = (V, E)</a:t>
            </a:r>
          </a:p>
          <a:p>
            <a:pPr algn="l" marL="293370" indent="-29337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V: departure and arrival events (stop, time).</a:t>
            </a:r>
          </a:p>
          <a:p>
            <a:pPr algn="l" marL="293370" indent="-29337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E: ride, wait, transfer and walk arcs.</a:t>
            </a:r>
          </a:p>
          <a:p>
            <a:pPr algn="l" marL="293370" indent="-29337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Wait = half headway; transfer 3 min; boarding 1 min.</a:t>
            </a:r>
          </a:p>
          <a:p>
            <a:pPr algn="l" marL="293370" indent="-29337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Walk 4.6 km/h × 1.25 detour, at most 2.2 km.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5100" y="2788920"/>
            <a:ext cx="5257800" cy="6583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isc FaClock"/>
          <p:cNvSpPr/>
          <p:nvPr/>
        </p:nvSpPr>
        <p:spPr>
          <a:xfrm>
            <a:off x="6835140" y="3063240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Icon FaClock" descr="FaClo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2650" y="3260750"/>
            <a:ext cx="427939" cy="42793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886700" y="306324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Earliest arrival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0860" y="4160520"/>
            <a:ext cx="452628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1800"/>
              </a:spcAft>
              <a:buNone/>
            </a:pPr>
            <a:r>
              <a:rPr sz="2400" b="1" i="0">
                <a:solidFill>
                  <a:srgbClr val="2B2B2B"/>
                </a:solidFill>
                <a:latin typeface="Cambria"/>
              </a:rPr>
              <a:t>EA(o, d, τ) = min arr(J)</a:t>
            </a:r>
          </a:p>
          <a:p>
            <a:pPr algn="l" marL="293370" indent="-29337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over journeys J from o to d leaving at or after τ.</a:t>
            </a:r>
          </a:p>
          <a:p>
            <a:pPr algn="l" marL="293370" indent="-29337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Time-expanded Dijkstra with three objectives: fastest, fewest transfers, cheapest.</a:t>
            </a:r>
          </a:p>
          <a:p>
            <a:pPr algn="l" marL="293370" indent="-29337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Light, typical or heavy traffic factor.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07240" y="2788920"/>
            <a:ext cx="5257800" cy="6583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Disc FaCoins"/>
          <p:cNvSpPr/>
          <p:nvPr/>
        </p:nvSpPr>
        <p:spPr>
          <a:xfrm>
            <a:off x="12527280" y="3063240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Icon FaCoins" descr="FaCoin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24790" y="3260750"/>
            <a:ext cx="427939" cy="42793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578840" y="306324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Fare per leg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73000" y="4160520"/>
            <a:ext cx="452628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1800"/>
              </a:spcAft>
              <a:buNone/>
            </a:pPr>
            <a:r>
              <a:rPr sz="2400" b="1" i="0">
                <a:solidFill>
                  <a:srgbClr val="2B2B2B"/>
                </a:solidFill>
                <a:latin typeface="Cambria"/>
              </a:rPr>
              <a:t>f(d) = f₀ + r·⌈max(0, d − d₀)⌉</a:t>
            </a:r>
          </a:p>
          <a:p>
            <a:pPr algn="l" marL="293370" indent="-29337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Trip fare = sum over legs; a transfer starts a new minimum fare.</a:t>
            </a:r>
          </a:p>
          <a:p>
            <a:pPr algn="l" marL="293370" indent="-29337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Jeepney ₱14 / 4 km + ₱2.00 per km.</a:t>
            </a:r>
          </a:p>
          <a:p>
            <a:pPr algn="l" marL="293370" indent="-29337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Modern ₱17 / 4 km + ₱2.40; bus ₱12 / 5 km + ₱2.20.</a:t>
            </a:r>
          </a:p>
          <a:p>
            <a:pPr algn="l" marL="293370" indent="-29337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20% off for student, senior, PWD.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Accessibility and inequality measures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8138160" cy="6583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isc FaMapMarkedAlt"/>
          <p:cNvSpPr/>
          <p:nvPr/>
        </p:nvSpPr>
        <p:spPr>
          <a:xfrm>
            <a:off x="1143000" y="3063240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Icon FaMapMarkedAlt" descr="FaMapMarkedAl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0510" y="3260750"/>
            <a:ext cx="427939" cy="4279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306324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Cumulative-opportunity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4160520"/>
            <a:ext cx="7406640" cy="1188720"/>
          </a:xfrm>
          <a:prstGeom prst="roundRect">
            <a:avLst>
              <a:gd name="adj" fmla="val 6000"/>
            </a:avLst>
          </a:prstGeom>
          <a:solidFill>
            <a:srgbClr val="F7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88720" y="4160520"/>
            <a:ext cx="74066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800" b="1" i="0">
                <a:solidFill>
                  <a:srgbClr val="5C0404"/>
                </a:solidFill>
                <a:latin typeface="Cambria"/>
              </a:rPr>
              <a:t>Aᵢ(T) = Σⱼ Oⱼ · 1[tᵢⱼ ≤ T] / Σⱼ Oⱼ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623560"/>
            <a:ext cx="7315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65430" indent="-265430">
              <a:lnSpc>
                <a:spcPct val="103000"/>
              </a:lnSpc>
              <a:spcAft>
                <a:spcPts val="1000"/>
              </a:spcAft>
              <a:buClr>
                <a:srgbClr val="8B0707"/>
              </a:buClr>
              <a:buFont typeface="Arial"/>
              <a:buChar char="■"/>
            </a:pPr>
            <a:r>
              <a:rPr sz="1900" b="1" i="0">
                <a:solidFill>
                  <a:srgbClr val="2B2B2B"/>
                </a:solidFill>
                <a:latin typeface="Arial"/>
              </a:rPr>
              <a:t>Oⱼ </a:t>
            </a:r>
            <a:r>
              <a:rPr sz="1900" b="0" i="0">
                <a:solidFill>
                  <a:srgbClr val="2B2B2B"/>
                </a:solidFill>
                <a:latin typeface="Arial"/>
              </a:rPr>
              <a:t>opportunities: hospital beds, school seats, jobs, essential goods</a:t>
            </a:r>
          </a:p>
          <a:p>
            <a:pPr algn="l" marL="265430" indent="-265430">
              <a:lnSpc>
                <a:spcPct val="103000"/>
              </a:lnSpc>
              <a:spcAft>
                <a:spcPts val="1000"/>
              </a:spcAft>
              <a:buClr>
                <a:srgbClr val="8B0707"/>
              </a:buClr>
              <a:buFont typeface="Arial"/>
              <a:buChar char="■"/>
            </a:pPr>
            <a:r>
              <a:rPr sz="1900" b="1" i="0">
                <a:solidFill>
                  <a:srgbClr val="2B2B2B"/>
                </a:solidFill>
                <a:latin typeface="Arial"/>
              </a:rPr>
              <a:t>tᵢⱼ </a:t>
            </a:r>
            <a:r>
              <a:rPr sz="1900" b="0" i="0">
                <a:solidFill>
                  <a:srgbClr val="2B2B2B"/>
                </a:solidFill>
                <a:latin typeface="Arial"/>
              </a:rPr>
              <a:t>earliest-arrival time from LGU i to opportunity j</a:t>
            </a:r>
          </a:p>
          <a:p>
            <a:pPr algn="l" marL="265430" indent="-265430">
              <a:lnSpc>
                <a:spcPct val="103000"/>
              </a:lnSpc>
              <a:spcAft>
                <a:spcPts val="1000"/>
              </a:spcAft>
              <a:buClr>
                <a:srgbClr val="8B0707"/>
              </a:buClr>
              <a:buFont typeface="Arial"/>
              <a:buChar char="■"/>
            </a:pPr>
            <a:r>
              <a:rPr sz="1900" b="1" i="0">
                <a:solidFill>
                  <a:srgbClr val="2B2B2B"/>
                </a:solidFill>
                <a:latin typeface="Arial"/>
              </a:rPr>
              <a:t>T </a:t>
            </a:r>
            <a:r>
              <a:rPr sz="1900" b="0" i="0">
                <a:solidFill>
                  <a:srgbClr val="2B2B2B"/>
                </a:solidFill>
                <a:latin typeface="Arial"/>
              </a:rPr>
              <a:t>time budget, 15 to 120 min; base case 30 min</a:t>
            </a:r>
          </a:p>
          <a:p>
            <a:pPr algn="l" marL="265430" indent="-265430">
              <a:lnSpc>
                <a:spcPct val="103000"/>
              </a:lnSpc>
              <a:spcAft>
                <a:spcPts val="1000"/>
              </a:spcAft>
              <a:buClr>
                <a:srgbClr val="8B0707"/>
              </a:buClr>
              <a:buFont typeface="Arial"/>
              <a:buChar char="■"/>
            </a:pPr>
            <a:r>
              <a:rPr sz="1900" b="1" i="0">
                <a:solidFill>
                  <a:srgbClr val="2B2B2B"/>
                </a:solidFill>
                <a:latin typeface="Arial"/>
              </a:rPr>
              <a:t>Robustness: </a:t>
            </a:r>
            <a:r>
              <a:rPr sz="1900" b="0" i="0">
                <a:solidFill>
                  <a:srgbClr val="2B2B2B"/>
                </a:solidFill>
                <a:latin typeface="Arial"/>
              </a:rPr>
              <a:t>measured from the poblacion and from the LGU centroid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788920"/>
            <a:ext cx="8138160" cy="6583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Disc FaBalanceScale"/>
          <p:cNvSpPr/>
          <p:nvPr/>
        </p:nvSpPr>
        <p:spPr>
          <a:xfrm>
            <a:off x="9646920" y="3063240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Icon FaBalanceScale" descr="FaBalanceSca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4430" y="3260750"/>
            <a:ext cx="427939" cy="4279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698480" y="306324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Inequality of access</a:t>
            </a:r>
          </a:p>
        </p:txBody>
      </p:sp>
      <p:graphicFrame>
        <p:nvGraphicFramePr>
          <p:cNvPr id="19" name="Table"/>
          <p:cNvGraphicFramePr>
            <a:graphicFrameLocks noGrp="1"/>
          </p:cNvGraphicFramePr>
          <p:nvPr/>
        </p:nvGraphicFramePr>
        <p:xfrm>
          <a:off x="9692640" y="4160520"/>
          <a:ext cx="7406640" cy="4343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54480"/>
                <a:gridCol w="5852160"/>
              </a:tblGrid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Index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Definition (population-weighted)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Gini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ΣᵢΣⱼ wᵢwⱼ |Aᵢ − Aⱼ| / (2W²Ā)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Theil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(1/W) Σᵢ wᵢ (Aᵢ/Ā) ln(Aᵢ/Ā)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Palma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share of top 10% ÷ share of bottom 40%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Lorenz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cumulative population vs. cumulative access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692640" y="864108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0" i="1">
                <a:solidFill>
                  <a:srgbClr val="5E5E5E"/>
                </a:solidFill>
                <a:latin typeface="Arial"/>
              </a:rPr>
              <a:t>wᵢ = population of LGU i (PSA 2020); 0 = perfect equality.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Hospital routing: acuity, payment class and bed status</a:t>
            </a:r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822960" y="2788920"/>
          <a:ext cx="10241280" cy="52120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80160"/>
                <a:gridCol w="5760720"/>
                <a:gridCol w="2011680"/>
                <a:gridCol w="1188720"/>
              </a:tblGrid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Acuity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Patient status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Min. level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ER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Needs an immediate life-saving intervention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Level 3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High-risk, new confusion, lethargy, or severe pain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Level 2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Stable; likely to need two or more resources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Level 1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Stable; likely to need one resource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Level 1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Stable; likely to need no resources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Infirmary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11430000" y="2788920"/>
          <a:ext cx="6035040" cy="4343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108960"/>
                <a:gridCol w="2926080"/>
              </a:tblGrid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Payment class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Accepted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0  Free or assisted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Gov’t + Malasakit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1  Public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Any government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2  PhilHealth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+ accredited private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3  Any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No restriction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22960" y="8229600"/>
            <a:ext cx="16642080" cy="1280160"/>
          </a:xfrm>
          <a:prstGeom prst="roundRect">
            <a:avLst>
              <a:gd name="adj" fmla="val 6000"/>
            </a:avLst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88720" y="8229600"/>
            <a:ext cx="15910559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900" b="1" i="0">
                <a:solidFill>
                  <a:srgbClr val="FFFFFF"/>
                </a:solidFill>
                <a:latin typeface="Arial"/>
              </a:rPr>
              <a:t>Suitable: </a:t>
            </a:r>
            <a:r>
              <a:rPr sz="1900" b="0" i="0">
                <a:solidFill>
                  <a:srgbClr val="FFFFFF"/>
                </a:solidFill>
                <a:latin typeface="Arial"/>
              </a:rPr>
              <a:t>level ≥ minimum, ER when required, not reported full, cost ≤ class.  </a:t>
            </a:r>
            <a:r>
              <a:rPr sz="1900" b="1" i="0">
                <a:solidFill>
                  <a:srgbClr val="FFFFFF"/>
                </a:solidFill>
                <a:latin typeface="Arial"/>
              </a:rPr>
              <a:t>Acuity 1–2: </a:t>
            </a:r>
            <a:r>
              <a:rPr sz="1900" b="0" i="0">
                <a:solidFill>
                  <a:srgbClr val="FFFFFF"/>
                </a:solidFill>
                <a:latin typeface="Arial"/>
              </a:rPr>
              <a:t>cost filter lifted (RA 10932).  </a:t>
            </a:r>
            <a:r>
              <a:rPr sz="1900" b="1" i="0">
                <a:solidFill>
                  <a:srgbClr val="FFFFFF"/>
                </a:solidFill>
                <a:latin typeface="Arial"/>
              </a:rPr>
              <a:t>Stabilise first: </a:t>
            </a:r>
            <a:r>
              <a:rPr sz="1900" b="0" i="0">
                <a:solidFill>
                  <a:srgbClr val="FFFFFF"/>
                </a:solidFill>
                <a:latin typeface="Arial"/>
              </a:rPr>
              <a:t>an open ER &gt; 15 min nearer is offered first for acuity 1.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Agent-reported bed capacity: five cooperating e-mail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29260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isc FaClock"/>
          <p:cNvSpPr/>
          <p:nvPr/>
        </p:nvSpPr>
        <p:spPr>
          <a:xfrm>
            <a:off x="1828800" y="3017520"/>
            <a:ext cx="914400" cy="91440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Icon FaClock" descr="FaC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8256" y="3236976"/>
            <a:ext cx="475488" cy="4754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5840" y="40690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200" b="1" i="0">
                <a:solidFill>
                  <a:srgbClr val="8B0707"/>
                </a:solidFill>
                <a:latin typeface="Arial"/>
              </a:rPr>
              <a:t>Coordinator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663440"/>
            <a:ext cx="2468880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2B2B2B"/>
                </a:solidFill>
                <a:latin typeface="Arial"/>
              </a:rPr>
              <a:t>Opens a cycle every 8 h, one per nursing shift</a:t>
            </a:r>
          </a:p>
        </p:txBody>
      </p:sp>
      <p:sp>
        <p:nvSpPr>
          <p:cNvPr id="13" name="Arrow"/>
          <p:cNvSpPr/>
          <p:nvPr/>
        </p:nvSpPr>
        <p:spPr>
          <a:xfrm>
            <a:off x="3813048" y="4389120"/>
            <a:ext cx="374903" cy="457200"/>
          </a:xfrm>
          <a:prstGeom prst="rightArrow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4251960" y="2788920"/>
            <a:ext cx="29260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isc FaEnvelope"/>
          <p:cNvSpPr/>
          <p:nvPr/>
        </p:nvSpPr>
        <p:spPr>
          <a:xfrm>
            <a:off x="5257800" y="3017520"/>
            <a:ext cx="914400" cy="91440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Icon FaEnvelope" descr="FaEnvelop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7256" y="3236976"/>
            <a:ext cx="475488" cy="4754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434840" y="40690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200" b="1" i="0">
                <a:solidFill>
                  <a:srgbClr val="8B0707"/>
                </a:solidFill>
                <a:latin typeface="Arial"/>
              </a:rPr>
              <a:t>Inquiry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663440"/>
            <a:ext cx="2468880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2B2B2B"/>
                </a:solidFill>
                <a:latin typeface="Arial"/>
              </a:rPr>
              <a:t>E-mails each hospital a short form with a one-time code</a:t>
            </a:r>
          </a:p>
        </p:txBody>
      </p:sp>
      <p:sp>
        <p:nvSpPr>
          <p:cNvPr id="19" name="Arrow"/>
          <p:cNvSpPr/>
          <p:nvPr/>
        </p:nvSpPr>
        <p:spPr>
          <a:xfrm>
            <a:off x="7242048" y="4389120"/>
            <a:ext cx="374903" cy="457200"/>
          </a:xfrm>
          <a:prstGeom prst="rightArrow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7680960" y="2788920"/>
            <a:ext cx="29260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Disc FaSearch"/>
          <p:cNvSpPr/>
          <p:nvPr/>
        </p:nvSpPr>
        <p:spPr>
          <a:xfrm>
            <a:off x="8686800" y="3017520"/>
            <a:ext cx="914400" cy="91440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Icon FaSearch" descr="FaSearch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3236976"/>
            <a:ext cx="475488" cy="47548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863840" y="40690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200" b="1" i="0">
                <a:solidFill>
                  <a:srgbClr val="8B0707"/>
                </a:solidFill>
                <a:latin typeface="Arial"/>
              </a:rPr>
              <a:t>Reader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4663440"/>
            <a:ext cx="2468880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2B2B2B"/>
                </a:solidFill>
                <a:latin typeface="Arial"/>
              </a:rPr>
              <a:t>Reads replies in English or Filipino every 10 min</a:t>
            </a:r>
          </a:p>
        </p:txBody>
      </p:sp>
      <p:sp>
        <p:nvSpPr>
          <p:cNvPr id="25" name="Arrow"/>
          <p:cNvSpPr/>
          <p:nvPr/>
        </p:nvSpPr>
        <p:spPr>
          <a:xfrm>
            <a:off x="10671048" y="4389120"/>
            <a:ext cx="374903" cy="457200"/>
          </a:xfrm>
          <a:prstGeom prst="rightArrow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1109960" y="2788920"/>
            <a:ext cx="29260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Disc FaClipboardCheck"/>
          <p:cNvSpPr/>
          <p:nvPr/>
        </p:nvSpPr>
        <p:spPr>
          <a:xfrm>
            <a:off x="12115800" y="3017520"/>
            <a:ext cx="914400" cy="91440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Icon FaClipboardCheck" descr="FaClipboardCheck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5256" y="3236976"/>
            <a:ext cx="475488" cy="47548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292840" y="40690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200" b="1" i="0">
                <a:solidFill>
                  <a:srgbClr val="8B0707"/>
                </a:solidFill>
                <a:latin typeface="Arial"/>
              </a:rPr>
              <a:t>Validator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4663440"/>
            <a:ext cx="2468880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2B2B2B"/>
                </a:solidFill>
                <a:latin typeface="Arial"/>
              </a:rPr>
              <a:t>Sender and code, completeness, capacity, occupancy, recency</a:t>
            </a:r>
          </a:p>
        </p:txBody>
      </p:sp>
      <p:sp>
        <p:nvSpPr>
          <p:cNvPr id="31" name="Arrow"/>
          <p:cNvSpPr/>
          <p:nvPr/>
        </p:nvSpPr>
        <p:spPr>
          <a:xfrm>
            <a:off x="14100048" y="4389120"/>
            <a:ext cx="374903" cy="457200"/>
          </a:xfrm>
          <a:prstGeom prst="rightArrow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14538960" y="2788920"/>
            <a:ext cx="29260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Disc FaBed"/>
          <p:cNvSpPr/>
          <p:nvPr/>
        </p:nvSpPr>
        <p:spPr>
          <a:xfrm>
            <a:off x="15544800" y="3017520"/>
            <a:ext cx="914400" cy="91440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Icon FaBed" descr="FaBed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64255" y="3236976"/>
            <a:ext cx="475488" cy="4754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4721840" y="40690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200" b="1" i="0">
                <a:solidFill>
                  <a:srgbClr val="8B0707"/>
                </a:solidFill>
                <a:latin typeface="Arial"/>
              </a:rPr>
              <a:t>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767559" y="4663440"/>
            <a:ext cx="2468880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2B2B2B"/>
                </a:solidFill>
                <a:latin typeface="Arial"/>
              </a:rPr>
              <a:t>Shows free beds with the time of the report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6766560"/>
            <a:ext cx="3920489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51560" y="6949440"/>
            <a:ext cx="3463289" cy="125089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5000" b="1" i="0">
                <a:solidFill>
                  <a:srgbClr val="8B0707"/>
                </a:solidFill>
                <a:latin typeface="Arial"/>
              </a:rPr>
              <a:t>≤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8252460"/>
            <a:ext cx="3371849" cy="8983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2B2B2B"/>
                </a:solidFill>
                <a:latin typeface="Arial"/>
              </a:rPr>
              <a:t>messages to a hospital per cycle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63490" y="6766560"/>
            <a:ext cx="3920489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292090" y="6949440"/>
            <a:ext cx="3463289" cy="125089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5000" b="1" i="0">
                <a:solidFill>
                  <a:srgbClr val="8B0707"/>
                </a:solidFill>
                <a:latin typeface="Arial"/>
              </a:rPr>
              <a:t>≤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7809" y="8252460"/>
            <a:ext cx="3371849" cy="8983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2B2B2B"/>
                </a:solidFill>
                <a:latin typeface="Arial"/>
              </a:rPr>
              <a:t>messages to a hospital per day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04019" y="6766560"/>
            <a:ext cx="3920489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532619" y="6949440"/>
            <a:ext cx="3463289" cy="125089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5000" b="1" i="0">
                <a:solidFill>
                  <a:srgbClr val="8B0707"/>
                </a:solidFill>
                <a:latin typeface="Arial"/>
              </a:rPr>
              <a:t>12 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78340" y="8252460"/>
            <a:ext cx="3371849" cy="8983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2B2B2B"/>
                </a:solidFill>
                <a:latin typeface="Arial"/>
              </a:rPr>
              <a:t>age before a report reads unknown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544549" y="6766560"/>
            <a:ext cx="3920489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3773149" y="6949440"/>
            <a:ext cx="3463289" cy="125089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5000" b="1" i="0">
                <a:solidFill>
                  <a:srgbClr val="8B0707"/>
                </a:solidFill>
                <a:latin typeface="Arial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818869" y="8252460"/>
            <a:ext cx="3371849" cy="8983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2B2B2B"/>
                </a:solidFill>
                <a:latin typeface="Arial"/>
              </a:rPr>
              <a:t>messages after a hospital opts out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Verification protocol and data analysis</a:t>
            </a:r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822960" y="2788920"/>
          <a:ext cx="10607040" cy="60807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91840"/>
                <a:gridCol w="3840480"/>
                <a:gridCol w="3474720"/>
              </a:tblGrid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Verification test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Pass criterion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2B2B2B"/>
                          </a:solidFill>
                          <a:latin typeface="Arial"/>
                        </a:rPr>
                        <a:t>Timetable routing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Random journey queries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Equal to complete enumeration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2B2B2B"/>
                          </a:solidFill>
                          <a:latin typeface="Arial"/>
                        </a:rPr>
                        <a:t>Naive single scan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Same queries, common shortcut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Share of late answers (baseline)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2B2B2B"/>
                          </a:solidFill>
                          <a:latin typeface="Arial"/>
                        </a:rPr>
                        <a:t>Fare function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Random fare splits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Subadditive in every split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2B2B2B"/>
                          </a:solidFill>
                          <a:latin typeface="Arial"/>
                        </a:rPr>
                        <a:t>Vehicle classes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Origin–destination pairs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Zero limit violations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2B2B2B"/>
                          </a:solidFill>
                          <a:latin typeface="Arial"/>
                        </a:rPr>
                        <a:t>Hospital mode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Random hospital-mode queries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Agreement with reference code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2B2B2B"/>
                          </a:solidFill>
                          <a:latin typeface="Arial"/>
                        </a:rPr>
                        <a:t>Bed validator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Forged reports in mailbox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None accepted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1887200" y="2788920"/>
            <a:ext cx="5577840" cy="6080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Disc FaChartLine"/>
          <p:cNvSpPr/>
          <p:nvPr/>
        </p:nvSpPr>
        <p:spPr>
          <a:xfrm>
            <a:off x="12207240" y="3063240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Icon FaChartLine" descr="FaChartLin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04750" y="3260750"/>
            <a:ext cx="427939" cy="4279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213080" y="306324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Data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0" y="4160520"/>
            <a:ext cx="49377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65430" indent="-26543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1900" b="0" i="0">
                <a:solidFill>
                  <a:srgbClr val="2B2B2B"/>
                </a:solidFill>
                <a:latin typeface="Arial"/>
              </a:rPr>
              <a:t>Descriptive statistics of access per LGU</a:t>
            </a:r>
          </a:p>
          <a:p>
            <a:pPr algn="l" marL="265430" indent="-26543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1900" b="0" i="0">
                <a:solidFill>
                  <a:srgbClr val="2B2B2B"/>
                </a:solidFill>
                <a:latin typeface="Arial"/>
              </a:rPr>
              <a:t>Gini, Theil and Palma at 15–120 min</a:t>
            </a:r>
          </a:p>
          <a:p>
            <a:pPr algn="l" marL="265430" indent="-26543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1900" b="0" i="0">
                <a:solidFill>
                  <a:srgbClr val="2B2B2B"/>
                </a:solidFill>
                <a:latin typeface="Arial"/>
              </a:rPr>
              <a:t>Lorenz curves by budget</a:t>
            </a:r>
          </a:p>
          <a:p>
            <a:pPr algn="l" marL="265430" indent="-26543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1900" b="0" i="0">
                <a:solidFill>
                  <a:srgbClr val="2B2B2B"/>
                </a:solidFill>
                <a:latin typeface="Arial"/>
              </a:rPr>
              <a:t>Sensitivity to traffic level</a:t>
            </a:r>
          </a:p>
          <a:p>
            <a:pPr algn="l" marL="265430" indent="-26543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1900" b="0" i="0">
                <a:solidFill>
                  <a:srgbClr val="2B2B2B"/>
                </a:solidFill>
                <a:latin typeface="Arial"/>
              </a:rPr>
              <a:t>Poblacion vs. centroid origin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9646920"/>
            <a:ext cx="1664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0" i="1">
                <a:solidFill>
                  <a:srgbClr val="5E5E5E"/>
                </a:solidFill>
                <a:latin typeface="Arial"/>
              </a:rPr>
              <a:t>All verification runs use synthetic test instances, so pass rates describe the code, not Albay’s roads or hospitals.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Ethical considerations, scope and delimitations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813816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isc FaShieldAlt"/>
          <p:cNvSpPr/>
          <p:nvPr/>
        </p:nvSpPr>
        <p:spPr>
          <a:xfrm>
            <a:off x="1143000" y="310896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Icon FaShieldAlt" descr="FaShieldAl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483" y="3317443"/>
            <a:ext cx="451713" cy="4517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86000" y="3108960"/>
            <a:ext cx="6355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Ethical considerations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06240"/>
            <a:ext cx="7406640" cy="3474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07340" indent="-307340">
              <a:lnSpc>
                <a:spcPct val="105000"/>
              </a:lnSpc>
              <a:spcAft>
                <a:spcPts val="600"/>
              </a:spcAft>
              <a:buClr>
                <a:srgbClr val="8B0707"/>
              </a:buClr>
              <a:buFont typeface="Arial"/>
              <a:buChar char="■"/>
            </a:pPr>
            <a:r>
              <a:rPr sz="2200" b="0" i="0">
                <a:solidFill>
                  <a:srgbClr val="2B2B2B"/>
                </a:solidFill>
                <a:latin typeface="Arial"/>
              </a:rPr>
              <a:t>No hospital is contacted until the Scientific Review Committee approves the protocol and each facility agrees.</a:t>
            </a:r>
          </a:p>
          <a:p>
            <a:pPr algn="l" marL="307340" indent="-307340">
              <a:lnSpc>
                <a:spcPct val="105000"/>
              </a:lnSpc>
              <a:spcAft>
                <a:spcPts val="600"/>
              </a:spcAft>
              <a:buClr>
                <a:srgbClr val="8B0707"/>
              </a:buClr>
              <a:buFont typeface="Arial"/>
              <a:buChar char="■"/>
            </a:pPr>
            <a:r>
              <a:rPr sz="2200" b="0" i="0">
                <a:solidFill>
                  <a:srgbClr val="2B2B2B"/>
                </a:solidFill>
                <a:latin typeface="Arial"/>
              </a:rPr>
              <a:t>Agents tested only on synthetic data in a simulated mail environment.</a:t>
            </a:r>
          </a:p>
          <a:p>
            <a:pPr algn="l" marL="307340" indent="-307340">
              <a:lnSpc>
                <a:spcPct val="105000"/>
              </a:lnSpc>
              <a:spcAft>
                <a:spcPts val="600"/>
              </a:spcAft>
              <a:buClr>
                <a:srgbClr val="8B0707"/>
              </a:buClr>
              <a:buFont typeface="Arial"/>
              <a:buChar char="■"/>
            </a:pPr>
            <a:r>
              <a:rPr sz="2200" b="0" i="0">
                <a:solidFill>
                  <a:srgbClr val="2B2B2B"/>
                </a:solidFill>
                <a:latin typeface="Arial"/>
              </a:rPr>
              <a:t>RA 10173: the app stores no personal data.</a:t>
            </a:r>
          </a:p>
          <a:p>
            <a:pPr algn="l" marL="307340" indent="-307340">
              <a:lnSpc>
                <a:spcPct val="105000"/>
              </a:lnSpc>
              <a:spcAft>
                <a:spcPts val="600"/>
              </a:spcAft>
              <a:buClr>
                <a:srgbClr val="8B0707"/>
              </a:buClr>
              <a:buFont typeface="Arial"/>
              <a:buChar char="■"/>
            </a:pPr>
            <a:r>
              <a:rPr sz="2200" b="0" i="0">
                <a:solidFill>
                  <a:srgbClr val="2B2B2B"/>
                </a:solidFill>
                <a:latin typeface="Arial"/>
              </a:rPr>
              <a:t>Hospital mode is navigation support, not triage; it never replaces 911.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2788920"/>
            <a:ext cx="813816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isc FaFilter"/>
          <p:cNvSpPr/>
          <p:nvPr/>
        </p:nvSpPr>
        <p:spPr>
          <a:xfrm>
            <a:off x="9646919" y="310896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Icon FaFilter" descr="FaFilt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5403" y="3317443"/>
            <a:ext cx="451713" cy="45171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789919" y="3108960"/>
            <a:ext cx="6355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Scope and delimitations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4206240"/>
            <a:ext cx="7406640" cy="3474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07340" indent="-307340">
              <a:lnSpc>
                <a:spcPct val="105000"/>
              </a:lnSpc>
              <a:spcAft>
                <a:spcPts val="600"/>
              </a:spcAft>
              <a:buClr>
                <a:srgbClr val="8B0707"/>
              </a:buClr>
              <a:buFont typeface="Arial"/>
              <a:buChar char="■"/>
            </a:pPr>
            <a:r>
              <a:rPr sz="2200" b="0" i="0">
                <a:solidFill>
                  <a:srgbClr val="2B2B2B"/>
                </a:solidFill>
                <a:latin typeface="Arial"/>
              </a:rPr>
              <a:t>Albay only: 18 LGUs, 30 modelled services.</a:t>
            </a:r>
          </a:p>
          <a:p>
            <a:pPr algn="l" marL="307340" indent="-307340">
              <a:lnSpc>
                <a:spcPct val="105000"/>
              </a:lnSpc>
              <a:spcAft>
                <a:spcPts val="600"/>
              </a:spcAft>
              <a:buClr>
                <a:srgbClr val="8B0707"/>
              </a:buClr>
              <a:buFont typeface="Arial"/>
              <a:buChar char="■"/>
            </a:pPr>
            <a:r>
              <a:rPr sz="2200" b="0" i="0">
                <a:solidFill>
                  <a:srgbClr val="2B2B2B"/>
                </a:solidFill>
                <a:latin typeface="Arial"/>
              </a:rPr>
              <a:t>Routes are modelled from open data; headways are derived from fleet size, not timed.</a:t>
            </a:r>
          </a:p>
          <a:p>
            <a:pPr algn="l" marL="307340" indent="-307340">
              <a:lnSpc>
                <a:spcPct val="105000"/>
              </a:lnSpc>
              <a:spcAft>
                <a:spcPts val="600"/>
              </a:spcAft>
              <a:buClr>
                <a:srgbClr val="8B0707"/>
              </a:buClr>
              <a:buFont typeface="Arial"/>
              <a:buChar char="■"/>
            </a:pPr>
            <a:r>
              <a:rPr sz="2200" b="0" i="0">
                <a:solidFill>
                  <a:srgbClr val="2B2B2B"/>
                </a:solidFill>
                <a:latin typeface="Arial"/>
              </a:rPr>
              <a:t>Tricycle fares are set by each LGU ordinance and are not modelled.</a:t>
            </a:r>
          </a:p>
          <a:p>
            <a:pPr algn="l" marL="307340" indent="-307340">
              <a:lnSpc>
                <a:spcPct val="105000"/>
              </a:lnSpc>
              <a:spcAft>
                <a:spcPts val="600"/>
              </a:spcAft>
              <a:buClr>
                <a:srgbClr val="8B0707"/>
              </a:buClr>
              <a:buFont typeface="Arial"/>
              <a:buChar char="■"/>
            </a:pPr>
            <a:r>
              <a:rPr sz="2200" b="0" i="0">
                <a:solidFill>
                  <a:srgbClr val="2B2B2B"/>
                </a:solidFill>
                <a:latin typeface="Arial"/>
              </a:rPr>
              <a:t>The registry has no coordinates; unverified facility positions are flagged.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8229600"/>
            <a:ext cx="16642080" cy="1188720"/>
          </a:xfrm>
          <a:prstGeom prst="roundRect">
            <a:avLst>
              <a:gd name="adj" fmla="val 6000"/>
            </a:avLst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88720" y="8229600"/>
            <a:ext cx="15910559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300" b="0" i="0">
                <a:solidFill>
                  <a:srgbClr val="FFFFFF"/>
                </a:solidFill>
                <a:latin typeface="Arial"/>
              </a:rPr>
              <a:t>Times, fares and scores are </a:t>
            </a:r>
            <a:r>
              <a:rPr sz="2300" b="1" i="0">
                <a:solidFill>
                  <a:srgbClr val="FFFFFF"/>
                </a:solidFill>
                <a:latin typeface="Arial"/>
              </a:rPr>
              <a:t>model outputs</a:t>
            </a:r>
            <a:r>
              <a:rPr sz="2300" b="0" i="0">
                <a:solidFill>
                  <a:srgbClr val="FFFFFF"/>
                </a:solidFill>
                <a:latin typeface="Arial"/>
              </a:rPr>
              <a:t>, not field measurements.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91</Words>
  <Application>Microsoft Office PowerPoint</Application>
  <PresentationFormat>Custom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ITC Avant Garde Gothic</vt:lpstr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PR2 TEMPLATE</dc:title>
  <cp:lastModifiedBy>Dave Justin De Asis</cp:lastModifiedBy>
  <cp:revision>2</cp:revision>
  <dcterms:created xsi:type="dcterms:W3CDTF">2006-08-16T00:00:00Z</dcterms:created>
  <dcterms:modified xsi:type="dcterms:W3CDTF">2026-10-08T04:57:00Z</dcterms:modified>
  <dc:identifier>DAHXUrdeoSg</dc:identifier>
</cp:coreProperties>
</file>