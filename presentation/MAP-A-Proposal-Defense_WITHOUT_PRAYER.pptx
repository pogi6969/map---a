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9"/>
  </p:notesMasterIdLst>
  <p:sldIdLst>
    <p:sldId id="256" r:id="rId2"/>
    <p:sldId id="258" r:id="rId3"/>
    <p:sldId id="260" r:id="rId4"/>
    <p:sldId id="261" r:id="rId5"/>
    <p:sldId id="262" r:id="rId6"/>
    <p:sldId id="285" r:id="rId7"/>
    <p:sldId id="288" r:id="rId8"/>
    <p:sldId id="289" r:id="rId9"/>
    <p:sldId id="290" r:id="rId10"/>
    <p:sldId id="291" r:id="rId11"/>
    <p:sldId id="292" r:id="rId12"/>
    <p:sldId id="293" r:id="rId13"/>
    <p:sldId id="294" r:id="rId14"/>
    <p:sldId id="295" r:id="rId15"/>
    <p:sldId id="296" r:id="rId16"/>
    <p:sldId id="297" r:id="rId17"/>
    <p:sldId id="298" r:id="rId18"/>
    <p:sldId id="299" r:id="rId19"/>
    <p:sldId id="300" r:id="rId20"/>
    <p:sldId id="301" r:id="rId21"/>
    <p:sldId id="302" r:id="rId22"/>
    <p:sldId id="303" r:id="rId23"/>
    <p:sldId id="304" r:id="rId24"/>
    <p:sldId id="305" r:id="rId25"/>
    <p:sldId id="306" r:id="rId26"/>
    <p:sldId id="282" r:id="rId27"/>
    <p:sldId id="283" r:id="rId28"/>
  </p:sldIdLst>
  <p:sldSz cx="18288000" cy="10287000"/>
  <p:notesSz cx="6858000" cy="9144000"/>
  <p:embeddedFontLst>
    <p:embeddedFont>
      <p:font typeface="Questrial" pitchFamily="2" charset="0"/>
      <p:regular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6" roundtripDataSignature="AMtx7mgAociou5CXQiKtOcDYVyhRZ+7Td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4289B53-5545-4E02-A326-ACEF5BE87AE4}">
  <a:tblStyle styleId="{34289B53-5545-4E02-A326-ACEF5BE87AE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534"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font" Target="fonts/font1.fntdata"/><Relationship Id="rId36" Type="http://customschemas.google.com/relationships/presentationmetadata" Target="metadata"/><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PH"/>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82" name="Google Shape;8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Cover. Keep it up while you are introduced.</a:t>
            </a:r>
            <a:endParaRPr/>
          </a:p>
        </p:txBody>
      </p:sp>
      <p:sp>
        <p:nvSpPr>
          <p:cNvPr id="83" name="Google Shape;83;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600db3a426f8adcd_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Blank slide. Keep it up until it is your turn.</a:t>
            </a:r>
            <a:endParaRPr/>
          </a:p>
        </p:txBody>
      </p:sp>
      <p:sp>
        <p:nvSpPr>
          <p:cNvPr id="105" name="Google Shape;105;g600db3a426f8adcd_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25" name="Google Shape;125;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Dave Justin Ll. De Asis  |  0:00 to 0:39 (39 s)</a:t>
            </a:r>
            <a:endParaRPr/>
          </a:p>
          <a:p>
            <a:pPr marL="0" lvl="0" indent="0" algn="l" rtl="0">
              <a:spcBef>
                <a:spcPts val="0"/>
              </a:spcBef>
              <a:spcAft>
                <a:spcPts val="0"/>
              </a:spcAft>
              <a:buNone/>
            </a:pPr>
            <a:endParaRPr/>
          </a:p>
          <a:p>
            <a:pPr marL="0" lvl="0" indent="0" algn="l" rtl="0">
              <a:spcBef>
                <a:spcPts val="0"/>
              </a:spcBef>
              <a:spcAft>
                <a:spcPts val="0"/>
              </a:spcAft>
              <a:buNone/>
            </a:pPr>
            <a:r>
              <a:rPr lang="en-US"/>
              <a:t>(Cue: Walk to the center before speaking. Wait for full silence. Tell the story to the panel, not to the screen.)</a:t>
            </a:r>
            <a:endParaRPr/>
          </a:p>
          <a:p>
            <a:pPr marL="0" lvl="0" indent="0" algn="l" rtl="0">
              <a:spcBef>
                <a:spcPts val="0"/>
              </a:spcBef>
              <a:spcAft>
                <a:spcPts val="0"/>
              </a:spcAft>
              <a:buNone/>
            </a:pPr>
            <a:endParaRPr/>
          </a:p>
          <a:p>
            <a:pPr marL="0" lvl="0" indent="0" algn="l" rtl="0">
              <a:spcBef>
                <a:spcPts val="0"/>
              </a:spcBef>
              <a:spcAft>
                <a:spcPts val="0"/>
              </a:spcAft>
              <a:buNone/>
            </a:pPr>
            <a:r>
              <a:rPr lang="en-US"/>
              <a:t>Two in the morning, somewhere in Albay. A father carries his daughter, who can barely breathe, to the hospital his phone says is nearest. [pause] It has no free bed. [long pause] Worldwide, 4.6 billion people lack essential health services, and nearly four in ten city dwellers lack convenient public transport. In the Philippines, Metro Manila has had open route data since 2013. Albay never has. This August, a Legazpi councilor was still fielding questions on jeepney route structuring.</a:t>
            </a:r>
            <a:endParaRPr/>
          </a:p>
        </p:txBody>
      </p:sp>
      <p:sp>
        <p:nvSpPr>
          <p:cNvPr id="126" name="Google Shape;126;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39" name="Google Shape;13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Dave Justin Ll. De Asis  |  0:39 to 1:00 (20 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(Cue: Read the line on the screen slowly, as if for the first time.)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Here, 1.37 million people ride routes no computer can read, at fares no one has mapped, toward hospitals whose free beds no one can see. [pause] A map can show you where to go. Our model shows how to get there.</a:t>
            </a:r>
            <a:endParaRPr dirty="0"/>
          </a:p>
        </p:txBody>
      </p:sp>
      <p:sp>
        <p:nvSpPr>
          <p:cNvPr id="140" name="Google Shape;140;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54" name="Google Shape;154;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Dave Justin Ll. De Asis  |  1:00 to 1:26 (26 s)</a:t>
            </a:r>
            <a:endParaRPr/>
          </a:p>
          <a:p>
            <a:pPr marL="0" lvl="0" indent="0" algn="l" rtl="0">
              <a:spcBef>
                <a:spcPts val="0"/>
              </a:spcBef>
              <a:spcAft>
                <a:spcPts val="0"/>
              </a:spcAft>
              <a:buNone/>
            </a:pPr>
            <a:endParaRPr/>
          </a:p>
          <a:p>
            <a:pPr marL="0" lvl="0" indent="0" algn="l" rtl="0">
              <a:spcBef>
                <a:spcPts val="0"/>
              </a:spcBef>
              <a:spcAft>
                <a:spcPts val="0"/>
              </a:spcAft>
              <a:buNone/>
            </a:pPr>
            <a:r>
              <a:rPr lang="en-US"/>
              <a:t>(Cue: Slow down for the title. Then greet the panel and introduce yourself.)</a:t>
            </a:r>
            <a:endParaRPr/>
          </a:p>
          <a:p>
            <a:pPr marL="0" lvl="0" indent="0" algn="l" rtl="0">
              <a:spcBef>
                <a:spcPts val="0"/>
              </a:spcBef>
              <a:spcAft>
                <a:spcPts val="0"/>
              </a:spcAft>
              <a:buNone/>
            </a:pPr>
            <a:endParaRPr/>
          </a:p>
          <a:p>
            <a:pPr marL="0" lvl="0" indent="0" algn="l" rtl="0">
              <a:spcBef>
                <a:spcPts val="0"/>
              </a:spcBef>
              <a:spcAft>
                <a:spcPts val="0"/>
              </a:spcAft>
              <a:buNone/>
            </a:pPr>
            <a:r>
              <a:rPr lang="en-US"/>
              <a:t>This is MAP - A: A Landmark-Anchored Timetable-Graph Model of Public Transport: Verified Computation of Accessibility, Its Inequality, and the Fare Matrix from Open Data, with Agent-Reported Hospital Bed Capacity for Ambulance and Patient Routing. [pause] Good morning, honorable panel. I am Dave Justin De Asis, a researcher from Legazpi City Science High School.</a:t>
            </a:r>
            <a:endParaRPr/>
          </a:p>
        </p:txBody>
      </p:sp>
      <p:sp>
        <p:nvSpPr>
          <p:cNvPr id="155" name="Google Shape;155;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1671BCFC-62E7-1A71-F0A3-B72AC8702823}"/>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9931CD85-6ED3-63FF-10D1-3151773BD143}"/>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731F7E26-DD23-B34E-7A26-7AAC1A4C6D06}"/>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Every figure here is public. No one has joined them into one network.</a:t>
            </a:r>
            <a:endParaRPr dirty="0"/>
          </a:p>
        </p:txBody>
      </p:sp>
      <p:sp>
        <p:nvSpPr>
          <p:cNvPr id="105" name="Google Shape;105;g600db3a426f8adcd_1:notes">
            <a:extLst>
              <a:ext uri="{FF2B5EF4-FFF2-40B4-BE49-F238E27FC236}">
                <a16:creationId xmlns:a16="http://schemas.microsoft.com/office/drawing/2014/main" id="{46788323-A89B-0611-24E7-65C1FAF4F8FE}"/>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56136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970F6F4B-F24C-526A-3115-A1A791064A64}"/>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DA001681-5F2A-A983-929A-68CC6821B950}"/>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258B27E7-0FFF-BC4C-1B4E-69F35ADACB3D}"/>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MAP - A stands on three points. [ pause ] A transit map that forecasts the time and the fare of every trip. A patient transport map that fits the hospital to the patient. And the bed capacity of every hospital in Albay. </a:t>
            </a:r>
            <a:endParaRPr dirty="0"/>
          </a:p>
        </p:txBody>
      </p:sp>
      <p:sp>
        <p:nvSpPr>
          <p:cNvPr id="105" name="Google Shape;105;g600db3a426f8adcd_1:notes">
            <a:extLst>
              <a:ext uri="{FF2B5EF4-FFF2-40B4-BE49-F238E27FC236}">
                <a16:creationId xmlns:a16="http://schemas.microsoft.com/office/drawing/2014/main" id="{C6B68683-EB93-21E5-B9EB-0A9D90409B03}"/>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6121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BB05B878-F7FF-228D-F441-A414CDFFE165}"/>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3575EC69-32EB-2DB5-7363-268A8B102930}"/>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317B9E72-150D-26E9-BEA1-600ACE549DB2}"/>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The literature gives each point its method: exact routing and regulated fares, DOH care levels, and software agents. </a:t>
            </a:r>
            <a:endParaRPr dirty="0"/>
          </a:p>
        </p:txBody>
      </p:sp>
      <p:sp>
        <p:nvSpPr>
          <p:cNvPr id="105" name="Google Shape;105;g600db3a426f8adcd_1:notes">
            <a:extLst>
              <a:ext uri="{FF2B5EF4-FFF2-40B4-BE49-F238E27FC236}">
                <a16:creationId xmlns:a16="http://schemas.microsoft.com/office/drawing/2014/main" id="{7136217A-51ED-DF90-4689-32A6DD684585}"/>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69250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D0B09557-03F4-315F-3469-EA8013984AA3}"/>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9A86D7E3-CC20-7543-C564-0447C53E27DB}"/>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9A9A0D50-5DCA-5F6F-54EF-9D7823CE1F1D}"/>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Nairobi and Accra mapped their routes, but only after fieldwork, and none tied a trip to a free bed.</a:t>
            </a:r>
            <a:endParaRPr dirty="0"/>
          </a:p>
        </p:txBody>
      </p:sp>
      <p:sp>
        <p:nvSpPr>
          <p:cNvPr id="105" name="Google Shape;105;g600db3a426f8adcd_1:notes">
            <a:extLst>
              <a:ext uri="{FF2B5EF4-FFF2-40B4-BE49-F238E27FC236}">
                <a16:creationId xmlns:a16="http://schemas.microsoft.com/office/drawing/2014/main" id="{A3023497-F008-5B0C-87A5-1B1C0196377D}"/>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500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C99540AA-933B-2320-3E9B-F89DF3106C7D}"/>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19AFDA90-0EF7-63BA-E560-4D1300EB71C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721DD737-CD05-5A79-84B9-90959DC2D798}"/>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Three gaps, one under each point, each met by a theory. </a:t>
            </a:r>
            <a:endParaRPr dirty="0"/>
          </a:p>
        </p:txBody>
      </p:sp>
      <p:sp>
        <p:nvSpPr>
          <p:cNvPr id="105" name="Google Shape;105;g600db3a426f8adcd_1:notes">
            <a:extLst>
              <a:ext uri="{FF2B5EF4-FFF2-40B4-BE49-F238E27FC236}">
                <a16:creationId xmlns:a16="http://schemas.microsoft.com/office/drawing/2014/main" id="{CEBF8DD0-F4E2-0463-E422-B39DF79DDD09}"/>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6427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FA08B3AB-8C87-5BD2-86B3-EA9A4F88C18C}"/>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BEDAD7B3-B0D6-FA88-C784-86BE28FD5238}"/>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076CDD5D-FEBB-E220-E0AE-185B65033A2F}"/>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Public data go in, proven mathematics does the work, and the three points come out. </a:t>
            </a:r>
            <a:endParaRPr dirty="0"/>
          </a:p>
        </p:txBody>
      </p:sp>
      <p:sp>
        <p:nvSpPr>
          <p:cNvPr id="105" name="Google Shape;105;g600db3a426f8adcd_1:notes">
            <a:extLst>
              <a:ext uri="{FF2B5EF4-FFF2-40B4-BE49-F238E27FC236}">
                <a16:creationId xmlns:a16="http://schemas.microsoft.com/office/drawing/2014/main" id="{66BC0299-5BC1-6A10-3486-3D69654DD35E}"/>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4510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89376C36-4D01-348F-92C3-12C7D7175D16}"/>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B50CCF5D-27FA-D959-0B14-E72BFD5DBC3E}"/>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EA98D852-DA72-62DF-FEFA-48BF187F62AB}"/>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Commuters gain the fare, ambulance crews the right hospital, and the health office a bed table in a typhoon.</a:t>
            </a:r>
            <a:endParaRPr dirty="0"/>
          </a:p>
        </p:txBody>
      </p:sp>
      <p:sp>
        <p:nvSpPr>
          <p:cNvPr id="105" name="Google Shape;105;g600db3a426f8adcd_1:notes">
            <a:extLst>
              <a:ext uri="{FF2B5EF4-FFF2-40B4-BE49-F238E27FC236}">
                <a16:creationId xmlns:a16="http://schemas.microsoft.com/office/drawing/2014/main" id="{5EA33F0D-08C3-AE1E-DA0F-D4B4E0399CC6}"/>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7545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982707A4-157E-F3DF-E7DD-E0969AD6AF73}"/>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3A007C91-26D3-B0E6-1071-CF534DC31D01}"/>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765393D7-F329-B0F3-853B-069F3DC7419A}"/>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The objective joins the three points in one model; each of the six questions serves one of them. </a:t>
            </a:r>
            <a:endParaRPr dirty="0"/>
          </a:p>
        </p:txBody>
      </p:sp>
      <p:sp>
        <p:nvSpPr>
          <p:cNvPr id="105" name="Google Shape;105;g600db3a426f8adcd_1:notes">
            <a:extLst>
              <a:ext uri="{FF2B5EF4-FFF2-40B4-BE49-F238E27FC236}">
                <a16:creationId xmlns:a16="http://schemas.microsoft.com/office/drawing/2014/main" id="{4296486E-76F2-63CD-7B93-B9B218B4E371}"/>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0015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DBFC86DB-3DA8-AA35-4253-34433185F1C6}"/>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4CFE7D66-68AA-2F13-3D16-F04CFB007C1E}"/>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9A0ED85D-E30E-D59E-276D-E64D53CFB26F}"/>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Eight hypotheses were fixed before the Albay instance ran. Two are exact by proof; if either fails, the error is in the code. </a:t>
            </a:r>
            <a:endParaRPr dirty="0"/>
          </a:p>
        </p:txBody>
      </p:sp>
      <p:sp>
        <p:nvSpPr>
          <p:cNvPr id="105" name="Google Shape;105;g600db3a426f8adcd_1:notes">
            <a:extLst>
              <a:ext uri="{FF2B5EF4-FFF2-40B4-BE49-F238E27FC236}">
                <a16:creationId xmlns:a16="http://schemas.microsoft.com/office/drawing/2014/main" id="{649947C7-17A6-ED51-7F3A-4BBCBCDA5CBE}"/>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5759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8338DAE5-85D8-6288-4FF0-36C0C53AFCE6}"/>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BEE67E99-81F7-93C6-1767-E1FB3CA47CDF}"/>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699075FF-31C9-EE9E-2B6D-874ECE6A3B0E}"/>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All 18 LGUs. No field data, by design: a model must be built and verified before the field can test it.</a:t>
            </a:r>
            <a:endParaRPr dirty="0"/>
          </a:p>
        </p:txBody>
      </p:sp>
      <p:sp>
        <p:nvSpPr>
          <p:cNvPr id="105" name="Google Shape;105;g600db3a426f8adcd_1:notes">
            <a:extLst>
              <a:ext uri="{FF2B5EF4-FFF2-40B4-BE49-F238E27FC236}">
                <a16:creationId xmlns:a16="http://schemas.microsoft.com/office/drawing/2014/main" id="{EF8E937C-4AA8-C492-4E59-9F9904C4D427}"/>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7986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C585C425-5001-041D-B6D1-4387A1E073FD}"/>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275A0F76-22ED-AA93-C940-4B6883FBBF21}"/>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12F6CFF8-69F4-3739-78C7-146B095BC8A0}"/>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Formulate, prove, verify, and only then experiment. </a:t>
            </a:r>
            <a:endParaRPr dirty="0"/>
          </a:p>
        </p:txBody>
      </p:sp>
      <p:sp>
        <p:nvSpPr>
          <p:cNvPr id="105" name="Google Shape;105;g600db3a426f8adcd_1:notes">
            <a:extLst>
              <a:ext uri="{FF2B5EF4-FFF2-40B4-BE49-F238E27FC236}">
                <a16:creationId xmlns:a16="http://schemas.microsoft.com/office/drawing/2014/main" id="{22423321-A601-261A-C67A-11AA4EF07DB3}"/>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1950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40CC7A61-B942-BBD9-C2E8-FB0ECF353282}"/>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B6AA0EEB-603C-403D-36A2-2AAEA288AA96}"/>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52F79E8F-21B4-2A1A-A060-3197886D26E8}"/>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The population is not people. It is every named public landmark in Albay. </a:t>
            </a:r>
            <a:endParaRPr dirty="0"/>
          </a:p>
        </p:txBody>
      </p:sp>
      <p:sp>
        <p:nvSpPr>
          <p:cNvPr id="105" name="Google Shape;105;g600db3a426f8adcd_1:notes">
            <a:extLst>
              <a:ext uri="{FF2B5EF4-FFF2-40B4-BE49-F238E27FC236}">
                <a16:creationId xmlns:a16="http://schemas.microsoft.com/office/drawing/2014/main" id="{490D35DA-9D1B-3843-DBBE-A780BD3DBCF0}"/>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62929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4BA1CED6-8255-B584-83BB-73130BBB2978}"/>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7BE30765-650B-8B1B-8761-2CB5737F9304}"/>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9ACFD959-38D4-E3C7-5459-52627F4D97B2}"/>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One laptop, no server, and every result checked against independent code. </a:t>
            </a:r>
            <a:endParaRPr dirty="0"/>
          </a:p>
        </p:txBody>
      </p:sp>
      <p:sp>
        <p:nvSpPr>
          <p:cNvPr id="105" name="Google Shape;105;g600db3a426f8adcd_1:notes">
            <a:extLst>
              <a:ext uri="{FF2B5EF4-FFF2-40B4-BE49-F238E27FC236}">
                <a16:creationId xmlns:a16="http://schemas.microsoft.com/office/drawing/2014/main" id="{0F117A4D-93C1-B386-F3C1-CCCA21EAAFE5}"/>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19941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3C8A0F78-206F-F04D-E9ED-B23848AD4531}"/>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AAFF1D40-F7D0-0E7D-2035-40665498699F}"/>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8BE6729E-4E1A-FA25-7B12-DA8B029BDE41}"/>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Eight stages, each tagged with the point it serves. </a:t>
            </a:r>
            <a:endParaRPr dirty="0"/>
          </a:p>
        </p:txBody>
      </p:sp>
      <p:sp>
        <p:nvSpPr>
          <p:cNvPr id="105" name="Google Shape;105;g600db3a426f8adcd_1:notes">
            <a:extLst>
              <a:ext uri="{FF2B5EF4-FFF2-40B4-BE49-F238E27FC236}">
                <a16:creationId xmlns:a16="http://schemas.microsoft.com/office/drawing/2014/main" id="{06E88B4F-3595-20E2-095D-D5AF90D6BB22}"/>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8798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507FF791-3C6B-1B15-6E2F-9A171948AC03}"/>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D66D802A-5D6C-8F17-DF96-CE846BF1F90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E49132C8-8101-055F-9C9C-CEF077A7BD91}"/>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One equation per point: the fare of a journey, the fit of a hospital, and its free beds. </a:t>
            </a:r>
            <a:endParaRPr dirty="0"/>
          </a:p>
        </p:txBody>
      </p:sp>
      <p:sp>
        <p:nvSpPr>
          <p:cNvPr id="105" name="Google Shape;105;g600db3a426f8adcd_1:notes">
            <a:extLst>
              <a:ext uri="{FF2B5EF4-FFF2-40B4-BE49-F238E27FC236}">
                <a16:creationId xmlns:a16="http://schemas.microsoft.com/office/drawing/2014/main" id="{5295BCB5-1087-A208-966B-172E39C8C7C6}"/>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1908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6DC306D4-2003-2A02-733D-75026FBB7717}"/>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38ACBBEE-5393-B3C0-914D-0C4A907F6E46}"/>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4FCDB504-654F-4644-42F9-566071F0A55B}"/>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No person is studied, and no hospital is contacted until it opts in.</a:t>
            </a:r>
            <a:endParaRPr dirty="0"/>
          </a:p>
        </p:txBody>
      </p:sp>
      <p:sp>
        <p:nvSpPr>
          <p:cNvPr id="105" name="Google Shape;105;g600db3a426f8adcd_1:notes">
            <a:extLst>
              <a:ext uri="{FF2B5EF4-FFF2-40B4-BE49-F238E27FC236}">
                <a16:creationId xmlns:a16="http://schemas.microsoft.com/office/drawing/2014/main" id="{212C76B8-2851-FD96-ECC0-41BC9F42F252}"/>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63094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709C78F0-F3B7-4023-A70C-94D189897D8A}"/>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9D41C2F3-60A6-6E55-94CB-7B7E52F6CE3C}"/>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88779525-02CF-4408-636B-3AF9071CC3EF}"/>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Dave Justin Ll. De Asis  |  3:42 to 4:08 (26 s)</a:t>
            </a:r>
            <a:endParaRPr/>
          </a:p>
          <a:p>
            <a:pPr marL="0" lvl="0" indent="0" algn="l" rtl="0">
              <a:spcBef>
                <a:spcPts val="0"/>
              </a:spcBef>
              <a:spcAft>
                <a:spcPts val="0"/>
              </a:spcAft>
              <a:buNone/>
            </a:pPr>
            <a:endParaRPr/>
          </a:p>
          <a:p>
            <a:pPr marL="0" lvl="0" indent="0" algn="l" rtl="0">
              <a:spcBef>
                <a:spcPts val="0"/>
              </a:spcBef>
              <a:spcAft>
                <a:spcPts val="0"/>
              </a:spcAft>
              <a:buNone/>
            </a:pPr>
            <a:r>
              <a:rPr lang="en-US"/>
              <a:t>(Cue: Five beats. Count One, Two, Three on your fingers, as on slide 8. Pause before the last line.)</a:t>
            </a:r>
            <a:endParaRPr/>
          </a:p>
          <a:p>
            <a:pPr marL="0" lvl="0" indent="0" algn="l" rtl="0">
              <a:spcBef>
                <a:spcPts val="0"/>
              </a:spcBef>
              <a:spcAft>
                <a:spcPts val="0"/>
              </a:spcAft>
              <a:buNone/>
            </a:pPr>
            <a:endParaRPr/>
          </a:p>
          <a:p>
            <a:pPr marL="0" lvl="0" indent="0" algn="l" rtl="0">
              <a:spcBef>
                <a:spcPts val="0"/>
              </a:spcBef>
              <a:spcAft>
                <a:spcPts val="0"/>
              </a:spcAft>
              <a:buNone/>
            </a:pPr>
            <a:r>
              <a:rPr lang="en-US"/>
              <a:t>ANSWER (3:42 to 3:46): Is open data enough? Yes, for all three points.</a:t>
            </a:r>
            <a:endParaRPr/>
          </a:p>
          <a:p>
            <a:pPr marL="0" lvl="0" indent="0" algn="l" rtl="0">
              <a:spcBef>
                <a:spcPts val="0"/>
              </a:spcBef>
              <a:spcAft>
                <a:spcPts val="0"/>
              </a:spcAft>
              <a:buNone/>
            </a:pPr>
            <a:r>
              <a:rPr lang="en-US"/>
              <a:t>POINT 1, Transit map (3:46 to 3:50): One: the transit map is exact, 1,018 of 1,018.</a:t>
            </a:r>
            <a:endParaRPr/>
          </a:p>
          <a:p>
            <a:pPr marL="0" lvl="0" indent="0" algn="l" rtl="0">
              <a:spcBef>
                <a:spcPts val="0"/>
              </a:spcBef>
              <a:spcAft>
                <a:spcPts val="0"/>
              </a:spcAft>
              <a:buNone/>
            </a:pPr>
            <a:r>
              <a:rPr lang="en-US"/>
              <a:t>POINT 2, Patient map (3:50 to 4:00): Two: the patient search is exact, 5,200 of 5,200. In the test network, five of six starting points had a full nearest hospital.</a:t>
            </a:r>
            <a:endParaRPr/>
          </a:p>
          <a:p>
            <a:pPr marL="0" lvl="0" indent="0" algn="l" rtl="0">
              <a:spcBef>
                <a:spcPts val="0"/>
              </a:spcBef>
              <a:spcAft>
                <a:spcPts val="0"/>
              </a:spcAft>
              <a:buNone/>
            </a:pPr>
            <a:r>
              <a:rPr lang="en-US"/>
              <a:t>POINT 3, Hospital beds (4:00 to 4:05): Three: not one of 200 forged bed reports got through.</a:t>
            </a:r>
            <a:endParaRPr/>
          </a:p>
          <a:p>
            <a:pPr marL="0" lvl="0" indent="0" algn="l" rtl="0">
              <a:spcBef>
                <a:spcPts val="0"/>
              </a:spcBef>
              <a:spcAft>
                <a:spcPts val="0"/>
              </a:spcAft>
              <a:buNone/>
            </a:pPr>
            <a:r>
              <a:rPr lang="en-US"/>
              <a:t>NEXT STEP, Field validation (4:05 to 4:08): [pause] Field validation comes next.</a:t>
            </a:r>
            <a:endParaRPr/>
          </a:p>
        </p:txBody>
      </p:sp>
      <p:sp>
        <p:nvSpPr>
          <p:cNvPr id="105" name="Google Shape;105;g600db3a426f8adcd_1:notes">
            <a:extLst>
              <a:ext uri="{FF2B5EF4-FFF2-40B4-BE49-F238E27FC236}">
                <a16:creationId xmlns:a16="http://schemas.microsoft.com/office/drawing/2014/main" id="{18718978-A023-5356-B0A9-A7B1112A8249}"/>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6180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145950D3-1E8F-D881-4DAC-ECE3F6CCFBBB}"/>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AC0006D3-3E85-3F72-B7CA-164DA2BA3877}"/>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4A4A8B58-59C7-8674-5791-2B94F025550D}"/>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This is the prototype. Ask for a trip, and it returns the time and the fare.</a:t>
            </a:r>
            <a:endParaRPr dirty="0"/>
          </a:p>
        </p:txBody>
      </p:sp>
      <p:sp>
        <p:nvSpPr>
          <p:cNvPr id="105" name="Google Shape;105;g600db3a426f8adcd_1:notes">
            <a:extLst>
              <a:ext uri="{FF2B5EF4-FFF2-40B4-BE49-F238E27FC236}">
                <a16:creationId xmlns:a16="http://schemas.microsoft.com/office/drawing/2014/main" id="{051B6DFB-B3AC-FD3E-9061-C578925C7736}"/>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54777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C07F5C2E-7B5D-4812-A768-F1A202771291}"/>
            </a:ext>
          </a:extLst>
        </p:cNvPr>
        <p:cNvGrpSpPr/>
        <p:nvPr/>
      </p:nvGrpSpPr>
      <p:grpSpPr>
        <a:xfrm>
          <a:off x="0" y="0"/>
          <a:ext cx="0" cy="0"/>
          <a:chOff x="0" y="0"/>
          <a:chExt cx="0" cy="0"/>
        </a:xfrm>
      </p:grpSpPr>
      <p:sp>
        <p:nvSpPr>
          <p:cNvPr id="103" name="Google Shape;103;g600db3a426f8adcd_1:notes">
            <a:extLst>
              <a:ext uri="{FF2B5EF4-FFF2-40B4-BE49-F238E27FC236}">
                <a16:creationId xmlns:a16="http://schemas.microsoft.com/office/drawing/2014/main" id="{3DE2AF0A-1D53-B612-A7F4-BC0D518D2C4C}"/>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104" name="Google Shape;104;g600db3a426f8adcd_1:notes">
            <a:extLst>
              <a:ext uri="{FF2B5EF4-FFF2-40B4-BE49-F238E27FC236}">
                <a16:creationId xmlns:a16="http://schemas.microsoft.com/office/drawing/2014/main" id="{790EA7B2-43C5-DCCA-F337-9EAF2B3B9454}"/>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Hospital mode reads the patient's condition and names the hospital that can take them. The bed dashboard lists every licensed facility in Albay. </a:t>
            </a:r>
            <a:endParaRPr dirty="0"/>
          </a:p>
        </p:txBody>
      </p:sp>
      <p:sp>
        <p:nvSpPr>
          <p:cNvPr id="105" name="Google Shape;105;g600db3a426f8adcd_1:notes">
            <a:extLst>
              <a:ext uri="{FF2B5EF4-FFF2-40B4-BE49-F238E27FC236}">
                <a16:creationId xmlns:a16="http://schemas.microsoft.com/office/drawing/2014/main" id="{91EA4681-241B-C535-120D-9E9BCB87B14F}"/>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06053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8C48FCC-128A-4564-B52E-0BE8DD497F50}"/>
            </a:ext>
          </a:extLst>
        </p:cNvPr>
        <p:cNvGrpSpPr/>
        <p:nvPr/>
      </p:nvGrpSpPr>
      <p:grpSpPr>
        <a:xfrm>
          <a:off x="0" y="0"/>
          <a:ext cx="0" cy="0"/>
          <a:chOff x="0" y="0"/>
          <a:chExt cx="0" cy="0"/>
        </a:xfrm>
      </p:grpSpPr>
      <p:sp>
        <p:nvSpPr>
          <p:cNvPr id="81" name="Google Shape;81;p2:notes">
            <a:extLst>
              <a:ext uri="{FF2B5EF4-FFF2-40B4-BE49-F238E27FC236}">
                <a16:creationId xmlns:a16="http://schemas.microsoft.com/office/drawing/2014/main" id="{1A9838AA-42D3-0FF5-4179-115B60E5C02E}"/>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82" name="Google Shape;82;p2:notes">
            <a:extLst>
              <a:ext uri="{FF2B5EF4-FFF2-40B4-BE49-F238E27FC236}">
                <a16:creationId xmlns:a16="http://schemas.microsoft.com/office/drawing/2014/main" id="{105BD06D-6B9F-A1C2-53A4-E93975E1CD35}"/>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PH" dirty="0"/>
              <a:t>Back to that father. [ pause ] MAP - A will not add one bed to Albay. But once hospitals report, it will tell him which one has a free bed and the right care. [ pause ] Distance tells you where the hospital is. Access tells you whether it can help in time. [ long pause ] Thank you. I welcome your questions.</a:t>
            </a:r>
            <a:endParaRPr dirty="0"/>
          </a:p>
        </p:txBody>
      </p:sp>
      <p:sp>
        <p:nvSpPr>
          <p:cNvPr id="83" name="Google Shape;83;p2:notes">
            <a:extLst>
              <a:ext uri="{FF2B5EF4-FFF2-40B4-BE49-F238E27FC236}">
                <a16:creationId xmlns:a16="http://schemas.microsoft.com/office/drawing/2014/main" id="{82AA3F65-BB9E-AACE-F2E5-648E24836224}"/>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75200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9"/>
        <p:cNvGrpSpPr/>
        <p:nvPr/>
      </p:nvGrpSpPr>
      <p:grpSpPr>
        <a:xfrm>
          <a:off x="0" y="0"/>
          <a:ext cx="0" cy="0"/>
          <a:chOff x="0" y="0"/>
          <a:chExt cx="0" cy="0"/>
        </a:xfrm>
      </p:grpSpPr>
      <p:sp>
        <p:nvSpPr>
          <p:cNvPr id="650" name="Google Shape;650;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651" name="Google Shape;651;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Dave Justin Ll. De Asis  |  4:28 to 4:59 (31 s)</a:t>
            </a:r>
            <a:endParaRPr/>
          </a:p>
          <a:p>
            <a:pPr marL="0" lvl="0" indent="0" algn="l" rtl="0">
              <a:spcBef>
                <a:spcPts val="0"/>
              </a:spcBef>
              <a:spcAft>
                <a:spcPts val="0"/>
              </a:spcAft>
              <a:buNone/>
            </a:pPr>
            <a:endParaRPr/>
          </a:p>
          <a:p>
            <a:pPr marL="0" lvl="0" indent="0" algn="l" rtl="0">
              <a:spcBef>
                <a:spcPts val="0"/>
              </a:spcBef>
              <a:spcAft>
                <a:spcPts val="0"/>
              </a:spcAft>
              <a:buNone/>
            </a:pPr>
            <a:r>
              <a:rPr lang="en-US"/>
              <a:t>(Cue: Step forward. Slower. Hold eye contact through the last two lines.)</a:t>
            </a:r>
            <a:endParaRPr/>
          </a:p>
          <a:p>
            <a:pPr marL="0" lvl="0" indent="0" algn="l" rtl="0">
              <a:spcBef>
                <a:spcPts val="0"/>
              </a:spcBef>
              <a:spcAft>
                <a:spcPts val="0"/>
              </a:spcAft>
              <a:buNone/>
            </a:pPr>
            <a:endParaRPr/>
          </a:p>
          <a:p>
            <a:pPr marL="0" lvl="0" indent="0" algn="l" rtl="0">
              <a:spcBef>
                <a:spcPts val="0"/>
              </a:spcBef>
              <a:spcAft>
                <a:spcPts val="0"/>
              </a:spcAft>
              <a:buNone/>
            </a:pPr>
            <a:r>
              <a:rPr lang="en-US"/>
              <a:t>Back to that father. [pause] MAP - A will not add one bed to Albay. But once hospitals report, it will tell him which one has a free bed and the right care. [pause] Distance tells you where the hospital is. Access tells you whether it can help in time. [long pause] Thank you. I welcome your questions.</a:t>
            </a:r>
            <a:endParaRPr/>
          </a:p>
        </p:txBody>
      </p:sp>
      <p:sp>
        <p:nvSpPr>
          <p:cNvPr id="652" name="Google Shape;652;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PH"/>
          </a:p>
        </p:txBody>
      </p:sp>
      <p:sp>
        <p:nvSpPr>
          <p:cNvPr id="660" name="Google Shape;660;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Advance here after the last question.</a:t>
            </a:r>
            <a:endParaRPr/>
          </a:p>
        </p:txBody>
      </p:sp>
      <p:sp>
        <p:nvSpPr>
          <p:cNvPr id="661" name="Google Shape;661;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7"/>
          <p:cNvSpPr>
            <a:spLocks noGrp="1"/>
          </p:cNvSpPr>
          <p:nvPr>
            <p:ph type="pic" idx="2"/>
          </p:nvPr>
        </p:nvSpPr>
        <p:spPr>
          <a:xfrm>
            <a:off x="1792288" y="612775"/>
            <a:ext cx="5486400" cy="4114800"/>
          </a:xfrm>
          <a:prstGeom prst="rect">
            <a:avLst/>
          </a:prstGeom>
          <a:noFill/>
          <a:ln>
            <a:noFill/>
          </a:ln>
        </p:spPr>
        <p:txBody>
          <a:bodyPr/>
          <a:lstStyle/>
          <a:p>
            <a:endParaRPr lang="en-PH"/>
          </a:p>
        </p:txBody>
      </p:sp>
      <p:sp>
        <p:nvSpPr>
          <p:cNvPr id="64" name="Google Shape;64;p3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84"/>
        <p:cNvGrpSpPr/>
        <p:nvPr/>
      </p:nvGrpSpPr>
      <p:grpSpPr>
        <a:xfrm>
          <a:off x="0" y="0"/>
          <a:ext cx="0" cy="0"/>
          <a:chOff x="0" y="0"/>
          <a:chExt cx="0" cy="0"/>
        </a:xfrm>
      </p:grpSpPr>
      <p:sp>
        <p:nvSpPr>
          <p:cNvPr id="85" name="Google Shape;85;p2"/>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3">
              <a:alphaModFix/>
            </a:blip>
            <a:stretch>
              <a:fillRect/>
            </a:stretch>
          </a:blipFill>
          <a:ln>
            <a:noFill/>
          </a:ln>
        </p:spPr>
        <p:txBody>
          <a:bodyPr/>
          <a:lstStyle/>
          <a:p>
            <a:endParaRPr lang="en-PH"/>
          </a:p>
        </p:txBody>
      </p:sp>
      <p:sp>
        <p:nvSpPr>
          <p:cNvPr id="86" name="Google Shape;86;p2"/>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3">
              <a:alphaModFix/>
            </a:blip>
            <a:stretch>
              <a:fillRect/>
            </a:stretch>
          </a:blipFill>
          <a:ln>
            <a:noFill/>
          </a:ln>
        </p:spPr>
        <p:txBody>
          <a:bodyPr/>
          <a:lstStyle/>
          <a:p>
            <a:endParaRPr lang="en-PH"/>
          </a:p>
        </p:txBody>
      </p:sp>
      <p:sp>
        <p:nvSpPr>
          <p:cNvPr id="87" name="Google Shape;87;p2"/>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4">
              <a:alphaModFix amt="26000"/>
            </a:blip>
            <a:stretch>
              <a:fillRect/>
            </a:stretch>
          </a:blipFill>
          <a:ln>
            <a:noFill/>
          </a:ln>
        </p:spPr>
        <p:txBody>
          <a:bodyPr/>
          <a:lstStyle/>
          <a:p>
            <a:endParaRPr lang="en-PH"/>
          </a:p>
        </p:txBody>
      </p:sp>
      <p:sp>
        <p:nvSpPr>
          <p:cNvPr id="88" name="Google Shape;88;p2"/>
          <p:cNvSpPr/>
          <p:nvPr/>
        </p:nvSpPr>
        <p:spPr>
          <a:xfrm>
            <a:off x="699585" y="546888"/>
            <a:ext cx="2392319" cy="2426082"/>
          </a:xfrm>
          <a:custGeom>
            <a:avLst/>
            <a:gdLst/>
            <a:ahLst/>
            <a:cxnLst/>
            <a:rect l="l" t="t" r="r" b="b"/>
            <a:pathLst>
              <a:path w="2392319" h="2426082" extrusionOk="0">
                <a:moveTo>
                  <a:pt x="0" y="0"/>
                </a:moveTo>
                <a:lnTo>
                  <a:pt x="2392319" y="0"/>
                </a:lnTo>
                <a:lnTo>
                  <a:pt x="2392319" y="2426082"/>
                </a:lnTo>
                <a:lnTo>
                  <a:pt x="0" y="2426082"/>
                </a:lnTo>
                <a:lnTo>
                  <a:pt x="0" y="0"/>
                </a:lnTo>
                <a:close/>
              </a:path>
            </a:pathLst>
          </a:custGeom>
          <a:blipFill rotWithShape="1">
            <a:blip r:embed="rId5">
              <a:alphaModFix/>
            </a:blip>
            <a:stretch>
              <a:fillRect/>
            </a:stretch>
          </a:blipFill>
          <a:ln>
            <a:noFill/>
          </a:ln>
        </p:spPr>
        <p:txBody>
          <a:bodyPr/>
          <a:lstStyle/>
          <a:p>
            <a:endParaRPr lang="en-PH"/>
          </a:p>
        </p:txBody>
      </p:sp>
      <p:cxnSp>
        <p:nvCxnSpPr>
          <p:cNvPr id="89" name="Google Shape;89;p2"/>
          <p:cNvCxnSpPr/>
          <p:nvPr/>
        </p:nvCxnSpPr>
        <p:spPr>
          <a:xfrm>
            <a:off x="4572000" y="8339328"/>
            <a:ext cx="9144000" cy="0"/>
          </a:xfrm>
          <a:prstGeom prst="straightConnector1">
            <a:avLst/>
          </a:prstGeom>
          <a:noFill/>
          <a:ln w="38100" cap="flat" cmpd="sng">
            <a:solidFill>
              <a:srgbClr val="FFFFFF"/>
            </a:solidFill>
            <a:prstDash val="solid"/>
            <a:round/>
            <a:headEnd type="none" w="sm" len="sm"/>
            <a:tailEnd type="none" w="sm" len="sm"/>
          </a:ln>
        </p:spPr>
      </p:cxnSp>
      <p:cxnSp>
        <p:nvCxnSpPr>
          <p:cNvPr id="90" name="Google Shape;90;p2"/>
          <p:cNvCxnSpPr/>
          <p:nvPr/>
        </p:nvCxnSpPr>
        <p:spPr>
          <a:xfrm>
            <a:off x="4572000" y="9436608"/>
            <a:ext cx="9144000" cy="0"/>
          </a:xfrm>
          <a:prstGeom prst="straightConnector1">
            <a:avLst/>
          </a:prstGeom>
          <a:noFill/>
          <a:ln w="38100" cap="flat" cmpd="sng">
            <a:solidFill>
              <a:srgbClr val="FFFFFF"/>
            </a:solidFill>
            <a:prstDash val="solid"/>
            <a:round/>
            <a:headEnd type="none" w="sm" len="sm"/>
            <a:tailEnd type="none" w="sm" len="sm"/>
          </a:ln>
        </p:spPr>
      </p:cxnSp>
      <p:sp>
        <p:nvSpPr>
          <p:cNvPr id="91" name="Google Shape;91;p2"/>
          <p:cNvSpPr txBox="1"/>
          <p:nvPr/>
        </p:nvSpPr>
        <p:spPr>
          <a:xfrm>
            <a:off x="2754425" y="2715578"/>
            <a:ext cx="12801600" cy="2148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F0C04A"/>
              </a:buClr>
              <a:buSzPts val="12000"/>
              <a:buFont typeface="Times New Roman"/>
              <a:buNone/>
            </a:pPr>
            <a:r>
              <a:rPr lang="en-US" sz="19000" b="1" i="0" u="none" strike="noStrike" cap="none">
                <a:solidFill>
                  <a:srgbClr val="F0C04A"/>
                </a:solidFill>
                <a:latin typeface="Times New Roman"/>
                <a:ea typeface="Times New Roman"/>
                <a:cs typeface="Times New Roman"/>
                <a:sym typeface="Times New Roman"/>
              </a:rPr>
              <a:t>MAP - A</a:t>
            </a:r>
            <a:endParaRPr sz="19000" b="0" i="0" u="none" strike="noStrike" cap="none">
              <a:solidFill>
                <a:schemeClr val="dk1"/>
              </a:solidFill>
              <a:latin typeface="Questrial"/>
              <a:ea typeface="Questrial"/>
              <a:cs typeface="Questrial"/>
              <a:sym typeface="Questrial"/>
            </a:endParaRPr>
          </a:p>
        </p:txBody>
      </p:sp>
      <p:sp>
        <p:nvSpPr>
          <p:cNvPr id="92" name="Google Shape;92;p2"/>
          <p:cNvSpPr txBox="1"/>
          <p:nvPr/>
        </p:nvSpPr>
        <p:spPr>
          <a:xfrm>
            <a:off x="361625" y="5321800"/>
            <a:ext cx="17587200" cy="2560200"/>
          </a:xfrm>
          <a:prstGeom prst="rect">
            <a:avLst/>
          </a:prstGeom>
          <a:noFill/>
          <a:ln>
            <a:noFill/>
          </a:ln>
        </p:spPr>
        <p:txBody>
          <a:bodyPr spcFirstLastPara="1" wrap="square" lIns="0" tIns="0" rIns="0" bIns="0" anchor="b" anchorCtr="0">
            <a:noAutofit/>
          </a:bodyPr>
          <a:lstStyle/>
          <a:p>
            <a:pPr marL="0" marR="0" lvl="0" indent="0" algn="ctr" rtl="0">
              <a:lnSpc>
                <a:spcPct val="102000"/>
              </a:lnSpc>
              <a:spcBef>
                <a:spcPts val="0"/>
              </a:spcBef>
              <a:spcAft>
                <a:spcPts val="0"/>
              </a:spcAft>
              <a:buClr>
                <a:srgbClr val="FFFFFF"/>
              </a:buClr>
              <a:buSzPts val="4200"/>
              <a:buFont typeface="Times New Roman"/>
              <a:buNone/>
            </a:pPr>
            <a:r>
              <a:rPr lang="en-US" sz="4900" b="1" i="0" u="none" strike="noStrike" cap="none">
                <a:solidFill>
                  <a:srgbClr val="FFFFFF"/>
                </a:solidFill>
                <a:latin typeface="Times New Roman"/>
                <a:ea typeface="Times New Roman"/>
                <a:cs typeface="Times New Roman"/>
                <a:sym typeface="Times New Roman"/>
              </a:rPr>
              <a:t>A Landmark-Anchored Timetable-Graph Model of Public Transport: Verified Computation of Accessibility, Its Inequality, and the Fare Matrix from Open Data, with Agent-Reported Hospital Bed Capacity for Ambulance and Patient Routing</a:t>
            </a:r>
            <a:endParaRPr sz="4900" b="0" i="0" u="none" strike="noStrike" cap="none">
              <a:solidFill>
                <a:schemeClr val="dk1"/>
              </a:solidFill>
              <a:latin typeface="Questrial"/>
              <a:ea typeface="Questrial"/>
              <a:cs typeface="Questrial"/>
              <a:sym typeface="Questrial"/>
            </a:endParaRPr>
          </a:p>
        </p:txBody>
      </p:sp>
      <p:sp>
        <p:nvSpPr>
          <p:cNvPr id="93" name="Google Shape;93;p2"/>
          <p:cNvSpPr txBox="1"/>
          <p:nvPr/>
        </p:nvSpPr>
        <p:spPr>
          <a:xfrm>
            <a:off x="4572000" y="8385048"/>
            <a:ext cx="9144000" cy="100584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Times New Roman"/>
              <a:buNone/>
            </a:pPr>
            <a:r>
              <a:rPr lang="en-US" sz="3600" b="0" i="0" u="none" strike="noStrike" cap="none">
                <a:solidFill>
                  <a:srgbClr val="FFFFFF"/>
                </a:solidFill>
                <a:latin typeface="Times New Roman"/>
                <a:ea typeface="Times New Roman"/>
                <a:cs typeface="Times New Roman"/>
                <a:sym typeface="Times New Roman"/>
              </a:rPr>
              <a:t>De Asis, Dave Justin Ll.</a:t>
            </a:r>
            <a:endParaRPr sz="3600" b="0" i="0" u="none" strike="noStrike" cap="none">
              <a:solidFill>
                <a:schemeClr val="dk1"/>
              </a:solidFill>
              <a:latin typeface="Questrial"/>
              <a:ea typeface="Questrial"/>
              <a:cs typeface="Questrial"/>
              <a:sym typeface="Quest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p:cNvGrpSpPr/>
        <p:nvPr/>
      </p:nvGrpSpPr>
      <p:grpSpPr>
        <a:xfrm>
          <a:off x="0" y="0"/>
          <a:ext cx="0" cy="0"/>
          <a:chOff x="0" y="0"/>
          <a:chExt cx="0" cy="0"/>
        </a:xfrm>
      </p:grpSpPr>
      <p:sp>
        <p:nvSpPr>
          <p:cNvPr id="107" name="Google Shape;107;g600db3a426f8adcd_1"/>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3">
              <a:alphaModFix/>
            </a:blip>
            <a:stretch>
              <a:fillRect/>
            </a:stretch>
          </a:blipFill>
          <a:ln>
            <a:noFill/>
          </a:ln>
        </p:spPr>
        <p:txBody>
          <a:bodyPr/>
          <a:lstStyle/>
          <a:p>
            <a:endParaRPr lang="en-PH"/>
          </a:p>
        </p:txBody>
      </p:sp>
      <p:sp>
        <p:nvSpPr>
          <p:cNvPr id="108" name="Google Shape;108;g600db3a426f8adcd_1"/>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3">
              <a:alphaModFix/>
            </a:blip>
            <a:stretch>
              <a:fillRect/>
            </a:stretch>
          </a:blipFill>
          <a:ln>
            <a:noFill/>
          </a:ln>
        </p:spPr>
        <p:txBody>
          <a:bodyPr/>
          <a:lstStyle/>
          <a:p>
            <a:endParaRPr lang="en-PH"/>
          </a:p>
        </p:txBody>
      </p:sp>
      <p:sp>
        <p:nvSpPr>
          <p:cNvPr id="109" name="Google Shape;109;g600db3a426f8adcd_1"/>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4">
              <a:alphaModFix amt="26000"/>
            </a:blip>
            <a:stretch>
              <a:fillRect/>
            </a:stretch>
          </a:blipFill>
          <a:ln>
            <a:noFill/>
          </a:ln>
        </p:spPr>
        <p:txBody>
          <a:bodyPr/>
          <a:lstStyle/>
          <a:p>
            <a:endParaRPr lang="en-PH"/>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27"/>
        <p:cNvGrpSpPr/>
        <p:nvPr/>
      </p:nvGrpSpPr>
      <p:grpSpPr>
        <a:xfrm>
          <a:off x="0" y="0"/>
          <a:ext cx="0" cy="0"/>
          <a:chOff x="0" y="0"/>
          <a:chExt cx="0" cy="0"/>
        </a:xfrm>
      </p:grpSpPr>
      <p:sp>
        <p:nvSpPr>
          <p:cNvPr id="128" name="Google Shape;128;p4"/>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3">
              <a:alphaModFix/>
            </a:blip>
            <a:stretch>
              <a:fillRect/>
            </a:stretch>
          </a:blipFill>
          <a:ln>
            <a:noFill/>
          </a:ln>
        </p:spPr>
        <p:txBody>
          <a:bodyPr/>
          <a:lstStyle/>
          <a:p>
            <a:endParaRPr lang="en-PH"/>
          </a:p>
        </p:txBody>
      </p:sp>
      <p:sp>
        <p:nvSpPr>
          <p:cNvPr id="129" name="Google Shape;129;p4"/>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3">
              <a:alphaModFix/>
            </a:blip>
            <a:stretch>
              <a:fillRect/>
            </a:stretch>
          </a:blipFill>
          <a:ln>
            <a:noFill/>
          </a:ln>
        </p:spPr>
        <p:txBody>
          <a:bodyPr/>
          <a:lstStyle/>
          <a:p>
            <a:endParaRPr lang="en-PH"/>
          </a:p>
        </p:txBody>
      </p:sp>
      <p:sp>
        <p:nvSpPr>
          <p:cNvPr id="130" name="Google Shape;130;p4"/>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4">
              <a:alphaModFix amt="26000"/>
            </a:blip>
            <a:stretch>
              <a:fillRect/>
            </a:stretch>
          </a:blipFill>
          <a:ln>
            <a:noFill/>
          </a:ln>
        </p:spPr>
        <p:txBody>
          <a:bodyPr/>
          <a:lstStyle/>
          <a:p>
            <a:endParaRPr lang="en-PH"/>
          </a:p>
        </p:txBody>
      </p:sp>
      <p:sp>
        <p:nvSpPr>
          <p:cNvPr id="131" name="Google Shape;131;p4"/>
          <p:cNvSpPr/>
          <p:nvPr/>
        </p:nvSpPr>
        <p:spPr>
          <a:xfrm>
            <a:off x="1362456" y="1019556"/>
            <a:ext cx="4860274" cy="8065008"/>
          </a:xfrm>
          <a:prstGeom prst="roundRect">
            <a:avLst>
              <a:gd name="adj" fmla="val 4139"/>
            </a:avLst>
          </a:prstGeom>
          <a:solidFill>
            <a:srgbClr val="000000"/>
          </a:solidFill>
          <a:ln w="31750" cap="flat" cmpd="sng">
            <a:solidFill>
              <a:srgbClr val="FFFFFF"/>
            </a:solidFill>
            <a:prstDash val="solid"/>
            <a:round/>
            <a:headEnd type="none" w="sm" len="sm"/>
            <a:tailEnd type="none" w="sm" len="sm"/>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2" name="Google Shape;132;p4" descr="Maya News, August 19, 2026: Legazpi City Councilor Atty. Butch Nieva Lucila on the forum on PUJ route structuring"/>
          <p:cNvPicPr preferRelativeResize="0"/>
          <p:nvPr/>
        </p:nvPicPr>
        <p:blipFill rotWithShape="1">
          <a:blip r:embed="rId5">
            <a:alphaModFix/>
          </a:blip>
          <a:srcRect/>
          <a:stretch/>
        </p:blipFill>
        <p:spPr>
          <a:xfrm>
            <a:off x="1417320" y="1074420"/>
            <a:ext cx="4750546" cy="7955280"/>
          </a:xfrm>
          <a:prstGeom prst="rect">
            <a:avLst/>
          </a:prstGeom>
          <a:noFill/>
          <a:ln>
            <a:noFill/>
          </a:ln>
        </p:spPr>
      </p:pic>
      <p:sp>
        <p:nvSpPr>
          <p:cNvPr id="133" name="Google Shape;133;p4"/>
          <p:cNvSpPr/>
          <p:nvPr/>
        </p:nvSpPr>
        <p:spPr>
          <a:xfrm>
            <a:off x="6579346" y="1874520"/>
            <a:ext cx="11297174" cy="6172200"/>
          </a:xfrm>
          <a:prstGeom prst="roundRect">
            <a:avLst>
              <a:gd name="adj" fmla="val 6000"/>
            </a:avLst>
          </a:prstGeom>
          <a:solidFill>
            <a:srgbClr val="000000">
              <a:alpha val="32157"/>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txBox="1"/>
          <p:nvPr/>
        </p:nvSpPr>
        <p:spPr>
          <a:xfrm>
            <a:off x="6853666" y="2148840"/>
            <a:ext cx="10748534" cy="2377440"/>
          </a:xfrm>
          <a:prstGeom prst="rect">
            <a:avLst/>
          </a:prstGeom>
          <a:no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F0C04A"/>
              </a:buClr>
              <a:buSzPts val="7800"/>
              <a:buFont typeface="Questrial"/>
              <a:buNone/>
            </a:pPr>
            <a:r>
              <a:rPr lang="en-US" sz="7800" b="1" i="0" u="none" strike="noStrike" cap="none">
                <a:solidFill>
                  <a:srgbClr val="F0C04A"/>
                </a:solidFill>
                <a:latin typeface="Questrial"/>
                <a:ea typeface="Questrial"/>
                <a:cs typeface="Questrial"/>
                <a:sym typeface="Questrial"/>
              </a:rPr>
              <a:t>NO SCHEDULES.</a:t>
            </a:r>
            <a:endParaRPr sz="7800" b="0" i="0" u="none" strike="noStrike" cap="none">
              <a:solidFill>
                <a:schemeClr val="dk1"/>
              </a:solidFill>
              <a:latin typeface="Questrial"/>
              <a:ea typeface="Questrial"/>
              <a:cs typeface="Questrial"/>
              <a:sym typeface="Questrial"/>
            </a:endParaRPr>
          </a:p>
          <a:p>
            <a:pPr marL="0" marR="0" lvl="0" indent="0" algn="ctr" rtl="0">
              <a:lnSpc>
                <a:spcPct val="95000"/>
              </a:lnSpc>
              <a:spcBef>
                <a:spcPts val="0"/>
              </a:spcBef>
              <a:spcAft>
                <a:spcPts val="0"/>
              </a:spcAft>
              <a:buClr>
                <a:srgbClr val="F0C04A"/>
              </a:buClr>
              <a:buSzPts val="7800"/>
              <a:buFont typeface="Questrial"/>
              <a:buNone/>
            </a:pPr>
            <a:r>
              <a:rPr lang="en-US" sz="7800" b="1" i="0" u="none" strike="noStrike" cap="none">
                <a:solidFill>
                  <a:srgbClr val="F0C04A"/>
                </a:solidFill>
                <a:latin typeface="Questrial"/>
                <a:ea typeface="Questrial"/>
                <a:cs typeface="Questrial"/>
                <a:sym typeface="Questrial"/>
              </a:rPr>
              <a:t>NO STOPS.</a:t>
            </a:r>
            <a:endParaRPr sz="7800" b="0" i="0" u="none" strike="noStrike" cap="none">
              <a:solidFill>
                <a:schemeClr val="dk1"/>
              </a:solidFill>
              <a:latin typeface="Questrial"/>
              <a:ea typeface="Questrial"/>
              <a:cs typeface="Questrial"/>
              <a:sym typeface="Questrial"/>
            </a:endParaRPr>
          </a:p>
        </p:txBody>
      </p:sp>
      <p:sp>
        <p:nvSpPr>
          <p:cNvPr id="135" name="Google Shape;135;p4"/>
          <p:cNvSpPr txBox="1"/>
          <p:nvPr/>
        </p:nvSpPr>
        <p:spPr>
          <a:xfrm>
            <a:off x="6853666" y="4709160"/>
            <a:ext cx="10748534" cy="3291840"/>
          </a:xfrm>
          <a:prstGeom prst="rect">
            <a:avLst/>
          </a:prstGeom>
          <a:noFill/>
          <a:ln>
            <a:noFill/>
          </a:ln>
        </p:spPr>
        <p:txBody>
          <a:bodyPr spcFirstLastPara="1" wrap="square" lIns="0" tIns="0" rIns="0" bIns="0" anchor="t" anchorCtr="0">
            <a:noAutofit/>
          </a:bodyPr>
          <a:lstStyle/>
          <a:p>
            <a:pPr marL="0" marR="0" lvl="0" indent="0" algn="ctr" rtl="0">
              <a:lnSpc>
                <a:spcPct val="108000"/>
              </a:lnSpc>
              <a:spcBef>
                <a:spcPts val="0"/>
              </a:spcBef>
              <a:spcAft>
                <a:spcPts val="0"/>
              </a:spcAft>
              <a:buClr>
                <a:srgbClr val="FFFFFF"/>
              </a:buClr>
              <a:buSzPts val="3400"/>
              <a:buFont typeface="Questrial"/>
              <a:buNone/>
            </a:pPr>
            <a:r>
              <a:rPr lang="en-US" sz="3400" b="1" i="0" u="none" strike="noStrike" cap="none">
                <a:solidFill>
                  <a:srgbClr val="FFFFFF"/>
                </a:solidFill>
                <a:latin typeface="Questrial"/>
                <a:ea typeface="Questrial"/>
                <a:cs typeface="Questrial"/>
                <a:sym typeface="Questrial"/>
              </a:rPr>
              <a:t>No way to know if the jeep can take you to the hospital in time.</a:t>
            </a:r>
            <a:endParaRPr sz="3400" b="0" i="0" u="none" strike="noStrike" cap="none">
              <a:solidFill>
                <a:schemeClr val="dk1"/>
              </a:solidFill>
              <a:latin typeface="Questrial"/>
              <a:ea typeface="Questrial"/>
              <a:cs typeface="Questrial"/>
              <a:sym typeface="Questrial"/>
            </a:endParaRPr>
          </a:p>
          <a:p>
            <a:pPr marL="0" marR="0" lvl="0" indent="0" algn="ctr" rtl="0">
              <a:lnSpc>
                <a:spcPct val="108000"/>
              </a:lnSpc>
              <a:spcBef>
                <a:spcPts val="1800"/>
              </a:spcBef>
              <a:spcAft>
                <a:spcPts val="0"/>
              </a:spcAft>
              <a:buClr>
                <a:srgbClr val="FFFFFF"/>
              </a:buClr>
              <a:buSzPts val="3400"/>
              <a:buFont typeface="Questrial"/>
              <a:buNone/>
            </a:pPr>
            <a:r>
              <a:rPr lang="en-US" sz="3400" b="1" i="0" u="none" strike="noStrike" cap="none">
                <a:solidFill>
                  <a:srgbClr val="FFFFFF"/>
                </a:solidFill>
                <a:latin typeface="Questrial"/>
                <a:ea typeface="Questrial"/>
                <a:cs typeface="Questrial"/>
                <a:sym typeface="Questrial"/>
              </a:rPr>
              <a:t>This is public transportation in Albay today.</a:t>
            </a:r>
            <a:endParaRPr sz="3400" b="0" i="0" u="none" strike="noStrike" cap="none">
              <a:solidFill>
                <a:schemeClr val="dk1"/>
              </a:solidFill>
              <a:latin typeface="Questrial"/>
              <a:ea typeface="Questrial"/>
              <a:cs typeface="Questrial"/>
              <a:sym typeface="Questrial"/>
            </a:endParaRPr>
          </a:p>
        </p:txBody>
      </p:sp>
      <p:sp>
        <p:nvSpPr>
          <p:cNvPr id="136" name="Google Shape;136;p4"/>
          <p:cNvSpPr txBox="1"/>
          <p:nvPr/>
        </p:nvSpPr>
        <p:spPr>
          <a:xfrm>
            <a:off x="548640" y="9326880"/>
            <a:ext cx="7315200" cy="6858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FFFFFF"/>
              </a:buClr>
              <a:buSzPts val="1400"/>
              <a:buFont typeface="Questrial"/>
              <a:buNone/>
            </a:pPr>
            <a:r>
              <a:rPr lang="en-US" sz="1400" b="1" i="0" u="none" strike="noStrike" cap="none">
                <a:solidFill>
                  <a:srgbClr val="FFFFFF"/>
                </a:solidFill>
                <a:latin typeface="Questrial"/>
                <a:ea typeface="Questrial"/>
                <a:cs typeface="Questrial"/>
                <a:sym typeface="Questrial"/>
              </a:rPr>
              <a:t>LEGAZPI CITY SCIENCE HIGH SCHOOL</a:t>
            </a:r>
            <a:endParaRPr sz="1400" b="0" i="0" u="none" strike="noStrike" cap="none">
              <a:solidFill>
                <a:schemeClr val="dk1"/>
              </a:solidFill>
              <a:latin typeface="Questrial"/>
              <a:ea typeface="Questrial"/>
              <a:cs typeface="Questrial"/>
              <a:sym typeface="Questrial"/>
            </a:endParaRPr>
          </a:p>
          <a:p>
            <a:pPr marL="0" marR="0" lvl="0" indent="0" algn="l" rtl="0">
              <a:lnSpc>
                <a:spcPct val="100000"/>
              </a:lnSpc>
              <a:spcBef>
                <a:spcPts val="0"/>
              </a:spcBef>
              <a:spcAft>
                <a:spcPts val="0"/>
              </a:spcAft>
              <a:buClr>
                <a:srgbClr val="FFFFFF"/>
              </a:buClr>
              <a:buSzPts val="1200"/>
              <a:buFont typeface="Questrial"/>
              <a:buNone/>
            </a:pPr>
            <a:r>
              <a:rPr lang="en-US" sz="1200" b="0" i="0" u="none" strike="noStrike" cap="none">
                <a:solidFill>
                  <a:srgbClr val="FFFFFF"/>
                </a:solidFill>
                <a:latin typeface="Questrial"/>
                <a:ea typeface="Questrial"/>
                <a:cs typeface="Questrial"/>
                <a:sym typeface="Questrial"/>
              </a:rPr>
              <a:t>MCS-T: DE ASIS</a:t>
            </a:r>
            <a:endParaRPr sz="1200" b="0" i="0" u="none" strike="noStrike" cap="none">
              <a:solidFill>
                <a:schemeClr val="dk1"/>
              </a:solidFill>
              <a:latin typeface="Questrial"/>
              <a:ea typeface="Questrial"/>
              <a:cs typeface="Questrial"/>
              <a:sym typeface="Quest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41"/>
        <p:cNvGrpSpPr/>
        <p:nvPr/>
      </p:nvGrpSpPr>
      <p:grpSpPr>
        <a:xfrm>
          <a:off x="0" y="0"/>
          <a:ext cx="0" cy="0"/>
          <a:chOff x="0" y="0"/>
          <a:chExt cx="0" cy="0"/>
        </a:xfrm>
      </p:grpSpPr>
      <p:sp>
        <p:nvSpPr>
          <p:cNvPr id="142" name="Google Shape;142;p5"/>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3">
              <a:alphaModFix/>
            </a:blip>
            <a:stretch>
              <a:fillRect/>
            </a:stretch>
          </a:blipFill>
          <a:ln>
            <a:noFill/>
          </a:ln>
        </p:spPr>
        <p:txBody>
          <a:bodyPr/>
          <a:lstStyle/>
          <a:p>
            <a:endParaRPr lang="en-PH"/>
          </a:p>
        </p:txBody>
      </p:sp>
      <p:sp>
        <p:nvSpPr>
          <p:cNvPr id="143" name="Google Shape;143;p5"/>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3">
              <a:alphaModFix/>
            </a:blip>
            <a:stretch>
              <a:fillRect/>
            </a:stretch>
          </a:blipFill>
          <a:ln>
            <a:noFill/>
          </a:ln>
        </p:spPr>
        <p:txBody>
          <a:bodyPr/>
          <a:lstStyle/>
          <a:p>
            <a:endParaRPr lang="en-PH"/>
          </a:p>
        </p:txBody>
      </p:sp>
      <p:sp>
        <p:nvSpPr>
          <p:cNvPr id="144" name="Google Shape;144;p5"/>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4">
              <a:alphaModFix amt="26000"/>
            </a:blip>
            <a:stretch>
              <a:fillRect/>
            </a:stretch>
          </a:blipFill>
          <a:ln>
            <a:noFill/>
          </a:ln>
        </p:spPr>
        <p:txBody>
          <a:bodyPr/>
          <a:lstStyle/>
          <a:p>
            <a:endParaRPr lang="en-PH"/>
          </a:p>
        </p:txBody>
      </p:sp>
      <p:sp>
        <p:nvSpPr>
          <p:cNvPr id="145" name="Google Shape;145;p5"/>
          <p:cNvSpPr/>
          <p:nvPr/>
        </p:nvSpPr>
        <p:spPr>
          <a:xfrm>
            <a:off x="0" y="3154680"/>
            <a:ext cx="18288000" cy="3977640"/>
          </a:xfrm>
          <a:prstGeom prst="rect">
            <a:avLst/>
          </a:prstGeom>
          <a:solidFill>
            <a:srgbClr val="000000">
              <a:alpha val="41961"/>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6" name="Google Shape;146;p5"/>
          <p:cNvCxnSpPr/>
          <p:nvPr/>
        </p:nvCxnSpPr>
        <p:spPr>
          <a:xfrm>
            <a:off x="0" y="3154680"/>
            <a:ext cx="18288000" cy="0"/>
          </a:xfrm>
          <a:prstGeom prst="straightConnector1">
            <a:avLst/>
          </a:prstGeom>
          <a:noFill/>
          <a:ln w="15875" cap="flat" cmpd="sng">
            <a:solidFill>
              <a:srgbClr val="F0C04A">
                <a:alpha val="80000"/>
              </a:srgbClr>
            </a:solidFill>
            <a:prstDash val="solid"/>
            <a:round/>
            <a:headEnd type="none" w="sm" len="sm"/>
            <a:tailEnd type="none" w="sm" len="sm"/>
          </a:ln>
        </p:spPr>
      </p:cxnSp>
      <p:cxnSp>
        <p:nvCxnSpPr>
          <p:cNvPr id="147" name="Google Shape;147;p5"/>
          <p:cNvCxnSpPr/>
          <p:nvPr/>
        </p:nvCxnSpPr>
        <p:spPr>
          <a:xfrm>
            <a:off x="0" y="7132320"/>
            <a:ext cx="18288000" cy="0"/>
          </a:xfrm>
          <a:prstGeom prst="straightConnector1">
            <a:avLst/>
          </a:prstGeom>
          <a:noFill/>
          <a:ln w="15875" cap="flat" cmpd="sng">
            <a:solidFill>
              <a:srgbClr val="F0C04A">
                <a:alpha val="80000"/>
              </a:srgbClr>
            </a:solidFill>
            <a:prstDash val="solid"/>
            <a:round/>
            <a:headEnd type="none" w="sm" len="sm"/>
            <a:tailEnd type="none" w="sm" len="sm"/>
          </a:ln>
        </p:spPr>
      </p:cxnSp>
      <p:sp>
        <p:nvSpPr>
          <p:cNvPr id="148" name="Google Shape;148;p5"/>
          <p:cNvSpPr txBox="1"/>
          <p:nvPr/>
        </p:nvSpPr>
        <p:spPr>
          <a:xfrm>
            <a:off x="731520" y="3717055"/>
            <a:ext cx="16824900" cy="20118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5600"/>
              <a:buFont typeface="Questrial"/>
              <a:buNone/>
            </a:pPr>
            <a:r>
              <a:rPr lang="en-US" sz="6600" b="1" i="0" u="none" strike="noStrike" cap="none" dirty="0">
                <a:solidFill>
                  <a:srgbClr val="FFFFFF"/>
                </a:solidFill>
                <a:latin typeface="Questrial"/>
                <a:ea typeface="Questrial"/>
                <a:cs typeface="Questrial"/>
                <a:sym typeface="Questrial"/>
              </a:rPr>
              <a:t>A MAP CAN SHOW YOU WHERE TO GO,</a:t>
            </a:r>
            <a:endParaRPr sz="6600" b="0" i="0" u="none" strike="noStrike" cap="none" dirty="0">
              <a:solidFill>
                <a:schemeClr val="dk1"/>
              </a:solidFill>
              <a:latin typeface="Questrial"/>
              <a:ea typeface="Questrial"/>
              <a:cs typeface="Questrial"/>
              <a:sym typeface="Questrial"/>
            </a:endParaRPr>
          </a:p>
          <a:p>
            <a:pPr marL="0" marR="0" lvl="0" indent="0" algn="ctr" rtl="0">
              <a:lnSpc>
                <a:spcPct val="100000"/>
              </a:lnSpc>
              <a:spcBef>
                <a:spcPts val="0"/>
              </a:spcBef>
              <a:spcAft>
                <a:spcPts val="0"/>
              </a:spcAft>
              <a:buClr>
                <a:srgbClr val="FFFFFF"/>
              </a:buClr>
              <a:buSzPts val="5600"/>
              <a:buFont typeface="Questrial"/>
              <a:buNone/>
            </a:pPr>
            <a:r>
              <a:rPr lang="en-US" sz="6600" b="1" i="0" u="none" strike="noStrike" cap="none" dirty="0">
                <a:solidFill>
                  <a:srgbClr val="FFFFFF"/>
                </a:solidFill>
                <a:latin typeface="Questrial"/>
                <a:ea typeface="Questrial"/>
                <a:cs typeface="Questrial"/>
                <a:sym typeface="Questrial"/>
              </a:rPr>
              <a:t>OUR MODEL SHOWS HOW TO GET THERE.</a:t>
            </a:r>
            <a:endParaRPr sz="6600" b="0" i="0" u="none" strike="noStrike" cap="none" dirty="0">
              <a:solidFill>
                <a:schemeClr val="dk1"/>
              </a:solidFill>
              <a:latin typeface="Questrial"/>
              <a:ea typeface="Questrial"/>
              <a:cs typeface="Questrial"/>
              <a:sym typeface="Questrial"/>
            </a:endParaRPr>
          </a:p>
        </p:txBody>
      </p:sp>
      <p:sp>
        <p:nvSpPr>
          <p:cNvPr id="149" name="Google Shape;149;p5"/>
          <p:cNvSpPr txBox="1"/>
          <p:nvPr/>
        </p:nvSpPr>
        <p:spPr>
          <a:xfrm>
            <a:off x="548645" y="5943543"/>
            <a:ext cx="16824900" cy="640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0C04A"/>
              </a:buClr>
              <a:buSzPts val="3000"/>
              <a:buFont typeface="Questrial"/>
              <a:buNone/>
            </a:pPr>
            <a:r>
              <a:rPr lang="en-US" sz="7000" b="1" i="0" u="none" strike="noStrike" cap="none" spc="300">
                <a:solidFill>
                  <a:srgbClr val="F0C04A"/>
                </a:solidFill>
                <a:latin typeface="Questrial"/>
                <a:ea typeface="Questrial"/>
                <a:cs typeface="Questrial"/>
                <a:sym typeface="Questrial"/>
              </a:rPr>
              <a:t>COVERING 18 LGUS ACROSS ALBAY</a:t>
            </a:r>
            <a:endParaRPr sz="7000" b="0" i="0" u="none" strike="noStrike" cap="none">
              <a:solidFill>
                <a:schemeClr val="dk1"/>
              </a:solidFill>
              <a:latin typeface="Questrial"/>
              <a:ea typeface="Questrial"/>
              <a:cs typeface="Questrial"/>
              <a:sym typeface="Questrial"/>
            </a:endParaRPr>
          </a:p>
        </p:txBody>
      </p:sp>
      <p:sp>
        <p:nvSpPr>
          <p:cNvPr id="150" name="Google Shape;150;p5"/>
          <p:cNvSpPr txBox="1"/>
          <p:nvPr/>
        </p:nvSpPr>
        <p:spPr>
          <a:xfrm>
            <a:off x="1715679" y="9372618"/>
            <a:ext cx="7315200" cy="685800"/>
          </a:xfrm>
          <a:prstGeom prst="rect">
            <a:avLst/>
          </a:prstGeom>
          <a:noFill/>
          <a:ln>
            <a:noFill/>
          </a:ln>
        </p:spPr>
        <p:txBody>
          <a:bodyPr spcFirstLastPara="1" wrap="square" lIns="0" tIns="0" rIns="0" bIns="0" anchor="b" anchorCtr="0">
            <a:noAutofit/>
          </a:bodyPr>
          <a:lstStyle/>
          <a:p>
            <a:pPr marL="0" marR="0" lvl="0" indent="0" algn="l" rtl="0">
              <a:lnSpc>
                <a:spcPct val="100000"/>
              </a:lnSpc>
              <a:spcBef>
                <a:spcPts val="0"/>
              </a:spcBef>
              <a:spcAft>
                <a:spcPts val="0"/>
              </a:spcAft>
              <a:buClr>
                <a:srgbClr val="FFFFFF"/>
              </a:buClr>
              <a:buSzPts val="1400"/>
              <a:buFont typeface="Questrial"/>
              <a:buNone/>
            </a:pPr>
            <a:r>
              <a:rPr lang="en-US" sz="3000" b="1" i="0" u="none" strike="noStrike" cap="none">
                <a:solidFill>
                  <a:srgbClr val="FFFFFF"/>
                </a:solidFill>
                <a:latin typeface="Questrial"/>
                <a:ea typeface="Questrial"/>
                <a:cs typeface="Questrial"/>
                <a:sym typeface="Questrial"/>
              </a:rPr>
              <a:t>LEGAZPI CITY SCIENCE HIGH SCHOOL</a:t>
            </a:r>
            <a:endParaRPr sz="3000" b="0" i="0" u="none" strike="noStrike" cap="none">
              <a:solidFill>
                <a:schemeClr val="dk1"/>
              </a:solidFill>
              <a:latin typeface="Questrial"/>
              <a:ea typeface="Questrial"/>
              <a:cs typeface="Questrial"/>
              <a:sym typeface="Questrial"/>
            </a:endParaRPr>
          </a:p>
          <a:p>
            <a:pPr marL="0" marR="0" lvl="0" indent="0" algn="l" rtl="0">
              <a:lnSpc>
                <a:spcPct val="100000"/>
              </a:lnSpc>
              <a:spcBef>
                <a:spcPts val="0"/>
              </a:spcBef>
              <a:spcAft>
                <a:spcPts val="0"/>
              </a:spcAft>
              <a:buClr>
                <a:srgbClr val="FFFFFF"/>
              </a:buClr>
              <a:buSzPts val="1200"/>
              <a:buFont typeface="Questrial"/>
              <a:buNone/>
            </a:pPr>
            <a:r>
              <a:rPr lang="en-US" sz="3000" b="0" i="0" u="none" strike="noStrike" cap="none">
                <a:solidFill>
                  <a:srgbClr val="FFFFFF"/>
                </a:solidFill>
                <a:latin typeface="Questrial"/>
                <a:ea typeface="Questrial"/>
                <a:cs typeface="Questrial"/>
                <a:sym typeface="Questrial"/>
              </a:rPr>
              <a:t>MCS-T: DE ASIS</a:t>
            </a:r>
            <a:endParaRPr sz="3000" b="0" i="0" u="none" strike="noStrike" cap="none">
              <a:solidFill>
                <a:schemeClr val="dk1"/>
              </a:solidFill>
              <a:latin typeface="Questrial"/>
              <a:ea typeface="Questrial"/>
              <a:cs typeface="Questrial"/>
              <a:sym typeface="Questrial"/>
            </a:endParaRPr>
          </a:p>
        </p:txBody>
      </p:sp>
      <p:sp>
        <p:nvSpPr>
          <p:cNvPr id="151" name="Google Shape;151;p5"/>
          <p:cNvSpPr/>
          <p:nvPr/>
        </p:nvSpPr>
        <p:spPr>
          <a:xfrm>
            <a:off x="76924" y="8716928"/>
            <a:ext cx="1638739" cy="1540562"/>
          </a:xfrm>
          <a:custGeom>
            <a:avLst/>
            <a:gdLst/>
            <a:ahLst/>
            <a:cxnLst/>
            <a:rect l="l" t="t" r="r" b="b"/>
            <a:pathLst>
              <a:path w="2392319" h="2426082" extrusionOk="0">
                <a:moveTo>
                  <a:pt x="0" y="0"/>
                </a:moveTo>
                <a:lnTo>
                  <a:pt x="2392319" y="0"/>
                </a:lnTo>
                <a:lnTo>
                  <a:pt x="2392319" y="2426082"/>
                </a:lnTo>
                <a:lnTo>
                  <a:pt x="0" y="2426082"/>
                </a:lnTo>
                <a:lnTo>
                  <a:pt x="0" y="0"/>
                </a:lnTo>
                <a:close/>
              </a:path>
            </a:pathLst>
          </a:custGeom>
          <a:blipFill rotWithShape="1">
            <a:blip r:embed="rId5">
              <a:alphaModFix/>
            </a:blip>
            <a:stretch>
              <a:fillRect/>
            </a:stretch>
          </a:blipFill>
          <a:ln>
            <a:noFill/>
          </a:ln>
        </p:spPr>
        <p:txBody>
          <a:bodyPr/>
          <a:lstStyle/>
          <a:p>
            <a:endParaRPr lang="en-PH"/>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56"/>
        <p:cNvGrpSpPr/>
        <p:nvPr/>
      </p:nvGrpSpPr>
      <p:grpSpPr>
        <a:xfrm>
          <a:off x="0" y="0"/>
          <a:ext cx="0" cy="0"/>
          <a:chOff x="0" y="0"/>
          <a:chExt cx="0" cy="0"/>
        </a:xfrm>
      </p:grpSpPr>
      <p:sp>
        <p:nvSpPr>
          <p:cNvPr id="159" name="Google Shape;159;p6"/>
          <p:cNvSpPr/>
          <p:nvPr/>
        </p:nvSpPr>
        <p:spPr>
          <a:xfrm>
            <a:off x="0" y="0"/>
            <a:ext cx="18288000"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dirty="0"/>
          </a:p>
        </p:txBody>
      </p:sp>
      <p:sp>
        <p:nvSpPr>
          <p:cNvPr id="160" name="Google Shape;160;p6"/>
          <p:cNvSpPr/>
          <p:nvPr/>
        </p:nvSpPr>
        <p:spPr>
          <a:xfrm>
            <a:off x="699585" y="546888"/>
            <a:ext cx="2622735" cy="2595600"/>
          </a:xfrm>
          <a:custGeom>
            <a:avLst/>
            <a:gdLst/>
            <a:ahLst/>
            <a:cxnLst/>
            <a:rect l="l" t="t" r="r" b="b"/>
            <a:pathLst>
              <a:path w="2392319" h="2426082" extrusionOk="0">
                <a:moveTo>
                  <a:pt x="0" y="0"/>
                </a:moveTo>
                <a:lnTo>
                  <a:pt x="2392319" y="0"/>
                </a:lnTo>
                <a:lnTo>
                  <a:pt x="2392319" y="2426082"/>
                </a:lnTo>
                <a:lnTo>
                  <a:pt x="0" y="2426082"/>
                </a:lnTo>
                <a:lnTo>
                  <a:pt x="0" y="0"/>
                </a:lnTo>
                <a:close/>
              </a:path>
            </a:pathLst>
          </a:custGeom>
          <a:blipFill rotWithShape="1">
            <a:blip r:embed="rId4">
              <a:alphaModFix/>
            </a:blip>
            <a:stretch>
              <a:fillRect/>
            </a:stretch>
          </a:blipFill>
          <a:ln>
            <a:noFill/>
          </a:ln>
        </p:spPr>
        <p:txBody>
          <a:bodyPr/>
          <a:lstStyle/>
          <a:p>
            <a:endParaRPr lang="en-PH"/>
          </a:p>
        </p:txBody>
      </p:sp>
      <p:sp>
        <p:nvSpPr>
          <p:cNvPr id="163" name="Google Shape;163;p6"/>
          <p:cNvSpPr txBox="1"/>
          <p:nvPr/>
        </p:nvSpPr>
        <p:spPr>
          <a:xfrm>
            <a:off x="2849880" y="1804417"/>
            <a:ext cx="12801600" cy="214884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F0C04A"/>
              </a:buClr>
              <a:buSzPts val="12000"/>
              <a:buFont typeface="Times New Roman"/>
              <a:buNone/>
            </a:pPr>
            <a:r>
              <a:rPr lang="en-US" sz="14000" b="1" i="0" u="none" strike="noStrike" cap="none" dirty="0">
                <a:solidFill>
                  <a:srgbClr val="F0C04A"/>
                </a:solidFill>
                <a:latin typeface="Times New Roman"/>
                <a:ea typeface="Times New Roman"/>
                <a:cs typeface="Times New Roman"/>
                <a:sym typeface="Times New Roman"/>
              </a:rPr>
              <a:t>MAP - A</a:t>
            </a:r>
            <a:endParaRPr sz="14000" b="0" i="0" u="none" strike="noStrike" cap="none" dirty="0">
              <a:solidFill>
                <a:schemeClr val="dk1"/>
              </a:solidFill>
              <a:latin typeface="Questrial"/>
              <a:ea typeface="Questrial"/>
              <a:cs typeface="Questrial"/>
              <a:sym typeface="Questrial"/>
            </a:endParaRPr>
          </a:p>
        </p:txBody>
      </p:sp>
      <p:sp>
        <p:nvSpPr>
          <p:cNvPr id="164" name="Google Shape;164;p6"/>
          <p:cNvSpPr txBox="1"/>
          <p:nvPr/>
        </p:nvSpPr>
        <p:spPr>
          <a:xfrm>
            <a:off x="1662243" y="5589055"/>
            <a:ext cx="15087600" cy="2560320"/>
          </a:xfrm>
          <a:prstGeom prst="rect">
            <a:avLst/>
          </a:prstGeom>
          <a:noFill/>
          <a:ln>
            <a:noFill/>
          </a:ln>
        </p:spPr>
        <p:txBody>
          <a:bodyPr spcFirstLastPara="1" wrap="square" lIns="0" tIns="0" rIns="0" bIns="0" anchor="b" anchorCtr="0">
            <a:noAutofit/>
          </a:bodyPr>
          <a:lstStyle/>
          <a:p>
            <a:pPr marL="0" marR="0" lvl="0" indent="0" algn="ctr" rtl="0">
              <a:lnSpc>
                <a:spcPct val="102000"/>
              </a:lnSpc>
              <a:spcBef>
                <a:spcPts val="0"/>
              </a:spcBef>
              <a:spcAft>
                <a:spcPts val="0"/>
              </a:spcAft>
              <a:buClr>
                <a:srgbClr val="FFFFFF"/>
              </a:buClr>
              <a:buSzPts val="4200"/>
              <a:buFont typeface="Times New Roman"/>
              <a:buNone/>
            </a:pPr>
            <a:r>
              <a:rPr lang="en-US" sz="5400" b="1" i="0" u="none" strike="noStrike" cap="none" dirty="0">
                <a:solidFill>
                  <a:srgbClr val="FFFFFF"/>
                </a:solidFill>
                <a:latin typeface="Times New Roman"/>
                <a:ea typeface="Times New Roman"/>
                <a:cs typeface="Times New Roman"/>
                <a:sym typeface="Times New Roman"/>
              </a:rPr>
              <a:t>A Landmark-Anchored Timetable-Graph Model of Public Transport: Verified Computation of Accessibility, Its Inequality, and the Fare Matrix from Open Data, with Agent-Reported Hospital Bed Capacity for Ambulance and Patient Routing</a:t>
            </a:r>
            <a:endParaRPr sz="5400" b="0" i="0" u="none" strike="noStrike" cap="none" dirty="0">
              <a:solidFill>
                <a:schemeClr val="dk1"/>
              </a:solidFill>
              <a:latin typeface="Questrial"/>
              <a:ea typeface="Questrial"/>
              <a:cs typeface="Questrial"/>
              <a:sym typeface="Questrial"/>
            </a:endParaRPr>
          </a:p>
        </p:txBody>
      </p:sp>
      <p:sp>
        <p:nvSpPr>
          <p:cNvPr id="165" name="Google Shape;165;p6"/>
          <p:cNvSpPr txBox="1"/>
          <p:nvPr/>
        </p:nvSpPr>
        <p:spPr>
          <a:xfrm>
            <a:off x="3670479" y="8647177"/>
            <a:ext cx="10972800" cy="100584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Times New Roman"/>
              <a:buNone/>
            </a:pPr>
            <a:r>
              <a:rPr lang="en-US" sz="3600" b="1" i="0" u="none" strike="noStrike" cap="none" dirty="0">
                <a:solidFill>
                  <a:srgbClr val="FFFFFF"/>
                </a:solidFill>
                <a:latin typeface="Times New Roman"/>
                <a:ea typeface="Times New Roman"/>
                <a:cs typeface="Times New Roman"/>
                <a:sym typeface="Times New Roman"/>
              </a:rPr>
              <a:t>De Asis, Dave Justin Ll.</a:t>
            </a:r>
          </a:p>
          <a:p>
            <a:pPr marL="0" marR="0" lvl="0" indent="0" algn="ctr" rtl="0">
              <a:lnSpc>
                <a:spcPct val="100000"/>
              </a:lnSpc>
              <a:spcBef>
                <a:spcPts val="0"/>
              </a:spcBef>
              <a:spcAft>
                <a:spcPts val="0"/>
              </a:spcAft>
              <a:buClr>
                <a:srgbClr val="FFFFFF"/>
              </a:buClr>
              <a:buSzPts val="3600"/>
              <a:buFont typeface="Times New Roman"/>
              <a:buNone/>
            </a:pPr>
            <a:r>
              <a:rPr lang="en-US" sz="3600" dirty="0">
                <a:solidFill>
                  <a:srgbClr val="FFFFFF"/>
                </a:solidFill>
                <a:latin typeface="Times New Roman"/>
                <a:ea typeface="Questrial"/>
                <a:cs typeface="Times New Roman"/>
                <a:sym typeface="Times New Roman"/>
              </a:rPr>
              <a:t>STEM 12 LAVOISIER</a:t>
            </a:r>
          </a:p>
          <a:p>
            <a:pPr lvl="0" algn="ctr">
              <a:buClr>
                <a:srgbClr val="FFFFFF"/>
              </a:buClr>
              <a:buSzPts val="3600"/>
            </a:pPr>
            <a:r>
              <a:rPr lang="en-PH" sz="2400" b="1" dirty="0">
                <a:solidFill>
                  <a:schemeClr val="bg1"/>
                </a:solidFill>
              </a:rPr>
              <a:t>Mathematics and Computational Sciences (MCS) </a:t>
            </a:r>
            <a:endParaRPr sz="2400" b="1" i="0" u="none" strike="noStrike" cap="none" dirty="0">
              <a:solidFill>
                <a:schemeClr val="bg1"/>
              </a:solidFill>
              <a:latin typeface="Questrial"/>
              <a:ea typeface="Questrial"/>
              <a:cs typeface="Questrial"/>
              <a:sym typeface="Questrial"/>
            </a:endParaRPr>
          </a:p>
        </p:txBody>
      </p:sp>
      <p:cxnSp>
        <p:nvCxnSpPr>
          <p:cNvPr id="4" name="Google Shape;161;p6">
            <a:extLst>
              <a:ext uri="{FF2B5EF4-FFF2-40B4-BE49-F238E27FC236}">
                <a16:creationId xmlns:a16="http://schemas.microsoft.com/office/drawing/2014/main" id="{320D3EEC-CF75-06D2-E34E-66DD03643008}"/>
              </a:ext>
            </a:extLst>
          </p:cNvPr>
          <p:cNvCxnSpPr/>
          <p:nvPr/>
        </p:nvCxnSpPr>
        <p:spPr>
          <a:xfrm>
            <a:off x="4678680" y="3832860"/>
            <a:ext cx="9144000" cy="0"/>
          </a:xfrm>
          <a:prstGeom prst="straightConnector1">
            <a:avLst/>
          </a:prstGeom>
          <a:noFill/>
          <a:ln w="38100" cap="flat" cmpd="sng">
            <a:solidFill>
              <a:srgbClr val="FFFFFF"/>
            </a:solidFill>
            <a:prstDash val="solid"/>
            <a:round/>
            <a:headEnd type="none" w="sm" len="sm"/>
            <a:tailEnd type="none" w="sm" len="sm"/>
          </a:ln>
        </p:spPr>
      </p:cxnSp>
      <p:cxnSp>
        <p:nvCxnSpPr>
          <p:cNvPr id="14" name="Google Shape;161;p6">
            <a:extLst>
              <a:ext uri="{FF2B5EF4-FFF2-40B4-BE49-F238E27FC236}">
                <a16:creationId xmlns:a16="http://schemas.microsoft.com/office/drawing/2014/main" id="{33742D10-5295-2565-F545-15AD109506B4}"/>
              </a:ext>
            </a:extLst>
          </p:cNvPr>
          <p:cNvCxnSpPr/>
          <p:nvPr/>
        </p:nvCxnSpPr>
        <p:spPr>
          <a:xfrm>
            <a:off x="4470471" y="8248168"/>
            <a:ext cx="9144000" cy="0"/>
          </a:xfrm>
          <a:prstGeom prst="straightConnector1">
            <a:avLst/>
          </a:prstGeom>
          <a:noFill/>
          <a:ln w="38100" cap="flat" cmpd="sng">
            <a:solidFill>
              <a:srgbClr val="FFFFFF"/>
            </a:solidFill>
            <a:prstDash val="solid"/>
            <a:round/>
            <a:headEnd type="none" w="sm" len="sm"/>
            <a:tailEnd type="none" w="sm" len="sm"/>
          </a:ln>
        </p:spPr>
      </p:cxnSp>
      <p:cxnSp>
        <p:nvCxnSpPr>
          <p:cNvPr id="15" name="Google Shape;161;p6">
            <a:extLst>
              <a:ext uri="{FF2B5EF4-FFF2-40B4-BE49-F238E27FC236}">
                <a16:creationId xmlns:a16="http://schemas.microsoft.com/office/drawing/2014/main" id="{FAF92A09-51C6-DF1A-A34E-99E268C671F9}"/>
              </a:ext>
            </a:extLst>
          </p:cNvPr>
          <p:cNvCxnSpPr/>
          <p:nvPr/>
        </p:nvCxnSpPr>
        <p:spPr>
          <a:xfrm>
            <a:off x="4470471" y="10076967"/>
            <a:ext cx="9144000" cy="0"/>
          </a:xfrm>
          <a:prstGeom prst="straightConnector1">
            <a:avLst/>
          </a:prstGeom>
          <a:noFill/>
          <a:ln w="38100" cap="flat" cmpd="sng">
            <a:solidFill>
              <a:srgbClr val="FFFFFF"/>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9552051C-5769-0489-EB06-72DA1EA41AE3}"/>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EA641AED-BC5E-9748-F69F-9EE7CB55D87E}"/>
              </a:ext>
            </a:extLst>
          </p:cNvPr>
          <p:cNvSpPr/>
          <p:nvPr/>
        </p:nvSpPr>
        <p:spPr>
          <a:xfrm>
            <a:off x="90042" y="0"/>
            <a:ext cx="18197958"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sp>
        <p:nvSpPr>
          <p:cNvPr id="3" name="Google Shape;175;p7">
            <a:extLst>
              <a:ext uri="{FF2B5EF4-FFF2-40B4-BE49-F238E27FC236}">
                <a16:creationId xmlns:a16="http://schemas.microsoft.com/office/drawing/2014/main" id="{C655DEC9-3F55-493B-737D-708C91093DF4}"/>
              </a:ext>
            </a:extLst>
          </p:cNvPr>
          <p:cNvSpPr txBox="1"/>
          <p:nvPr/>
        </p:nvSpPr>
        <p:spPr>
          <a:xfrm>
            <a:off x="90042" y="259675"/>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INTRODUCTION</a:t>
            </a:r>
            <a:endParaRPr/>
          </a:p>
        </p:txBody>
      </p:sp>
      <p:sp>
        <p:nvSpPr>
          <p:cNvPr id="5" name="Google Shape;176;p7">
            <a:extLst>
              <a:ext uri="{FF2B5EF4-FFF2-40B4-BE49-F238E27FC236}">
                <a16:creationId xmlns:a16="http://schemas.microsoft.com/office/drawing/2014/main" id="{38AB3DAA-87CA-FC07-B2C5-8732D17CA44C}"/>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3200" b="0" i="0" u="none" strike="noStrike" cap="none" dirty="0">
                <a:solidFill>
                  <a:srgbClr val="FFFFFF"/>
                </a:solidFill>
                <a:latin typeface="Questrial"/>
                <a:ea typeface="Questrial"/>
                <a:cs typeface="Questrial"/>
                <a:sym typeface="Questrial"/>
              </a:rPr>
              <a:t>Background of the Study</a:t>
            </a:r>
            <a:endParaRPr sz="3200" b="0" i="0" u="none" strike="noStrike" cap="none" dirty="0">
              <a:solidFill>
                <a:schemeClr val="dk1"/>
              </a:solidFill>
              <a:latin typeface="Questrial"/>
              <a:ea typeface="Questrial"/>
              <a:cs typeface="Questrial"/>
              <a:sym typeface="Questrial"/>
            </a:endParaRPr>
          </a:p>
        </p:txBody>
      </p:sp>
      <p:sp>
        <p:nvSpPr>
          <p:cNvPr id="7" name="Google Shape;177;p7">
            <a:extLst>
              <a:ext uri="{FF2B5EF4-FFF2-40B4-BE49-F238E27FC236}">
                <a16:creationId xmlns:a16="http://schemas.microsoft.com/office/drawing/2014/main" id="{662B9505-4320-FC0F-4FFA-E1C5B2B1EA1F}"/>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7</a:t>
            </a:r>
            <a:endParaRPr sz="1600" b="0" i="0" u="none" strike="noStrike" cap="none">
              <a:solidFill>
                <a:schemeClr val="dk1"/>
              </a:solidFill>
              <a:latin typeface="Questrial"/>
              <a:ea typeface="Questrial"/>
              <a:cs typeface="Questrial"/>
              <a:sym typeface="Questrial"/>
            </a:endParaRPr>
          </a:p>
        </p:txBody>
      </p:sp>
      <p:sp>
        <p:nvSpPr>
          <p:cNvPr id="9" name="Google Shape;178;p7">
            <a:extLst>
              <a:ext uri="{FF2B5EF4-FFF2-40B4-BE49-F238E27FC236}">
                <a16:creationId xmlns:a16="http://schemas.microsoft.com/office/drawing/2014/main" id="{11C88460-16A4-2619-76B8-443751F59790}"/>
              </a:ext>
            </a:extLst>
          </p:cNvPr>
          <p:cNvSpPr/>
          <p:nvPr/>
        </p:nvSpPr>
        <p:spPr>
          <a:xfrm>
            <a:off x="822960" y="2103120"/>
            <a:ext cx="9372600" cy="5760720"/>
          </a:xfrm>
          <a:prstGeom prst="roundRect">
            <a:avLst>
              <a:gd name="adj" fmla="val 2539"/>
            </a:avLst>
          </a:prstGeom>
          <a:solidFill>
            <a:srgbClr val="FFFFFF">
              <a:alpha val="94118"/>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9;p7">
            <a:extLst>
              <a:ext uri="{FF2B5EF4-FFF2-40B4-BE49-F238E27FC236}">
                <a16:creationId xmlns:a16="http://schemas.microsoft.com/office/drawing/2014/main" id="{CE3D52CB-C228-099D-6950-9FC9ACA93492}"/>
              </a:ext>
            </a:extLst>
          </p:cNvPr>
          <p:cNvSpPr txBox="1"/>
          <p:nvPr/>
        </p:nvSpPr>
        <p:spPr>
          <a:xfrm>
            <a:off x="1234440" y="2423160"/>
            <a:ext cx="8641080" cy="5257800"/>
          </a:xfrm>
          <a:prstGeom prst="rect">
            <a:avLst/>
          </a:prstGeom>
          <a:noFill/>
          <a:ln>
            <a:noFill/>
          </a:ln>
        </p:spPr>
        <p:txBody>
          <a:bodyPr spcFirstLastPara="1" wrap="square" lIns="0" tIns="0" rIns="0" bIns="0" anchor="t" anchorCtr="0">
            <a:noAutofit/>
          </a:bodyPr>
          <a:lstStyle/>
          <a:p>
            <a:pPr marL="292608" marR="0" lvl="0" indent="-292608" algn="l" rtl="0">
              <a:lnSpc>
                <a:spcPct val="100000"/>
              </a:lnSpc>
              <a:spcBef>
                <a:spcPts val="0"/>
              </a:spcBef>
              <a:spcAft>
                <a:spcPts val="0"/>
              </a:spcAft>
              <a:buClr>
                <a:srgbClr val="8B0707"/>
              </a:buClr>
              <a:buSzPts val="2000"/>
              <a:buFont typeface="Arial"/>
              <a:buChar char="•"/>
            </a:pPr>
            <a:r>
              <a:rPr lang="en-US" sz="2400" b="0" i="0" u="none" strike="noStrike" cap="none" dirty="0">
                <a:solidFill>
                  <a:srgbClr val="2B2020"/>
                </a:solidFill>
                <a:latin typeface="Questrial"/>
                <a:ea typeface="Questrial"/>
                <a:cs typeface="Questrial"/>
                <a:sym typeface="Questrial"/>
              </a:rPr>
              <a:t>Most trips in Albay ride on jeepneys, tricycles, minibuses, and UV vans. None of them publishes its routes, schedules, or fares in a form a computer can read, so no one can forecast the time or the cost of a trip.</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400"/>
              </a:spcBef>
              <a:spcAft>
                <a:spcPts val="0"/>
              </a:spcAft>
              <a:buClr>
                <a:srgbClr val="8B0707"/>
              </a:buClr>
              <a:buSzPts val="2000"/>
              <a:buFont typeface="Arial"/>
              <a:buChar char="•"/>
            </a:pPr>
            <a:r>
              <a:rPr lang="en-US" sz="2400" b="0" i="0" u="none" strike="noStrike" cap="none" dirty="0">
                <a:solidFill>
                  <a:srgbClr val="2B2020"/>
                </a:solidFill>
                <a:latin typeface="Questrial"/>
                <a:ea typeface="Questrial"/>
                <a:cs typeface="Questrial"/>
                <a:sym typeface="Questrial"/>
              </a:rPr>
              <a:t>In an emergency, a map shows the nearest hospital. It does not show whether that hospital gives the level of care the patient needs or accepts what the family can pay.</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400"/>
              </a:spcBef>
              <a:spcAft>
                <a:spcPts val="0"/>
              </a:spcAft>
              <a:buClr>
                <a:srgbClr val="8B0707"/>
              </a:buClr>
              <a:buSzPts val="2000"/>
              <a:buFont typeface="Arial"/>
              <a:buChar char="•"/>
            </a:pPr>
            <a:r>
              <a:rPr lang="en-US" sz="2400" b="0" i="0" u="none" strike="noStrike" cap="none" dirty="0">
                <a:solidFill>
                  <a:srgbClr val="2B2020"/>
                </a:solidFill>
                <a:latin typeface="Questrial"/>
                <a:ea typeface="Questrial"/>
                <a:cs typeface="Questrial"/>
                <a:sym typeface="Questrial"/>
              </a:rPr>
              <a:t>Registers list licensed beds, not free ones. No one can see, in one place, which hospital in Albay can still admit a patient.</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400"/>
              </a:spcBef>
              <a:spcAft>
                <a:spcPts val="0"/>
              </a:spcAft>
              <a:buClr>
                <a:srgbClr val="8B0707"/>
              </a:buClr>
              <a:buSzPts val="2000"/>
              <a:buFont typeface="Arial"/>
              <a:buChar char="•"/>
            </a:pPr>
            <a:r>
              <a:rPr lang="en-US" sz="2400" b="0" i="0" u="none" strike="noStrike" cap="none" dirty="0">
                <a:solidFill>
                  <a:srgbClr val="2B2020"/>
                </a:solidFill>
                <a:latin typeface="Questrial"/>
                <a:ea typeface="Questrial"/>
                <a:cs typeface="Questrial"/>
                <a:sym typeface="Questrial"/>
              </a:rPr>
              <a:t>SDG targets 11.2 and 3.8 call for transport and health care that everyone can use (UNGA, 2015). Both are hard to track where routes seldom appear in official data (Klopp &amp; Cavoli, 2019).</a:t>
            </a:r>
            <a:endParaRPr sz="2400" b="0" i="0" u="none" strike="noStrike" cap="none" dirty="0">
              <a:solidFill>
                <a:schemeClr val="dk1"/>
              </a:solidFill>
              <a:latin typeface="Questrial"/>
              <a:ea typeface="Questrial"/>
              <a:cs typeface="Questrial"/>
              <a:sym typeface="Questrial"/>
            </a:endParaRPr>
          </a:p>
        </p:txBody>
      </p:sp>
      <p:sp>
        <p:nvSpPr>
          <p:cNvPr id="13" name="Google Shape;180;p7">
            <a:extLst>
              <a:ext uri="{FF2B5EF4-FFF2-40B4-BE49-F238E27FC236}">
                <a16:creationId xmlns:a16="http://schemas.microsoft.com/office/drawing/2014/main" id="{B5CFD984-E59F-1C3A-05F9-5DE68B183EE9}"/>
              </a:ext>
            </a:extLst>
          </p:cNvPr>
          <p:cNvSpPr txBox="1"/>
          <p:nvPr/>
        </p:nvSpPr>
        <p:spPr>
          <a:xfrm>
            <a:off x="10561320" y="2075688"/>
            <a:ext cx="690372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600"/>
              <a:buFont typeface="Questrial"/>
              <a:buNone/>
            </a:pPr>
            <a:r>
              <a:rPr lang="en-US" sz="2000" b="0" i="1" u="none" strike="noStrike" cap="none" dirty="0">
                <a:solidFill>
                  <a:schemeClr val="bg1"/>
                </a:solidFill>
                <a:latin typeface="Questrial"/>
                <a:ea typeface="Questrial"/>
                <a:cs typeface="Questrial"/>
                <a:sym typeface="Questrial"/>
              </a:rPr>
              <a:t>Table 1. The setting in figures</a:t>
            </a:r>
            <a:endParaRPr sz="2000" b="0" i="0" u="none" strike="noStrike" cap="none" dirty="0">
              <a:solidFill>
                <a:schemeClr val="bg1"/>
              </a:solidFill>
              <a:latin typeface="Questrial"/>
              <a:ea typeface="Questrial"/>
              <a:cs typeface="Questrial"/>
              <a:sym typeface="Questrial"/>
            </a:endParaRPr>
          </a:p>
        </p:txBody>
      </p:sp>
      <p:graphicFrame>
        <p:nvGraphicFramePr>
          <p:cNvPr id="15" name="Google Shape;181;p7">
            <a:extLst>
              <a:ext uri="{FF2B5EF4-FFF2-40B4-BE49-F238E27FC236}">
                <a16:creationId xmlns:a16="http://schemas.microsoft.com/office/drawing/2014/main" id="{4C986117-E0CF-747C-C4BF-258A1BF91F95}"/>
              </a:ext>
            </a:extLst>
          </p:cNvPr>
          <p:cNvGraphicFramePr/>
          <p:nvPr>
            <p:extLst>
              <p:ext uri="{D42A27DB-BD31-4B8C-83A1-F6EECF244321}">
                <p14:modId xmlns:p14="http://schemas.microsoft.com/office/powerpoint/2010/main" val="2746450586"/>
              </p:ext>
            </p:extLst>
          </p:nvPr>
        </p:nvGraphicFramePr>
        <p:xfrm>
          <a:off x="10561320" y="2487168"/>
          <a:ext cx="6903725" cy="5593198"/>
        </p:xfrm>
        <a:graphic>
          <a:graphicData uri="http://schemas.openxmlformats.org/drawingml/2006/table">
            <a:tbl>
              <a:tblPr>
                <a:noFill/>
                <a:tableStyleId>{34289B53-5545-4E02-A326-ACEF5BE87AE4}</a:tableStyleId>
              </a:tblPr>
              <a:tblGrid>
                <a:gridCol w="3520450">
                  <a:extLst>
                    <a:ext uri="{9D8B030D-6E8A-4147-A177-3AD203B41FA5}">
                      <a16:colId xmlns:a16="http://schemas.microsoft.com/office/drawing/2014/main" val="20000"/>
                    </a:ext>
                  </a:extLst>
                </a:gridCol>
                <a:gridCol w="1572775">
                  <a:extLst>
                    <a:ext uri="{9D8B030D-6E8A-4147-A177-3AD203B41FA5}">
                      <a16:colId xmlns:a16="http://schemas.microsoft.com/office/drawing/2014/main" val="20001"/>
                    </a:ext>
                  </a:extLst>
                </a:gridCol>
                <a:gridCol w="1810500">
                  <a:extLst>
                    <a:ext uri="{9D8B030D-6E8A-4147-A177-3AD203B41FA5}">
                      <a16:colId xmlns:a16="http://schemas.microsoft.com/office/drawing/2014/main" val="20002"/>
                    </a:ext>
                  </a:extLst>
                </a:gridCol>
              </a:tblGrid>
              <a:tr h="475500">
                <a:tc>
                  <a:txBody>
                    <a:bodyPr/>
                    <a:lstStyle/>
                    <a:p>
                      <a:pPr marL="0" marR="0" lvl="0" indent="0" algn="l" rtl="0">
                        <a:lnSpc>
                          <a:spcPct val="97000"/>
                        </a:lnSpc>
                        <a:spcBef>
                          <a:spcPts val="0"/>
                        </a:spcBef>
                        <a:spcAft>
                          <a:spcPts val="0"/>
                        </a:spcAft>
                        <a:buClr>
                          <a:srgbClr val="FFFFFF"/>
                        </a:buClr>
                        <a:buSzPts val="1600"/>
                        <a:buFont typeface="Questrial"/>
                        <a:buNone/>
                      </a:pPr>
                      <a:r>
                        <a:rPr lang="en-US" sz="2400" b="1" u="none" strike="noStrike" cap="none" dirty="0">
                          <a:solidFill>
                            <a:srgbClr val="FFFFFF"/>
                          </a:solidFill>
                          <a:latin typeface="Questrial"/>
                          <a:ea typeface="Questrial"/>
                          <a:cs typeface="Questrial"/>
                          <a:sym typeface="Questrial"/>
                        </a:rPr>
                        <a:t>Indicator</a:t>
                      </a:r>
                      <a:endParaRPr sz="24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600"/>
                        <a:buFont typeface="Questrial"/>
                        <a:buNone/>
                      </a:pPr>
                      <a:r>
                        <a:rPr lang="en-US" sz="2400" b="1" u="none" strike="noStrike" cap="none" dirty="0">
                          <a:solidFill>
                            <a:srgbClr val="FFFFFF"/>
                          </a:solidFill>
                          <a:latin typeface="Questrial"/>
                          <a:ea typeface="Questrial"/>
                          <a:cs typeface="Questrial"/>
                          <a:sym typeface="Questrial"/>
                        </a:rPr>
                        <a:t>Value</a:t>
                      </a:r>
                      <a:endParaRPr sz="24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600"/>
                        <a:buFont typeface="Questrial"/>
                        <a:buNone/>
                      </a:pPr>
                      <a:r>
                        <a:rPr lang="en-US" sz="2400" b="1" u="none" strike="noStrike" cap="none" dirty="0">
                          <a:solidFill>
                            <a:srgbClr val="FFFFFF"/>
                          </a:solidFill>
                          <a:latin typeface="Questrial"/>
                          <a:ea typeface="Questrial"/>
                          <a:cs typeface="Questrial"/>
                          <a:sym typeface="Questrial"/>
                        </a:rPr>
                        <a:t>Source</a:t>
                      </a:r>
                      <a:endParaRPr sz="24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extLst>
                  <a:ext uri="{0D108BD9-81ED-4DB2-BD59-A6C34878D82A}">
                    <a16:rowId xmlns:a16="http://schemas.microsoft.com/office/drawing/2014/main" val="10000"/>
                  </a:ext>
                </a:extLst>
              </a:tr>
              <a:tr h="548650">
                <a:tc>
                  <a:txBody>
                    <a:bodyPr/>
                    <a:lstStyle/>
                    <a:p>
                      <a:pPr marL="0" marR="0" lvl="0" indent="0" algn="l" rtl="0">
                        <a:lnSpc>
                          <a:spcPct val="97000"/>
                        </a:lnSpc>
                        <a:spcBef>
                          <a:spcPts val="0"/>
                        </a:spcBef>
                        <a:spcAft>
                          <a:spcPts val="0"/>
                        </a:spcAft>
                        <a:buClr>
                          <a:srgbClr val="2B2020"/>
                        </a:buClr>
                        <a:buSzPts val="1550"/>
                        <a:buFont typeface="Questrial"/>
                        <a:buNone/>
                      </a:pPr>
                      <a:r>
                        <a:rPr lang="en-US" sz="2000" u="none" strike="noStrike" cap="none" dirty="0">
                          <a:solidFill>
                            <a:srgbClr val="2B2020"/>
                          </a:solidFill>
                          <a:latin typeface="Questrial"/>
                          <a:ea typeface="Questrial"/>
                          <a:cs typeface="Questrial"/>
                          <a:sym typeface="Questrial"/>
                        </a:rPr>
                        <a:t>Cities and municipalities in Albay</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000" b="1" u="none" strike="noStrike" cap="none">
                          <a:solidFill>
                            <a:srgbClr val="8B0707"/>
                          </a:solidFill>
                          <a:latin typeface="Questrial"/>
                          <a:ea typeface="Questrial"/>
                          <a:cs typeface="Questrial"/>
                          <a:sym typeface="Questrial"/>
                        </a:rPr>
                        <a:t>18</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400"/>
                        <a:buFont typeface="Questrial"/>
                        <a:buNone/>
                      </a:pPr>
                      <a:r>
                        <a:rPr lang="en-US" sz="2000" u="none" strike="noStrike" cap="none">
                          <a:solidFill>
                            <a:srgbClr val="6A5656"/>
                          </a:solidFill>
                          <a:latin typeface="Questrial"/>
                          <a:ea typeface="Questrial"/>
                          <a:cs typeface="Questrial"/>
                          <a:sym typeface="Questrial"/>
                        </a:rPr>
                        <a:t>PSA (n.d.)</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1"/>
                  </a:ext>
                </a:extLst>
              </a:tr>
              <a:tr h="548650">
                <a:tc>
                  <a:txBody>
                    <a:bodyPr/>
                    <a:lstStyle/>
                    <a:p>
                      <a:pPr marL="0" marR="0" lvl="0" indent="0" algn="l" rtl="0">
                        <a:lnSpc>
                          <a:spcPct val="97000"/>
                        </a:lnSpc>
                        <a:spcBef>
                          <a:spcPts val="0"/>
                        </a:spcBef>
                        <a:spcAft>
                          <a:spcPts val="0"/>
                        </a:spcAft>
                        <a:buClr>
                          <a:srgbClr val="2B2020"/>
                        </a:buClr>
                        <a:buSzPts val="1550"/>
                        <a:buFont typeface="Questrial"/>
                        <a:buNone/>
                      </a:pPr>
                      <a:r>
                        <a:rPr lang="en-US" sz="2000" u="none" strike="noStrike" cap="none" dirty="0">
                          <a:solidFill>
                            <a:srgbClr val="2B2020"/>
                          </a:solidFill>
                          <a:latin typeface="Questrial"/>
                          <a:ea typeface="Questrial"/>
                          <a:cs typeface="Questrial"/>
                          <a:sym typeface="Questrial"/>
                        </a:rPr>
                        <a:t>Barangays</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000" b="1" u="none" strike="noStrike" cap="none">
                          <a:solidFill>
                            <a:srgbClr val="8B0707"/>
                          </a:solidFill>
                          <a:latin typeface="Questrial"/>
                          <a:ea typeface="Questrial"/>
                          <a:cs typeface="Questrial"/>
                          <a:sym typeface="Questrial"/>
                        </a:rPr>
                        <a:t>720</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6A5656"/>
                        </a:buClr>
                        <a:buSzPts val="1400"/>
                        <a:buFont typeface="Questrial"/>
                        <a:buNone/>
                      </a:pPr>
                      <a:r>
                        <a:rPr lang="en-US" sz="2000" u="none" strike="noStrike" cap="none">
                          <a:solidFill>
                            <a:srgbClr val="6A5656"/>
                          </a:solidFill>
                          <a:latin typeface="Questrial"/>
                          <a:ea typeface="Questrial"/>
                          <a:cs typeface="Questrial"/>
                          <a:sym typeface="Questrial"/>
                        </a:rPr>
                        <a:t>PSA (n.d.)</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2"/>
                  </a:ext>
                </a:extLst>
              </a:tr>
              <a:tr h="548650">
                <a:tc>
                  <a:txBody>
                    <a:bodyPr/>
                    <a:lstStyle/>
                    <a:p>
                      <a:pPr marL="0" marR="0" lvl="0" indent="0" algn="l" rtl="0">
                        <a:lnSpc>
                          <a:spcPct val="97000"/>
                        </a:lnSpc>
                        <a:spcBef>
                          <a:spcPts val="0"/>
                        </a:spcBef>
                        <a:spcAft>
                          <a:spcPts val="0"/>
                        </a:spcAft>
                        <a:buClr>
                          <a:srgbClr val="2B2020"/>
                        </a:buClr>
                        <a:buSzPts val="1550"/>
                        <a:buFont typeface="Questrial"/>
                        <a:buNone/>
                      </a:pPr>
                      <a:r>
                        <a:rPr lang="en-US" sz="2000" u="none" strike="noStrike" cap="none" dirty="0">
                          <a:solidFill>
                            <a:srgbClr val="2B2020"/>
                          </a:solidFill>
                          <a:latin typeface="Questrial"/>
                          <a:ea typeface="Questrial"/>
                          <a:cs typeface="Questrial"/>
                          <a:sym typeface="Questrial"/>
                        </a:rPr>
                        <a:t>Population, 2020 census</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000" b="1" u="none" strike="noStrike" cap="none">
                          <a:solidFill>
                            <a:srgbClr val="8B0707"/>
                          </a:solidFill>
                          <a:latin typeface="Questrial"/>
                          <a:ea typeface="Questrial"/>
                          <a:cs typeface="Questrial"/>
                          <a:sym typeface="Questrial"/>
                        </a:rPr>
                        <a:t>1,374,768</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400"/>
                        <a:buFont typeface="Questrial"/>
                        <a:buNone/>
                      </a:pPr>
                      <a:r>
                        <a:rPr lang="en-US" sz="2000" u="none" strike="noStrike" cap="none" dirty="0">
                          <a:solidFill>
                            <a:srgbClr val="6A5656"/>
                          </a:solidFill>
                          <a:latin typeface="Questrial"/>
                          <a:ea typeface="Questrial"/>
                          <a:cs typeface="Questrial"/>
                          <a:sym typeface="Questrial"/>
                        </a:rPr>
                        <a:t>PSA (2021)</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3"/>
                  </a:ext>
                </a:extLst>
              </a:tr>
              <a:tr h="548650">
                <a:tc>
                  <a:txBody>
                    <a:bodyPr/>
                    <a:lstStyle/>
                    <a:p>
                      <a:pPr marL="0" marR="0" lvl="0" indent="0" algn="l" rtl="0">
                        <a:lnSpc>
                          <a:spcPct val="97000"/>
                        </a:lnSpc>
                        <a:spcBef>
                          <a:spcPts val="0"/>
                        </a:spcBef>
                        <a:spcAft>
                          <a:spcPts val="0"/>
                        </a:spcAft>
                        <a:buClr>
                          <a:srgbClr val="2B2020"/>
                        </a:buClr>
                        <a:buSzPts val="1550"/>
                        <a:buFont typeface="Questrial"/>
                        <a:buNone/>
                      </a:pPr>
                      <a:r>
                        <a:rPr lang="en-US" sz="2000" u="none" strike="noStrike" cap="none" dirty="0">
                          <a:solidFill>
                            <a:srgbClr val="2B2020"/>
                          </a:solidFill>
                          <a:latin typeface="Questrial"/>
                          <a:ea typeface="Questrial"/>
                          <a:cs typeface="Questrial"/>
                          <a:sym typeface="Questrial"/>
                        </a:rPr>
                        <a:t>Land area</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000" b="1" u="none" strike="noStrike" cap="none">
                          <a:solidFill>
                            <a:srgbClr val="8B0707"/>
                          </a:solidFill>
                          <a:latin typeface="Questrial"/>
                          <a:ea typeface="Questrial"/>
                          <a:cs typeface="Questrial"/>
                          <a:sym typeface="Questrial"/>
                        </a:rPr>
                        <a:t>≈ 2,575 km²</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6A5656"/>
                        </a:buClr>
                        <a:buSzPts val="1400"/>
                        <a:buFont typeface="Questrial"/>
                        <a:buNone/>
                      </a:pPr>
                      <a:r>
                        <a:rPr lang="en-US" sz="2000" u="none" strike="noStrike" cap="none" dirty="0">
                          <a:solidFill>
                            <a:srgbClr val="6A5656"/>
                          </a:solidFill>
                          <a:latin typeface="Questrial"/>
                          <a:ea typeface="Questrial"/>
                          <a:cs typeface="Questrial"/>
                          <a:sym typeface="Questrial"/>
                        </a:rPr>
                        <a:t>PhilAtlas (n.d.)</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4"/>
                  </a:ext>
                </a:extLst>
              </a:tr>
              <a:tr h="914400">
                <a:tc>
                  <a:txBody>
                    <a:bodyPr/>
                    <a:lstStyle/>
                    <a:p>
                      <a:pPr marL="0" marR="0" lvl="0" indent="0" algn="l" rtl="0">
                        <a:lnSpc>
                          <a:spcPct val="97000"/>
                        </a:lnSpc>
                        <a:spcBef>
                          <a:spcPts val="0"/>
                        </a:spcBef>
                        <a:spcAft>
                          <a:spcPts val="0"/>
                        </a:spcAft>
                        <a:buClr>
                          <a:srgbClr val="2B2020"/>
                        </a:buClr>
                        <a:buSzPts val="1550"/>
                        <a:buFont typeface="Questrial"/>
                        <a:buNone/>
                      </a:pPr>
                      <a:r>
                        <a:rPr lang="en-US" sz="2000" u="none" strike="noStrike" cap="none">
                          <a:solidFill>
                            <a:srgbClr val="2B2020"/>
                          </a:solidFill>
                          <a:latin typeface="Questrial"/>
                          <a:ea typeface="Questrial"/>
                          <a:cs typeface="Questrial"/>
                          <a:sym typeface="Questrial"/>
                        </a:rPr>
                        <a:t>Urban residents with convenient access to public transport (412 cities, 2025)</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000" b="1" u="none" strike="noStrike" cap="none" dirty="0">
                          <a:solidFill>
                            <a:srgbClr val="8B0707"/>
                          </a:solidFill>
                          <a:latin typeface="Questrial"/>
                          <a:ea typeface="Questrial"/>
                          <a:cs typeface="Questrial"/>
                          <a:sym typeface="Questrial"/>
                        </a:rPr>
                        <a:t>61.5%</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400"/>
                        <a:buFont typeface="Questrial"/>
                        <a:buNone/>
                      </a:pPr>
                      <a:r>
                        <a:rPr lang="en-US" sz="2000" u="none" strike="noStrike" cap="none">
                          <a:solidFill>
                            <a:srgbClr val="6A5656"/>
                          </a:solidFill>
                          <a:latin typeface="Questrial"/>
                          <a:ea typeface="Questrial"/>
                          <a:cs typeface="Questrial"/>
                          <a:sym typeface="Questrial"/>
                        </a:rPr>
                        <a:t>UNSD (2026)</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5"/>
                  </a:ext>
                </a:extLst>
              </a:tr>
              <a:tr h="777250">
                <a:tc>
                  <a:txBody>
                    <a:bodyPr/>
                    <a:lstStyle/>
                    <a:p>
                      <a:pPr marL="0" marR="0" lvl="0" indent="0" algn="l" rtl="0">
                        <a:lnSpc>
                          <a:spcPct val="97000"/>
                        </a:lnSpc>
                        <a:spcBef>
                          <a:spcPts val="0"/>
                        </a:spcBef>
                        <a:spcAft>
                          <a:spcPts val="0"/>
                        </a:spcAft>
                        <a:buClr>
                          <a:srgbClr val="2B2020"/>
                        </a:buClr>
                        <a:buSzPts val="1550"/>
                        <a:buFont typeface="Questrial"/>
                        <a:buNone/>
                      </a:pPr>
                      <a:r>
                        <a:rPr lang="en-US" sz="2000" u="none" strike="noStrike" cap="none">
                          <a:solidFill>
                            <a:srgbClr val="2B2020"/>
                          </a:solidFill>
                          <a:latin typeface="Questrial"/>
                          <a:ea typeface="Questrial"/>
                          <a:cs typeface="Questrial"/>
                          <a:sym typeface="Questrial"/>
                        </a:rPr>
                        <a:t>People without access to essential health services</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000" b="1" u="none" strike="noStrike" cap="none" dirty="0">
                          <a:solidFill>
                            <a:srgbClr val="8B0707"/>
                          </a:solidFill>
                          <a:latin typeface="Questrial"/>
                          <a:ea typeface="Questrial"/>
                          <a:cs typeface="Questrial"/>
                          <a:sym typeface="Questrial"/>
                        </a:rPr>
                        <a:t>4.6 billion</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6A5656"/>
                        </a:buClr>
                        <a:buSzPts val="1400"/>
                        <a:buFont typeface="Questrial"/>
                        <a:buNone/>
                      </a:pPr>
                      <a:r>
                        <a:rPr lang="en-US" sz="2000" u="none" strike="noStrike" cap="none" dirty="0">
                          <a:solidFill>
                            <a:srgbClr val="6A5656"/>
                          </a:solidFill>
                          <a:latin typeface="Questrial"/>
                          <a:ea typeface="Questrial"/>
                          <a:cs typeface="Questrial"/>
                          <a:sym typeface="Questrial"/>
                        </a:rPr>
                        <a:t>WHO &amp; World Bank (2025)</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6"/>
                  </a:ext>
                </a:extLst>
              </a:tr>
              <a:tr h="777250">
                <a:tc>
                  <a:txBody>
                    <a:bodyPr/>
                    <a:lstStyle/>
                    <a:p>
                      <a:pPr marL="0" marR="0" lvl="0" indent="0" algn="l" rtl="0">
                        <a:lnSpc>
                          <a:spcPct val="97000"/>
                        </a:lnSpc>
                        <a:spcBef>
                          <a:spcPts val="0"/>
                        </a:spcBef>
                        <a:spcAft>
                          <a:spcPts val="0"/>
                        </a:spcAft>
                        <a:buClr>
                          <a:srgbClr val="2B2020"/>
                        </a:buClr>
                        <a:buSzPts val="1550"/>
                        <a:buFont typeface="Questrial"/>
                        <a:buNone/>
                      </a:pPr>
                      <a:r>
                        <a:rPr lang="en-US" sz="2000" u="none" strike="noStrike" cap="none" dirty="0">
                          <a:solidFill>
                            <a:srgbClr val="2B2020"/>
                          </a:solidFill>
                          <a:latin typeface="Questrial"/>
                          <a:ea typeface="Questrial"/>
                          <a:cs typeface="Questrial"/>
                          <a:sym typeface="Questrial"/>
                        </a:rPr>
                        <a:t>People facing financial hardship from health spending</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000" b="1" u="none" strike="noStrike" cap="none">
                          <a:solidFill>
                            <a:srgbClr val="8B0707"/>
                          </a:solidFill>
                          <a:latin typeface="Questrial"/>
                          <a:ea typeface="Questrial"/>
                          <a:cs typeface="Questrial"/>
                          <a:sym typeface="Questrial"/>
                        </a:rPr>
                        <a:t>2.1 billion</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400"/>
                        <a:buFont typeface="Questrial"/>
                        <a:buNone/>
                      </a:pPr>
                      <a:r>
                        <a:rPr lang="en-US" sz="2000" u="none" strike="noStrike" cap="none" dirty="0">
                          <a:solidFill>
                            <a:srgbClr val="6A5656"/>
                          </a:solidFill>
                          <a:latin typeface="Questrial"/>
                          <a:ea typeface="Questrial"/>
                          <a:cs typeface="Questrial"/>
                          <a:sym typeface="Questrial"/>
                        </a:rPr>
                        <a:t>WHO &amp; World Bank (2025)</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7"/>
                  </a:ext>
                </a:extLst>
              </a:tr>
            </a:tbl>
          </a:graphicData>
        </a:graphic>
      </p:graphicFrame>
      <p:sp>
        <p:nvSpPr>
          <p:cNvPr id="17" name="Google Shape;182;p7">
            <a:extLst>
              <a:ext uri="{FF2B5EF4-FFF2-40B4-BE49-F238E27FC236}">
                <a16:creationId xmlns:a16="http://schemas.microsoft.com/office/drawing/2014/main" id="{4526A228-E582-E7C3-1D1F-914D136C3482}"/>
              </a:ext>
            </a:extLst>
          </p:cNvPr>
          <p:cNvSpPr/>
          <p:nvPr/>
        </p:nvSpPr>
        <p:spPr>
          <a:xfrm>
            <a:off x="822960" y="8138160"/>
            <a:ext cx="16642080" cy="1417320"/>
          </a:xfrm>
          <a:prstGeom prst="roundRect">
            <a:avLst>
              <a:gd name="adj" fmla="val 10322"/>
            </a:avLst>
          </a:prstGeom>
          <a:solidFill>
            <a:srgbClr val="F8E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83;p7">
            <a:extLst>
              <a:ext uri="{FF2B5EF4-FFF2-40B4-BE49-F238E27FC236}">
                <a16:creationId xmlns:a16="http://schemas.microsoft.com/office/drawing/2014/main" id="{A21AFA94-3800-9DC1-E8AE-22CEE742DDF8}"/>
              </a:ext>
            </a:extLst>
          </p:cNvPr>
          <p:cNvSpPr txBox="1"/>
          <p:nvPr/>
        </p:nvSpPr>
        <p:spPr>
          <a:xfrm>
            <a:off x="1234440" y="8211312"/>
            <a:ext cx="15819120" cy="127101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950"/>
              <a:buFont typeface="Questrial"/>
              <a:buNone/>
            </a:pPr>
            <a:r>
              <a:rPr lang="en-US" sz="2800" b="1" i="0" u="none" strike="noStrike" cap="none" dirty="0">
                <a:solidFill>
                  <a:srgbClr val="8B0707"/>
                </a:solidFill>
                <a:latin typeface="Questrial"/>
                <a:ea typeface="Questrial"/>
                <a:cs typeface="Questrial"/>
                <a:sym typeface="Questrial"/>
              </a:rPr>
              <a:t>Purpose of the study. </a:t>
            </a:r>
            <a:r>
              <a:rPr lang="en-US" sz="2800" b="0" i="0" u="none" strike="noStrike" cap="none" dirty="0">
                <a:solidFill>
                  <a:srgbClr val="2B2020"/>
                </a:solidFill>
                <a:latin typeface="Questrial"/>
                <a:ea typeface="Questrial"/>
                <a:cs typeface="Questrial"/>
                <a:sym typeface="Questrial"/>
              </a:rPr>
              <a:t>To find out whether open data and an ordinary laptop are enough to map Albay's public transport and forecast the fare of each trip, to route a patient by condition and ability to pay, and to track the bed capacity of every hospital in the province.</a:t>
            </a:r>
            <a:endParaRPr sz="2800" b="0" i="0" u="none" strike="noStrike" cap="none" dirty="0">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1534634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9A54F7BF-D665-6AFB-ECD9-6C0514F18A96}"/>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EE12B677-1891-124A-E22E-8334120C2D36}"/>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32" name="Google Shape;190;p8">
            <a:extLst>
              <a:ext uri="{FF2B5EF4-FFF2-40B4-BE49-F238E27FC236}">
                <a16:creationId xmlns:a16="http://schemas.microsoft.com/office/drawing/2014/main" id="{8C1BB826-23B7-E7B7-63F0-710D7A055E5D}"/>
              </a:ext>
            </a:extLst>
          </p:cNvPr>
          <p:cNvGrpSpPr/>
          <p:nvPr/>
        </p:nvGrpSpPr>
        <p:grpSpPr>
          <a:xfrm>
            <a:off x="-30479" y="-347875"/>
            <a:ext cx="18423462" cy="2953915"/>
            <a:chOff x="0" y="-76200"/>
            <a:chExt cx="5142358" cy="777986"/>
          </a:xfrm>
        </p:grpSpPr>
        <p:sp>
          <p:nvSpPr>
            <p:cNvPr id="33" name="Google Shape;191;p8">
              <a:extLst>
                <a:ext uri="{FF2B5EF4-FFF2-40B4-BE49-F238E27FC236}">
                  <a16:creationId xmlns:a16="http://schemas.microsoft.com/office/drawing/2014/main" id="{0C5A5004-2AA6-9A18-9074-E0B74D089B0D}"/>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34" name="Google Shape;192;p8">
              <a:extLst>
                <a:ext uri="{FF2B5EF4-FFF2-40B4-BE49-F238E27FC236}">
                  <a16:creationId xmlns:a16="http://schemas.microsoft.com/office/drawing/2014/main" id="{6111E1F5-2762-C10C-9E9A-B0E864F7076D}"/>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2" name="Google Shape;193;p8">
            <a:extLst>
              <a:ext uri="{FF2B5EF4-FFF2-40B4-BE49-F238E27FC236}">
                <a16:creationId xmlns:a16="http://schemas.microsoft.com/office/drawing/2014/main" id="{6DE5FC31-927C-8514-58D5-4C18C2243C2A}"/>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dirty="0">
                <a:solidFill>
                  <a:srgbClr val="FFFFFF"/>
                </a:solidFill>
                <a:latin typeface="Questrial"/>
                <a:ea typeface="Questrial"/>
                <a:cs typeface="Questrial"/>
                <a:sym typeface="Questrial"/>
              </a:rPr>
              <a:t>INTRODUCTION</a:t>
            </a:r>
            <a:endParaRPr dirty="0"/>
          </a:p>
        </p:txBody>
      </p:sp>
      <p:sp>
        <p:nvSpPr>
          <p:cNvPr id="3" name="Google Shape;194;p8">
            <a:extLst>
              <a:ext uri="{FF2B5EF4-FFF2-40B4-BE49-F238E27FC236}">
                <a16:creationId xmlns:a16="http://schemas.microsoft.com/office/drawing/2014/main" id="{551E35E0-66BF-B4F3-4297-EE2E2543EAB2}"/>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600" b="0" i="0" u="none" strike="noStrike" cap="none">
                <a:solidFill>
                  <a:srgbClr val="FFFFFF"/>
                </a:solidFill>
                <a:latin typeface="Questrial"/>
                <a:ea typeface="Questrial"/>
                <a:cs typeface="Questrial"/>
                <a:sym typeface="Questrial"/>
              </a:rPr>
              <a:t>The Three Main Points</a:t>
            </a:r>
            <a:endParaRPr sz="2600" b="0" i="0" u="none" strike="noStrike" cap="none">
              <a:solidFill>
                <a:schemeClr val="dk1"/>
              </a:solidFill>
              <a:latin typeface="Questrial"/>
              <a:ea typeface="Questrial"/>
              <a:cs typeface="Questrial"/>
              <a:sym typeface="Questrial"/>
            </a:endParaRPr>
          </a:p>
        </p:txBody>
      </p:sp>
      <p:sp>
        <p:nvSpPr>
          <p:cNvPr id="4" name="Google Shape;195;p8">
            <a:extLst>
              <a:ext uri="{FF2B5EF4-FFF2-40B4-BE49-F238E27FC236}">
                <a16:creationId xmlns:a16="http://schemas.microsoft.com/office/drawing/2014/main" id="{B4E64BE3-3CDA-92AB-6E29-EA55E70A6267}"/>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8</a:t>
            </a:r>
            <a:endParaRPr sz="1600" b="0" i="0" u="none" strike="noStrike" cap="none">
              <a:solidFill>
                <a:schemeClr val="dk1"/>
              </a:solidFill>
              <a:latin typeface="Questrial"/>
              <a:ea typeface="Questrial"/>
              <a:cs typeface="Questrial"/>
              <a:sym typeface="Questrial"/>
            </a:endParaRPr>
          </a:p>
        </p:txBody>
      </p:sp>
      <p:sp>
        <p:nvSpPr>
          <p:cNvPr id="5" name="Google Shape;196;p8">
            <a:extLst>
              <a:ext uri="{FF2B5EF4-FFF2-40B4-BE49-F238E27FC236}">
                <a16:creationId xmlns:a16="http://schemas.microsoft.com/office/drawing/2014/main" id="{A1562F70-85C6-046B-FD3B-72182A3628DC}"/>
              </a:ext>
            </a:extLst>
          </p:cNvPr>
          <p:cNvSpPr txBox="1"/>
          <p:nvPr/>
        </p:nvSpPr>
        <p:spPr>
          <a:xfrm>
            <a:off x="822960" y="1975104"/>
            <a:ext cx="16642080" cy="5486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950"/>
              <a:buFont typeface="Questrial"/>
              <a:buNone/>
            </a:pPr>
            <a:r>
              <a:rPr lang="en-US" sz="3600" b="1" i="0" u="none" strike="noStrike" cap="none" dirty="0">
                <a:solidFill>
                  <a:schemeClr val="bg1"/>
                </a:solidFill>
                <a:latin typeface="Questrial"/>
                <a:ea typeface="Questrial"/>
                <a:cs typeface="Questrial"/>
                <a:sym typeface="Questrial"/>
              </a:rPr>
              <a:t>MAP - A</a:t>
            </a:r>
            <a:r>
              <a:rPr lang="en-US" sz="3600" b="0" i="0" u="none" strike="noStrike" cap="none" dirty="0">
                <a:solidFill>
                  <a:schemeClr val="bg1"/>
                </a:solidFill>
                <a:latin typeface="Questrial"/>
                <a:ea typeface="Questrial"/>
                <a:cs typeface="Questrial"/>
                <a:sym typeface="Questrial"/>
              </a:rPr>
              <a:t> answers three questions with one model, built only from open data.</a:t>
            </a:r>
            <a:endParaRPr sz="3600" b="0" i="0" u="none" strike="noStrike" cap="none" dirty="0">
              <a:solidFill>
                <a:schemeClr val="bg1"/>
              </a:solidFill>
              <a:latin typeface="Questrial"/>
              <a:ea typeface="Questrial"/>
              <a:cs typeface="Questrial"/>
              <a:sym typeface="Questrial"/>
            </a:endParaRPr>
          </a:p>
        </p:txBody>
      </p:sp>
      <p:sp>
        <p:nvSpPr>
          <p:cNvPr id="6" name="Google Shape;197;p8">
            <a:extLst>
              <a:ext uri="{FF2B5EF4-FFF2-40B4-BE49-F238E27FC236}">
                <a16:creationId xmlns:a16="http://schemas.microsoft.com/office/drawing/2014/main" id="{7F2393C0-7980-B9A5-0468-BC8F9C6B1BB9}"/>
              </a:ext>
            </a:extLst>
          </p:cNvPr>
          <p:cNvSpPr/>
          <p:nvPr/>
        </p:nvSpPr>
        <p:spPr>
          <a:xfrm>
            <a:off x="822960" y="2651760"/>
            <a:ext cx="5334000" cy="583387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8;p8">
            <a:extLst>
              <a:ext uri="{FF2B5EF4-FFF2-40B4-BE49-F238E27FC236}">
                <a16:creationId xmlns:a16="http://schemas.microsoft.com/office/drawing/2014/main" id="{77B70498-EB04-95CD-9A05-B0AC8F2B43F5}"/>
              </a:ext>
            </a:extLst>
          </p:cNvPr>
          <p:cNvSpPr/>
          <p:nvPr/>
        </p:nvSpPr>
        <p:spPr>
          <a:xfrm>
            <a:off x="822960" y="2651760"/>
            <a:ext cx="5334000" cy="1024128"/>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9;p8">
            <a:extLst>
              <a:ext uri="{FF2B5EF4-FFF2-40B4-BE49-F238E27FC236}">
                <a16:creationId xmlns:a16="http://schemas.microsoft.com/office/drawing/2014/main" id="{A9A08B81-2378-AABF-696D-DB5F705635AF}"/>
              </a:ext>
            </a:extLst>
          </p:cNvPr>
          <p:cNvSpPr/>
          <p:nvPr/>
        </p:nvSpPr>
        <p:spPr>
          <a:xfrm>
            <a:off x="1051560" y="2807208"/>
            <a:ext cx="713232" cy="713232"/>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2808"/>
              <a:buFont typeface="Questrial"/>
              <a:buNone/>
            </a:pPr>
            <a:r>
              <a:rPr lang="en-US" sz="2808" b="1" i="0" u="none" strike="noStrike" cap="none">
                <a:solidFill>
                  <a:srgbClr val="8B0707"/>
                </a:solidFill>
                <a:latin typeface="Questrial"/>
                <a:ea typeface="Questrial"/>
                <a:cs typeface="Questrial"/>
                <a:sym typeface="Questrial"/>
              </a:rPr>
              <a:t>1</a:t>
            </a:r>
            <a:endParaRPr sz="2808" b="0" i="0" u="none" strike="noStrike" cap="none">
              <a:solidFill>
                <a:schemeClr val="dk1"/>
              </a:solidFill>
              <a:latin typeface="Questrial"/>
              <a:ea typeface="Questrial"/>
              <a:cs typeface="Questrial"/>
              <a:sym typeface="Questrial"/>
            </a:endParaRPr>
          </a:p>
        </p:txBody>
      </p:sp>
      <p:sp>
        <p:nvSpPr>
          <p:cNvPr id="9" name="Google Shape;200;p8">
            <a:extLst>
              <a:ext uri="{FF2B5EF4-FFF2-40B4-BE49-F238E27FC236}">
                <a16:creationId xmlns:a16="http://schemas.microsoft.com/office/drawing/2014/main" id="{3E8FC1D1-073F-D41D-3969-E9B892486C52}"/>
              </a:ext>
            </a:extLst>
          </p:cNvPr>
          <p:cNvSpPr txBox="1"/>
          <p:nvPr/>
        </p:nvSpPr>
        <p:spPr>
          <a:xfrm>
            <a:off x="1993392" y="2697480"/>
            <a:ext cx="3980688" cy="932688"/>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2000"/>
              <a:buFont typeface="Questrial"/>
              <a:buNone/>
            </a:pPr>
            <a:r>
              <a:rPr lang="en-US" sz="3200" b="1" i="0" u="none" strike="noStrike" cap="none" dirty="0">
                <a:solidFill>
                  <a:srgbClr val="FFFFFF"/>
                </a:solidFill>
                <a:latin typeface="Questrial"/>
                <a:ea typeface="Questrial"/>
                <a:cs typeface="Questrial"/>
                <a:sym typeface="Questrial"/>
              </a:rPr>
              <a:t>Transit Map and Fare Forecast</a:t>
            </a:r>
            <a:endParaRPr sz="3200" b="0" i="0" u="none" strike="noStrike" cap="none" dirty="0">
              <a:solidFill>
                <a:schemeClr val="dk1"/>
              </a:solidFill>
              <a:latin typeface="Questrial"/>
              <a:ea typeface="Questrial"/>
              <a:cs typeface="Questrial"/>
              <a:sym typeface="Questrial"/>
            </a:endParaRPr>
          </a:p>
        </p:txBody>
      </p:sp>
      <p:sp>
        <p:nvSpPr>
          <p:cNvPr id="10" name="Google Shape;201;p8">
            <a:extLst>
              <a:ext uri="{FF2B5EF4-FFF2-40B4-BE49-F238E27FC236}">
                <a16:creationId xmlns:a16="http://schemas.microsoft.com/office/drawing/2014/main" id="{FA6EDDD3-FFDC-37BA-F4E5-563526322EEC}"/>
              </a:ext>
            </a:extLst>
          </p:cNvPr>
          <p:cNvSpPr txBox="1"/>
          <p:nvPr/>
        </p:nvSpPr>
        <p:spPr>
          <a:xfrm>
            <a:off x="1097280" y="3785616"/>
            <a:ext cx="4831080" cy="777240"/>
          </a:xfrm>
          <a:prstGeom prst="rect">
            <a:avLst/>
          </a:prstGeom>
          <a:noFill/>
          <a:ln>
            <a:noFill/>
          </a:ln>
        </p:spPr>
        <p:txBody>
          <a:bodyPr spcFirstLastPara="1" wrap="square" lIns="0" tIns="0" rIns="0" bIns="0" anchor="ctr" anchorCtr="0">
            <a:noAutofit/>
          </a:bodyPr>
          <a:lstStyle/>
          <a:p>
            <a:pPr marL="0" marR="0" lvl="0" indent="0" algn="l" rtl="0">
              <a:lnSpc>
                <a:spcPct val="98000"/>
              </a:lnSpc>
              <a:spcBef>
                <a:spcPts val="0"/>
              </a:spcBef>
              <a:spcAft>
                <a:spcPts val="0"/>
              </a:spcAft>
              <a:buClr>
                <a:srgbClr val="5E0404"/>
              </a:buClr>
              <a:buSzPts val="1850"/>
              <a:buFont typeface="Questrial"/>
              <a:buNone/>
            </a:pPr>
            <a:r>
              <a:rPr lang="en-US" sz="2400" b="0" i="1" u="none" strike="noStrike" cap="none" dirty="0">
                <a:solidFill>
                  <a:srgbClr val="5E0404"/>
                </a:solidFill>
                <a:latin typeface="Questrial"/>
                <a:ea typeface="Questrial"/>
                <a:cs typeface="Questrial"/>
                <a:sym typeface="Questrial"/>
              </a:rPr>
              <a:t>Where can I go, how long will it take, and what will it cost?</a:t>
            </a:r>
            <a:endParaRPr sz="2400" b="0" i="0" u="none" strike="noStrike" cap="none" dirty="0">
              <a:solidFill>
                <a:schemeClr val="dk1"/>
              </a:solidFill>
              <a:latin typeface="Questrial"/>
              <a:ea typeface="Questrial"/>
              <a:cs typeface="Questrial"/>
              <a:sym typeface="Questrial"/>
            </a:endParaRPr>
          </a:p>
        </p:txBody>
      </p:sp>
      <p:sp>
        <p:nvSpPr>
          <p:cNvPr id="11" name="Google Shape;202;p8">
            <a:extLst>
              <a:ext uri="{FF2B5EF4-FFF2-40B4-BE49-F238E27FC236}">
                <a16:creationId xmlns:a16="http://schemas.microsoft.com/office/drawing/2014/main" id="{EC184C7F-3425-1350-5DA0-B155D8CFDB01}"/>
              </a:ext>
            </a:extLst>
          </p:cNvPr>
          <p:cNvSpPr txBox="1"/>
          <p:nvPr/>
        </p:nvSpPr>
        <p:spPr>
          <a:xfrm>
            <a:off x="1097280" y="4654296"/>
            <a:ext cx="4876800" cy="3099816"/>
          </a:xfrm>
          <a:prstGeom prst="rect">
            <a:avLst/>
          </a:prstGeom>
          <a:noFill/>
          <a:ln>
            <a:noFill/>
          </a:ln>
        </p:spPr>
        <p:txBody>
          <a:bodyPr spcFirstLastPara="1" wrap="square" lIns="0" tIns="0" rIns="0" bIns="0" anchor="t" anchorCtr="0">
            <a:noAutofit/>
          </a:bodyPr>
          <a:lstStyle/>
          <a:p>
            <a:pPr marL="292608" marR="0" lvl="0" indent="-292608" algn="l" rtl="0">
              <a:lnSpc>
                <a:spcPct val="98000"/>
              </a:lnSpc>
              <a:spcBef>
                <a:spcPts val="0"/>
              </a:spcBef>
              <a:spcAft>
                <a:spcPts val="0"/>
              </a:spcAft>
              <a:buClr>
                <a:srgbClr val="8B0707"/>
              </a:buClr>
              <a:buSzPts val="1750"/>
              <a:buFont typeface="Arial"/>
              <a:buChar char="•"/>
            </a:pPr>
            <a:r>
              <a:rPr lang="en-US" sz="2000" b="0" i="0" u="none" strike="noStrike" cap="none" dirty="0">
                <a:solidFill>
                  <a:srgbClr val="2B2020"/>
                </a:solidFill>
                <a:latin typeface="Questrial"/>
                <a:ea typeface="Questrial"/>
                <a:cs typeface="Questrial"/>
                <a:sym typeface="Questrial"/>
              </a:rPr>
              <a:t>Routes, stops, and headways of jeepneys, tricycles, minibuses, and UV vans as an open GTFS feed</a:t>
            </a:r>
            <a:endParaRPr sz="20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800"/>
              </a:spcBef>
              <a:spcAft>
                <a:spcPts val="0"/>
              </a:spcAft>
              <a:buClr>
                <a:srgbClr val="8B0707"/>
              </a:buClr>
              <a:buSzPts val="1750"/>
              <a:buFont typeface="Arial"/>
              <a:buChar char="•"/>
            </a:pPr>
            <a:r>
              <a:rPr lang="en-US" sz="2000" b="0" i="0" u="none" strike="noStrike" cap="none" dirty="0">
                <a:solidFill>
                  <a:srgbClr val="2B2020"/>
                </a:solidFill>
                <a:latin typeface="Questrial"/>
                <a:ea typeface="Questrial"/>
                <a:cs typeface="Questrial"/>
                <a:sym typeface="Questrial"/>
              </a:rPr>
              <a:t>Exact earliest arrival between landmarks</a:t>
            </a:r>
            <a:endParaRPr sz="20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800"/>
              </a:spcBef>
              <a:spcAft>
                <a:spcPts val="0"/>
              </a:spcAft>
              <a:buClr>
                <a:srgbClr val="8B0707"/>
              </a:buClr>
              <a:buSzPts val="1750"/>
              <a:buFont typeface="Arial"/>
              <a:buChar char="•"/>
            </a:pPr>
            <a:r>
              <a:rPr lang="en-US" sz="2000" b="0" i="0" u="none" strike="noStrike" cap="none" dirty="0">
                <a:solidFill>
                  <a:srgbClr val="2B2020"/>
                </a:solidFill>
                <a:latin typeface="Questrial"/>
                <a:ea typeface="Questrial"/>
                <a:cs typeface="Questrial"/>
                <a:sym typeface="Questrial"/>
              </a:rPr>
              <a:t>The fare of each trip at the LTFRB rates of September 28, 2026, with the 20% discount</a:t>
            </a:r>
            <a:endParaRPr sz="20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800"/>
              </a:spcBef>
              <a:spcAft>
                <a:spcPts val="0"/>
              </a:spcAft>
              <a:buClr>
                <a:srgbClr val="8B0707"/>
              </a:buClr>
              <a:buSzPts val="1750"/>
              <a:buFont typeface="Arial"/>
              <a:buChar char="•"/>
            </a:pPr>
            <a:r>
              <a:rPr lang="en-US" sz="2000" b="0" i="0" u="none" strike="noStrike" cap="none" dirty="0">
                <a:solidFill>
                  <a:srgbClr val="2B2020"/>
                </a:solidFill>
                <a:latin typeface="Questrial"/>
                <a:ea typeface="Questrial"/>
                <a:cs typeface="Questrial"/>
                <a:sym typeface="Questrial"/>
              </a:rPr>
              <a:t>A fare matrix between landmarks</a:t>
            </a:r>
            <a:endParaRPr sz="2000" b="0" i="0" u="none" strike="noStrike" cap="none" dirty="0">
              <a:solidFill>
                <a:schemeClr val="dk1"/>
              </a:solidFill>
              <a:latin typeface="Questrial"/>
              <a:ea typeface="Questrial"/>
              <a:cs typeface="Questrial"/>
              <a:sym typeface="Questrial"/>
            </a:endParaRPr>
          </a:p>
        </p:txBody>
      </p:sp>
      <p:cxnSp>
        <p:nvCxnSpPr>
          <p:cNvPr id="12" name="Google Shape;203;p8">
            <a:extLst>
              <a:ext uri="{FF2B5EF4-FFF2-40B4-BE49-F238E27FC236}">
                <a16:creationId xmlns:a16="http://schemas.microsoft.com/office/drawing/2014/main" id="{52D85669-0C44-9B88-DD8F-92CE47D53D64}"/>
              </a:ext>
            </a:extLst>
          </p:cNvPr>
          <p:cNvCxnSpPr/>
          <p:nvPr/>
        </p:nvCxnSpPr>
        <p:spPr>
          <a:xfrm>
            <a:off x="1097280" y="7808976"/>
            <a:ext cx="4785360" cy="0"/>
          </a:xfrm>
          <a:prstGeom prst="straightConnector1">
            <a:avLst/>
          </a:prstGeom>
          <a:noFill/>
          <a:ln w="15875" cap="flat" cmpd="sng">
            <a:solidFill>
              <a:srgbClr val="F1D6D6"/>
            </a:solidFill>
            <a:prstDash val="solid"/>
            <a:round/>
            <a:headEnd type="none" w="sm" len="sm"/>
            <a:tailEnd type="none" w="sm" len="sm"/>
          </a:ln>
        </p:spPr>
      </p:cxnSp>
      <p:sp>
        <p:nvSpPr>
          <p:cNvPr id="13" name="Google Shape;204;p8">
            <a:extLst>
              <a:ext uri="{FF2B5EF4-FFF2-40B4-BE49-F238E27FC236}">
                <a16:creationId xmlns:a16="http://schemas.microsoft.com/office/drawing/2014/main" id="{24C3D40B-E79D-4FA8-D049-00589EEBFB3C}"/>
              </a:ext>
            </a:extLst>
          </p:cNvPr>
          <p:cNvSpPr txBox="1"/>
          <p:nvPr/>
        </p:nvSpPr>
        <p:spPr>
          <a:xfrm>
            <a:off x="1097280" y="7845552"/>
            <a:ext cx="4831080" cy="566928"/>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8B0707"/>
              </a:buClr>
              <a:buSzPts val="1450"/>
              <a:buFont typeface="Questrial"/>
              <a:buNone/>
            </a:pPr>
            <a:r>
              <a:rPr lang="en-US" sz="2400" b="1" i="0" u="none" strike="noStrike" cap="none" dirty="0">
                <a:solidFill>
                  <a:srgbClr val="8B0707"/>
                </a:solidFill>
                <a:latin typeface="Questrial"/>
                <a:ea typeface="Questrial"/>
                <a:cs typeface="Questrial"/>
                <a:sym typeface="Questrial"/>
              </a:rPr>
              <a:t>Built on: </a:t>
            </a:r>
            <a:r>
              <a:rPr lang="en-US" sz="2400" b="0" i="0" u="none" strike="noStrike" cap="none" dirty="0">
                <a:solidFill>
                  <a:srgbClr val="6A5656"/>
                </a:solidFill>
                <a:latin typeface="Questrial"/>
                <a:ea typeface="Questrial"/>
                <a:cs typeface="Questrial"/>
                <a:sym typeface="Questrial"/>
              </a:rPr>
              <a:t>OpenStreetMap, PSA census, LTFRB fare order</a:t>
            </a:r>
            <a:endParaRPr sz="2400" b="0" i="0" u="none" strike="noStrike" cap="none" dirty="0">
              <a:solidFill>
                <a:schemeClr val="dk1"/>
              </a:solidFill>
              <a:latin typeface="Questrial"/>
              <a:ea typeface="Questrial"/>
              <a:cs typeface="Questrial"/>
              <a:sym typeface="Questrial"/>
            </a:endParaRPr>
          </a:p>
        </p:txBody>
      </p:sp>
      <p:sp>
        <p:nvSpPr>
          <p:cNvPr id="14" name="Google Shape;205;p8">
            <a:extLst>
              <a:ext uri="{FF2B5EF4-FFF2-40B4-BE49-F238E27FC236}">
                <a16:creationId xmlns:a16="http://schemas.microsoft.com/office/drawing/2014/main" id="{32CD0D05-C3EB-7FB2-C1E6-EBFE67C09358}"/>
              </a:ext>
            </a:extLst>
          </p:cNvPr>
          <p:cNvSpPr/>
          <p:nvPr/>
        </p:nvSpPr>
        <p:spPr>
          <a:xfrm>
            <a:off x="6477000" y="2651760"/>
            <a:ext cx="5334000" cy="583387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06;p8">
            <a:extLst>
              <a:ext uri="{FF2B5EF4-FFF2-40B4-BE49-F238E27FC236}">
                <a16:creationId xmlns:a16="http://schemas.microsoft.com/office/drawing/2014/main" id="{F88F749D-D118-E8FC-1D06-D1859C416C20}"/>
              </a:ext>
            </a:extLst>
          </p:cNvPr>
          <p:cNvSpPr/>
          <p:nvPr/>
        </p:nvSpPr>
        <p:spPr>
          <a:xfrm>
            <a:off x="6477000" y="2651760"/>
            <a:ext cx="5334000" cy="1024128"/>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7;p8">
            <a:extLst>
              <a:ext uri="{FF2B5EF4-FFF2-40B4-BE49-F238E27FC236}">
                <a16:creationId xmlns:a16="http://schemas.microsoft.com/office/drawing/2014/main" id="{2D34A006-015C-382E-2528-29B57EFB571A}"/>
              </a:ext>
            </a:extLst>
          </p:cNvPr>
          <p:cNvSpPr/>
          <p:nvPr/>
        </p:nvSpPr>
        <p:spPr>
          <a:xfrm>
            <a:off x="6705600" y="2807208"/>
            <a:ext cx="713232" cy="713232"/>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2808"/>
              <a:buFont typeface="Questrial"/>
              <a:buNone/>
            </a:pPr>
            <a:r>
              <a:rPr lang="en-US" sz="2808" b="1" i="0" u="none" strike="noStrike" cap="none">
                <a:solidFill>
                  <a:srgbClr val="8B0707"/>
                </a:solidFill>
                <a:latin typeface="Questrial"/>
                <a:ea typeface="Questrial"/>
                <a:cs typeface="Questrial"/>
                <a:sym typeface="Questrial"/>
              </a:rPr>
              <a:t>2</a:t>
            </a:r>
            <a:endParaRPr sz="2808" b="0" i="0" u="none" strike="noStrike" cap="none">
              <a:solidFill>
                <a:schemeClr val="dk1"/>
              </a:solidFill>
              <a:latin typeface="Questrial"/>
              <a:ea typeface="Questrial"/>
              <a:cs typeface="Questrial"/>
              <a:sym typeface="Questrial"/>
            </a:endParaRPr>
          </a:p>
        </p:txBody>
      </p:sp>
      <p:sp>
        <p:nvSpPr>
          <p:cNvPr id="17" name="Google Shape;208;p8">
            <a:extLst>
              <a:ext uri="{FF2B5EF4-FFF2-40B4-BE49-F238E27FC236}">
                <a16:creationId xmlns:a16="http://schemas.microsoft.com/office/drawing/2014/main" id="{4CDD8A40-0F5C-2AFD-5C9B-B0456C95996B}"/>
              </a:ext>
            </a:extLst>
          </p:cNvPr>
          <p:cNvSpPr txBox="1"/>
          <p:nvPr/>
        </p:nvSpPr>
        <p:spPr>
          <a:xfrm>
            <a:off x="7647432" y="2697480"/>
            <a:ext cx="4163568" cy="932688"/>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2000"/>
              <a:buFont typeface="Questrial"/>
              <a:buNone/>
            </a:pPr>
            <a:r>
              <a:rPr lang="en-US" sz="3200" b="1" i="0" u="none" strike="noStrike" cap="none" dirty="0">
                <a:solidFill>
                  <a:srgbClr val="FFFFFF"/>
                </a:solidFill>
                <a:latin typeface="Questrial"/>
                <a:ea typeface="Questrial"/>
                <a:cs typeface="Questrial"/>
                <a:sym typeface="Questrial"/>
              </a:rPr>
              <a:t>Patient Transport Map</a:t>
            </a:r>
            <a:endParaRPr sz="3200" b="0" i="0" u="none" strike="noStrike" cap="none" dirty="0">
              <a:solidFill>
                <a:schemeClr val="dk1"/>
              </a:solidFill>
              <a:latin typeface="Questrial"/>
              <a:ea typeface="Questrial"/>
              <a:cs typeface="Questrial"/>
              <a:sym typeface="Questrial"/>
            </a:endParaRPr>
          </a:p>
        </p:txBody>
      </p:sp>
      <p:sp>
        <p:nvSpPr>
          <p:cNvPr id="18" name="Google Shape;209;p8">
            <a:extLst>
              <a:ext uri="{FF2B5EF4-FFF2-40B4-BE49-F238E27FC236}">
                <a16:creationId xmlns:a16="http://schemas.microsoft.com/office/drawing/2014/main" id="{D56A82BC-E590-21A2-B3AC-448A2F261443}"/>
              </a:ext>
            </a:extLst>
          </p:cNvPr>
          <p:cNvSpPr txBox="1"/>
          <p:nvPr/>
        </p:nvSpPr>
        <p:spPr>
          <a:xfrm>
            <a:off x="6751320" y="3785616"/>
            <a:ext cx="4831080" cy="777240"/>
          </a:xfrm>
          <a:prstGeom prst="rect">
            <a:avLst/>
          </a:prstGeom>
          <a:noFill/>
          <a:ln>
            <a:noFill/>
          </a:ln>
        </p:spPr>
        <p:txBody>
          <a:bodyPr spcFirstLastPara="1" wrap="square" lIns="0" tIns="0" rIns="0" bIns="0" anchor="ctr" anchorCtr="0">
            <a:noAutofit/>
          </a:bodyPr>
          <a:lstStyle/>
          <a:p>
            <a:pPr marL="0" marR="0" lvl="0" indent="0" algn="l" rtl="0">
              <a:lnSpc>
                <a:spcPct val="98000"/>
              </a:lnSpc>
              <a:spcBef>
                <a:spcPts val="0"/>
              </a:spcBef>
              <a:spcAft>
                <a:spcPts val="0"/>
              </a:spcAft>
              <a:buClr>
                <a:srgbClr val="5E0404"/>
              </a:buClr>
              <a:buSzPts val="1850"/>
              <a:buFont typeface="Questrial"/>
              <a:buNone/>
            </a:pPr>
            <a:r>
              <a:rPr lang="en-US" sz="2400" b="0" i="1" u="none" strike="noStrike" cap="none" dirty="0">
                <a:solidFill>
                  <a:srgbClr val="5E0404"/>
                </a:solidFill>
                <a:latin typeface="Questrial"/>
                <a:ea typeface="Questrial"/>
                <a:cs typeface="Questrial"/>
                <a:sym typeface="Questrial"/>
              </a:rPr>
              <a:t>Which hospital can take this patient, and how will the patient get there?</a:t>
            </a:r>
            <a:endParaRPr sz="2400" b="0" i="0" u="none" strike="noStrike" cap="none" dirty="0">
              <a:solidFill>
                <a:schemeClr val="dk1"/>
              </a:solidFill>
              <a:latin typeface="Questrial"/>
              <a:ea typeface="Questrial"/>
              <a:cs typeface="Questrial"/>
              <a:sym typeface="Questrial"/>
            </a:endParaRPr>
          </a:p>
        </p:txBody>
      </p:sp>
      <p:sp>
        <p:nvSpPr>
          <p:cNvPr id="19" name="Google Shape;210;p8">
            <a:extLst>
              <a:ext uri="{FF2B5EF4-FFF2-40B4-BE49-F238E27FC236}">
                <a16:creationId xmlns:a16="http://schemas.microsoft.com/office/drawing/2014/main" id="{468B3978-7358-6C30-867B-3F648DB6AFFE}"/>
              </a:ext>
            </a:extLst>
          </p:cNvPr>
          <p:cNvSpPr txBox="1"/>
          <p:nvPr/>
        </p:nvSpPr>
        <p:spPr>
          <a:xfrm>
            <a:off x="6751320" y="4654296"/>
            <a:ext cx="4876800" cy="3099816"/>
          </a:xfrm>
          <a:prstGeom prst="rect">
            <a:avLst/>
          </a:prstGeom>
          <a:noFill/>
          <a:ln>
            <a:noFill/>
          </a:ln>
        </p:spPr>
        <p:txBody>
          <a:bodyPr spcFirstLastPara="1" wrap="square" lIns="0" tIns="0" rIns="0" bIns="0" anchor="t" anchorCtr="0">
            <a:noAutofit/>
          </a:bodyPr>
          <a:lstStyle/>
          <a:p>
            <a:pPr marL="292608" marR="0" lvl="0" indent="-292608" algn="l" rtl="0">
              <a:lnSpc>
                <a:spcPct val="98000"/>
              </a:lnSpc>
              <a:spcBef>
                <a:spcPts val="0"/>
              </a:spcBef>
              <a:spcAft>
                <a:spcPts val="0"/>
              </a:spcAft>
              <a:buClr>
                <a:srgbClr val="8B0707"/>
              </a:buClr>
              <a:buSzPts val="1750"/>
              <a:buFont typeface="Arial"/>
              <a:buChar char="•"/>
            </a:pPr>
            <a:r>
              <a:rPr lang="en-US" sz="1900" b="0" i="0" u="none" strike="noStrike" cap="none" dirty="0">
                <a:solidFill>
                  <a:srgbClr val="2B2020"/>
                </a:solidFill>
                <a:latin typeface="Questrial"/>
                <a:ea typeface="Questrial"/>
                <a:cs typeface="Questrial"/>
                <a:sym typeface="Questrial"/>
              </a:rPr>
              <a:t>Patient status (acuity 1 to 5) and payment class (0 to 3), entered by the crew or the user</a:t>
            </a:r>
            <a:endParaRPr sz="19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800"/>
              </a:spcBef>
              <a:spcAft>
                <a:spcPts val="0"/>
              </a:spcAft>
              <a:buClr>
                <a:srgbClr val="8B0707"/>
              </a:buClr>
              <a:buSzPts val="1750"/>
              <a:buFont typeface="Arial"/>
              <a:buChar char="•"/>
            </a:pPr>
            <a:r>
              <a:rPr lang="en-US" sz="1900" b="0" i="0" u="none" strike="noStrike" cap="none" dirty="0">
                <a:solidFill>
                  <a:srgbClr val="2B2020"/>
                </a:solidFill>
                <a:latin typeface="Questrial"/>
                <a:ea typeface="Questrial"/>
                <a:cs typeface="Questrial"/>
                <a:sym typeface="Questrial"/>
              </a:rPr>
              <a:t>Ambulance on the road network, or the patient on public transport and on foot</a:t>
            </a:r>
            <a:endParaRPr sz="19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800"/>
              </a:spcBef>
              <a:spcAft>
                <a:spcPts val="0"/>
              </a:spcAft>
              <a:buClr>
                <a:srgbClr val="8B0707"/>
              </a:buClr>
              <a:buSzPts val="1750"/>
              <a:buFont typeface="Arial"/>
              <a:buChar char="•"/>
            </a:pPr>
            <a:r>
              <a:rPr lang="en-US" sz="1900" b="0" i="0" u="none" strike="noStrike" cap="none" dirty="0">
                <a:solidFill>
                  <a:srgbClr val="2B2020"/>
                </a:solidFill>
                <a:latin typeface="Questrial"/>
                <a:ea typeface="Questrial"/>
                <a:cs typeface="Questrial"/>
                <a:sym typeface="Questrial"/>
              </a:rPr>
              <a:t>Nearest hospital with the right level of care, an emergency room when needed, and a bed</a:t>
            </a:r>
            <a:endParaRPr sz="19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800"/>
              </a:spcBef>
              <a:spcAft>
                <a:spcPts val="0"/>
              </a:spcAft>
              <a:buClr>
                <a:srgbClr val="8B0707"/>
              </a:buClr>
              <a:buSzPts val="1750"/>
              <a:buFont typeface="Arial"/>
              <a:buChar char="•"/>
            </a:pPr>
            <a:r>
              <a:rPr lang="en-US" sz="1900" b="0" i="0" u="none" strike="noStrike" cap="none" dirty="0">
                <a:solidFill>
                  <a:srgbClr val="2B2020"/>
                </a:solidFill>
                <a:latin typeface="Questrial"/>
                <a:ea typeface="Questrial"/>
                <a:cs typeface="Questrial"/>
                <a:sym typeface="Questrial"/>
              </a:rPr>
              <a:t>Cost never filters an emergency (RA 10932)</a:t>
            </a:r>
            <a:endParaRPr sz="1900" b="0" i="0" u="none" strike="noStrike" cap="none" dirty="0">
              <a:solidFill>
                <a:schemeClr val="dk1"/>
              </a:solidFill>
              <a:latin typeface="Questrial"/>
              <a:ea typeface="Questrial"/>
              <a:cs typeface="Questrial"/>
              <a:sym typeface="Questrial"/>
            </a:endParaRPr>
          </a:p>
        </p:txBody>
      </p:sp>
      <p:cxnSp>
        <p:nvCxnSpPr>
          <p:cNvPr id="20" name="Google Shape;211;p8">
            <a:extLst>
              <a:ext uri="{FF2B5EF4-FFF2-40B4-BE49-F238E27FC236}">
                <a16:creationId xmlns:a16="http://schemas.microsoft.com/office/drawing/2014/main" id="{599649DB-61A8-A981-F173-C02ACE846C39}"/>
              </a:ext>
            </a:extLst>
          </p:cNvPr>
          <p:cNvCxnSpPr/>
          <p:nvPr/>
        </p:nvCxnSpPr>
        <p:spPr>
          <a:xfrm>
            <a:off x="6751320" y="7808976"/>
            <a:ext cx="4785360" cy="0"/>
          </a:xfrm>
          <a:prstGeom prst="straightConnector1">
            <a:avLst/>
          </a:prstGeom>
          <a:noFill/>
          <a:ln w="15875" cap="flat" cmpd="sng">
            <a:solidFill>
              <a:srgbClr val="F1D6D6"/>
            </a:solidFill>
            <a:prstDash val="solid"/>
            <a:round/>
            <a:headEnd type="none" w="sm" len="sm"/>
            <a:tailEnd type="none" w="sm" len="sm"/>
          </a:ln>
        </p:spPr>
      </p:cxnSp>
      <p:sp>
        <p:nvSpPr>
          <p:cNvPr id="21" name="Google Shape;212;p8">
            <a:extLst>
              <a:ext uri="{FF2B5EF4-FFF2-40B4-BE49-F238E27FC236}">
                <a16:creationId xmlns:a16="http://schemas.microsoft.com/office/drawing/2014/main" id="{870D4424-1A06-1ABD-61BF-6998CFA23226}"/>
              </a:ext>
            </a:extLst>
          </p:cNvPr>
          <p:cNvSpPr txBox="1"/>
          <p:nvPr/>
        </p:nvSpPr>
        <p:spPr>
          <a:xfrm>
            <a:off x="6751320" y="7845552"/>
            <a:ext cx="4831080" cy="566928"/>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8B0707"/>
              </a:buClr>
              <a:buSzPts val="1450"/>
              <a:buFont typeface="Questrial"/>
              <a:buNone/>
            </a:pPr>
            <a:r>
              <a:rPr lang="en-US" sz="1800" b="1" i="0" u="none" strike="noStrike" cap="none" dirty="0">
                <a:solidFill>
                  <a:srgbClr val="8B0707"/>
                </a:solidFill>
                <a:latin typeface="Questrial"/>
                <a:ea typeface="Questrial"/>
                <a:cs typeface="Questrial"/>
                <a:sym typeface="Questrial"/>
              </a:rPr>
              <a:t>Built on: </a:t>
            </a:r>
            <a:r>
              <a:rPr lang="en-US" sz="1800" b="0" i="0" u="none" strike="noStrike" cap="none" dirty="0">
                <a:solidFill>
                  <a:srgbClr val="6A5656"/>
                </a:solidFill>
                <a:latin typeface="Questrial"/>
                <a:ea typeface="Questrial"/>
                <a:cs typeface="Questrial"/>
                <a:sym typeface="Questrial"/>
              </a:rPr>
              <a:t>DOH hospital levels, Emergency Severity Index, PhilHealth and Malasakit lists</a:t>
            </a:r>
            <a:endParaRPr sz="1800" b="0" i="0" u="none" strike="noStrike" cap="none" dirty="0">
              <a:solidFill>
                <a:schemeClr val="dk1"/>
              </a:solidFill>
              <a:latin typeface="Questrial"/>
              <a:ea typeface="Questrial"/>
              <a:cs typeface="Questrial"/>
              <a:sym typeface="Questrial"/>
            </a:endParaRPr>
          </a:p>
        </p:txBody>
      </p:sp>
      <p:sp>
        <p:nvSpPr>
          <p:cNvPr id="22" name="Google Shape;213;p8">
            <a:extLst>
              <a:ext uri="{FF2B5EF4-FFF2-40B4-BE49-F238E27FC236}">
                <a16:creationId xmlns:a16="http://schemas.microsoft.com/office/drawing/2014/main" id="{46A31C70-71D2-C51C-C2D9-5681B9D90170}"/>
              </a:ext>
            </a:extLst>
          </p:cNvPr>
          <p:cNvSpPr/>
          <p:nvPr/>
        </p:nvSpPr>
        <p:spPr>
          <a:xfrm>
            <a:off x="12131040" y="2651760"/>
            <a:ext cx="5334000" cy="583387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14;p8">
            <a:extLst>
              <a:ext uri="{FF2B5EF4-FFF2-40B4-BE49-F238E27FC236}">
                <a16:creationId xmlns:a16="http://schemas.microsoft.com/office/drawing/2014/main" id="{D50E87E1-1672-7FBF-2FB0-51AF8443FFB1}"/>
              </a:ext>
            </a:extLst>
          </p:cNvPr>
          <p:cNvSpPr/>
          <p:nvPr/>
        </p:nvSpPr>
        <p:spPr>
          <a:xfrm>
            <a:off x="12131040" y="2651760"/>
            <a:ext cx="5334000" cy="1024128"/>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15;p8">
            <a:extLst>
              <a:ext uri="{FF2B5EF4-FFF2-40B4-BE49-F238E27FC236}">
                <a16:creationId xmlns:a16="http://schemas.microsoft.com/office/drawing/2014/main" id="{03DB04C6-33B6-6634-9692-A3835F15DA54}"/>
              </a:ext>
            </a:extLst>
          </p:cNvPr>
          <p:cNvSpPr/>
          <p:nvPr/>
        </p:nvSpPr>
        <p:spPr>
          <a:xfrm>
            <a:off x="12359640" y="2807208"/>
            <a:ext cx="713232" cy="713232"/>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2808"/>
              <a:buFont typeface="Questrial"/>
              <a:buNone/>
            </a:pPr>
            <a:r>
              <a:rPr lang="en-US" sz="2808" b="1" i="0" u="none" strike="noStrike" cap="none">
                <a:solidFill>
                  <a:srgbClr val="8B0707"/>
                </a:solidFill>
                <a:latin typeface="Questrial"/>
                <a:ea typeface="Questrial"/>
                <a:cs typeface="Questrial"/>
                <a:sym typeface="Questrial"/>
              </a:rPr>
              <a:t>3</a:t>
            </a:r>
            <a:endParaRPr sz="2808" b="0" i="0" u="none" strike="noStrike" cap="none">
              <a:solidFill>
                <a:schemeClr val="dk1"/>
              </a:solidFill>
              <a:latin typeface="Questrial"/>
              <a:ea typeface="Questrial"/>
              <a:cs typeface="Questrial"/>
              <a:sym typeface="Questrial"/>
            </a:endParaRPr>
          </a:p>
        </p:txBody>
      </p:sp>
      <p:sp>
        <p:nvSpPr>
          <p:cNvPr id="25" name="Google Shape;216;p8">
            <a:extLst>
              <a:ext uri="{FF2B5EF4-FFF2-40B4-BE49-F238E27FC236}">
                <a16:creationId xmlns:a16="http://schemas.microsoft.com/office/drawing/2014/main" id="{120D3FEC-D08A-0682-C2B2-0016D973B123}"/>
              </a:ext>
            </a:extLst>
          </p:cNvPr>
          <p:cNvSpPr txBox="1"/>
          <p:nvPr/>
        </p:nvSpPr>
        <p:spPr>
          <a:xfrm>
            <a:off x="13301472" y="2697480"/>
            <a:ext cx="4288812" cy="932688"/>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2000"/>
              <a:buFont typeface="Questrial"/>
              <a:buNone/>
            </a:pPr>
            <a:r>
              <a:rPr lang="en-US" sz="3200" b="1" i="0" u="none" strike="noStrike" cap="none" dirty="0">
                <a:solidFill>
                  <a:srgbClr val="FFFFFF"/>
                </a:solidFill>
                <a:latin typeface="Questrial"/>
                <a:ea typeface="Questrial"/>
                <a:cs typeface="Questrial"/>
                <a:sym typeface="Questrial"/>
              </a:rPr>
              <a:t>Hospital Bed Capacity</a:t>
            </a:r>
            <a:endParaRPr sz="3200" b="0" i="0" u="none" strike="noStrike" cap="none" dirty="0">
              <a:solidFill>
                <a:schemeClr val="dk1"/>
              </a:solidFill>
              <a:latin typeface="Questrial"/>
              <a:ea typeface="Questrial"/>
              <a:cs typeface="Questrial"/>
              <a:sym typeface="Questrial"/>
            </a:endParaRPr>
          </a:p>
        </p:txBody>
      </p:sp>
      <p:sp>
        <p:nvSpPr>
          <p:cNvPr id="26" name="Google Shape;217;p8">
            <a:extLst>
              <a:ext uri="{FF2B5EF4-FFF2-40B4-BE49-F238E27FC236}">
                <a16:creationId xmlns:a16="http://schemas.microsoft.com/office/drawing/2014/main" id="{B31ED556-F8EA-ED28-13F3-40A1BDAAC875}"/>
              </a:ext>
            </a:extLst>
          </p:cNvPr>
          <p:cNvSpPr txBox="1"/>
          <p:nvPr/>
        </p:nvSpPr>
        <p:spPr>
          <a:xfrm>
            <a:off x="12405360" y="3785616"/>
            <a:ext cx="4831080" cy="777240"/>
          </a:xfrm>
          <a:prstGeom prst="rect">
            <a:avLst/>
          </a:prstGeom>
          <a:noFill/>
          <a:ln>
            <a:noFill/>
          </a:ln>
        </p:spPr>
        <p:txBody>
          <a:bodyPr spcFirstLastPara="1" wrap="square" lIns="0" tIns="0" rIns="0" bIns="0" anchor="ctr" anchorCtr="0">
            <a:noAutofit/>
          </a:bodyPr>
          <a:lstStyle/>
          <a:p>
            <a:pPr marL="0" marR="0" lvl="0" indent="0" algn="l" rtl="0">
              <a:lnSpc>
                <a:spcPct val="98000"/>
              </a:lnSpc>
              <a:spcBef>
                <a:spcPts val="0"/>
              </a:spcBef>
              <a:spcAft>
                <a:spcPts val="0"/>
              </a:spcAft>
              <a:buClr>
                <a:srgbClr val="5E0404"/>
              </a:buClr>
              <a:buSzPts val="1850"/>
              <a:buFont typeface="Questrial"/>
              <a:buNone/>
            </a:pPr>
            <a:r>
              <a:rPr lang="en-US" sz="2400" b="0" i="1" u="none" strike="noStrike" cap="none" dirty="0">
                <a:solidFill>
                  <a:srgbClr val="5E0404"/>
                </a:solidFill>
                <a:latin typeface="Questrial"/>
                <a:ea typeface="Questrial"/>
                <a:cs typeface="Questrial"/>
                <a:sym typeface="Questrial"/>
              </a:rPr>
              <a:t>Does that hospital have a free bed right now?</a:t>
            </a:r>
            <a:endParaRPr sz="2400" b="0" i="0" u="none" strike="noStrike" cap="none" dirty="0">
              <a:solidFill>
                <a:schemeClr val="dk1"/>
              </a:solidFill>
              <a:latin typeface="Questrial"/>
              <a:ea typeface="Questrial"/>
              <a:cs typeface="Questrial"/>
              <a:sym typeface="Questrial"/>
            </a:endParaRPr>
          </a:p>
        </p:txBody>
      </p:sp>
      <p:sp>
        <p:nvSpPr>
          <p:cNvPr id="27" name="Google Shape;218;p8">
            <a:extLst>
              <a:ext uri="{FF2B5EF4-FFF2-40B4-BE49-F238E27FC236}">
                <a16:creationId xmlns:a16="http://schemas.microsoft.com/office/drawing/2014/main" id="{FCF35710-79B3-A8EB-32A4-294B4BD624BD}"/>
              </a:ext>
            </a:extLst>
          </p:cNvPr>
          <p:cNvSpPr txBox="1"/>
          <p:nvPr/>
        </p:nvSpPr>
        <p:spPr>
          <a:xfrm>
            <a:off x="12405360" y="4654296"/>
            <a:ext cx="4876800" cy="3099816"/>
          </a:xfrm>
          <a:prstGeom prst="rect">
            <a:avLst/>
          </a:prstGeom>
          <a:noFill/>
          <a:ln>
            <a:noFill/>
          </a:ln>
        </p:spPr>
        <p:txBody>
          <a:bodyPr spcFirstLastPara="1" wrap="square" lIns="0" tIns="0" rIns="0" bIns="0" anchor="t" anchorCtr="0">
            <a:noAutofit/>
          </a:bodyPr>
          <a:lstStyle/>
          <a:p>
            <a:pPr marL="292608" marR="0" lvl="0" indent="-292608" algn="l" rtl="0">
              <a:lnSpc>
                <a:spcPct val="98000"/>
              </a:lnSpc>
              <a:spcBef>
                <a:spcPts val="0"/>
              </a:spcBef>
              <a:spcAft>
                <a:spcPts val="0"/>
              </a:spcAft>
              <a:buClr>
                <a:srgbClr val="8B0707"/>
              </a:buClr>
              <a:buSzPts val="1750"/>
              <a:buFont typeface="Arial"/>
              <a:buChar char="•"/>
            </a:pPr>
            <a:r>
              <a:rPr lang="en-US" sz="1920" b="0" i="0" u="none" strike="noStrike" cap="none" dirty="0">
                <a:solidFill>
                  <a:srgbClr val="2B2020"/>
                </a:solidFill>
                <a:latin typeface="Questrial"/>
                <a:ea typeface="Questrial"/>
                <a:cs typeface="Questrial"/>
                <a:sym typeface="Questrial"/>
              </a:rPr>
              <a:t>E-mail agents ask every hospital in Albay for its capacity and occupancy every 8 hours</a:t>
            </a:r>
            <a:endParaRPr sz="192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800"/>
              </a:spcBef>
              <a:spcAft>
                <a:spcPts val="0"/>
              </a:spcAft>
              <a:buClr>
                <a:srgbClr val="8B0707"/>
              </a:buClr>
              <a:buSzPts val="1750"/>
              <a:buFont typeface="Arial"/>
              <a:buChar char="•"/>
            </a:pPr>
            <a:r>
              <a:rPr lang="en-US" sz="1920" b="0" i="0" u="none" strike="noStrike" cap="none" dirty="0">
                <a:solidFill>
                  <a:srgbClr val="2B2020"/>
                </a:solidFill>
                <a:latin typeface="Questrial"/>
                <a:ea typeface="Questrial"/>
                <a:cs typeface="Questrial"/>
                <a:sym typeface="Questrial"/>
              </a:rPr>
              <a:t>Replies are checked against rules V1 to V5; forged replies are thrown away</a:t>
            </a:r>
            <a:endParaRPr sz="192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800"/>
              </a:spcBef>
              <a:spcAft>
                <a:spcPts val="0"/>
              </a:spcAft>
              <a:buClr>
                <a:srgbClr val="8B0707"/>
              </a:buClr>
              <a:buSzPts val="1750"/>
              <a:buFont typeface="Arial"/>
              <a:buChar char="•"/>
            </a:pPr>
            <a:r>
              <a:rPr lang="en-US" sz="1920" b="0" i="0" u="none" strike="noStrike" cap="none" dirty="0">
                <a:solidFill>
                  <a:srgbClr val="2B2020"/>
                </a:solidFill>
                <a:latin typeface="Questrial"/>
                <a:ea typeface="Questrial"/>
                <a:cs typeface="Questrial"/>
                <a:sym typeface="Questrial"/>
              </a:rPr>
              <a:t>Each hospital reads AVAILABLE, FULL, or UNKNOWN, always with the age of its report</a:t>
            </a:r>
            <a:endParaRPr sz="192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800"/>
              </a:spcBef>
              <a:spcAft>
                <a:spcPts val="0"/>
              </a:spcAft>
              <a:buClr>
                <a:srgbClr val="8B0707"/>
              </a:buClr>
              <a:buSzPts val="1750"/>
              <a:buFont typeface="Arial"/>
              <a:buChar char="•"/>
            </a:pPr>
            <a:r>
              <a:rPr lang="en-US" sz="1920" b="0" i="0" u="none" strike="noStrike" cap="none" dirty="0">
                <a:solidFill>
                  <a:srgbClr val="2B2020"/>
                </a:solidFill>
                <a:latin typeface="Questrial"/>
                <a:ea typeface="Questrial"/>
                <a:cs typeface="Questrial"/>
                <a:sym typeface="Questrial"/>
              </a:rPr>
              <a:t>A bed dashboard for the Provincial Health Office and the PDRRMO</a:t>
            </a:r>
            <a:endParaRPr sz="1920" b="0" i="0" u="none" strike="noStrike" cap="none" dirty="0">
              <a:solidFill>
                <a:schemeClr val="dk1"/>
              </a:solidFill>
              <a:latin typeface="Questrial"/>
              <a:ea typeface="Questrial"/>
              <a:cs typeface="Questrial"/>
              <a:sym typeface="Questrial"/>
            </a:endParaRPr>
          </a:p>
        </p:txBody>
      </p:sp>
      <p:cxnSp>
        <p:nvCxnSpPr>
          <p:cNvPr id="28" name="Google Shape;219;p8">
            <a:extLst>
              <a:ext uri="{FF2B5EF4-FFF2-40B4-BE49-F238E27FC236}">
                <a16:creationId xmlns:a16="http://schemas.microsoft.com/office/drawing/2014/main" id="{22E14C69-32C3-EA3E-585E-2085FF0A7685}"/>
              </a:ext>
            </a:extLst>
          </p:cNvPr>
          <p:cNvCxnSpPr/>
          <p:nvPr/>
        </p:nvCxnSpPr>
        <p:spPr>
          <a:xfrm>
            <a:off x="12405360" y="7808976"/>
            <a:ext cx="4785360" cy="0"/>
          </a:xfrm>
          <a:prstGeom prst="straightConnector1">
            <a:avLst/>
          </a:prstGeom>
          <a:noFill/>
          <a:ln w="15875" cap="flat" cmpd="sng">
            <a:solidFill>
              <a:srgbClr val="F1D6D6"/>
            </a:solidFill>
            <a:prstDash val="solid"/>
            <a:round/>
            <a:headEnd type="none" w="sm" len="sm"/>
            <a:tailEnd type="none" w="sm" len="sm"/>
          </a:ln>
        </p:spPr>
      </p:cxnSp>
      <p:sp>
        <p:nvSpPr>
          <p:cNvPr id="29" name="Google Shape;220;p8">
            <a:extLst>
              <a:ext uri="{FF2B5EF4-FFF2-40B4-BE49-F238E27FC236}">
                <a16:creationId xmlns:a16="http://schemas.microsoft.com/office/drawing/2014/main" id="{77D0F7B2-FE43-5E32-3881-DEDA41EE399C}"/>
              </a:ext>
            </a:extLst>
          </p:cNvPr>
          <p:cNvSpPr txBox="1"/>
          <p:nvPr/>
        </p:nvSpPr>
        <p:spPr>
          <a:xfrm>
            <a:off x="12405360" y="7845552"/>
            <a:ext cx="4831080" cy="566928"/>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8B0707"/>
              </a:buClr>
              <a:buSzPts val="1450"/>
              <a:buFont typeface="Questrial"/>
              <a:buNone/>
            </a:pPr>
            <a:r>
              <a:rPr lang="en-US" sz="2000" b="1" i="0" u="none" strike="noStrike" cap="none" dirty="0">
                <a:solidFill>
                  <a:srgbClr val="8B0707"/>
                </a:solidFill>
                <a:latin typeface="Questrial"/>
                <a:ea typeface="Questrial"/>
                <a:cs typeface="Questrial"/>
                <a:sym typeface="Questrial"/>
              </a:rPr>
              <a:t>Built on: </a:t>
            </a:r>
            <a:r>
              <a:rPr lang="en-US" sz="2000" b="0" i="0" u="none" strike="noStrike" cap="none" dirty="0">
                <a:solidFill>
                  <a:srgbClr val="6A5656"/>
                </a:solidFill>
                <a:latin typeface="Questrial"/>
                <a:ea typeface="Questrial"/>
                <a:cs typeface="Questrial"/>
                <a:sym typeface="Questrial"/>
              </a:rPr>
              <a:t>DOH facility registry, official hospital e-mail addresses, SMTP and IMAP</a:t>
            </a:r>
            <a:endParaRPr sz="2000" b="0" i="0" u="none" strike="noStrike" cap="none" dirty="0">
              <a:solidFill>
                <a:schemeClr val="dk1"/>
              </a:solidFill>
              <a:latin typeface="Questrial"/>
              <a:ea typeface="Questrial"/>
              <a:cs typeface="Questrial"/>
              <a:sym typeface="Questrial"/>
            </a:endParaRPr>
          </a:p>
        </p:txBody>
      </p:sp>
      <p:sp>
        <p:nvSpPr>
          <p:cNvPr id="30" name="Google Shape;221;p8">
            <a:extLst>
              <a:ext uri="{FF2B5EF4-FFF2-40B4-BE49-F238E27FC236}">
                <a16:creationId xmlns:a16="http://schemas.microsoft.com/office/drawing/2014/main" id="{32718230-C8E9-4876-4313-5A340FB613F9}"/>
              </a:ext>
            </a:extLst>
          </p:cNvPr>
          <p:cNvSpPr/>
          <p:nvPr/>
        </p:nvSpPr>
        <p:spPr>
          <a:xfrm>
            <a:off x="822960" y="8686800"/>
            <a:ext cx="16642080" cy="1408176"/>
          </a:xfrm>
          <a:prstGeom prst="roundRect">
            <a:avLst>
              <a:gd name="adj" fmla="val 16842"/>
            </a:avLst>
          </a:prstGeom>
          <a:solidFill>
            <a:srgbClr val="F8E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222;p8">
            <a:extLst>
              <a:ext uri="{FF2B5EF4-FFF2-40B4-BE49-F238E27FC236}">
                <a16:creationId xmlns:a16="http://schemas.microsoft.com/office/drawing/2014/main" id="{1A8AF9A2-CD1B-1744-EF85-EDB729556EDC}"/>
              </a:ext>
            </a:extLst>
          </p:cNvPr>
          <p:cNvSpPr txBox="1"/>
          <p:nvPr/>
        </p:nvSpPr>
        <p:spPr>
          <a:xfrm>
            <a:off x="1234440" y="9000617"/>
            <a:ext cx="1591056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750"/>
              <a:buFont typeface="Questrial"/>
              <a:buNone/>
            </a:pPr>
            <a:r>
              <a:rPr lang="en-US" sz="2800" b="1" i="0" u="none" strike="noStrike" cap="none" dirty="0">
                <a:solidFill>
                  <a:srgbClr val="8B0707"/>
                </a:solidFill>
                <a:latin typeface="Questrial"/>
                <a:ea typeface="Questrial"/>
                <a:cs typeface="Questrial"/>
                <a:sym typeface="Questrial"/>
              </a:rPr>
              <a:t>Supporting measure. </a:t>
            </a:r>
            <a:r>
              <a:rPr lang="en-US" sz="2800" b="0" i="0" u="none" strike="noStrike" cap="none" dirty="0">
                <a:solidFill>
                  <a:srgbClr val="2B2020"/>
                </a:solidFill>
                <a:latin typeface="Questrial"/>
                <a:ea typeface="Questrial"/>
                <a:cs typeface="Questrial"/>
                <a:sym typeface="Questrial"/>
              </a:rPr>
              <a:t>On the transit map, the study also counts the essential landmarks each anchor reaches in 30 minutes and measures how unequal that access is (Gini, Theil, Lorenz, Palma).</a:t>
            </a:r>
            <a:endParaRPr sz="2800" b="0" i="0" u="none" strike="noStrike" cap="none" dirty="0">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528123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841DF1F4-FF96-0382-0C11-0EAADA77C4C9}"/>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0FD05CC6-59AE-8838-C364-8CF385617EFD}"/>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sp>
        <p:nvSpPr>
          <p:cNvPr id="3" name="Google Shape;232;p9">
            <a:extLst>
              <a:ext uri="{FF2B5EF4-FFF2-40B4-BE49-F238E27FC236}">
                <a16:creationId xmlns:a16="http://schemas.microsoft.com/office/drawing/2014/main" id="{C17F1FA1-221A-8100-5CBA-3E8F2AB22EF1}"/>
              </a:ext>
            </a:extLst>
          </p:cNvPr>
          <p:cNvSpPr txBox="1"/>
          <p:nvPr/>
        </p:nvSpPr>
        <p:spPr>
          <a:xfrm>
            <a:off x="213886" y="324392"/>
            <a:ext cx="17376398" cy="387798"/>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2800" b="0" i="0" u="none" strike="noStrike" cap="none">
                <a:solidFill>
                  <a:srgbClr val="FFFFFF"/>
                </a:solidFill>
                <a:latin typeface="Questrial"/>
                <a:ea typeface="Questrial"/>
                <a:cs typeface="Questrial"/>
                <a:sym typeface="Questrial"/>
              </a:rPr>
              <a:t>RRL/RRS</a:t>
            </a:r>
            <a:endParaRPr sz="2800"/>
          </a:p>
        </p:txBody>
      </p:sp>
      <p:sp>
        <p:nvSpPr>
          <p:cNvPr id="5" name="Google Shape;233;p9">
            <a:extLst>
              <a:ext uri="{FF2B5EF4-FFF2-40B4-BE49-F238E27FC236}">
                <a16:creationId xmlns:a16="http://schemas.microsoft.com/office/drawing/2014/main" id="{65F54EBF-58E6-54F2-9DAE-5AFBA54F3B2A}"/>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800" b="0" i="0" u="none" strike="noStrike" cap="none">
                <a:solidFill>
                  <a:srgbClr val="FFFFFF"/>
                </a:solidFill>
                <a:latin typeface="Questrial"/>
                <a:ea typeface="Questrial"/>
                <a:cs typeface="Questrial"/>
                <a:sym typeface="Questrial"/>
              </a:rPr>
              <a:t>Related Literature</a:t>
            </a:r>
            <a:endParaRPr sz="2800" b="0" i="0" u="none" strike="noStrike" cap="none">
              <a:solidFill>
                <a:schemeClr val="dk1"/>
              </a:solidFill>
              <a:latin typeface="Questrial"/>
              <a:ea typeface="Questrial"/>
              <a:cs typeface="Questrial"/>
              <a:sym typeface="Questrial"/>
            </a:endParaRPr>
          </a:p>
        </p:txBody>
      </p:sp>
      <p:sp>
        <p:nvSpPr>
          <p:cNvPr id="7" name="Google Shape;234;p9">
            <a:extLst>
              <a:ext uri="{FF2B5EF4-FFF2-40B4-BE49-F238E27FC236}">
                <a16:creationId xmlns:a16="http://schemas.microsoft.com/office/drawing/2014/main" id="{906B98E1-684D-FB34-88A2-155519EA9E5F}"/>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2800" b="0" i="0" u="none" strike="noStrike" cap="none">
                <a:solidFill>
                  <a:srgbClr val="8B0707"/>
                </a:solidFill>
                <a:latin typeface="Questrial"/>
                <a:ea typeface="Questrial"/>
                <a:cs typeface="Questrial"/>
                <a:sym typeface="Questrial"/>
              </a:rPr>
              <a:t>9</a:t>
            </a:r>
            <a:endParaRPr sz="2800" b="0" i="0" u="none" strike="noStrike" cap="none">
              <a:solidFill>
                <a:schemeClr val="dk1"/>
              </a:solidFill>
              <a:latin typeface="Questrial"/>
              <a:ea typeface="Questrial"/>
              <a:cs typeface="Questrial"/>
              <a:sym typeface="Questrial"/>
            </a:endParaRPr>
          </a:p>
        </p:txBody>
      </p:sp>
      <p:sp>
        <p:nvSpPr>
          <p:cNvPr id="9" name="Google Shape;235;p9">
            <a:extLst>
              <a:ext uri="{FF2B5EF4-FFF2-40B4-BE49-F238E27FC236}">
                <a16:creationId xmlns:a16="http://schemas.microsoft.com/office/drawing/2014/main" id="{964144D9-36C0-AB21-B18B-74620FDF1139}"/>
              </a:ext>
            </a:extLst>
          </p:cNvPr>
          <p:cNvSpPr txBox="1"/>
          <p:nvPr/>
        </p:nvSpPr>
        <p:spPr>
          <a:xfrm>
            <a:off x="822960" y="1833372"/>
            <a:ext cx="1664208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600"/>
              <a:buFont typeface="Questrial"/>
              <a:buNone/>
            </a:pPr>
            <a:r>
              <a:rPr lang="en-US" sz="4000" b="0" i="1" u="none" strike="noStrike" cap="none" dirty="0">
                <a:solidFill>
                  <a:schemeClr val="bg1"/>
                </a:solidFill>
                <a:latin typeface="Questrial"/>
                <a:ea typeface="Questrial"/>
                <a:cs typeface="Questrial"/>
                <a:sym typeface="Questrial"/>
              </a:rPr>
              <a:t>Table 2. Related literature, grouped by the main point it supports</a:t>
            </a:r>
            <a:endParaRPr sz="4000" b="0" i="0" u="none" strike="noStrike" cap="none" dirty="0">
              <a:solidFill>
                <a:schemeClr val="bg1"/>
              </a:solidFill>
              <a:latin typeface="Questrial"/>
              <a:ea typeface="Questrial"/>
              <a:cs typeface="Questrial"/>
              <a:sym typeface="Questrial"/>
            </a:endParaRPr>
          </a:p>
        </p:txBody>
      </p:sp>
      <p:graphicFrame>
        <p:nvGraphicFramePr>
          <p:cNvPr id="11" name="Google Shape;236;p9">
            <a:extLst>
              <a:ext uri="{FF2B5EF4-FFF2-40B4-BE49-F238E27FC236}">
                <a16:creationId xmlns:a16="http://schemas.microsoft.com/office/drawing/2014/main" id="{429346F3-B9F6-3D24-EF5F-77873E41AE62}"/>
              </a:ext>
            </a:extLst>
          </p:cNvPr>
          <p:cNvGraphicFramePr/>
          <p:nvPr>
            <p:extLst>
              <p:ext uri="{D42A27DB-BD31-4B8C-83A1-F6EECF244321}">
                <p14:modId xmlns:p14="http://schemas.microsoft.com/office/powerpoint/2010/main" val="1272753346"/>
              </p:ext>
            </p:extLst>
          </p:nvPr>
        </p:nvGraphicFramePr>
        <p:xfrm>
          <a:off x="822960" y="2487168"/>
          <a:ext cx="16642075" cy="5520335"/>
        </p:xfrm>
        <a:graphic>
          <a:graphicData uri="http://schemas.openxmlformats.org/drawingml/2006/table">
            <a:tbl>
              <a:tblPr>
                <a:noFill/>
                <a:tableStyleId>{34289B53-5545-4E02-A326-ACEF5BE87AE4}</a:tableStyleId>
              </a:tblPr>
              <a:tblGrid>
                <a:gridCol w="914400">
                  <a:extLst>
                    <a:ext uri="{9D8B030D-6E8A-4147-A177-3AD203B41FA5}">
                      <a16:colId xmlns:a16="http://schemas.microsoft.com/office/drawing/2014/main" val="20000"/>
                    </a:ext>
                  </a:extLst>
                </a:gridCol>
                <a:gridCol w="2926075">
                  <a:extLst>
                    <a:ext uri="{9D8B030D-6E8A-4147-A177-3AD203B41FA5}">
                      <a16:colId xmlns:a16="http://schemas.microsoft.com/office/drawing/2014/main" val="20001"/>
                    </a:ext>
                  </a:extLst>
                </a:gridCol>
                <a:gridCol w="5257800">
                  <a:extLst>
                    <a:ext uri="{9D8B030D-6E8A-4147-A177-3AD203B41FA5}">
                      <a16:colId xmlns:a16="http://schemas.microsoft.com/office/drawing/2014/main" val="20002"/>
                    </a:ext>
                  </a:extLst>
                </a:gridCol>
                <a:gridCol w="7543800">
                  <a:extLst>
                    <a:ext uri="{9D8B030D-6E8A-4147-A177-3AD203B41FA5}">
                      <a16:colId xmlns:a16="http://schemas.microsoft.com/office/drawing/2014/main" val="20003"/>
                    </a:ext>
                  </a:extLst>
                </a:gridCol>
              </a:tblGrid>
              <a:tr h="502925">
                <a:tc>
                  <a:txBody>
                    <a:bodyPr/>
                    <a:lstStyle/>
                    <a:p>
                      <a:pPr marL="0" marR="0" lvl="0" indent="0" algn="ctr" rtl="0">
                        <a:lnSpc>
                          <a:spcPct val="97000"/>
                        </a:lnSpc>
                        <a:spcBef>
                          <a:spcPts val="0"/>
                        </a:spcBef>
                        <a:spcAft>
                          <a:spcPts val="0"/>
                        </a:spcAft>
                        <a:buClr>
                          <a:srgbClr val="FFFFFF"/>
                        </a:buClr>
                        <a:buSzPts val="1700"/>
                        <a:buFont typeface="Questrial"/>
                        <a:buNone/>
                      </a:pPr>
                      <a:r>
                        <a:rPr lang="en-US" sz="2100" b="1" u="none" strike="noStrike" cap="none" dirty="0">
                          <a:solidFill>
                            <a:srgbClr val="FFFFFF"/>
                          </a:solidFill>
                          <a:latin typeface="Questrial"/>
                          <a:ea typeface="Questrial"/>
                          <a:cs typeface="Questrial"/>
                          <a:sym typeface="Questrial"/>
                        </a:rPr>
                        <a:t>Point</a:t>
                      </a:r>
                      <a:endParaRPr lang="en-US"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2100" b="1" u="none" strike="noStrike" cap="none">
                          <a:solidFill>
                            <a:srgbClr val="FFFFFF"/>
                          </a:solidFill>
                          <a:latin typeface="Questrial"/>
                          <a:ea typeface="Questrial"/>
                          <a:cs typeface="Questrial"/>
                          <a:sym typeface="Questrial"/>
                        </a:rPr>
                        <a:t>Area</a:t>
                      </a:r>
                      <a:endParaRPr lang="en-US"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2100" b="1" u="none" strike="noStrike" cap="none">
                          <a:solidFill>
                            <a:srgbClr val="FFFFFF"/>
                          </a:solidFill>
                          <a:latin typeface="Questrial"/>
                          <a:ea typeface="Questrial"/>
                          <a:cs typeface="Questrial"/>
                          <a:sym typeface="Questrial"/>
                        </a:rPr>
                        <a:t>Key sources</a:t>
                      </a:r>
                      <a:endParaRPr lang="en-US"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2100" b="1" u="none" strike="noStrike" cap="none">
                          <a:solidFill>
                            <a:srgbClr val="FFFFFF"/>
                          </a:solidFill>
                          <a:latin typeface="Questrial"/>
                          <a:ea typeface="Questrial"/>
                          <a:cs typeface="Questrial"/>
                          <a:sym typeface="Questrial"/>
                        </a:rPr>
                        <a:t>Use in the present study</a:t>
                      </a:r>
                      <a:endParaRPr lang="en-US"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extLst>
                  <a:ext uri="{0D108BD9-81ED-4DB2-BD59-A6C34878D82A}">
                    <a16:rowId xmlns:a16="http://schemas.microsoft.com/office/drawing/2014/main" val="10000"/>
                  </a:ext>
                </a:extLst>
              </a:tr>
              <a:tr h="978400">
                <a:tc>
                  <a:txBody>
                    <a:bodyPr/>
                    <a:lstStyle/>
                    <a:p>
                      <a:pPr marL="0" marR="0" lvl="0" indent="0" algn="ctr" rtl="0">
                        <a:lnSpc>
                          <a:spcPct val="97000"/>
                        </a:lnSpc>
                        <a:spcBef>
                          <a:spcPts val="0"/>
                        </a:spcBef>
                        <a:spcAft>
                          <a:spcPts val="0"/>
                        </a:spcAft>
                        <a:buClr>
                          <a:srgbClr val="8B0707"/>
                        </a:buClr>
                        <a:buSzPts val="1800"/>
                        <a:buFont typeface="Questrial"/>
                        <a:buNone/>
                      </a:pPr>
                      <a:r>
                        <a:rPr lang="en-US" sz="2100" b="1" u="none" strike="noStrike" cap="none">
                          <a:solidFill>
                            <a:srgbClr val="8B0707"/>
                          </a:solidFill>
                          <a:latin typeface="Questrial"/>
                          <a:ea typeface="Questrial"/>
                          <a:cs typeface="Questrial"/>
                          <a:sym typeface="Questrial"/>
                        </a:rPr>
                        <a:t>1</a:t>
                      </a:r>
                      <a:endParaRPr lang="en-US" sz="21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700"/>
                        <a:buFont typeface="Questrial"/>
                        <a:buNone/>
                      </a:pPr>
                      <a:r>
                        <a:rPr lang="en-US" sz="2100" b="1" u="none" strike="noStrike" cap="none">
                          <a:solidFill>
                            <a:srgbClr val="8B0707"/>
                          </a:solidFill>
                          <a:latin typeface="Questrial"/>
                          <a:ea typeface="Questrial"/>
                          <a:cs typeface="Questrial"/>
                          <a:sym typeface="Questrial"/>
                        </a:rPr>
                        <a:t>Timetable routing</a:t>
                      </a:r>
                      <a:endParaRPr lang="en-US"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550"/>
                        <a:buFont typeface="Questrial"/>
                        <a:buNone/>
                      </a:pPr>
                      <a:r>
                        <a:rPr lang="da-DK" sz="2100" u="none" strike="noStrike" cap="none">
                          <a:solidFill>
                            <a:srgbClr val="6A5656"/>
                          </a:solidFill>
                          <a:latin typeface="Questrial"/>
                          <a:ea typeface="Questrial"/>
                          <a:cs typeface="Questrial"/>
                          <a:sym typeface="Questrial"/>
                        </a:rPr>
                        <a:t>Dijkstra (1959); Pyrga et al. (2008); Delling et al. (2015); Dibbelt et al. (2018)</a:t>
                      </a:r>
                      <a:endParaRPr lang="da-DK"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50"/>
                        <a:buFont typeface="Questrial"/>
                        <a:buNone/>
                      </a:pPr>
                      <a:r>
                        <a:rPr lang="en-US" sz="2100" u="none" strike="noStrike" cap="none">
                          <a:solidFill>
                            <a:srgbClr val="2B2020"/>
                          </a:solidFill>
                          <a:latin typeface="Questrial"/>
                          <a:ea typeface="Questrial"/>
                          <a:cs typeface="Questrial"/>
                          <a:sym typeface="Questrial"/>
                        </a:rPr>
                        <a:t>Earliest arrivals come from a label-setting search on a time-expanded graph.</a:t>
                      </a:r>
                      <a:endParaRPr lang="en-US"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1"/>
                  </a:ext>
                </a:extLst>
              </a:tr>
              <a:tr h="978400">
                <a:tc>
                  <a:txBody>
                    <a:bodyPr/>
                    <a:lstStyle/>
                    <a:p>
                      <a:pPr marL="0" marR="0" lvl="0" indent="0" algn="ctr" rtl="0">
                        <a:lnSpc>
                          <a:spcPct val="97000"/>
                        </a:lnSpc>
                        <a:spcBef>
                          <a:spcPts val="0"/>
                        </a:spcBef>
                        <a:spcAft>
                          <a:spcPts val="0"/>
                        </a:spcAft>
                        <a:buClr>
                          <a:srgbClr val="8B0707"/>
                        </a:buClr>
                        <a:buSzPts val="1800"/>
                        <a:buFont typeface="Questrial"/>
                        <a:buNone/>
                      </a:pPr>
                      <a:r>
                        <a:rPr lang="en-US" sz="2100" b="1" u="none" strike="noStrike" cap="none">
                          <a:solidFill>
                            <a:srgbClr val="8B0707"/>
                          </a:solidFill>
                          <a:latin typeface="Questrial"/>
                          <a:ea typeface="Questrial"/>
                          <a:cs typeface="Questrial"/>
                          <a:sym typeface="Questrial"/>
                        </a:rPr>
                        <a:t>1</a:t>
                      </a:r>
                      <a:endParaRPr lang="en-US" sz="21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700"/>
                        <a:buFont typeface="Questrial"/>
                        <a:buNone/>
                      </a:pPr>
                      <a:r>
                        <a:rPr lang="en-US" sz="2100" b="1" u="none" strike="noStrike" cap="none">
                          <a:solidFill>
                            <a:srgbClr val="8B0707"/>
                          </a:solidFill>
                          <a:latin typeface="Questrial"/>
                          <a:ea typeface="Questrial"/>
                          <a:cs typeface="Questrial"/>
                          <a:sym typeface="Questrial"/>
                        </a:rPr>
                        <a:t>Regulated fares</a:t>
                      </a:r>
                      <a:endParaRPr lang="en-US"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6A5656"/>
                        </a:buClr>
                        <a:buSzPts val="1550"/>
                        <a:buFont typeface="Questrial"/>
                        <a:buNone/>
                      </a:pPr>
                      <a:r>
                        <a:rPr lang="it-IT" sz="2100" u="none" strike="noStrike" cap="none">
                          <a:solidFill>
                            <a:srgbClr val="6A5656"/>
                          </a:solidFill>
                          <a:latin typeface="Questrial"/>
                          <a:ea typeface="Questrial"/>
                          <a:cs typeface="Questrial"/>
                          <a:sym typeface="Questrial"/>
                        </a:rPr>
                        <a:t>Daguno-Bersamina (2026); Nieto (2026); RA 9994 (2010); RA 10754 (2016); RA 11314 (2019)</a:t>
                      </a:r>
                      <a:endParaRPr lang="it-IT"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50"/>
                        <a:buFont typeface="Questrial"/>
                        <a:buNone/>
                      </a:pPr>
                      <a:r>
                        <a:rPr lang="en-US" sz="2100" u="none" strike="noStrike" cap="none">
                          <a:solidFill>
                            <a:srgbClr val="2B2020"/>
                          </a:solidFill>
                          <a:latin typeface="Questrial"/>
                          <a:ea typeface="Questrial"/>
                          <a:cs typeface="Questrial"/>
                          <a:sym typeface="Questrial"/>
                        </a:rPr>
                        <a:t>Fares follow the LTFRB rates of September 28, 2026, with the 20% discount for senior citizens, persons with disabilities, and students.</a:t>
                      </a:r>
                      <a:endParaRPr lang="en-US"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2"/>
                  </a:ext>
                </a:extLst>
              </a:tr>
              <a:tr h="978400">
                <a:tc>
                  <a:txBody>
                    <a:bodyPr/>
                    <a:lstStyle/>
                    <a:p>
                      <a:pPr marL="0" marR="0" lvl="0" indent="0" algn="ctr" rtl="0">
                        <a:lnSpc>
                          <a:spcPct val="97000"/>
                        </a:lnSpc>
                        <a:spcBef>
                          <a:spcPts val="0"/>
                        </a:spcBef>
                        <a:spcAft>
                          <a:spcPts val="0"/>
                        </a:spcAft>
                        <a:buClr>
                          <a:srgbClr val="8B0707"/>
                        </a:buClr>
                        <a:buSzPts val="1800"/>
                        <a:buFont typeface="Questrial"/>
                        <a:buNone/>
                      </a:pPr>
                      <a:r>
                        <a:rPr lang="en-US" sz="2100" b="1" u="none" strike="noStrike" cap="none">
                          <a:solidFill>
                            <a:srgbClr val="8B0707"/>
                          </a:solidFill>
                          <a:latin typeface="Questrial"/>
                          <a:ea typeface="Questrial"/>
                          <a:cs typeface="Questrial"/>
                          <a:sym typeface="Questrial"/>
                        </a:rPr>
                        <a:t>1</a:t>
                      </a:r>
                      <a:endParaRPr lang="en-US" sz="21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700"/>
                        <a:buFont typeface="Questrial"/>
                        <a:buNone/>
                      </a:pPr>
                      <a:r>
                        <a:rPr lang="en-US" sz="2100" b="1" u="none" strike="noStrike" cap="none">
                          <a:solidFill>
                            <a:srgbClr val="8B0707"/>
                          </a:solidFill>
                          <a:latin typeface="Questrial"/>
                          <a:ea typeface="Questrial"/>
                          <a:cs typeface="Questrial"/>
                          <a:sym typeface="Questrial"/>
                        </a:rPr>
                        <a:t>Accessibility and its equity</a:t>
                      </a:r>
                      <a:endParaRPr lang="en-US"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550"/>
                        <a:buFont typeface="Questrial"/>
                        <a:buNone/>
                      </a:pPr>
                      <a:r>
                        <a:rPr lang="de-DE" sz="2100" u="none" strike="noStrike" cap="none">
                          <a:solidFill>
                            <a:srgbClr val="6A5656"/>
                          </a:solidFill>
                          <a:latin typeface="Questrial"/>
                          <a:ea typeface="Questrial"/>
                          <a:cs typeface="Questrial"/>
                          <a:sym typeface="Questrial"/>
                        </a:rPr>
                        <a:t>Hansen (1959); Wachs &amp; Kumagai (1973); Gini (1912); Theil (1967); Cobham &amp; Sumner (2013); Lucas et al. (2016)</a:t>
                      </a:r>
                      <a:endParaRPr lang="de-DE"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50"/>
                        <a:buFont typeface="Questrial"/>
                        <a:buNone/>
                      </a:pPr>
                      <a:r>
                        <a:rPr lang="en-US" sz="2100" u="none" strike="noStrike" cap="none">
                          <a:solidFill>
                            <a:srgbClr val="2B2020"/>
                          </a:solidFill>
                          <a:latin typeface="Questrial"/>
                          <a:ea typeface="Questrial"/>
                          <a:cs typeface="Questrial"/>
                          <a:sym typeface="Questrial"/>
                        </a:rPr>
                        <a:t>Landmarks reachable within 30 minutes are counted, then summarized with the weighted Gini, Theil, Lorenz, and Palma measures.</a:t>
                      </a:r>
                      <a:endParaRPr lang="en-US"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3"/>
                  </a:ext>
                </a:extLst>
              </a:tr>
              <a:tr h="978400">
                <a:tc>
                  <a:txBody>
                    <a:bodyPr/>
                    <a:lstStyle/>
                    <a:p>
                      <a:pPr marL="0" marR="0" lvl="0" indent="0" algn="ctr" rtl="0">
                        <a:lnSpc>
                          <a:spcPct val="97000"/>
                        </a:lnSpc>
                        <a:spcBef>
                          <a:spcPts val="0"/>
                        </a:spcBef>
                        <a:spcAft>
                          <a:spcPts val="0"/>
                        </a:spcAft>
                        <a:buClr>
                          <a:srgbClr val="8B0707"/>
                        </a:buClr>
                        <a:buSzPts val="1800"/>
                        <a:buFont typeface="Questrial"/>
                        <a:buNone/>
                      </a:pPr>
                      <a:r>
                        <a:rPr lang="en-US" sz="2100" b="1" u="none" strike="noStrike" cap="none">
                          <a:solidFill>
                            <a:srgbClr val="8B0707"/>
                          </a:solidFill>
                          <a:latin typeface="Questrial"/>
                          <a:ea typeface="Questrial"/>
                          <a:cs typeface="Questrial"/>
                          <a:sym typeface="Questrial"/>
                        </a:rPr>
                        <a:t>2</a:t>
                      </a:r>
                      <a:endParaRPr lang="en-US" sz="21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700"/>
                        <a:buFont typeface="Questrial"/>
                        <a:buNone/>
                      </a:pPr>
                      <a:r>
                        <a:rPr lang="en-US" sz="2100" b="1" u="none" strike="noStrike" cap="none">
                          <a:solidFill>
                            <a:srgbClr val="8B0707"/>
                          </a:solidFill>
                          <a:latin typeface="Questrial"/>
                          <a:ea typeface="Questrial"/>
                          <a:cs typeface="Questrial"/>
                          <a:sym typeface="Questrial"/>
                        </a:rPr>
                        <a:t>Hospital care and payment</a:t>
                      </a:r>
                      <a:endParaRPr lang="en-US"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6A5656"/>
                        </a:buClr>
                        <a:buSzPts val="1550"/>
                        <a:buFont typeface="Questrial"/>
                        <a:buNone/>
                      </a:pPr>
                      <a:r>
                        <a:rPr lang="en-US" sz="2100" u="none" strike="noStrike" cap="none">
                          <a:solidFill>
                            <a:srgbClr val="6A5656"/>
                          </a:solidFill>
                          <a:latin typeface="Questrial"/>
                          <a:ea typeface="Questrial"/>
                          <a:cs typeface="Questrial"/>
                          <a:sym typeface="Questrial"/>
                        </a:rPr>
                        <a:t>Gilboy et al. (2011); DOH (2012); RA 11223 (2019); RA 11463 (2019); RA 10932 (2017)</a:t>
                      </a:r>
                      <a:endParaRPr lang="en-US"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50"/>
                        <a:buFont typeface="Questrial"/>
                        <a:buNone/>
                      </a:pPr>
                      <a:r>
                        <a:rPr lang="en-US" sz="2100" u="none" strike="noStrike" cap="none">
                          <a:solidFill>
                            <a:srgbClr val="2B2020"/>
                          </a:solidFill>
                          <a:latin typeface="Questrial"/>
                          <a:ea typeface="Questrial"/>
                          <a:cs typeface="Questrial"/>
                          <a:sym typeface="Questrial"/>
                        </a:rPr>
                        <a:t>Hospitals are matched by acuity, level of care, free beds, and cost class. Cost is never a filter in an emergency.</a:t>
                      </a:r>
                      <a:endParaRPr lang="en-US"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4"/>
                  </a:ext>
                </a:extLst>
              </a:tr>
              <a:tr h="978400">
                <a:tc>
                  <a:txBody>
                    <a:bodyPr/>
                    <a:lstStyle/>
                    <a:p>
                      <a:pPr marL="0" marR="0" lvl="0" indent="0" algn="ctr" rtl="0">
                        <a:lnSpc>
                          <a:spcPct val="97000"/>
                        </a:lnSpc>
                        <a:spcBef>
                          <a:spcPts val="0"/>
                        </a:spcBef>
                        <a:spcAft>
                          <a:spcPts val="0"/>
                        </a:spcAft>
                        <a:buClr>
                          <a:srgbClr val="8B0707"/>
                        </a:buClr>
                        <a:buSzPts val="1800"/>
                        <a:buFont typeface="Questrial"/>
                        <a:buNone/>
                      </a:pPr>
                      <a:r>
                        <a:rPr lang="en-US" sz="2100" b="1" u="none" strike="noStrike" cap="none">
                          <a:solidFill>
                            <a:srgbClr val="8B0707"/>
                          </a:solidFill>
                          <a:latin typeface="Questrial"/>
                          <a:ea typeface="Questrial"/>
                          <a:cs typeface="Questrial"/>
                          <a:sym typeface="Questrial"/>
                        </a:rPr>
                        <a:t>3</a:t>
                      </a:r>
                      <a:endParaRPr lang="en-US" sz="2100" u="none" strike="noStrike" cap="none" dirty="0">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700"/>
                        <a:buFont typeface="Questrial"/>
                        <a:buNone/>
                      </a:pPr>
                      <a:r>
                        <a:rPr lang="en-US" sz="2100" b="1" u="none" strike="noStrike" cap="none">
                          <a:solidFill>
                            <a:srgbClr val="8B0707"/>
                          </a:solidFill>
                          <a:latin typeface="Questrial"/>
                          <a:ea typeface="Questrial"/>
                          <a:cs typeface="Questrial"/>
                          <a:sym typeface="Questrial"/>
                        </a:rPr>
                        <a:t>Software agents over e-mail</a:t>
                      </a:r>
                      <a:endParaRPr lang="en-US"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550"/>
                        <a:buFont typeface="Questrial"/>
                        <a:buNone/>
                      </a:pPr>
                      <a:r>
                        <a:rPr lang="en-US" sz="2100" u="none" strike="noStrike" cap="none" dirty="0">
                          <a:solidFill>
                            <a:srgbClr val="6A5656"/>
                          </a:solidFill>
                          <a:latin typeface="Questrial"/>
                          <a:ea typeface="Questrial"/>
                          <a:cs typeface="Questrial"/>
                          <a:sym typeface="Questrial"/>
                        </a:rPr>
                        <a:t>Wooldridge &amp; Jennings (1995); </a:t>
                      </a:r>
                      <a:r>
                        <a:rPr lang="en-US" sz="2100" u="none" strike="noStrike" cap="none" dirty="0" err="1">
                          <a:solidFill>
                            <a:srgbClr val="6A5656"/>
                          </a:solidFill>
                          <a:latin typeface="Questrial"/>
                          <a:ea typeface="Questrial"/>
                          <a:cs typeface="Questrial"/>
                          <a:sym typeface="Questrial"/>
                        </a:rPr>
                        <a:t>Klensin</a:t>
                      </a:r>
                      <a:r>
                        <a:rPr lang="en-US" sz="2100" u="none" strike="noStrike" cap="none" dirty="0">
                          <a:solidFill>
                            <a:srgbClr val="6A5656"/>
                          </a:solidFill>
                          <a:latin typeface="Questrial"/>
                          <a:ea typeface="Questrial"/>
                          <a:cs typeface="Questrial"/>
                          <a:sym typeface="Questrial"/>
                        </a:rPr>
                        <a:t> (2008); Melnikov &amp; Leiba (2021)</a:t>
                      </a:r>
                      <a:endParaRPr lang="en-US"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50"/>
                        <a:buFont typeface="Questrial"/>
                        <a:buNone/>
                      </a:pPr>
                      <a:r>
                        <a:rPr lang="en-US" sz="2100" u="none" strike="noStrike" cap="none" dirty="0">
                          <a:solidFill>
                            <a:srgbClr val="2B2020"/>
                          </a:solidFill>
                          <a:latin typeface="Questrial"/>
                          <a:ea typeface="Questrial"/>
                          <a:cs typeface="Questrial"/>
                          <a:sym typeface="Questrial"/>
                        </a:rPr>
                        <a:t>Agents ask each hospital for its bed count over SMTP and read the replies over IMAP.</a:t>
                      </a:r>
                      <a:endParaRPr lang="en-US"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5"/>
                  </a:ext>
                </a:extLst>
              </a:tr>
            </a:tbl>
          </a:graphicData>
        </a:graphic>
      </p:graphicFrame>
      <p:sp>
        <p:nvSpPr>
          <p:cNvPr id="13" name="Google Shape;237;p9">
            <a:extLst>
              <a:ext uri="{FF2B5EF4-FFF2-40B4-BE49-F238E27FC236}">
                <a16:creationId xmlns:a16="http://schemas.microsoft.com/office/drawing/2014/main" id="{9A890D2D-22A6-8E0A-7D77-67E20945D5F6}"/>
              </a:ext>
            </a:extLst>
          </p:cNvPr>
          <p:cNvSpPr/>
          <p:nvPr/>
        </p:nvSpPr>
        <p:spPr>
          <a:xfrm>
            <a:off x="822960" y="8138160"/>
            <a:ext cx="16642080" cy="1417320"/>
          </a:xfrm>
          <a:prstGeom prst="roundRect">
            <a:avLst>
              <a:gd name="adj" fmla="val 10322"/>
            </a:avLst>
          </a:prstGeom>
          <a:solidFill>
            <a:srgbClr val="F8E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800"/>
          </a:p>
        </p:txBody>
      </p:sp>
      <p:sp>
        <p:nvSpPr>
          <p:cNvPr id="15" name="Google Shape;238;p9">
            <a:extLst>
              <a:ext uri="{FF2B5EF4-FFF2-40B4-BE49-F238E27FC236}">
                <a16:creationId xmlns:a16="http://schemas.microsoft.com/office/drawing/2014/main" id="{4663D115-2A21-CFD9-A317-130AD8435A30}"/>
              </a:ext>
            </a:extLst>
          </p:cNvPr>
          <p:cNvSpPr txBox="1"/>
          <p:nvPr/>
        </p:nvSpPr>
        <p:spPr>
          <a:xfrm>
            <a:off x="1188720" y="8183880"/>
            <a:ext cx="15910560" cy="13258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850"/>
              <a:buFont typeface="Questrial"/>
              <a:buNone/>
            </a:pPr>
            <a:r>
              <a:rPr lang="en-US" sz="2800" b="1" i="0" u="none" strike="noStrike" cap="none">
                <a:solidFill>
                  <a:srgbClr val="8B0707"/>
                </a:solidFill>
                <a:latin typeface="Questrial"/>
                <a:ea typeface="Questrial"/>
                <a:cs typeface="Questrial"/>
                <a:sym typeface="Questrial"/>
              </a:rPr>
              <a:t>Synthesis. </a:t>
            </a:r>
            <a:r>
              <a:rPr lang="en-US" sz="2800" b="0" i="0" u="none" strike="noStrike" cap="none">
                <a:solidFill>
                  <a:srgbClr val="2B2020"/>
                </a:solidFill>
                <a:latin typeface="Questrial"/>
                <a:ea typeface="Questrial"/>
                <a:cs typeface="Questrial"/>
                <a:sym typeface="Questrial"/>
              </a:rPr>
              <a:t>The literature gives each point its method: exact routing and regulated fares for the transit map, DOH levels of care and RA 10932 for the patient, and software agents for the beds. It gives no data. Every measure assumes a transit feed, and none exists for Albay.</a:t>
            </a:r>
            <a:endParaRPr sz="2800" b="0" i="0" u="none" strike="noStrike" cap="none">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35986991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9C553ECA-0FFB-41F6-A994-DFEFE5EE83D8}"/>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86C9207D-411A-97AC-B62B-9E93AF257D7A}"/>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sp>
        <p:nvSpPr>
          <p:cNvPr id="3" name="Google Shape;248;p10">
            <a:extLst>
              <a:ext uri="{FF2B5EF4-FFF2-40B4-BE49-F238E27FC236}">
                <a16:creationId xmlns:a16="http://schemas.microsoft.com/office/drawing/2014/main" id="{88E55F21-0216-6E67-890B-779313EBC992}"/>
              </a:ext>
            </a:extLst>
          </p:cNvPr>
          <p:cNvSpPr txBox="1"/>
          <p:nvPr/>
        </p:nvSpPr>
        <p:spPr>
          <a:xfrm>
            <a:off x="213886" y="324392"/>
            <a:ext cx="17376398" cy="332399"/>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2400" b="0" i="0" u="none" strike="noStrike" cap="none">
                <a:solidFill>
                  <a:srgbClr val="FFFFFF"/>
                </a:solidFill>
                <a:latin typeface="Questrial"/>
                <a:ea typeface="Questrial"/>
                <a:cs typeface="Questrial"/>
                <a:sym typeface="Questrial"/>
              </a:rPr>
              <a:t>RRL/RRS</a:t>
            </a:r>
            <a:endParaRPr sz="2400"/>
          </a:p>
        </p:txBody>
      </p:sp>
      <p:sp>
        <p:nvSpPr>
          <p:cNvPr id="5" name="Google Shape;249;p10">
            <a:extLst>
              <a:ext uri="{FF2B5EF4-FFF2-40B4-BE49-F238E27FC236}">
                <a16:creationId xmlns:a16="http://schemas.microsoft.com/office/drawing/2014/main" id="{A648BDD1-E5A6-A45D-5908-1F1A4D01B2AA}"/>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400" b="0" i="0" u="none" strike="noStrike" cap="none">
                <a:solidFill>
                  <a:srgbClr val="FFFFFF"/>
                </a:solidFill>
                <a:latin typeface="Questrial"/>
                <a:ea typeface="Questrial"/>
                <a:cs typeface="Questrial"/>
                <a:sym typeface="Questrial"/>
              </a:rPr>
              <a:t>Related Studies</a:t>
            </a:r>
            <a:endParaRPr sz="2400" b="0" i="0" u="none" strike="noStrike" cap="none">
              <a:solidFill>
                <a:schemeClr val="dk1"/>
              </a:solidFill>
              <a:latin typeface="Questrial"/>
              <a:ea typeface="Questrial"/>
              <a:cs typeface="Questrial"/>
              <a:sym typeface="Questrial"/>
            </a:endParaRPr>
          </a:p>
        </p:txBody>
      </p:sp>
      <p:sp>
        <p:nvSpPr>
          <p:cNvPr id="7" name="Google Shape;250;p10">
            <a:extLst>
              <a:ext uri="{FF2B5EF4-FFF2-40B4-BE49-F238E27FC236}">
                <a16:creationId xmlns:a16="http://schemas.microsoft.com/office/drawing/2014/main" id="{DBAE9EB0-60A7-091D-7460-603306439D67}"/>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2400" b="0" i="0" u="none" strike="noStrike" cap="none">
                <a:solidFill>
                  <a:srgbClr val="8B0707"/>
                </a:solidFill>
                <a:latin typeface="Questrial"/>
                <a:ea typeface="Questrial"/>
                <a:cs typeface="Questrial"/>
                <a:sym typeface="Questrial"/>
              </a:rPr>
              <a:t>10</a:t>
            </a:r>
            <a:endParaRPr sz="2400" b="0" i="0" u="none" strike="noStrike" cap="none">
              <a:solidFill>
                <a:schemeClr val="dk1"/>
              </a:solidFill>
              <a:latin typeface="Questrial"/>
              <a:ea typeface="Questrial"/>
              <a:cs typeface="Questrial"/>
              <a:sym typeface="Questrial"/>
            </a:endParaRPr>
          </a:p>
        </p:txBody>
      </p:sp>
      <p:sp>
        <p:nvSpPr>
          <p:cNvPr id="9" name="Google Shape;251;p10">
            <a:extLst>
              <a:ext uri="{FF2B5EF4-FFF2-40B4-BE49-F238E27FC236}">
                <a16:creationId xmlns:a16="http://schemas.microsoft.com/office/drawing/2014/main" id="{32481DF9-CF13-5E93-4415-349D3DA6FE59}"/>
              </a:ext>
            </a:extLst>
          </p:cNvPr>
          <p:cNvSpPr txBox="1"/>
          <p:nvPr/>
        </p:nvSpPr>
        <p:spPr>
          <a:xfrm>
            <a:off x="822960" y="2075688"/>
            <a:ext cx="1664208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600"/>
              <a:buFont typeface="Questrial"/>
              <a:buNone/>
            </a:pPr>
            <a:r>
              <a:rPr lang="en-US" sz="3200" b="0" i="1" u="none" strike="noStrike" cap="none" dirty="0">
                <a:solidFill>
                  <a:schemeClr val="bg1"/>
                </a:solidFill>
                <a:latin typeface="Questrial"/>
                <a:ea typeface="Questrial"/>
                <a:cs typeface="Questrial"/>
                <a:sym typeface="Questrial"/>
              </a:rPr>
              <a:t>Table 3. Related studies, the main point each informs, and their relation to the present study</a:t>
            </a:r>
            <a:endParaRPr sz="3200" b="0" i="0" u="none" strike="noStrike" cap="none" dirty="0">
              <a:solidFill>
                <a:schemeClr val="bg1"/>
              </a:solidFill>
              <a:latin typeface="Questrial"/>
              <a:ea typeface="Questrial"/>
              <a:cs typeface="Questrial"/>
              <a:sym typeface="Questrial"/>
            </a:endParaRPr>
          </a:p>
        </p:txBody>
      </p:sp>
      <p:graphicFrame>
        <p:nvGraphicFramePr>
          <p:cNvPr id="11" name="Google Shape;252;p10">
            <a:extLst>
              <a:ext uri="{FF2B5EF4-FFF2-40B4-BE49-F238E27FC236}">
                <a16:creationId xmlns:a16="http://schemas.microsoft.com/office/drawing/2014/main" id="{DBD1F5C9-FB0E-A437-E391-67018252935C}"/>
              </a:ext>
            </a:extLst>
          </p:cNvPr>
          <p:cNvGraphicFramePr/>
          <p:nvPr>
            <p:extLst>
              <p:ext uri="{D42A27DB-BD31-4B8C-83A1-F6EECF244321}">
                <p14:modId xmlns:p14="http://schemas.microsoft.com/office/powerpoint/2010/main" val="347302553"/>
              </p:ext>
            </p:extLst>
          </p:nvPr>
        </p:nvGraphicFramePr>
        <p:xfrm>
          <a:off x="822960" y="2487168"/>
          <a:ext cx="16642075" cy="5788150"/>
        </p:xfrm>
        <a:graphic>
          <a:graphicData uri="http://schemas.openxmlformats.org/drawingml/2006/table">
            <a:tbl>
              <a:tblPr>
                <a:noFill/>
                <a:tableStyleId>{34289B53-5545-4E02-A326-ACEF5BE87AE4}</a:tableStyleId>
              </a:tblPr>
              <a:tblGrid>
                <a:gridCol w="9144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5989325">
                  <a:extLst>
                    <a:ext uri="{9D8B030D-6E8A-4147-A177-3AD203B41FA5}">
                      <a16:colId xmlns:a16="http://schemas.microsoft.com/office/drawing/2014/main" val="20002"/>
                    </a:ext>
                  </a:extLst>
                </a:gridCol>
                <a:gridCol w="6766550">
                  <a:extLst>
                    <a:ext uri="{9D8B030D-6E8A-4147-A177-3AD203B41FA5}">
                      <a16:colId xmlns:a16="http://schemas.microsoft.com/office/drawing/2014/main" val="20003"/>
                    </a:ext>
                  </a:extLst>
                </a:gridCol>
              </a:tblGrid>
              <a:tr h="475500">
                <a:tc>
                  <a:txBody>
                    <a:bodyPr/>
                    <a:lstStyle/>
                    <a:p>
                      <a:pPr marL="0" marR="0" lvl="0" indent="0" algn="ctr" rtl="0">
                        <a:lnSpc>
                          <a:spcPct val="97000"/>
                        </a:lnSpc>
                        <a:spcBef>
                          <a:spcPts val="0"/>
                        </a:spcBef>
                        <a:spcAft>
                          <a:spcPts val="0"/>
                        </a:spcAft>
                        <a:buClr>
                          <a:srgbClr val="FFFFFF"/>
                        </a:buClr>
                        <a:buSzPts val="1700"/>
                        <a:buFont typeface="Questrial"/>
                        <a:buNone/>
                      </a:pPr>
                      <a:r>
                        <a:rPr lang="en-US" sz="1800" b="1" u="none" strike="noStrike" cap="none" dirty="0">
                          <a:solidFill>
                            <a:srgbClr val="FFFFFF"/>
                          </a:solidFill>
                          <a:latin typeface="Questrial"/>
                          <a:ea typeface="Questrial"/>
                          <a:cs typeface="Questrial"/>
                          <a:sym typeface="Questrial"/>
                        </a:rPr>
                        <a:t>Point</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1800" b="1" u="none" strike="noStrike" cap="none">
                          <a:solidFill>
                            <a:srgbClr val="FFFFFF"/>
                          </a:solidFill>
                          <a:latin typeface="Questrial"/>
                          <a:ea typeface="Questrial"/>
                          <a:cs typeface="Questrial"/>
                          <a:sym typeface="Questrial"/>
                        </a:rPr>
                        <a:t>Study</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1800" b="1" u="none" strike="noStrike" cap="none">
                          <a:solidFill>
                            <a:srgbClr val="FFFFFF"/>
                          </a:solidFill>
                          <a:latin typeface="Questrial"/>
                          <a:ea typeface="Questrial"/>
                          <a:cs typeface="Questrial"/>
                          <a:sym typeface="Questrial"/>
                        </a:rPr>
                        <a:t>What was done</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1800" b="1" u="none" strike="noStrike" cap="none">
                          <a:solidFill>
                            <a:srgbClr val="FFFFFF"/>
                          </a:solidFill>
                          <a:latin typeface="Questrial"/>
                          <a:ea typeface="Questrial"/>
                          <a:cs typeface="Questrial"/>
                          <a:sym typeface="Questrial"/>
                        </a:rPr>
                        <a:t>Relation to the present study</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extLst>
                  <a:ext uri="{0D108BD9-81ED-4DB2-BD59-A6C34878D82A}">
                    <a16:rowId xmlns:a16="http://schemas.microsoft.com/office/drawing/2014/main" val="10000"/>
                  </a:ext>
                </a:extLst>
              </a:tr>
              <a:tr h="758950">
                <a:tc>
                  <a:txBody>
                    <a:bodyPr/>
                    <a:lstStyle/>
                    <a:p>
                      <a:pPr marL="0" marR="0" lvl="0" indent="0" algn="ctr" rtl="0">
                        <a:lnSpc>
                          <a:spcPct val="97000"/>
                        </a:lnSpc>
                        <a:spcBef>
                          <a:spcPts val="0"/>
                        </a:spcBef>
                        <a:spcAft>
                          <a:spcPts val="0"/>
                        </a:spcAft>
                        <a:buClr>
                          <a:srgbClr val="8B0707"/>
                        </a:buClr>
                        <a:buSzPts val="1800"/>
                        <a:buFont typeface="Questrial"/>
                        <a:buNone/>
                      </a:pPr>
                      <a:r>
                        <a:rPr lang="en-US" sz="1800" b="1" u="none" strike="noStrike" cap="none" dirty="0">
                          <a:solidFill>
                            <a:srgbClr val="8B0707"/>
                          </a:solidFill>
                          <a:latin typeface="Questrial"/>
                          <a:ea typeface="Questrial"/>
                          <a:cs typeface="Questrial"/>
                          <a:sym typeface="Questrial"/>
                        </a:rPr>
                        <a:t>1</a:t>
                      </a:r>
                      <a:endParaRPr sz="1800" u="none" strike="noStrike" cap="none" dirty="0">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600"/>
                        <a:buFont typeface="Questrial"/>
                        <a:buNone/>
                      </a:pPr>
                      <a:r>
                        <a:rPr lang="en-US" sz="1800" b="1" u="none" strike="noStrike" cap="none" dirty="0">
                          <a:solidFill>
                            <a:srgbClr val="8B0707"/>
                          </a:solidFill>
                          <a:latin typeface="Questrial"/>
                          <a:ea typeface="Questrial"/>
                          <a:cs typeface="Questrial"/>
                          <a:sym typeface="Questrial"/>
                        </a:rPr>
                        <a:t>Williams et al. (2015)</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Students logged Nairobi's matatu routes by phone and published the city's first GTFS feed.</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Routes with no timetable can still become open data. Their work began in the field; this study begins with open registers.</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1"/>
                  </a:ext>
                </a:extLst>
              </a:tr>
              <a:tr h="758950">
                <a:tc>
                  <a:txBody>
                    <a:bodyPr/>
                    <a:lstStyle/>
                    <a:p>
                      <a:pPr marL="0" marR="0" lvl="0" indent="0" algn="ctr" rtl="0">
                        <a:lnSpc>
                          <a:spcPct val="97000"/>
                        </a:lnSpc>
                        <a:spcBef>
                          <a:spcPts val="0"/>
                        </a:spcBef>
                        <a:spcAft>
                          <a:spcPts val="0"/>
                        </a:spcAft>
                        <a:buClr>
                          <a:srgbClr val="8B0707"/>
                        </a:buClr>
                        <a:buSzPts val="180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600"/>
                        <a:buFont typeface="Questrial"/>
                        <a:buNone/>
                      </a:pPr>
                      <a:r>
                        <a:rPr lang="en-US" sz="1800" b="1" u="none" strike="noStrike" cap="none" dirty="0" err="1">
                          <a:solidFill>
                            <a:srgbClr val="8B0707"/>
                          </a:solidFill>
                          <a:latin typeface="Questrial"/>
                          <a:ea typeface="Questrial"/>
                          <a:cs typeface="Questrial"/>
                          <a:sym typeface="Questrial"/>
                        </a:rPr>
                        <a:t>Saddier</a:t>
                      </a:r>
                      <a:r>
                        <a:rPr lang="en-US" sz="1800" b="1" u="none" strike="noStrike" cap="none" dirty="0">
                          <a:solidFill>
                            <a:srgbClr val="8B0707"/>
                          </a:solidFill>
                          <a:latin typeface="Questrial"/>
                          <a:ea typeface="Questrial"/>
                          <a:cs typeface="Questrial"/>
                          <a:sym typeface="Questrial"/>
                        </a:rPr>
                        <a:t> et al. (2016); Klopp &amp; Cavoli (2019)</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Mapped 315 trotro routes in Accra, and minibus routes in Maputo and Nairobi, using smartphones.</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Same aim, same field-first method. That method needs time and people a student research team does not have.</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2"/>
                  </a:ext>
                </a:extLst>
              </a:tr>
              <a:tr h="758950">
                <a:tc>
                  <a:txBody>
                    <a:bodyPr/>
                    <a:lstStyle/>
                    <a:p>
                      <a:pPr marL="0" marR="0" lvl="0" indent="0" algn="ctr" rtl="0">
                        <a:lnSpc>
                          <a:spcPct val="97000"/>
                        </a:lnSpc>
                        <a:spcBef>
                          <a:spcPts val="0"/>
                        </a:spcBef>
                        <a:spcAft>
                          <a:spcPts val="0"/>
                        </a:spcAft>
                        <a:buClr>
                          <a:srgbClr val="8B0707"/>
                        </a:buClr>
                        <a:buSzPts val="180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600"/>
                        <a:buFont typeface="Questrial"/>
                        <a:buNone/>
                      </a:pPr>
                      <a:r>
                        <a:rPr lang="en-US" sz="1800" b="1" u="none" strike="noStrike" cap="none">
                          <a:solidFill>
                            <a:srgbClr val="8B0707"/>
                          </a:solidFill>
                          <a:latin typeface="Questrial"/>
                          <a:ea typeface="Questrial"/>
                          <a:cs typeface="Questrial"/>
                          <a:sym typeface="Questrial"/>
                        </a:rPr>
                        <a:t>Narboneta &amp; Teknomo (2015)</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dirty="0">
                          <a:solidFill>
                            <a:srgbClr val="2B2020"/>
                          </a:solidFill>
                          <a:latin typeface="Questrial"/>
                          <a:ea typeface="Questrial"/>
                          <a:cs typeface="Questrial"/>
                          <a:sym typeface="Questrial"/>
                        </a:rPr>
                        <a:t>Built a multimodal route planner for Metro Manila on government GTFS data.</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The closest Philippine example. Nothing like it exists for Albay.</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3"/>
                  </a:ext>
                </a:extLst>
              </a:tr>
              <a:tr h="758950">
                <a:tc>
                  <a:txBody>
                    <a:bodyPr/>
                    <a:lstStyle/>
                    <a:p>
                      <a:pPr marL="0" marR="0" lvl="0" indent="0" algn="ctr" rtl="0">
                        <a:lnSpc>
                          <a:spcPct val="97000"/>
                        </a:lnSpc>
                        <a:spcBef>
                          <a:spcPts val="0"/>
                        </a:spcBef>
                        <a:spcAft>
                          <a:spcPts val="0"/>
                        </a:spcAft>
                        <a:buClr>
                          <a:srgbClr val="8B0707"/>
                        </a:buClr>
                        <a:buSzPts val="180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600"/>
                        <a:buFont typeface="Questrial"/>
                        <a:buNone/>
                      </a:pPr>
                      <a:r>
                        <a:rPr lang="en-US" sz="1800" b="1" u="none" strike="noStrike" cap="none">
                          <a:solidFill>
                            <a:srgbClr val="8B0707"/>
                          </a:solidFill>
                          <a:latin typeface="Questrial"/>
                          <a:ea typeface="Questrial"/>
                          <a:cs typeface="Questrial"/>
                          <a:sym typeface="Questrial"/>
                        </a:rPr>
                        <a:t>Delbosc &amp; Currie (2011)</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Measured how evenly transit supply is spread in Melbourne using Lorenz curves and the Gini coefficient.</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Supports applying income-inequality measures to access.</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4"/>
                  </a:ext>
                </a:extLst>
              </a:tr>
              <a:tr h="758950">
                <a:tc>
                  <a:txBody>
                    <a:bodyPr/>
                    <a:lstStyle/>
                    <a:p>
                      <a:pPr marL="0" marR="0" lvl="0" indent="0" algn="ctr" rtl="0">
                        <a:lnSpc>
                          <a:spcPct val="97000"/>
                        </a:lnSpc>
                        <a:spcBef>
                          <a:spcPts val="0"/>
                        </a:spcBef>
                        <a:spcAft>
                          <a:spcPts val="0"/>
                        </a:spcAft>
                        <a:buClr>
                          <a:srgbClr val="8B0707"/>
                        </a:buClr>
                        <a:buSzPts val="180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600"/>
                        <a:buFont typeface="Questrial"/>
                        <a:buNone/>
                      </a:pPr>
                      <a:r>
                        <a:rPr lang="en-US" sz="1800" b="1" u="none" strike="noStrike" cap="none">
                          <a:solidFill>
                            <a:srgbClr val="8B0707"/>
                          </a:solidFill>
                          <a:latin typeface="Questrial"/>
                          <a:ea typeface="Questrial"/>
                          <a:cs typeface="Questrial"/>
                          <a:sym typeface="Questrial"/>
                        </a:rPr>
                        <a:t>Owen &amp; Levinson (2015); Stępniak et al. (2019)</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dirty="0">
                          <a:solidFill>
                            <a:srgbClr val="2B2020"/>
                          </a:solidFill>
                          <a:latin typeface="Questrial"/>
                          <a:ea typeface="Questrial"/>
                          <a:cs typeface="Questrial"/>
                          <a:sym typeface="Questrial"/>
                        </a:rPr>
                        <a:t>Found that access figures shift with the departure time used.</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Travel times here are averaged over 25 departures, 06:00 to 08:00.</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5"/>
                  </a:ext>
                </a:extLst>
              </a:tr>
              <a:tr h="758950">
                <a:tc>
                  <a:txBody>
                    <a:bodyPr/>
                    <a:lstStyle/>
                    <a:p>
                      <a:pPr marL="0" marR="0" lvl="0" indent="0" algn="ctr" rtl="0">
                        <a:lnSpc>
                          <a:spcPct val="97000"/>
                        </a:lnSpc>
                        <a:spcBef>
                          <a:spcPts val="0"/>
                        </a:spcBef>
                        <a:spcAft>
                          <a:spcPts val="0"/>
                        </a:spcAft>
                        <a:buClr>
                          <a:srgbClr val="8B0707"/>
                        </a:buClr>
                        <a:buSzPts val="1800"/>
                        <a:buFont typeface="Questrial"/>
                        <a:buNone/>
                      </a:pPr>
                      <a:r>
                        <a:rPr lang="en-US" sz="1800" b="1" u="none" strike="noStrike" cap="none">
                          <a:solidFill>
                            <a:srgbClr val="8B0707"/>
                          </a:solidFill>
                          <a:latin typeface="Questrial"/>
                          <a:ea typeface="Questrial"/>
                          <a:cs typeface="Questrial"/>
                          <a:sym typeface="Questrial"/>
                        </a:rPr>
                        <a:t>2</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600"/>
                        <a:buFont typeface="Questrial"/>
                        <a:buNone/>
                      </a:pPr>
                      <a:r>
                        <a:rPr lang="en-US" sz="1800" b="1" u="none" strike="noStrike" cap="none">
                          <a:solidFill>
                            <a:srgbClr val="8B0707"/>
                          </a:solidFill>
                          <a:latin typeface="Questrial"/>
                          <a:ea typeface="Questrial"/>
                          <a:cs typeface="Questrial"/>
                          <a:sym typeface="Questrial"/>
                        </a:rPr>
                        <a:t>Brotcorne et al. (2003)</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Reviewed models for locating and relocating ambulances.</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dirty="0">
                          <a:solidFill>
                            <a:srgbClr val="2B2020"/>
                          </a:solidFill>
                          <a:latin typeface="Questrial"/>
                          <a:ea typeface="Questrial"/>
                          <a:cs typeface="Questrial"/>
                          <a:sym typeface="Questrial"/>
                        </a:rPr>
                        <a:t>Emergency research centers on the ambulance. This study looks at the hospital receiving the patient.</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6"/>
                  </a:ext>
                </a:extLst>
              </a:tr>
              <a:tr h="758950">
                <a:tc>
                  <a:txBody>
                    <a:bodyPr/>
                    <a:lstStyle/>
                    <a:p>
                      <a:pPr marL="0" marR="0" lvl="0" indent="0" algn="ctr" rtl="0">
                        <a:lnSpc>
                          <a:spcPct val="97000"/>
                        </a:lnSpc>
                        <a:spcBef>
                          <a:spcPts val="0"/>
                        </a:spcBef>
                        <a:spcAft>
                          <a:spcPts val="0"/>
                        </a:spcAft>
                        <a:buClr>
                          <a:srgbClr val="8B0707"/>
                        </a:buClr>
                        <a:buSzPts val="1800"/>
                        <a:buFont typeface="Questrial"/>
                        <a:buNone/>
                      </a:pPr>
                      <a:r>
                        <a:rPr lang="en-US" sz="1800" b="1" u="none" strike="noStrike" cap="none">
                          <a:solidFill>
                            <a:srgbClr val="8B0707"/>
                          </a:solidFill>
                          <a:latin typeface="Questrial"/>
                          <a:ea typeface="Questrial"/>
                          <a:cs typeface="Questrial"/>
                          <a:sym typeface="Questrial"/>
                        </a:rPr>
                        <a:t>3</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600"/>
                        <a:buFont typeface="Questrial"/>
                        <a:buNone/>
                      </a:pPr>
                      <a:r>
                        <a:rPr lang="en-US" sz="1800" b="1" u="none" strike="noStrike" cap="none">
                          <a:solidFill>
                            <a:srgbClr val="8B0707"/>
                          </a:solidFill>
                          <a:latin typeface="Questrial"/>
                          <a:ea typeface="Questrial"/>
                          <a:cs typeface="Questrial"/>
                          <a:sym typeface="Questrial"/>
                        </a:rPr>
                        <a:t>Cabaro et al. (2023)</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a:solidFill>
                            <a:srgbClr val="2B2020"/>
                          </a:solidFill>
                          <a:latin typeface="Questrial"/>
                          <a:ea typeface="Questrial"/>
                          <a:cs typeface="Questrial"/>
                          <a:sym typeface="Questrial"/>
                        </a:rPr>
                        <a:t>DOH DataCollect gathered bed counts from 1,906 facilities, 98% complete by December 2022.</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1800" u="none" strike="noStrike" cap="none" dirty="0">
                          <a:solidFill>
                            <a:srgbClr val="2B2020"/>
                          </a:solidFill>
                          <a:latin typeface="Questrial"/>
                          <a:ea typeface="Questrial"/>
                          <a:cs typeface="Questrial"/>
                          <a:sym typeface="Questrial"/>
                        </a:rPr>
                        <a:t>Hospitals already report beds on a routine channel. The agent network relies on that habit.</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7"/>
                  </a:ext>
                </a:extLst>
              </a:tr>
            </a:tbl>
          </a:graphicData>
        </a:graphic>
      </p:graphicFrame>
      <p:sp>
        <p:nvSpPr>
          <p:cNvPr id="13" name="Google Shape;253;p10">
            <a:extLst>
              <a:ext uri="{FF2B5EF4-FFF2-40B4-BE49-F238E27FC236}">
                <a16:creationId xmlns:a16="http://schemas.microsoft.com/office/drawing/2014/main" id="{02E7630F-7158-3CE0-D55C-AC6BBD36655C}"/>
              </a:ext>
            </a:extLst>
          </p:cNvPr>
          <p:cNvSpPr/>
          <p:nvPr/>
        </p:nvSpPr>
        <p:spPr>
          <a:xfrm>
            <a:off x="822960" y="8476488"/>
            <a:ext cx="16642080" cy="1078992"/>
          </a:xfrm>
          <a:prstGeom prst="roundRect">
            <a:avLst>
              <a:gd name="adj" fmla="val 13559"/>
            </a:avLst>
          </a:prstGeom>
          <a:solidFill>
            <a:srgbClr val="F8E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254;p10">
            <a:extLst>
              <a:ext uri="{FF2B5EF4-FFF2-40B4-BE49-F238E27FC236}">
                <a16:creationId xmlns:a16="http://schemas.microsoft.com/office/drawing/2014/main" id="{D7D5791E-F4D2-B5C3-3CF1-A560BED5134E}"/>
              </a:ext>
            </a:extLst>
          </p:cNvPr>
          <p:cNvSpPr txBox="1"/>
          <p:nvPr/>
        </p:nvSpPr>
        <p:spPr>
          <a:xfrm>
            <a:off x="1188720" y="8513064"/>
            <a:ext cx="15910560" cy="10058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800"/>
              <a:buFont typeface="Questrial"/>
              <a:buNone/>
            </a:pPr>
            <a:r>
              <a:rPr lang="en-US" sz="2600" b="1" i="0" u="none" strike="noStrike" cap="none" dirty="0">
                <a:solidFill>
                  <a:srgbClr val="8B0707"/>
                </a:solidFill>
                <a:latin typeface="Questrial"/>
                <a:ea typeface="Questrial"/>
                <a:cs typeface="Questrial"/>
                <a:sym typeface="Questrial"/>
              </a:rPr>
              <a:t>Synthesis. </a:t>
            </a:r>
            <a:r>
              <a:rPr lang="en-US" sz="2600" b="0" i="0" u="none" strike="noStrike" cap="none" dirty="0">
                <a:solidFill>
                  <a:srgbClr val="2B2020"/>
                </a:solidFill>
                <a:latin typeface="Questrial"/>
                <a:ea typeface="Questrial"/>
                <a:cs typeface="Questrial"/>
                <a:sym typeface="Questrial"/>
              </a:rPr>
              <a:t>Every transit dataset above started with fieldwork, and none tied a trip to a free hospital bed. This study tests how far open data can go before any fieldwork, and joins all three points in one model.</a:t>
            </a:r>
            <a:endParaRPr sz="2600" b="0" i="0" u="none" strike="noStrike" cap="none" dirty="0">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2681196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2A5772D5-E035-9FB3-4169-96627F9928E9}"/>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BEFD2AA9-F5D0-91F4-065A-5C9EEA506749}"/>
              </a:ext>
            </a:extLst>
          </p:cNvPr>
          <p:cNvSpPr/>
          <p:nvPr/>
        </p:nvSpPr>
        <p:spPr>
          <a:xfrm>
            <a:off x="0" y="0"/>
            <a:ext cx="18288000"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86" name="Google Shape;261;p11">
            <a:extLst>
              <a:ext uri="{FF2B5EF4-FFF2-40B4-BE49-F238E27FC236}">
                <a16:creationId xmlns:a16="http://schemas.microsoft.com/office/drawing/2014/main" id="{18996751-14B1-7793-B2BC-28D7470166D9}"/>
              </a:ext>
            </a:extLst>
          </p:cNvPr>
          <p:cNvGrpSpPr/>
          <p:nvPr/>
        </p:nvGrpSpPr>
        <p:grpSpPr>
          <a:xfrm>
            <a:off x="0" y="-1248816"/>
            <a:ext cx="19010539" cy="2953915"/>
            <a:chOff x="0" y="-76200"/>
            <a:chExt cx="5142358" cy="777986"/>
          </a:xfrm>
        </p:grpSpPr>
        <p:sp>
          <p:nvSpPr>
            <p:cNvPr id="87" name="Google Shape;262;p11">
              <a:extLst>
                <a:ext uri="{FF2B5EF4-FFF2-40B4-BE49-F238E27FC236}">
                  <a16:creationId xmlns:a16="http://schemas.microsoft.com/office/drawing/2014/main" id="{34371D02-DA39-434D-D668-D5B4A3B6F958}"/>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88" name="Google Shape;263;p11">
              <a:extLst>
                <a:ext uri="{FF2B5EF4-FFF2-40B4-BE49-F238E27FC236}">
                  <a16:creationId xmlns:a16="http://schemas.microsoft.com/office/drawing/2014/main" id="{47478E2C-85B7-74C9-FA29-AF830EEAE2DC}"/>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5" name="Google Shape;264;p11">
            <a:extLst>
              <a:ext uri="{FF2B5EF4-FFF2-40B4-BE49-F238E27FC236}">
                <a16:creationId xmlns:a16="http://schemas.microsoft.com/office/drawing/2014/main" id="{77F65DDA-2004-CB67-18ED-EFCDEB1C3EC1}"/>
              </a:ext>
            </a:extLst>
          </p:cNvPr>
          <p:cNvSpPr txBox="1"/>
          <p:nvPr/>
        </p:nvSpPr>
        <p:spPr>
          <a:xfrm>
            <a:off x="213886" y="295817"/>
            <a:ext cx="18394916" cy="781050"/>
          </a:xfrm>
          <a:prstGeom prst="rect">
            <a:avLst/>
          </a:prstGeom>
          <a:noFill/>
          <a:ln>
            <a:noFill/>
          </a:ln>
        </p:spPr>
        <p:txBody>
          <a:bodyPr spcFirstLastPara="1" wrap="square" lIns="0" tIns="0" rIns="0" bIns="0" anchor="t" anchorCtr="0">
            <a:spAutoFit/>
          </a:bodyPr>
          <a:lstStyle/>
          <a:p>
            <a:pPr marL="0" marR="0" lvl="0" indent="0" algn="l" rtl="0">
              <a:lnSpc>
                <a:spcPct val="89998"/>
              </a:lnSpc>
              <a:spcBef>
                <a:spcPts val="0"/>
              </a:spcBef>
              <a:spcAft>
                <a:spcPts val="0"/>
              </a:spcAft>
              <a:buNone/>
            </a:pPr>
            <a:r>
              <a:rPr lang="en-US" sz="5499" b="0" i="0" u="none" strike="noStrike" cap="none" dirty="0">
                <a:solidFill>
                  <a:srgbClr val="FFFFFF"/>
                </a:solidFill>
                <a:latin typeface="Questrial"/>
                <a:ea typeface="Questrial"/>
                <a:cs typeface="Questrial"/>
                <a:sym typeface="Questrial"/>
              </a:rPr>
              <a:t>THEORETICAL/CONCEPTUAL FRAMEWORK PARADIGM</a:t>
            </a:r>
            <a:endParaRPr dirty="0"/>
          </a:p>
        </p:txBody>
      </p:sp>
      <p:sp>
        <p:nvSpPr>
          <p:cNvPr id="47" name="Google Shape;265;p11">
            <a:extLst>
              <a:ext uri="{FF2B5EF4-FFF2-40B4-BE49-F238E27FC236}">
                <a16:creationId xmlns:a16="http://schemas.microsoft.com/office/drawing/2014/main" id="{47AC1352-62DC-DB0C-91D3-DDBB9DE49941}"/>
              </a:ext>
            </a:extLst>
          </p:cNvPr>
          <p:cNvSpPr txBox="1"/>
          <p:nvPr/>
        </p:nvSpPr>
        <p:spPr>
          <a:xfrm>
            <a:off x="213970" y="1060704"/>
            <a:ext cx="173736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400"/>
              <a:buFont typeface="Questrial"/>
              <a:buNone/>
            </a:pPr>
            <a:r>
              <a:rPr lang="en-US" sz="3200" b="0" i="0" u="none" strike="noStrike" cap="none" dirty="0">
                <a:solidFill>
                  <a:srgbClr val="FFFFFF"/>
                </a:solidFill>
                <a:latin typeface="Questrial"/>
                <a:ea typeface="Questrial"/>
                <a:cs typeface="Questrial"/>
                <a:sym typeface="Questrial"/>
              </a:rPr>
              <a:t>Theoretical Framework</a:t>
            </a:r>
            <a:endParaRPr sz="3200" b="0" i="0" u="none" strike="noStrike" cap="none" dirty="0">
              <a:solidFill>
                <a:schemeClr val="dk1"/>
              </a:solidFill>
              <a:latin typeface="Questrial"/>
              <a:ea typeface="Questrial"/>
              <a:cs typeface="Questrial"/>
              <a:sym typeface="Questrial"/>
            </a:endParaRPr>
          </a:p>
        </p:txBody>
      </p:sp>
      <p:sp>
        <p:nvSpPr>
          <p:cNvPr id="49" name="Google Shape;266;p11">
            <a:extLst>
              <a:ext uri="{FF2B5EF4-FFF2-40B4-BE49-F238E27FC236}">
                <a16:creationId xmlns:a16="http://schemas.microsoft.com/office/drawing/2014/main" id="{1161C023-8C9D-F65B-C6A1-14E492CBA775}"/>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800" b="0" i="0" u="none" strike="noStrike" cap="none">
                <a:solidFill>
                  <a:srgbClr val="8B0707"/>
                </a:solidFill>
                <a:latin typeface="Questrial"/>
                <a:ea typeface="Questrial"/>
                <a:cs typeface="Questrial"/>
                <a:sym typeface="Questrial"/>
              </a:rPr>
              <a:t>11</a:t>
            </a:r>
            <a:endParaRPr sz="1800" b="0" i="0" u="none" strike="noStrike" cap="none">
              <a:solidFill>
                <a:schemeClr val="dk1"/>
              </a:solidFill>
              <a:latin typeface="Questrial"/>
              <a:ea typeface="Questrial"/>
              <a:cs typeface="Questrial"/>
              <a:sym typeface="Questrial"/>
            </a:endParaRPr>
          </a:p>
        </p:txBody>
      </p:sp>
      <p:sp>
        <p:nvSpPr>
          <p:cNvPr id="51" name="Google Shape;267;p11">
            <a:extLst>
              <a:ext uri="{FF2B5EF4-FFF2-40B4-BE49-F238E27FC236}">
                <a16:creationId xmlns:a16="http://schemas.microsoft.com/office/drawing/2014/main" id="{4E02B9BF-ED90-5A37-6138-17F6950EA28F}"/>
              </a:ext>
            </a:extLst>
          </p:cNvPr>
          <p:cNvSpPr txBox="1"/>
          <p:nvPr/>
        </p:nvSpPr>
        <p:spPr>
          <a:xfrm>
            <a:off x="845820" y="1922049"/>
            <a:ext cx="717804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950"/>
              <a:buFont typeface="Questrial"/>
              <a:buNone/>
            </a:pPr>
            <a:r>
              <a:rPr lang="en-US" sz="4400" b="1" i="0" u="none" strike="noStrike" cap="none" dirty="0">
                <a:solidFill>
                  <a:schemeClr val="bg1"/>
                </a:solidFill>
                <a:latin typeface="Questrial"/>
                <a:ea typeface="Questrial"/>
                <a:cs typeface="Questrial"/>
                <a:sym typeface="Questrial"/>
              </a:rPr>
              <a:t>Research gap, by main point</a:t>
            </a:r>
            <a:endParaRPr sz="4400" b="0" i="0" u="none" strike="noStrike" cap="none" dirty="0">
              <a:solidFill>
                <a:schemeClr val="bg1"/>
              </a:solidFill>
              <a:latin typeface="Questrial"/>
              <a:ea typeface="Questrial"/>
              <a:cs typeface="Questrial"/>
              <a:sym typeface="Questrial"/>
            </a:endParaRPr>
          </a:p>
        </p:txBody>
      </p:sp>
      <p:sp>
        <p:nvSpPr>
          <p:cNvPr id="53" name="Google Shape;268;p11">
            <a:extLst>
              <a:ext uri="{FF2B5EF4-FFF2-40B4-BE49-F238E27FC236}">
                <a16:creationId xmlns:a16="http://schemas.microsoft.com/office/drawing/2014/main" id="{14784AB0-9B20-4A87-3461-E58294E12A00}"/>
              </a:ext>
            </a:extLst>
          </p:cNvPr>
          <p:cNvSpPr txBox="1"/>
          <p:nvPr/>
        </p:nvSpPr>
        <p:spPr>
          <a:xfrm>
            <a:off x="9281160" y="1907858"/>
            <a:ext cx="88392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950"/>
              <a:buFont typeface="Questrial"/>
              <a:buNone/>
            </a:pPr>
            <a:r>
              <a:rPr lang="en-US" sz="4400" b="1" i="0" u="none" strike="noStrike" cap="none" dirty="0">
                <a:solidFill>
                  <a:schemeClr val="bg1"/>
                </a:solidFill>
                <a:latin typeface="Questrial"/>
                <a:ea typeface="Questrial"/>
                <a:cs typeface="Questrial"/>
                <a:sym typeface="Questrial"/>
              </a:rPr>
              <a:t>Theory or concept that addresses it</a:t>
            </a:r>
            <a:endParaRPr sz="4400" b="0" i="0" u="none" strike="noStrike" cap="none" dirty="0">
              <a:solidFill>
                <a:schemeClr val="bg1"/>
              </a:solidFill>
              <a:latin typeface="Questrial"/>
              <a:ea typeface="Questrial"/>
              <a:cs typeface="Questrial"/>
              <a:sym typeface="Questrial"/>
            </a:endParaRPr>
          </a:p>
        </p:txBody>
      </p:sp>
      <p:sp>
        <p:nvSpPr>
          <p:cNvPr id="55" name="Google Shape;269;p11">
            <a:extLst>
              <a:ext uri="{FF2B5EF4-FFF2-40B4-BE49-F238E27FC236}">
                <a16:creationId xmlns:a16="http://schemas.microsoft.com/office/drawing/2014/main" id="{C7BDD84B-1CCA-EF8A-D6CA-234175B1E706}"/>
              </a:ext>
            </a:extLst>
          </p:cNvPr>
          <p:cNvSpPr/>
          <p:nvPr/>
        </p:nvSpPr>
        <p:spPr>
          <a:xfrm>
            <a:off x="822960" y="2560320"/>
            <a:ext cx="7178040" cy="2036064"/>
          </a:xfrm>
          <a:prstGeom prst="roundRect">
            <a:avLst>
              <a:gd name="adj" fmla="val 7185"/>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7" name="Google Shape;270;p11">
            <a:extLst>
              <a:ext uri="{FF2B5EF4-FFF2-40B4-BE49-F238E27FC236}">
                <a16:creationId xmlns:a16="http://schemas.microsoft.com/office/drawing/2014/main" id="{3DD80547-D1A1-859D-4220-C12952FBFF7D}"/>
              </a:ext>
            </a:extLst>
          </p:cNvPr>
          <p:cNvSpPr txBox="1"/>
          <p:nvPr/>
        </p:nvSpPr>
        <p:spPr>
          <a:xfrm>
            <a:off x="1097280" y="2651760"/>
            <a:ext cx="6675120" cy="185318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400"/>
              <a:buFont typeface="Questrial"/>
              <a:buNone/>
            </a:pPr>
            <a:r>
              <a:rPr lang="en-US" sz="2400" b="1" i="0" u="none" strike="noStrike" cap="none" dirty="0">
                <a:solidFill>
                  <a:srgbClr val="6A5656"/>
                </a:solidFill>
                <a:latin typeface="Questrial"/>
                <a:ea typeface="Questrial"/>
                <a:cs typeface="Questrial"/>
                <a:sym typeface="Questrial"/>
              </a:rPr>
              <a:t>POINT 1</a:t>
            </a:r>
            <a:endParaRPr sz="2400" b="0" i="0" u="none" strike="noStrike" cap="none" dirty="0">
              <a:solidFill>
                <a:schemeClr val="dk1"/>
              </a:solidFill>
              <a:latin typeface="Questrial"/>
              <a:ea typeface="Questrial"/>
              <a:cs typeface="Questrial"/>
              <a:sym typeface="Questrial"/>
            </a:endParaRPr>
          </a:p>
          <a:p>
            <a:pPr marL="0" marR="0" lvl="0" indent="0" algn="l" rtl="0">
              <a:lnSpc>
                <a:spcPct val="100000"/>
              </a:lnSpc>
              <a:spcBef>
                <a:spcPts val="200"/>
              </a:spcBef>
              <a:spcAft>
                <a:spcPts val="0"/>
              </a:spcAft>
              <a:buClr>
                <a:srgbClr val="8B0707"/>
              </a:buClr>
              <a:buSzPts val="1900"/>
              <a:buFont typeface="Questrial"/>
              <a:buNone/>
            </a:pPr>
            <a:r>
              <a:rPr lang="en-US" sz="2400" b="1" i="0" u="none" strike="noStrike" cap="none" dirty="0">
                <a:solidFill>
                  <a:srgbClr val="8B0707"/>
                </a:solidFill>
                <a:latin typeface="Questrial"/>
                <a:ea typeface="Questrial"/>
                <a:cs typeface="Questrial"/>
                <a:sym typeface="Questrial"/>
              </a:rPr>
              <a:t>G1   No transit map and no fares</a:t>
            </a:r>
            <a:endParaRPr sz="2400" b="0" i="0" u="none" strike="noStrike" cap="none" dirty="0">
              <a:solidFill>
                <a:schemeClr val="dk1"/>
              </a:solidFill>
              <a:latin typeface="Questrial"/>
              <a:ea typeface="Questrial"/>
              <a:cs typeface="Questrial"/>
              <a:sym typeface="Questrial"/>
            </a:endParaRPr>
          </a:p>
          <a:p>
            <a:pPr marL="0" marR="0" lvl="0" indent="0" algn="l" rtl="0">
              <a:lnSpc>
                <a:spcPct val="98000"/>
              </a:lnSpc>
              <a:spcBef>
                <a:spcPts val="500"/>
              </a:spcBef>
              <a:spcAft>
                <a:spcPts val="0"/>
              </a:spcAft>
              <a:buClr>
                <a:srgbClr val="2B2020"/>
              </a:buClr>
              <a:buSzPts val="1700"/>
              <a:buFont typeface="Questrial"/>
              <a:buNone/>
            </a:pPr>
            <a:r>
              <a:rPr lang="en-US" sz="2400" b="0" i="0" u="none" strike="noStrike" cap="none" dirty="0">
                <a:solidFill>
                  <a:srgbClr val="2B2020"/>
                </a:solidFill>
                <a:latin typeface="Questrial"/>
                <a:ea typeface="Questrial"/>
                <a:cs typeface="Questrial"/>
                <a:sym typeface="Questrial"/>
              </a:rPr>
              <a:t>No machine-readable routes, stops, headways, or fares exist for any part of Albay. Access is judged by straight-line distance.</a:t>
            </a:r>
            <a:endParaRPr sz="2400" b="0" i="0" u="none" strike="noStrike" cap="none" dirty="0">
              <a:solidFill>
                <a:schemeClr val="dk1"/>
              </a:solidFill>
              <a:latin typeface="Questrial"/>
              <a:ea typeface="Questrial"/>
              <a:cs typeface="Questrial"/>
              <a:sym typeface="Questrial"/>
            </a:endParaRPr>
          </a:p>
        </p:txBody>
      </p:sp>
      <p:sp>
        <p:nvSpPr>
          <p:cNvPr id="59" name="Google Shape;271;p11">
            <a:extLst>
              <a:ext uri="{FF2B5EF4-FFF2-40B4-BE49-F238E27FC236}">
                <a16:creationId xmlns:a16="http://schemas.microsoft.com/office/drawing/2014/main" id="{AF3F5B8D-0431-DC05-D15A-AAD4D5F61F17}"/>
              </a:ext>
            </a:extLst>
          </p:cNvPr>
          <p:cNvSpPr/>
          <p:nvPr/>
        </p:nvSpPr>
        <p:spPr>
          <a:xfrm>
            <a:off x="8138160" y="3304032"/>
            <a:ext cx="1005840" cy="548640"/>
          </a:xfrm>
          <a:prstGeom prst="rightArrow">
            <a:avLst>
              <a:gd name="adj1" fmla="val 50000"/>
              <a:gd name="adj2" fmla="val 60000"/>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1" name="Google Shape;272;p11">
            <a:extLst>
              <a:ext uri="{FF2B5EF4-FFF2-40B4-BE49-F238E27FC236}">
                <a16:creationId xmlns:a16="http://schemas.microsoft.com/office/drawing/2014/main" id="{D225DE6C-4EC2-A406-B527-040E57052A93}"/>
              </a:ext>
            </a:extLst>
          </p:cNvPr>
          <p:cNvSpPr/>
          <p:nvPr/>
        </p:nvSpPr>
        <p:spPr>
          <a:xfrm>
            <a:off x="9281160" y="2560320"/>
            <a:ext cx="8183880" cy="2036064"/>
          </a:xfrm>
          <a:prstGeom prst="roundRect">
            <a:avLst>
              <a:gd name="adj" fmla="val 7185"/>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3" name="Google Shape;273;p11">
            <a:extLst>
              <a:ext uri="{FF2B5EF4-FFF2-40B4-BE49-F238E27FC236}">
                <a16:creationId xmlns:a16="http://schemas.microsoft.com/office/drawing/2014/main" id="{E66BAEA7-C9F7-8CEF-ADC9-F74CBDE320BB}"/>
              </a:ext>
            </a:extLst>
          </p:cNvPr>
          <p:cNvSpPr txBox="1"/>
          <p:nvPr/>
        </p:nvSpPr>
        <p:spPr>
          <a:xfrm>
            <a:off x="9555480" y="2651760"/>
            <a:ext cx="7680960" cy="185318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900"/>
              <a:buFont typeface="Questrial"/>
              <a:buNone/>
            </a:pPr>
            <a:r>
              <a:rPr lang="en-US" sz="2200" b="1" i="0" u="none" strike="noStrike" cap="none" dirty="0">
                <a:solidFill>
                  <a:srgbClr val="FFFFFF"/>
                </a:solidFill>
                <a:latin typeface="Questrial"/>
                <a:ea typeface="Questrial"/>
                <a:cs typeface="Questrial"/>
                <a:sym typeface="Questrial"/>
              </a:rPr>
              <a:t>Time-expanded timetable graph and regulated fare model</a:t>
            </a:r>
            <a:endParaRPr sz="2200" b="0" i="0" u="none" strike="noStrike" cap="none" dirty="0">
              <a:solidFill>
                <a:schemeClr val="dk1"/>
              </a:solidFill>
              <a:latin typeface="Questrial"/>
              <a:ea typeface="Questrial"/>
              <a:cs typeface="Questrial"/>
              <a:sym typeface="Questrial"/>
            </a:endParaRPr>
          </a:p>
          <a:p>
            <a:pPr marL="0" marR="0" lvl="0" indent="0" algn="l" rtl="0">
              <a:lnSpc>
                <a:spcPct val="98000"/>
              </a:lnSpc>
              <a:spcBef>
                <a:spcPts val="500"/>
              </a:spcBef>
              <a:spcAft>
                <a:spcPts val="0"/>
              </a:spcAft>
              <a:buClr>
                <a:srgbClr val="FFFFFF"/>
              </a:buClr>
              <a:buSzPts val="1700"/>
              <a:buFont typeface="Questrial"/>
              <a:buNone/>
            </a:pPr>
            <a:r>
              <a:rPr lang="en-US" sz="2200" b="0" i="0" u="none" strike="noStrike" cap="none" dirty="0">
                <a:solidFill>
                  <a:srgbClr val="FFFFFF"/>
                </a:solidFill>
                <a:latin typeface="Questrial"/>
                <a:ea typeface="Questrial"/>
                <a:cs typeface="Questrial"/>
                <a:sym typeface="Questrial"/>
              </a:rPr>
              <a:t>Open registers become a GTFS feed. Dijkstra's (1959) search on the time-expanded graph (</a:t>
            </a:r>
            <a:r>
              <a:rPr lang="en-US" sz="2200" b="0" i="0" u="none" strike="noStrike" cap="none" dirty="0" err="1">
                <a:solidFill>
                  <a:srgbClr val="FFFFFF"/>
                </a:solidFill>
                <a:latin typeface="Questrial"/>
                <a:ea typeface="Questrial"/>
                <a:cs typeface="Questrial"/>
                <a:sym typeface="Questrial"/>
              </a:rPr>
              <a:t>Pyrga</a:t>
            </a:r>
            <a:r>
              <a:rPr lang="en-US" sz="2200" b="0" i="0" u="none" strike="noStrike" cap="none" dirty="0">
                <a:solidFill>
                  <a:srgbClr val="FFFFFF"/>
                </a:solidFill>
                <a:latin typeface="Questrial"/>
                <a:ea typeface="Questrial"/>
                <a:cs typeface="Questrial"/>
                <a:sym typeface="Questrial"/>
              </a:rPr>
              <a:t> et al., 2008) gives exact arrivals, and the LTFRB distance fare prices each leg. Access is then counted (Wachs &amp; Kumagai, 1973) and tested for inequality (Gini, Theil).</a:t>
            </a:r>
            <a:endParaRPr sz="2200" b="0" i="0" u="none" strike="noStrike" cap="none" dirty="0">
              <a:solidFill>
                <a:schemeClr val="dk1"/>
              </a:solidFill>
              <a:latin typeface="Questrial"/>
              <a:ea typeface="Questrial"/>
              <a:cs typeface="Questrial"/>
              <a:sym typeface="Questrial"/>
            </a:endParaRPr>
          </a:p>
        </p:txBody>
      </p:sp>
      <p:sp>
        <p:nvSpPr>
          <p:cNvPr id="65" name="Google Shape;274;p11">
            <a:extLst>
              <a:ext uri="{FF2B5EF4-FFF2-40B4-BE49-F238E27FC236}">
                <a16:creationId xmlns:a16="http://schemas.microsoft.com/office/drawing/2014/main" id="{5E994233-EF67-E59F-5576-37AF18B93C25}"/>
              </a:ext>
            </a:extLst>
          </p:cNvPr>
          <p:cNvSpPr/>
          <p:nvPr/>
        </p:nvSpPr>
        <p:spPr>
          <a:xfrm>
            <a:off x="822960" y="4779264"/>
            <a:ext cx="7178040" cy="2036064"/>
          </a:xfrm>
          <a:prstGeom prst="roundRect">
            <a:avLst>
              <a:gd name="adj" fmla="val 7185"/>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67" name="Google Shape;275;p11">
            <a:extLst>
              <a:ext uri="{FF2B5EF4-FFF2-40B4-BE49-F238E27FC236}">
                <a16:creationId xmlns:a16="http://schemas.microsoft.com/office/drawing/2014/main" id="{2A409BA6-B3C4-7AF8-534B-573474A1E0A1}"/>
              </a:ext>
            </a:extLst>
          </p:cNvPr>
          <p:cNvSpPr txBox="1"/>
          <p:nvPr/>
        </p:nvSpPr>
        <p:spPr>
          <a:xfrm>
            <a:off x="1097280" y="4870704"/>
            <a:ext cx="6812280" cy="185318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400"/>
              <a:buFont typeface="Questrial"/>
              <a:buNone/>
            </a:pPr>
            <a:r>
              <a:rPr lang="en-US" sz="2200" b="1" i="0" u="none" strike="noStrike" cap="none" dirty="0">
                <a:solidFill>
                  <a:srgbClr val="6A5656"/>
                </a:solidFill>
                <a:latin typeface="Questrial"/>
                <a:ea typeface="Questrial"/>
                <a:cs typeface="Questrial"/>
                <a:sym typeface="Questrial"/>
              </a:rPr>
              <a:t>POINT 2</a:t>
            </a:r>
            <a:endParaRPr sz="2200" b="0" i="0" u="none" strike="noStrike" cap="none" dirty="0">
              <a:solidFill>
                <a:schemeClr val="dk1"/>
              </a:solidFill>
              <a:latin typeface="Questrial"/>
              <a:ea typeface="Questrial"/>
              <a:cs typeface="Questrial"/>
              <a:sym typeface="Questrial"/>
            </a:endParaRPr>
          </a:p>
          <a:p>
            <a:pPr marL="0" marR="0" lvl="0" indent="0" algn="l" rtl="0">
              <a:lnSpc>
                <a:spcPct val="100000"/>
              </a:lnSpc>
              <a:spcBef>
                <a:spcPts val="200"/>
              </a:spcBef>
              <a:spcAft>
                <a:spcPts val="0"/>
              </a:spcAft>
              <a:buClr>
                <a:srgbClr val="8B0707"/>
              </a:buClr>
              <a:buSzPts val="1900"/>
              <a:buFont typeface="Questrial"/>
              <a:buNone/>
            </a:pPr>
            <a:r>
              <a:rPr lang="en-US" sz="2200" b="1" i="0" u="none" strike="noStrike" cap="none" dirty="0">
                <a:solidFill>
                  <a:srgbClr val="8B0707"/>
                </a:solidFill>
                <a:latin typeface="Questrial"/>
                <a:ea typeface="Questrial"/>
                <a:cs typeface="Questrial"/>
                <a:sym typeface="Questrial"/>
              </a:rPr>
              <a:t>G2   Routing that ignores the patient</a:t>
            </a:r>
            <a:endParaRPr sz="2200" b="0" i="0" u="none" strike="noStrike" cap="none" dirty="0">
              <a:solidFill>
                <a:schemeClr val="dk1"/>
              </a:solidFill>
              <a:latin typeface="Questrial"/>
              <a:ea typeface="Questrial"/>
              <a:cs typeface="Questrial"/>
              <a:sym typeface="Questrial"/>
            </a:endParaRPr>
          </a:p>
          <a:p>
            <a:pPr marL="0" marR="0" lvl="0" indent="0" algn="l" rtl="0">
              <a:lnSpc>
                <a:spcPct val="98000"/>
              </a:lnSpc>
              <a:spcBef>
                <a:spcPts val="500"/>
              </a:spcBef>
              <a:spcAft>
                <a:spcPts val="0"/>
              </a:spcAft>
              <a:buClr>
                <a:srgbClr val="2B2020"/>
              </a:buClr>
              <a:buSzPts val="1700"/>
              <a:buFont typeface="Questrial"/>
              <a:buNone/>
            </a:pPr>
            <a:r>
              <a:rPr lang="en-US" sz="2200" b="0" i="0" u="none" strike="noStrike" cap="none" dirty="0">
                <a:solidFill>
                  <a:srgbClr val="2B2020"/>
                </a:solidFill>
                <a:latin typeface="Questrial"/>
                <a:ea typeface="Questrial"/>
                <a:cs typeface="Questrial"/>
                <a:sym typeface="Questrial"/>
              </a:rPr>
              <a:t>A map sends every patient to the nearest hospital, whatever the patient's condition, the care offered, or what the family can pay. Some roads cannot take an ambulance.</a:t>
            </a:r>
            <a:endParaRPr sz="2200" b="0" i="0" u="none" strike="noStrike" cap="none" dirty="0">
              <a:solidFill>
                <a:schemeClr val="dk1"/>
              </a:solidFill>
              <a:latin typeface="Questrial"/>
              <a:ea typeface="Questrial"/>
              <a:cs typeface="Questrial"/>
              <a:sym typeface="Questrial"/>
            </a:endParaRPr>
          </a:p>
        </p:txBody>
      </p:sp>
      <p:sp>
        <p:nvSpPr>
          <p:cNvPr id="69" name="Google Shape;276;p11">
            <a:extLst>
              <a:ext uri="{FF2B5EF4-FFF2-40B4-BE49-F238E27FC236}">
                <a16:creationId xmlns:a16="http://schemas.microsoft.com/office/drawing/2014/main" id="{680EE97B-4FCD-FE1D-E9A8-DD6E6A2733BF}"/>
              </a:ext>
            </a:extLst>
          </p:cNvPr>
          <p:cNvSpPr/>
          <p:nvPr/>
        </p:nvSpPr>
        <p:spPr>
          <a:xfrm>
            <a:off x="8138160" y="5522976"/>
            <a:ext cx="1005840" cy="548640"/>
          </a:xfrm>
          <a:prstGeom prst="rightArrow">
            <a:avLst>
              <a:gd name="adj1" fmla="val 50000"/>
              <a:gd name="adj2" fmla="val 60000"/>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1" name="Google Shape;277;p11">
            <a:extLst>
              <a:ext uri="{FF2B5EF4-FFF2-40B4-BE49-F238E27FC236}">
                <a16:creationId xmlns:a16="http://schemas.microsoft.com/office/drawing/2014/main" id="{64C6D96C-4CAB-5104-F3FE-27216FFB6675}"/>
              </a:ext>
            </a:extLst>
          </p:cNvPr>
          <p:cNvSpPr/>
          <p:nvPr/>
        </p:nvSpPr>
        <p:spPr>
          <a:xfrm>
            <a:off x="9281160" y="4779264"/>
            <a:ext cx="8183880" cy="2036064"/>
          </a:xfrm>
          <a:prstGeom prst="roundRect">
            <a:avLst>
              <a:gd name="adj" fmla="val 7185"/>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3" name="Google Shape;278;p11">
            <a:extLst>
              <a:ext uri="{FF2B5EF4-FFF2-40B4-BE49-F238E27FC236}">
                <a16:creationId xmlns:a16="http://schemas.microsoft.com/office/drawing/2014/main" id="{CC024FE9-6DE4-8A7C-35FA-4C2143C3C474}"/>
              </a:ext>
            </a:extLst>
          </p:cNvPr>
          <p:cNvSpPr txBox="1"/>
          <p:nvPr/>
        </p:nvSpPr>
        <p:spPr>
          <a:xfrm>
            <a:off x="9555479" y="4870704"/>
            <a:ext cx="7941737" cy="185318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900"/>
              <a:buFont typeface="Questrial"/>
              <a:buNone/>
            </a:pPr>
            <a:r>
              <a:rPr lang="en-US" sz="2200" b="1" i="0" u="none" strike="noStrike" cap="none" dirty="0">
                <a:solidFill>
                  <a:srgbClr val="FFFFFF"/>
                </a:solidFill>
                <a:latin typeface="Questrial"/>
                <a:ea typeface="Questrial"/>
                <a:cs typeface="Questrial"/>
                <a:sym typeface="Questrial"/>
              </a:rPr>
              <a:t>Suitability rule and vehicle-class order</a:t>
            </a:r>
            <a:endParaRPr sz="2200" b="0" i="0" u="none" strike="noStrike" cap="none" dirty="0">
              <a:solidFill>
                <a:schemeClr val="dk1"/>
              </a:solidFill>
              <a:latin typeface="Questrial"/>
              <a:ea typeface="Questrial"/>
              <a:cs typeface="Questrial"/>
              <a:sym typeface="Questrial"/>
            </a:endParaRPr>
          </a:p>
          <a:p>
            <a:pPr marL="0" marR="0" lvl="0" indent="0" algn="l" rtl="0">
              <a:lnSpc>
                <a:spcPct val="98000"/>
              </a:lnSpc>
              <a:spcBef>
                <a:spcPts val="500"/>
              </a:spcBef>
              <a:spcAft>
                <a:spcPts val="0"/>
              </a:spcAft>
              <a:buClr>
                <a:srgbClr val="FFFFFF"/>
              </a:buClr>
              <a:buSzPts val="1700"/>
              <a:buFont typeface="Questrial"/>
              <a:buNone/>
            </a:pPr>
            <a:r>
              <a:rPr lang="en-US" sz="2200" b="0" i="0" u="none" strike="noStrike" cap="none" dirty="0">
                <a:solidFill>
                  <a:srgbClr val="FFFFFF"/>
                </a:solidFill>
                <a:latin typeface="Questrial"/>
                <a:ea typeface="Questrial"/>
                <a:cs typeface="Questrial"/>
                <a:sym typeface="Questrial"/>
              </a:rPr>
              <a:t>Acuity on the Emergency Severity Index (Gilboy et al., 2011) sets the minimum level of care (DOH, 2012), and cost filters only non-emergencies (RA 10932). Each vehicle class, the ambulance included, has its own road subgraph (Proposition 3).</a:t>
            </a:r>
            <a:endParaRPr sz="2200" b="0" i="0" u="none" strike="noStrike" cap="none" dirty="0">
              <a:solidFill>
                <a:schemeClr val="dk1"/>
              </a:solidFill>
              <a:latin typeface="Questrial"/>
              <a:ea typeface="Questrial"/>
              <a:cs typeface="Questrial"/>
              <a:sym typeface="Questrial"/>
            </a:endParaRPr>
          </a:p>
        </p:txBody>
      </p:sp>
      <p:sp>
        <p:nvSpPr>
          <p:cNvPr id="75" name="Google Shape;279;p11">
            <a:extLst>
              <a:ext uri="{FF2B5EF4-FFF2-40B4-BE49-F238E27FC236}">
                <a16:creationId xmlns:a16="http://schemas.microsoft.com/office/drawing/2014/main" id="{D71638DB-9E6D-8459-822E-9BA663D89910}"/>
              </a:ext>
            </a:extLst>
          </p:cNvPr>
          <p:cNvSpPr/>
          <p:nvPr/>
        </p:nvSpPr>
        <p:spPr>
          <a:xfrm>
            <a:off x="822960" y="6998208"/>
            <a:ext cx="7178040" cy="2036064"/>
          </a:xfrm>
          <a:prstGeom prst="roundRect">
            <a:avLst>
              <a:gd name="adj" fmla="val 7185"/>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77" name="Google Shape;280;p11">
            <a:extLst>
              <a:ext uri="{FF2B5EF4-FFF2-40B4-BE49-F238E27FC236}">
                <a16:creationId xmlns:a16="http://schemas.microsoft.com/office/drawing/2014/main" id="{7CFF4165-7B6B-B6BC-8513-FFCA03C68F84}"/>
              </a:ext>
            </a:extLst>
          </p:cNvPr>
          <p:cNvSpPr txBox="1"/>
          <p:nvPr/>
        </p:nvSpPr>
        <p:spPr>
          <a:xfrm>
            <a:off x="1097280" y="7089648"/>
            <a:ext cx="6675120" cy="185318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400"/>
              <a:buFont typeface="Questrial"/>
              <a:buNone/>
            </a:pPr>
            <a:r>
              <a:rPr lang="en-US" sz="2400" b="1" i="0" u="none" strike="noStrike" cap="none" dirty="0">
                <a:solidFill>
                  <a:srgbClr val="6A5656"/>
                </a:solidFill>
                <a:latin typeface="Questrial"/>
                <a:ea typeface="Questrial"/>
                <a:cs typeface="Questrial"/>
                <a:sym typeface="Questrial"/>
              </a:rPr>
              <a:t>POINT 3</a:t>
            </a:r>
            <a:endParaRPr sz="2400" b="0" i="0" u="none" strike="noStrike" cap="none" dirty="0">
              <a:solidFill>
                <a:schemeClr val="dk1"/>
              </a:solidFill>
              <a:latin typeface="Questrial"/>
              <a:ea typeface="Questrial"/>
              <a:cs typeface="Questrial"/>
              <a:sym typeface="Questrial"/>
            </a:endParaRPr>
          </a:p>
          <a:p>
            <a:pPr marL="0" marR="0" lvl="0" indent="0" algn="l" rtl="0">
              <a:lnSpc>
                <a:spcPct val="100000"/>
              </a:lnSpc>
              <a:spcBef>
                <a:spcPts val="200"/>
              </a:spcBef>
              <a:spcAft>
                <a:spcPts val="0"/>
              </a:spcAft>
              <a:buClr>
                <a:srgbClr val="8B0707"/>
              </a:buClr>
              <a:buSzPts val="1900"/>
              <a:buFont typeface="Questrial"/>
              <a:buNone/>
            </a:pPr>
            <a:r>
              <a:rPr lang="en-US" sz="2400" b="1" i="0" u="none" strike="noStrike" cap="none" dirty="0">
                <a:solidFill>
                  <a:srgbClr val="8B0707"/>
                </a:solidFill>
                <a:latin typeface="Questrial"/>
                <a:ea typeface="Questrial"/>
                <a:cs typeface="Questrial"/>
                <a:sym typeface="Questrial"/>
              </a:rPr>
              <a:t>G3   No live bed data</a:t>
            </a:r>
            <a:endParaRPr sz="2400" b="0" i="0" u="none" strike="noStrike" cap="none" dirty="0">
              <a:solidFill>
                <a:schemeClr val="dk1"/>
              </a:solidFill>
              <a:latin typeface="Questrial"/>
              <a:ea typeface="Questrial"/>
              <a:cs typeface="Questrial"/>
              <a:sym typeface="Questrial"/>
            </a:endParaRPr>
          </a:p>
          <a:p>
            <a:pPr marL="0" marR="0" lvl="0" indent="0" algn="l" rtl="0">
              <a:lnSpc>
                <a:spcPct val="98000"/>
              </a:lnSpc>
              <a:spcBef>
                <a:spcPts val="500"/>
              </a:spcBef>
              <a:spcAft>
                <a:spcPts val="0"/>
              </a:spcAft>
              <a:buClr>
                <a:srgbClr val="2B2020"/>
              </a:buClr>
              <a:buSzPts val="1700"/>
              <a:buFont typeface="Questrial"/>
              <a:buNone/>
            </a:pPr>
            <a:r>
              <a:rPr lang="en-US" sz="2400" b="0" i="0" u="none" strike="noStrike" cap="none" dirty="0">
                <a:solidFill>
                  <a:srgbClr val="2B2020"/>
                </a:solidFill>
                <a:latin typeface="Questrial"/>
                <a:ea typeface="Questrial"/>
                <a:cs typeface="Questrial"/>
                <a:sym typeface="Questrial"/>
              </a:rPr>
              <a:t>Registers list licensed beds, not free ones. The nearest hospital on a map may be unable to admit the patient.</a:t>
            </a:r>
            <a:endParaRPr sz="2400" b="0" i="0" u="none" strike="noStrike" cap="none" dirty="0">
              <a:solidFill>
                <a:schemeClr val="dk1"/>
              </a:solidFill>
              <a:latin typeface="Questrial"/>
              <a:ea typeface="Questrial"/>
              <a:cs typeface="Questrial"/>
              <a:sym typeface="Questrial"/>
            </a:endParaRPr>
          </a:p>
        </p:txBody>
      </p:sp>
      <p:sp>
        <p:nvSpPr>
          <p:cNvPr id="79" name="Google Shape;281;p11">
            <a:extLst>
              <a:ext uri="{FF2B5EF4-FFF2-40B4-BE49-F238E27FC236}">
                <a16:creationId xmlns:a16="http://schemas.microsoft.com/office/drawing/2014/main" id="{D49CB166-B7C2-17D1-EEFB-906163DD8E71}"/>
              </a:ext>
            </a:extLst>
          </p:cNvPr>
          <p:cNvSpPr/>
          <p:nvPr/>
        </p:nvSpPr>
        <p:spPr>
          <a:xfrm>
            <a:off x="8138160" y="7741920"/>
            <a:ext cx="1005840" cy="548640"/>
          </a:xfrm>
          <a:prstGeom prst="rightArrow">
            <a:avLst>
              <a:gd name="adj1" fmla="val 50000"/>
              <a:gd name="adj2" fmla="val 60000"/>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1" name="Google Shape;282;p11">
            <a:extLst>
              <a:ext uri="{FF2B5EF4-FFF2-40B4-BE49-F238E27FC236}">
                <a16:creationId xmlns:a16="http://schemas.microsoft.com/office/drawing/2014/main" id="{05328456-4E0A-91C5-9E06-22F887BAB1A6}"/>
              </a:ext>
            </a:extLst>
          </p:cNvPr>
          <p:cNvSpPr/>
          <p:nvPr/>
        </p:nvSpPr>
        <p:spPr>
          <a:xfrm>
            <a:off x="9281160" y="6998208"/>
            <a:ext cx="8183880" cy="2036064"/>
          </a:xfrm>
          <a:prstGeom prst="roundRect">
            <a:avLst>
              <a:gd name="adj" fmla="val 7185"/>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3" name="Google Shape;283;p11">
            <a:extLst>
              <a:ext uri="{FF2B5EF4-FFF2-40B4-BE49-F238E27FC236}">
                <a16:creationId xmlns:a16="http://schemas.microsoft.com/office/drawing/2014/main" id="{67A58F86-D85B-05B4-C6F8-14E28F3E7847}"/>
              </a:ext>
            </a:extLst>
          </p:cNvPr>
          <p:cNvSpPr txBox="1"/>
          <p:nvPr/>
        </p:nvSpPr>
        <p:spPr>
          <a:xfrm>
            <a:off x="9555480" y="7089648"/>
            <a:ext cx="7680960" cy="185318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900"/>
              <a:buFont typeface="Questrial"/>
              <a:buNone/>
            </a:pPr>
            <a:r>
              <a:rPr lang="en-US" sz="2400" b="1" i="0" u="none" strike="noStrike" cap="none" dirty="0">
                <a:solidFill>
                  <a:srgbClr val="FFFFFF"/>
                </a:solidFill>
                <a:latin typeface="Questrial"/>
                <a:ea typeface="Questrial"/>
                <a:cs typeface="Questrial"/>
                <a:sym typeface="Questrial"/>
              </a:rPr>
              <a:t>Software agents over e-mail</a:t>
            </a:r>
            <a:endParaRPr sz="2400" b="0" i="0" u="none" strike="noStrike" cap="none" dirty="0">
              <a:solidFill>
                <a:schemeClr val="dk1"/>
              </a:solidFill>
              <a:latin typeface="Questrial"/>
              <a:ea typeface="Questrial"/>
              <a:cs typeface="Questrial"/>
              <a:sym typeface="Questrial"/>
            </a:endParaRPr>
          </a:p>
          <a:p>
            <a:pPr marL="0" marR="0" lvl="0" indent="0" algn="l" rtl="0">
              <a:lnSpc>
                <a:spcPct val="98000"/>
              </a:lnSpc>
              <a:spcBef>
                <a:spcPts val="500"/>
              </a:spcBef>
              <a:spcAft>
                <a:spcPts val="0"/>
              </a:spcAft>
              <a:buClr>
                <a:srgbClr val="FFFFFF"/>
              </a:buClr>
              <a:buSzPts val="1700"/>
              <a:buFont typeface="Questrial"/>
              <a:buNone/>
            </a:pPr>
            <a:r>
              <a:rPr lang="en-US" sz="2400" b="0" i="0" u="none" strike="noStrike" cap="none" dirty="0">
                <a:solidFill>
                  <a:srgbClr val="FFFFFF"/>
                </a:solidFill>
                <a:latin typeface="Questrial"/>
                <a:ea typeface="Questrial"/>
                <a:cs typeface="Questrial"/>
                <a:sym typeface="Questrial"/>
              </a:rPr>
              <a:t>Agents ask every hospital for its capacity and occupancy each 8-hour cycle (Wooldridge &amp; Jennings, 1995). Validated replies give a bed status with its age, and a report lapses after 12 hours.</a:t>
            </a:r>
            <a:endParaRPr sz="2400" b="0" i="0" u="none" strike="noStrike" cap="none" dirty="0">
              <a:solidFill>
                <a:schemeClr val="dk1"/>
              </a:solidFill>
              <a:latin typeface="Questrial"/>
              <a:ea typeface="Questrial"/>
              <a:cs typeface="Questrial"/>
              <a:sym typeface="Questrial"/>
            </a:endParaRPr>
          </a:p>
        </p:txBody>
      </p:sp>
      <p:sp>
        <p:nvSpPr>
          <p:cNvPr id="85" name="Google Shape;284;p11">
            <a:extLst>
              <a:ext uri="{FF2B5EF4-FFF2-40B4-BE49-F238E27FC236}">
                <a16:creationId xmlns:a16="http://schemas.microsoft.com/office/drawing/2014/main" id="{DED24648-E9C5-ED4B-9B9F-080950535350}"/>
              </a:ext>
            </a:extLst>
          </p:cNvPr>
          <p:cNvSpPr txBox="1"/>
          <p:nvPr/>
        </p:nvSpPr>
        <p:spPr>
          <a:xfrm>
            <a:off x="822960" y="9125712"/>
            <a:ext cx="16642080"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A5656"/>
              </a:buClr>
              <a:buSzPts val="1600"/>
              <a:buFont typeface="Questrial"/>
              <a:buNone/>
            </a:pPr>
            <a:r>
              <a:rPr lang="en-US" sz="2400" b="0" i="1" u="none" strike="noStrike" cap="none" dirty="0">
                <a:solidFill>
                  <a:schemeClr val="bg1"/>
                </a:solidFill>
                <a:latin typeface="Questrial"/>
                <a:ea typeface="Questrial"/>
                <a:cs typeface="Questrial"/>
                <a:sym typeface="Questrial"/>
              </a:rPr>
              <a:t>Figure 1. Research gaps under each main point (left) and the theories and concepts used to address them (right)</a:t>
            </a:r>
            <a:endParaRPr sz="2400" b="0" i="0" u="none" strike="noStrike" cap="none" dirty="0">
              <a:solidFill>
                <a:schemeClr val="bg1"/>
              </a:solidFill>
              <a:latin typeface="Questrial"/>
              <a:ea typeface="Questrial"/>
              <a:cs typeface="Questrial"/>
              <a:sym typeface="Questrial"/>
            </a:endParaRPr>
          </a:p>
        </p:txBody>
      </p:sp>
    </p:spTree>
    <p:extLst>
      <p:ext uri="{BB962C8B-B14F-4D97-AF65-F5344CB8AC3E}">
        <p14:creationId xmlns:p14="http://schemas.microsoft.com/office/powerpoint/2010/main" val="13435169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5C7B3BE6-1347-1FB5-5C4D-7032FCB7FF36}"/>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ABC5331F-DFBF-D657-4500-1B6B5FCD2359}"/>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291;p12">
            <a:extLst>
              <a:ext uri="{FF2B5EF4-FFF2-40B4-BE49-F238E27FC236}">
                <a16:creationId xmlns:a16="http://schemas.microsoft.com/office/drawing/2014/main" id="{62F1585C-6425-A1E4-4550-9B4161BC2333}"/>
              </a:ext>
            </a:extLst>
          </p:cNvPr>
          <p:cNvGrpSpPr/>
          <p:nvPr/>
        </p:nvGrpSpPr>
        <p:grpSpPr>
          <a:xfrm>
            <a:off x="-514350" y="-1248816"/>
            <a:ext cx="19524889" cy="2953915"/>
            <a:chOff x="0" y="-76200"/>
            <a:chExt cx="5142358" cy="777986"/>
          </a:xfrm>
        </p:grpSpPr>
        <p:sp>
          <p:nvSpPr>
            <p:cNvPr id="3" name="Google Shape;292;p12">
              <a:extLst>
                <a:ext uri="{FF2B5EF4-FFF2-40B4-BE49-F238E27FC236}">
                  <a16:creationId xmlns:a16="http://schemas.microsoft.com/office/drawing/2014/main" id="{F8EB9DF3-77E8-5BE1-8CD9-356E8A2923DD}"/>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293;p12">
              <a:extLst>
                <a:ext uri="{FF2B5EF4-FFF2-40B4-BE49-F238E27FC236}">
                  <a16:creationId xmlns:a16="http://schemas.microsoft.com/office/drawing/2014/main" id="{EF606AE6-174E-FF31-8B82-03BF7FC42091}"/>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 name="Google Shape;294;p12">
            <a:extLst>
              <a:ext uri="{FF2B5EF4-FFF2-40B4-BE49-F238E27FC236}">
                <a16:creationId xmlns:a16="http://schemas.microsoft.com/office/drawing/2014/main" id="{6A387CF0-6742-7899-5288-5228EF192DFE}"/>
              </a:ext>
            </a:extLst>
          </p:cNvPr>
          <p:cNvSpPr txBox="1"/>
          <p:nvPr/>
        </p:nvSpPr>
        <p:spPr>
          <a:xfrm>
            <a:off x="213886" y="295817"/>
            <a:ext cx="18394916" cy="747897"/>
          </a:xfrm>
          <a:prstGeom prst="rect">
            <a:avLst/>
          </a:prstGeom>
          <a:noFill/>
          <a:ln>
            <a:noFill/>
          </a:ln>
        </p:spPr>
        <p:txBody>
          <a:bodyPr spcFirstLastPara="1" wrap="square" lIns="0" tIns="0" rIns="0" bIns="0" anchor="t" anchorCtr="0">
            <a:spAutoFit/>
          </a:bodyPr>
          <a:lstStyle/>
          <a:p>
            <a:pPr marL="0" marR="0" lvl="0" indent="0" algn="l" rtl="0">
              <a:lnSpc>
                <a:spcPct val="89998"/>
              </a:lnSpc>
              <a:spcBef>
                <a:spcPts val="0"/>
              </a:spcBef>
              <a:spcAft>
                <a:spcPts val="0"/>
              </a:spcAft>
              <a:buNone/>
            </a:pPr>
            <a:r>
              <a:rPr lang="en-US" sz="5400" b="0" i="0" u="none" strike="noStrike" cap="none" dirty="0">
                <a:solidFill>
                  <a:srgbClr val="FFFFFF"/>
                </a:solidFill>
                <a:latin typeface="Questrial"/>
                <a:ea typeface="Questrial"/>
                <a:cs typeface="Questrial"/>
                <a:sym typeface="Questrial"/>
              </a:rPr>
              <a:t>THEORETICAL/CONCEPTUAL FRAMEWORK PARADIGM</a:t>
            </a:r>
            <a:endParaRPr sz="5400" dirty="0"/>
          </a:p>
        </p:txBody>
      </p:sp>
      <p:sp>
        <p:nvSpPr>
          <p:cNvPr id="6" name="Google Shape;295;p12">
            <a:extLst>
              <a:ext uri="{FF2B5EF4-FFF2-40B4-BE49-F238E27FC236}">
                <a16:creationId xmlns:a16="http://schemas.microsoft.com/office/drawing/2014/main" id="{66EAA521-21F1-4966-47BE-B0640377E876}"/>
              </a:ext>
            </a:extLst>
          </p:cNvPr>
          <p:cNvSpPr txBox="1"/>
          <p:nvPr/>
        </p:nvSpPr>
        <p:spPr>
          <a:xfrm>
            <a:off x="213970" y="1060704"/>
            <a:ext cx="17373600" cy="4572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FFFFFF"/>
              </a:buClr>
              <a:buSzPts val="2400"/>
              <a:buFont typeface="Questrial"/>
              <a:buNone/>
            </a:pPr>
            <a:r>
              <a:rPr lang="en-US" sz="2000" b="0" i="0" u="none" strike="noStrike" cap="none" dirty="0">
                <a:solidFill>
                  <a:srgbClr val="FFFFFF"/>
                </a:solidFill>
                <a:latin typeface="Questrial"/>
                <a:ea typeface="Questrial"/>
                <a:cs typeface="Questrial"/>
                <a:sym typeface="Questrial"/>
              </a:rPr>
              <a:t>Conceptual Paradigm</a:t>
            </a:r>
            <a:endParaRPr sz="2000" b="0" i="0" u="none" strike="noStrike" cap="none" dirty="0">
              <a:solidFill>
                <a:schemeClr val="dk1"/>
              </a:solidFill>
              <a:latin typeface="Questrial"/>
              <a:ea typeface="Questrial"/>
              <a:cs typeface="Questrial"/>
              <a:sym typeface="Questrial"/>
            </a:endParaRPr>
          </a:p>
        </p:txBody>
      </p:sp>
      <p:sp>
        <p:nvSpPr>
          <p:cNvPr id="7" name="Google Shape;296;p12">
            <a:extLst>
              <a:ext uri="{FF2B5EF4-FFF2-40B4-BE49-F238E27FC236}">
                <a16:creationId xmlns:a16="http://schemas.microsoft.com/office/drawing/2014/main" id="{3E2D95C7-FC6A-D37E-C39A-DD4268220ABA}"/>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2000" b="0" i="0" u="none" strike="noStrike" cap="none">
                <a:solidFill>
                  <a:srgbClr val="8B0707"/>
                </a:solidFill>
                <a:latin typeface="Questrial"/>
                <a:ea typeface="Questrial"/>
                <a:cs typeface="Questrial"/>
                <a:sym typeface="Questrial"/>
              </a:rPr>
              <a:t>12</a:t>
            </a:r>
            <a:endParaRPr sz="2000" b="0" i="0" u="none" strike="noStrike" cap="none">
              <a:solidFill>
                <a:schemeClr val="dk1"/>
              </a:solidFill>
              <a:latin typeface="Questrial"/>
              <a:ea typeface="Questrial"/>
              <a:cs typeface="Questrial"/>
              <a:sym typeface="Questrial"/>
            </a:endParaRPr>
          </a:p>
        </p:txBody>
      </p:sp>
      <p:sp>
        <p:nvSpPr>
          <p:cNvPr id="8" name="Google Shape;297;p12">
            <a:extLst>
              <a:ext uri="{FF2B5EF4-FFF2-40B4-BE49-F238E27FC236}">
                <a16:creationId xmlns:a16="http://schemas.microsoft.com/office/drawing/2014/main" id="{8306D367-4D0C-9BEF-6A63-7FE733CADE7D}"/>
              </a:ext>
            </a:extLst>
          </p:cNvPr>
          <p:cNvSpPr/>
          <p:nvPr/>
        </p:nvSpPr>
        <p:spPr>
          <a:xfrm>
            <a:off x="822960" y="2103120"/>
            <a:ext cx="4572000" cy="621792"/>
          </a:xfrm>
          <a:prstGeom prst="rect">
            <a:avLst/>
          </a:prstGeom>
          <a:solidFill>
            <a:srgbClr val="8B0707"/>
          </a:solid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FFFFFF"/>
              </a:buClr>
              <a:buSzPts val="2200"/>
              <a:buFont typeface="Questrial"/>
              <a:buNone/>
            </a:pPr>
            <a:r>
              <a:rPr lang="en-US" sz="2000" b="1" i="0" u="none" strike="noStrike" cap="none">
                <a:solidFill>
                  <a:srgbClr val="FFFFFF"/>
                </a:solidFill>
                <a:latin typeface="Questrial"/>
                <a:ea typeface="Questrial"/>
                <a:cs typeface="Questrial"/>
                <a:sym typeface="Questrial"/>
              </a:rPr>
              <a:t>INPUT</a:t>
            </a:r>
            <a:endParaRPr sz="2000" b="0" i="0" u="none" strike="noStrike" cap="none">
              <a:solidFill>
                <a:schemeClr val="dk1"/>
              </a:solidFill>
              <a:latin typeface="Questrial"/>
              <a:ea typeface="Questrial"/>
              <a:cs typeface="Questrial"/>
              <a:sym typeface="Questrial"/>
            </a:endParaRPr>
          </a:p>
        </p:txBody>
      </p:sp>
      <p:sp>
        <p:nvSpPr>
          <p:cNvPr id="9" name="Google Shape;298;p12">
            <a:extLst>
              <a:ext uri="{FF2B5EF4-FFF2-40B4-BE49-F238E27FC236}">
                <a16:creationId xmlns:a16="http://schemas.microsoft.com/office/drawing/2014/main" id="{750875C0-1B4D-E33D-46AC-897F9B45C95E}"/>
              </a:ext>
            </a:extLst>
          </p:cNvPr>
          <p:cNvSpPr/>
          <p:nvPr/>
        </p:nvSpPr>
        <p:spPr>
          <a:xfrm>
            <a:off x="822960" y="2724912"/>
            <a:ext cx="4572000" cy="5230368"/>
          </a:xfrm>
          <a:prstGeom prst="rect">
            <a:avLst/>
          </a:prstGeom>
          <a:solidFill>
            <a:srgbClr val="FFFFFF">
              <a:alpha val="94902"/>
            </a:srgbClr>
          </a:solidFill>
          <a:ln w="19050"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0" name="Google Shape;299;p12">
            <a:extLst>
              <a:ext uri="{FF2B5EF4-FFF2-40B4-BE49-F238E27FC236}">
                <a16:creationId xmlns:a16="http://schemas.microsoft.com/office/drawing/2014/main" id="{32CBA326-86A9-5761-A460-2C8A897F0C86}"/>
              </a:ext>
            </a:extLst>
          </p:cNvPr>
          <p:cNvSpPr/>
          <p:nvPr/>
        </p:nvSpPr>
        <p:spPr>
          <a:xfrm>
            <a:off x="6035040" y="2103120"/>
            <a:ext cx="5577840" cy="621792"/>
          </a:xfrm>
          <a:prstGeom prst="rect">
            <a:avLst/>
          </a:prstGeom>
          <a:solidFill>
            <a:srgbClr val="8B0707"/>
          </a:solid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FFFFFF"/>
              </a:buClr>
              <a:buSzPts val="2200"/>
              <a:buFont typeface="Questrial"/>
              <a:buNone/>
            </a:pPr>
            <a:r>
              <a:rPr lang="en-US" sz="2000" b="1" i="0" u="none" strike="noStrike" cap="none">
                <a:solidFill>
                  <a:srgbClr val="FFFFFF"/>
                </a:solidFill>
                <a:latin typeface="Questrial"/>
                <a:ea typeface="Questrial"/>
                <a:cs typeface="Questrial"/>
                <a:sym typeface="Questrial"/>
              </a:rPr>
              <a:t>PROCESS</a:t>
            </a:r>
            <a:endParaRPr sz="2000" b="0" i="0" u="none" strike="noStrike" cap="none">
              <a:solidFill>
                <a:schemeClr val="dk1"/>
              </a:solidFill>
              <a:latin typeface="Questrial"/>
              <a:ea typeface="Questrial"/>
              <a:cs typeface="Questrial"/>
              <a:sym typeface="Questrial"/>
            </a:endParaRPr>
          </a:p>
        </p:txBody>
      </p:sp>
      <p:sp>
        <p:nvSpPr>
          <p:cNvPr id="11" name="Google Shape;300;p12">
            <a:extLst>
              <a:ext uri="{FF2B5EF4-FFF2-40B4-BE49-F238E27FC236}">
                <a16:creationId xmlns:a16="http://schemas.microsoft.com/office/drawing/2014/main" id="{610A2759-9B1C-6D61-C821-733B8F759FA1}"/>
              </a:ext>
            </a:extLst>
          </p:cNvPr>
          <p:cNvSpPr/>
          <p:nvPr/>
        </p:nvSpPr>
        <p:spPr>
          <a:xfrm>
            <a:off x="6035040" y="2724912"/>
            <a:ext cx="5577840" cy="5230368"/>
          </a:xfrm>
          <a:prstGeom prst="rect">
            <a:avLst/>
          </a:prstGeom>
          <a:solidFill>
            <a:srgbClr val="FFFFFF">
              <a:alpha val="94902"/>
            </a:srgbClr>
          </a:solidFill>
          <a:ln w="19050"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2" name="Google Shape;301;p12">
            <a:extLst>
              <a:ext uri="{FF2B5EF4-FFF2-40B4-BE49-F238E27FC236}">
                <a16:creationId xmlns:a16="http://schemas.microsoft.com/office/drawing/2014/main" id="{96754A82-CC71-CAB3-8B67-63B80C2D4965}"/>
              </a:ext>
            </a:extLst>
          </p:cNvPr>
          <p:cNvSpPr/>
          <p:nvPr/>
        </p:nvSpPr>
        <p:spPr>
          <a:xfrm>
            <a:off x="12298680" y="2103120"/>
            <a:ext cx="5166360" cy="621792"/>
          </a:xfrm>
          <a:prstGeom prst="rect">
            <a:avLst/>
          </a:prstGeom>
          <a:solidFill>
            <a:srgbClr val="8B0707"/>
          </a:solid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FFFFFF"/>
              </a:buClr>
              <a:buSzPts val="2200"/>
              <a:buFont typeface="Questrial"/>
              <a:buNone/>
            </a:pPr>
            <a:r>
              <a:rPr lang="en-US" sz="2000" b="1" i="0" u="none" strike="noStrike" cap="none">
                <a:solidFill>
                  <a:srgbClr val="FFFFFF"/>
                </a:solidFill>
                <a:latin typeface="Questrial"/>
                <a:ea typeface="Questrial"/>
                <a:cs typeface="Questrial"/>
                <a:sym typeface="Questrial"/>
              </a:rPr>
              <a:t>OUTPUT</a:t>
            </a:r>
            <a:endParaRPr sz="2000" b="0" i="0" u="none" strike="noStrike" cap="none">
              <a:solidFill>
                <a:schemeClr val="dk1"/>
              </a:solidFill>
              <a:latin typeface="Questrial"/>
              <a:ea typeface="Questrial"/>
              <a:cs typeface="Questrial"/>
              <a:sym typeface="Questrial"/>
            </a:endParaRPr>
          </a:p>
        </p:txBody>
      </p:sp>
      <p:sp>
        <p:nvSpPr>
          <p:cNvPr id="13" name="Google Shape;302;p12">
            <a:extLst>
              <a:ext uri="{FF2B5EF4-FFF2-40B4-BE49-F238E27FC236}">
                <a16:creationId xmlns:a16="http://schemas.microsoft.com/office/drawing/2014/main" id="{BA51606F-6B76-F581-4481-02F456ED5579}"/>
              </a:ext>
            </a:extLst>
          </p:cNvPr>
          <p:cNvSpPr/>
          <p:nvPr/>
        </p:nvSpPr>
        <p:spPr>
          <a:xfrm>
            <a:off x="12298680" y="2724912"/>
            <a:ext cx="5166360" cy="5230368"/>
          </a:xfrm>
          <a:prstGeom prst="rect">
            <a:avLst/>
          </a:prstGeom>
          <a:solidFill>
            <a:srgbClr val="FFFFFF">
              <a:alpha val="94902"/>
            </a:srgbClr>
          </a:solidFill>
          <a:ln w="19050"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4" name="Google Shape;303;p12">
            <a:extLst>
              <a:ext uri="{FF2B5EF4-FFF2-40B4-BE49-F238E27FC236}">
                <a16:creationId xmlns:a16="http://schemas.microsoft.com/office/drawing/2014/main" id="{777D488B-88DA-8E57-13D9-C30A44CCB017}"/>
              </a:ext>
            </a:extLst>
          </p:cNvPr>
          <p:cNvSpPr/>
          <p:nvPr/>
        </p:nvSpPr>
        <p:spPr>
          <a:xfrm>
            <a:off x="5532120" y="4956048"/>
            <a:ext cx="548640" cy="768096"/>
          </a:xfrm>
          <a:prstGeom prst="rightArrow">
            <a:avLst>
              <a:gd name="adj1" fmla="val 50000"/>
              <a:gd name="adj2" fmla="val 55000"/>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5" name="Google Shape;304;p12">
            <a:extLst>
              <a:ext uri="{FF2B5EF4-FFF2-40B4-BE49-F238E27FC236}">
                <a16:creationId xmlns:a16="http://schemas.microsoft.com/office/drawing/2014/main" id="{865D271A-7D0B-DBDE-5464-4039BCE607FE}"/>
              </a:ext>
            </a:extLst>
          </p:cNvPr>
          <p:cNvSpPr/>
          <p:nvPr/>
        </p:nvSpPr>
        <p:spPr>
          <a:xfrm>
            <a:off x="11750040" y="4956048"/>
            <a:ext cx="548640" cy="768096"/>
          </a:xfrm>
          <a:prstGeom prst="rightArrow">
            <a:avLst>
              <a:gd name="adj1" fmla="val 50000"/>
              <a:gd name="adj2" fmla="val 55000"/>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6" name="Google Shape;305;p12">
            <a:extLst>
              <a:ext uri="{FF2B5EF4-FFF2-40B4-BE49-F238E27FC236}">
                <a16:creationId xmlns:a16="http://schemas.microsoft.com/office/drawing/2014/main" id="{929D926B-BE09-5983-FDDB-68C22DF75A14}"/>
              </a:ext>
            </a:extLst>
          </p:cNvPr>
          <p:cNvSpPr txBox="1"/>
          <p:nvPr/>
        </p:nvSpPr>
        <p:spPr>
          <a:xfrm>
            <a:off x="1097280" y="2953512"/>
            <a:ext cx="4069080" cy="4864608"/>
          </a:xfrm>
          <a:prstGeom prst="rect">
            <a:avLst/>
          </a:prstGeom>
          <a:noFill/>
          <a:ln>
            <a:noFill/>
          </a:ln>
        </p:spPr>
        <p:txBody>
          <a:bodyPr spcFirstLastPara="1" wrap="square" lIns="0" tIns="0" rIns="0" bIns="0" anchor="t" anchorCtr="0">
            <a:noAutofit/>
          </a:bodyPr>
          <a:lstStyle/>
          <a:p>
            <a:pPr marL="292608" marR="0" lvl="0" indent="-292608" algn="l" rtl="0">
              <a:lnSpc>
                <a:spcPct val="98000"/>
              </a:lnSpc>
              <a:spcBef>
                <a:spcPts val="0"/>
              </a:spcBef>
              <a:spcAft>
                <a:spcPts val="0"/>
              </a:spcAft>
              <a:buClr>
                <a:srgbClr val="8B0707"/>
              </a:buClr>
              <a:buSzPts val="1800"/>
              <a:buFont typeface="Arial"/>
              <a:buChar char="•"/>
            </a:pPr>
            <a:r>
              <a:rPr lang="en-US" sz="2000" b="0" i="0" u="none" strike="noStrike" cap="none" dirty="0">
                <a:solidFill>
                  <a:srgbClr val="2B2020"/>
                </a:solidFill>
                <a:latin typeface="Questrial"/>
                <a:ea typeface="Questrial"/>
                <a:cs typeface="Questrial"/>
                <a:sym typeface="Questrial"/>
              </a:rPr>
              <a:t>OpenStreetMap roads and road limits</a:t>
            </a:r>
            <a:endParaRPr sz="20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800"/>
              <a:buFont typeface="Arial"/>
              <a:buChar char="•"/>
            </a:pPr>
            <a:r>
              <a:rPr lang="en-US" sz="2000" b="0" i="0" u="none" strike="noStrike" cap="none" dirty="0">
                <a:solidFill>
                  <a:srgbClr val="2B2020"/>
                </a:solidFill>
                <a:latin typeface="Questrial"/>
                <a:ea typeface="Questrial"/>
                <a:cs typeface="Questrial"/>
                <a:sym typeface="Questrial"/>
              </a:rPr>
              <a:t>PSA 2020 census and PSGC codes</a:t>
            </a:r>
            <a:endParaRPr sz="20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800"/>
              <a:buFont typeface="Arial"/>
              <a:buChar char="•"/>
            </a:pPr>
            <a:r>
              <a:rPr lang="en-US" sz="2000" b="0" i="0" u="none" strike="noStrike" cap="none" dirty="0">
                <a:solidFill>
                  <a:srgbClr val="2B2020"/>
                </a:solidFill>
                <a:latin typeface="Questrial"/>
                <a:ea typeface="Questrial"/>
                <a:cs typeface="Questrial"/>
                <a:sym typeface="Questrial"/>
              </a:rPr>
              <a:t>DOH facility registry and hospital levels</a:t>
            </a:r>
            <a:endParaRPr sz="20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800"/>
              <a:buFont typeface="Arial"/>
              <a:buChar char="•"/>
            </a:pPr>
            <a:r>
              <a:rPr lang="en-US" sz="2000" b="0" i="0" u="none" strike="noStrike" cap="none" dirty="0">
                <a:solidFill>
                  <a:srgbClr val="2B2020"/>
                </a:solidFill>
                <a:latin typeface="Questrial"/>
                <a:ea typeface="Questrial"/>
                <a:cs typeface="Questrial"/>
                <a:sym typeface="Questrial"/>
              </a:rPr>
              <a:t>PhilHealth and Malasakit Center lists</a:t>
            </a:r>
            <a:endParaRPr sz="20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800"/>
              <a:buFont typeface="Arial"/>
              <a:buChar char="•"/>
            </a:pPr>
            <a:r>
              <a:rPr lang="en-US" sz="2000" b="0" i="0" u="none" strike="noStrike" cap="none" dirty="0">
                <a:solidFill>
                  <a:srgbClr val="2B2020"/>
                </a:solidFill>
                <a:latin typeface="Questrial"/>
                <a:ea typeface="Questrial"/>
                <a:cs typeface="Questrial"/>
                <a:sym typeface="Questrial"/>
              </a:rPr>
              <a:t>DepEd school </a:t>
            </a:r>
            <a:r>
              <a:rPr lang="en-US" sz="2000" b="0" i="0" u="none" strike="noStrike" cap="none" dirty="0" err="1">
                <a:solidFill>
                  <a:srgbClr val="2B2020"/>
                </a:solidFill>
                <a:latin typeface="Questrial"/>
                <a:ea typeface="Questrial"/>
                <a:cs typeface="Questrial"/>
                <a:sym typeface="Questrial"/>
              </a:rPr>
              <a:t>masterlist</a:t>
            </a:r>
            <a:r>
              <a:rPr lang="en-US" sz="2000" b="0" i="0" u="none" strike="noStrike" cap="none" dirty="0">
                <a:solidFill>
                  <a:srgbClr val="2B2020"/>
                </a:solidFill>
                <a:latin typeface="Questrial"/>
                <a:ea typeface="Questrial"/>
                <a:cs typeface="Questrial"/>
                <a:sym typeface="Questrial"/>
              </a:rPr>
              <a:t>; PPA ports</a:t>
            </a:r>
            <a:endParaRPr sz="20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800"/>
              <a:buFont typeface="Arial"/>
              <a:buChar char="•"/>
            </a:pPr>
            <a:r>
              <a:rPr lang="en-US" sz="2000" b="0" i="0" u="none" strike="noStrike" cap="none" dirty="0">
                <a:solidFill>
                  <a:srgbClr val="2B2020"/>
                </a:solidFill>
                <a:latin typeface="Questrial"/>
                <a:ea typeface="Questrial"/>
                <a:cs typeface="Questrial"/>
                <a:sym typeface="Questrial"/>
              </a:rPr>
              <a:t>LTFRB fares of September 28, 2026</a:t>
            </a:r>
            <a:endParaRPr sz="20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800"/>
              <a:buFont typeface="Arial"/>
              <a:buChar char="•"/>
            </a:pPr>
            <a:r>
              <a:rPr lang="en-US" sz="2000" b="0" i="0" u="none" strike="noStrike" cap="none" dirty="0">
                <a:solidFill>
                  <a:srgbClr val="2B2020"/>
                </a:solidFill>
                <a:latin typeface="Questrial"/>
                <a:ea typeface="Questrial"/>
                <a:cs typeface="Questrial"/>
                <a:sym typeface="Questrial"/>
              </a:rPr>
              <a:t>Model parameters: 30-minute budget, 4.5 km/h walking, 10 vehicle classes</a:t>
            </a:r>
            <a:endParaRPr sz="2000" b="0" i="0" u="none" strike="noStrike" cap="none" dirty="0">
              <a:solidFill>
                <a:schemeClr val="dk1"/>
              </a:solidFill>
              <a:latin typeface="Questrial"/>
              <a:ea typeface="Questrial"/>
              <a:cs typeface="Questrial"/>
              <a:sym typeface="Questrial"/>
            </a:endParaRPr>
          </a:p>
        </p:txBody>
      </p:sp>
      <p:sp>
        <p:nvSpPr>
          <p:cNvPr id="17" name="Google Shape;306;p12">
            <a:extLst>
              <a:ext uri="{FF2B5EF4-FFF2-40B4-BE49-F238E27FC236}">
                <a16:creationId xmlns:a16="http://schemas.microsoft.com/office/drawing/2014/main" id="{B3263766-B619-54C2-8CEB-055A219C82C3}"/>
              </a:ext>
            </a:extLst>
          </p:cNvPr>
          <p:cNvSpPr txBox="1"/>
          <p:nvPr/>
        </p:nvSpPr>
        <p:spPr>
          <a:xfrm>
            <a:off x="6309360" y="2999232"/>
            <a:ext cx="5074920" cy="4773168"/>
          </a:xfrm>
          <a:prstGeom prst="rect">
            <a:avLst/>
          </a:prstGeom>
          <a:noFill/>
          <a:ln>
            <a:noFill/>
          </a:ln>
        </p:spPr>
        <p:txBody>
          <a:bodyPr spcFirstLastPara="1" wrap="square" lIns="0" tIns="0" rIns="0" bIns="0" anchor="t" anchorCtr="0">
            <a:noAutofit/>
          </a:bodyPr>
          <a:lstStyle/>
          <a:p>
            <a:pPr marL="411480" marR="0" lvl="0" indent="-411480" algn="l" rtl="0">
              <a:lnSpc>
                <a:spcPct val="98000"/>
              </a:lnSpc>
              <a:spcBef>
                <a:spcPts val="0"/>
              </a:spcBef>
              <a:spcAft>
                <a:spcPts val="0"/>
              </a:spcAft>
              <a:buClr>
                <a:srgbClr val="8B0707"/>
              </a:buClr>
              <a:buSzPts val="1850"/>
              <a:buFont typeface="Questrial"/>
              <a:buAutoNum type="arabicPeriod"/>
            </a:pPr>
            <a:r>
              <a:rPr lang="en-US" sz="2000" b="0" i="0" u="none" strike="noStrike" cap="none">
                <a:solidFill>
                  <a:srgbClr val="2B2020"/>
                </a:solidFill>
                <a:latin typeface="Questrial"/>
                <a:ea typeface="Questrial"/>
                <a:cs typeface="Questrial"/>
                <a:sym typeface="Questrial"/>
              </a:rPr>
              <a:t>Build the road graph and the landmark set</a:t>
            </a:r>
            <a:endParaRPr sz="2000" b="0" i="0" u="none" strike="noStrike" cap="none">
              <a:solidFill>
                <a:schemeClr val="dk1"/>
              </a:solidFill>
              <a:latin typeface="Questrial"/>
              <a:ea typeface="Questrial"/>
              <a:cs typeface="Questrial"/>
              <a:sym typeface="Questrial"/>
            </a:endParaRPr>
          </a:p>
          <a:p>
            <a:pPr marL="411480" marR="0" lvl="0" indent="-411480" algn="l" rtl="0">
              <a:lnSpc>
                <a:spcPct val="98000"/>
              </a:lnSpc>
              <a:spcBef>
                <a:spcPts val="800"/>
              </a:spcBef>
              <a:spcAft>
                <a:spcPts val="0"/>
              </a:spcAft>
              <a:buClr>
                <a:srgbClr val="8B0707"/>
              </a:buClr>
              <a:buSzPts val="1850"/>
              <a:buFont typeface="Questrial"/>
              <a:buAutoNum type="arabicPeriod"/>
            </a:pPr>
            <a:r>
              <a:rPr lang="en-US" sz="2000" b="0" i="0" u="none" strike="noStrike" cap="none">
                <a:solidFill>
                  <a:srgbClr val="2B2020"/>
                </a:solidFill>
                <a:latin typeface="Questrial"/>
                <a:ea typeface="Questrial"/>
                <a:cs typeface="Questrial"/>
                <a:sym typeface="Questrial"/>
              </a:rPr>
              <a:t>Infer routes and headways; validate the GTFS feed</a:t>
            </a:r>
            <a:endParaRPr sz="2000" b="0" i="0" u="none" strike="noStrike" cap="none">
              <a:solidFill>
                <a:schemeClr val="dk1"/>
              </a:solidFill>
              <a:latin typeface="Questrial"/>
              <a:ea typeface="Questrial"/>
              <a:cs typeface="Questrial"/>
              <a:sym typeface="Questrial"/>
            </a:endParaRPr>
          </a:p>
          <a:p>
            <a:pPr marL="411480" marR="0" lvl="0" indent="-411480" algn="l" rtl="0">
              <a:lnSpc>
                <a:spcPct val="98000"/>
              </a:lnSpc>
              <a:spcBef>
                <a:spcPts val="800"/>
              </a:spcBef>
              <a:spcAft>
                <a:spcPts val="0"/>
              </a:spcAft>
              <a:buClr>
                <a:srgbClr val="8B0707"/>
              </a:buClr>
              <a:buSzPts val="1850"/>
              <a:buFont typeface="Questrial"/>
              <a:buAutoNum type="arabicPeriod"/>
            </a:pPr>
            <a:r>
              <a:rPr lang="en-US" sz="2000" b="0" i="0" u="none" strike="noStrike" cap="none">
                <a:solidFill>
                  <a:srgbClr val="2B2020"/>
                </a:solidFill>
                <a:latin typeface="Questrial"/>
                <a:ea typeface="Questrial"/>
                <a:cs typeface="Questrial"/>
                <a:sym typeface="Questrial"/>
              </a:rPr>
              <a:t>Compute earliest arrivals and fares between landmarks</a:t>
            </a:r>
            <a:endParaRPr sz="2000" b="0" i="0" u="none" strike="noStrike" cap="none">
              <a:solidFill>
                <a:schemeClr val="dk1"/>
              </a:solidFill>
              <a:latin typeface="Questrial"/>
              <a:ea typeface="Questrial"/>
              <a:cs typeface="Questrial"/>
              <a:sym typeface="Questrial"/>
            </a:endParaRPr>
          </a:p>
          <a:p>
            <a:pPr marL="411480" marR="0" lvl="0" indent="-411480" algn="l" rtl="0">
              <a:lnSpc>
                <a:spcPct val="98000"/>
              </a:lnSpc>
              <a:spcBef>
                <a:spcPts val="800"/>
              </a:spcBef>
              <a:spcAft>
                <a:spcPts val="0"/>
              </a:spcAft>
              <a:buClr>
                <a:srgbClr val="8B0707"/>
              </a:buClr>
              <a:buSzPts val="1850"/>
              <a:buFont typeface="Questrial"/>
              <a:buAutoNum type="arabicPeriod"/>
            </a:pPr>
            <a:r>
              <a:rPr lang="en-US" sz="2000" b="0" i="0" u="none" strike="noStrike" cap="none">
                <a:solidFill>
                  <a:srgbClr val="2B2020"/>
                </a:solidFill>
                <a:latin typeface="Questrial"/>
                <a:ea typeface="Questrial"/>
                <a:cs typeface="Questrial"/>
                <a:sym typeface="Questrial"/>
              </a:rPr>
              <a:t>Count landmarks within 30 minutes; measure inequality</a:t>
            </a:r>
            <a:endParaRPr sz="2000" b="0" i="0" u="none" strike="noStrike" cap="none">
              <a:solidFill>
                <a:schemeClr val="dk1"/>
              </a:solidFill>
              <a:latin typeface="Questrial"/>
              <a:ea typeface="Questrial"/>
              <a:cs typeface="Questrial"/>
              <a:sym typeface="Questrial"/>
            </a:endParaRPr>
          </a:p>
          <a:p>
            <a:pPr marL="411480" marR="0" lvl="0" indent="-411480" algn="l" rtl="0">
              <a:lnSpc>
                <a:spcPct val="98000"/>
              </a:lnSpc>
              <a:spcBef>
                <a:spcPts val="800"/>
              </a:spcBef>
              <a:spcAft>
                <a:spcPts val="0"/>
              </a:spcAft>
              <a:buClr>
                <a:srgbClr val="8B0707"/>
              </a:buClr>
              <a:buSzPts val="1850"/>
              <a:buFont typeface="Questrial"/>
              <a:buAutoNum type="arabicPeriod"/>
            </a:pPr>
            <a:r>
              <a:rPr lang="en-US" sz="2000" b="0" i="0" u="none" strike="noStrike" cap="none">
                <a:solidFill>
                  <a:srgbClr val="2B2020"/>
                </a:solidFill>
                <a:latin typeface="Questrial"/>
                <a:ea typeface="Questrial"/>
                <a:cs typeface="Questrial"/>
                <a:sym typeface="Questrial"/>
              </a:rPr>
              <a:t>Match hospitals to the patient: acuity, level of care, beds, payment</a:t>
            </a:r>
            <a:endParaRPr sz="2000" b="0" i="0" u="none" strike="noStrike" cap="none">
              <a:solidFill>
                <a:schemeClr val="dk1"/>
              </a:solidFill>
              <a:latin typeface="Questrial"/>
              <a:ea typeface="Questrial"/>
              <a:cs typeface="Questrial"/>
              <a:sym typeface="Questrial"/>
            </a:endParaRPr>
          </a:p>
          <a:p>
            <a:pPr marL="411480" marR="0" lvl="0" indent="-411480" algn="l" rtl="0">
              <a:lnSpc>
                <a:spcPct val="98000"/>
              </a:lnSpc>
              <a:spcBef>
                <a:spcPts val="800"/>
              </a:spcBef>
              <a:spcAft>
                <a:spcPts val="0"/>
              </a:spcAft>
              <a:buClr>
                <a:srgbClr val="8B0707"/>
              </a:buClr>
              <a:buSzPts val="1850"/>
              <a:buFont typeface="Questrial"/>
              <a:buAutoNum type="arabicPeriod"/>
            </a:pPr>
            <a:r>
              <a:rPr lang="en-US" sz="2000" b="0" i="0" u="none" strike="noStrike" cap="none">
                <a:solidFill>
                  <a:srgbClr val="2B2020"/>
                </a:solidFill>
                <a:latin typeface="Questrial"/>
                <a:ea typeface="Questrial"/>
                <a:cs typeface="Questrial"/>
                <a:sym typeface="Questrial"/>
              </a:rPr>
              <a:t>Collect bed reports through the e-mail agents</a:t>
            </a:r>
            <a:endParaRPr sz="2000" b="0" i="0" u="none" strike="noStrike" cap="none">
              <a:solidFill>
                <a:schemeClr val="dk1"/>
              </a:solidFill>
              <a:latin typeface="Questrial"/>
              <a:ea typeface="Questrial"/>
              <a:cs typeface="Questrial"/>
              <a:sym typeface="Questrial"/>
            </a:endParaRPr>
          </a:p>
          <a:p>
            <a:pPr marL="411480" marR="0" lvl="0" indent="-411480" algn="l" rtl="0">
              <a:lnSpc>
                <a:spcPct val="98000"/>
              </a:lnSpc>
              <a:spcBef>
                <a:spcPts val="800"/>
              </a:spcBef>
              <a:spcAft>
                <a:spcPts val="0"/>
              </a:spcAft>
              <a:buClr>
                <a:srgbClr val="8B0707"/>
              </a:buClr>
              <a:buSzPts val="1850"/>
              <a:buFont typeface="Questrial"/>
              <a:buAutoNum type="arabicPeriod"/>
            </a:pPr>
            <a:r>
              <a:rPr lang="en-US" sz="2000" b="0" i="0" u="none" strike="noStrike" cap="none">
                <a:solidFill>
                  <a:srgbClr val="2B2020"/>
                </a:solidFill>
                <a:latin typeface="Questrial"/>
                <a:ea typeface="Questrial"/>
                <a:cs typeface="Questrial"/>
                <a:sym typeface="Questrial"/>
              </a:rPr>
              <a:t>Prove the model's properties and verify the code</a:t>
            </a:r>
            <a:endParaRPr sz="2000" b="0" i="0" u="none" strike="noStrike" cap="none">
              <a:solidFill>
                <a:schemeClr val="dk1"/>
              </a:solidFill>
              <a:latin typeface="Questrial"/>
              <a:ea typeface="Questrial"/>
              <a:cs typeface="Questrial"/>
              <a:sym typeface="Questrial"/>
            </a:endParaRPr>
          </a:p>
        </p:txBody>
      </p:sp>
      <p:sp>
        <p:nvSpPr>
          <p:cNvPr id="18" name="Google Shape;307;p12">
            <a:extLst>
              <a:ext uri="{FF2B5EF4-FFF2-40B4-BE49-F238E27FC236}">
                <a16:creationId xmlns:a16="http://schemas.microsoft.com/office/drawing/2014/main" id="{60CDAD29-A51B-B1E4-8FA1-986C9D0BCA98}"/>
              </a:ext>
            </a:extLst>
          </p:cNvPr>
          <p:cNvSpPr txBox="1"/>
          <p:nvPr/>
        </p:nvSpPr>
        <p:spPr>
          <a:xfrm>
            <a:off x="12573000" y="2999232"/>
            <a:ext cx="4663440" cy="4773168"/>
          </a:xfrm>
          <a:prstGeom prst="rect">
            <a:avLst/>
          </a:prstGeom>
          <a:noFill/>
          <a:ln>
            <a:noFill/>
          </a:ln>
        </p:spPr>
        <p:txBody>
          <a:bodyPr spcFirstLastPara="1" wrap="square" lIns="0" tIns="0" rIns="0" bIns="0" anchor="t" anchorCtr="0">
            <a:noAutofit/>
          </a:bodyPr>
          <a:lstStyle/>
          <a:p>
            <a:pPr marL="0" marR="0" lvl="0" indent="0" algn="l" rtl="0">
              <a:lnSpc>
                <a:spcPct val="98000"/>
              </a:lnSpc>
              <a:spcBef>
                <a:spcPts val="0"/>
              </a:spcBef>
              <a:spcAft>
                <a:spcPts val="0"/>
              </a:spcAft>
              <a:buClr>
                <a:srgbClr val="8B0707"/>
              </a:buClr>
              <a:buSzPts val="1850"/>
              <a:buFont typeface="Questrial"/>
              <a:buNone/>
            </a:pPr>
            <a:r>
              <a:rPr lang="en-US" sz="2000" b="1" i="0" u="none" strike="noStrike" cap="none">
                <a:solidFill>
                  <a:srgbClr val="8B0707"/>
                </a:solidFill>
                <a:latin typeface="Questrial"/>
                <a:ea typeface="Questrial"/>
                <a:cs typeface="Questrial"/>
                <a:sym typeface="Questrial"/>
              </a:rPr>
              <a:t>1  Transit map and fare forecast: </a:t>
            </a:r>
            <a:r>
              <a:rPr lang="en-US" sz="2000" b="0" i="0" u="none" strike="noStrike" cap="none">
                <a:solidFill>
                  <a:srgbClr val="2B2020"/>
                </a:solidFill>
                <a:latin typeface="Questrial"/>
                <a:ea typeface="Questrial"/>
                <a:cs typeface="Questrial"/>
                <a:sym typeface="Questrial"/>
              </a:rPr>
              <a:t>open GTFS feed, travel times, and the fare matrix</a:t>
            </a:r>
            <a:endParaRPr sz="2000" b="0" i="0" u="none" strike="noStrike" cap="none">
              <a:solidFill>
                <a:schemeClr val="dk1"/>
              </a:solidFill>
              <a:latin typeface="Questrial"/>
              <a:ea typeface="Questrial"/>
              <a:cs typeface="Questrial"/>
              <a:sym typeface="Questrial"/>
            </a:endParaRPr>
          </a:p>
          <a:p>
            <a:pPr marL="0" marR="0" lvl="0" indent="0" algn="l" rtl="0">
              <a:lnSpc>
                <a:spcPct val="98000"/>
              </a:lnSpc>
              <a:spcBef>
                <a:spcPts val="1100"/>
              </a:spcBef>
              <a:spcAft>
                <a:spcPts val="0"/>
              </a:spcAft>
              <a:buClr>
                <a:srgbClr val="8B0707"/>
              </a:buClr>
              <a:buSzPts val="1850"/>
              <a:buFont typeface="Questrial"/>
              <a:buNone/>
            </a:pPr>
            <a:r>
              <a:rPr lang="en-US" sz="2000" b="1" i="0" u="none" strike="noStrike" cap="none">
                <a:solidFill>
                  <a:srgbClr val="8B0707"/>
                </a:solidFill>
                <a:latin typeface="Questrial"/>
                <a:ea typeface="Questrial"/>
                <a:cs typeface="Questrial"/>
                <a:sym typeface="Questrial"/>
              </a:rPr>
              <a:t>2  Patient transport map: </a:t>
            </a:r>
            <a:r>
              <a:rPr lang="en-US" sz="2000" b="0" i="0" u="none" strike="noStrike" cap="none">
                <a:solidFill>
                  <a:srgbClr val="2B2020"/>
                </a:solidFill>
                <a:latin typeface="Questrial"/>
                <a:ea typeface="Questrial"/>
                <a:cs typeface="Questrial"/>
                <a:sym typeface="Questrial"/>
              </a:rPr>
              <a:t>nearest suitable hospital by ambulance or public transport, and the payment gap</a:t>
            </a:r>
            <a:endParaRPr sz="2000" b="0" i="0" u="none" strike="noStrike" cap="none">
              <a:solidFill>
                <a:schemeClr val="dk1"/>
              </a:solidFill>
              <a:latin typeface="Questrial"/>
              <a:ea typeface="Questrial"/>
              <a:cs typeface="Questrial"/>
              <a:sym typeface="Questrial"/>
            </a:endParaRPr>
          </a:p>
          <a:p>
            <a:pPr marL="0" marR="0" lvl="0" indent="0" algn="l" rtl="0">
              <a:lnSpc>
                <a:spcPct val="98000"/>
              </a:lnSpc>
              <a:spcBef>
                <a:spcPts val="1100"/>
              </a:spcBef>
              <a:spcAft>
                <a:spcPts val="0"/>
              </a:spcAft>
              <a:buClr>
                <a:srgbClr val="8B0707"/>
              </a:buClr>
              <a:buSzPts val="1850"/>
              <a:buFont typeface="Questrial"/>
              <a:buNone/>
            </a:pPr>
            <a:r>
              <a:rPr lang="en-US" sz="2000" b="1" i="0" u="none" strike="noStrike" cap="none">
                <a:solidFill>
                  <a:srgbClr val="8B0707"/>
                </a:solidFill>
                <a:latin typeface="Questrial"/>
                <a:ea typeface="Questrial"/>
                <a:cs typeface="Questrial"/>
                <a:sym typeface="Questrial"/>
              </a:rPr>
              <a:t>3  Hospital bed capacity: </a:t>
            </a:r>
            <a:r>
              <a:rPr lang="en-US" sz="2000" b="0" i="0" u="none" strike="noStrike" cap="none">
                <a:solidFill>
                  <a:srgbClr val="2B2020"/>
                </a:solidFill>
                <a:latin typeface="Questrial"/>
                <a:ea typeface="Questrial"/>
                <a:cs typeface="Questrial"/>
                <a:sym typeface="Questrial"/>
              </a:rPr>
              <a:t>bed status of every hospital in Albay, with its report age</a:t>
            </a:r>
            <a:endParaRPr sz="2000" b="0" i="0" u="none" strike="noStrike" cap="none">
              <a:solidFill>
                <a:schemeClr val="dk1"/>
              </a:solidFill>
              <a:latin typeface="Questrial"/>
              <a:ea typeface="Questrial"/>
              <a:cs typeface="Questrial"/>
              <a:sym typeface="Questrial"/>
            </a:endParaRPr>
          </a:p>
          <a:p>
            <a:pPr marL="0" marR="0" lvl="0" indent="0" algn="l" rtl="0">
              <a:lnSpc>
                <a:spcPct val="98000"/>
              </a:lnSpc>
              <a:spcBef>
                <a:spcPts val="1100"/>
              </a:spcBef>
              <a:spcAft>
                <a:spcPts val="0"/>
              </a:spcAft>
              <a:buClr>
                <a:srgbClr val="6A5656"/>
              </a:buClr>
              <a:buSzPts val="1650"/>
              <a:buFont typeface="Questrial"/>
              <a:buNone/>
            </a:pPr>
            <a:r>
              <a:rPr lang="en-US" sz="2000" b="1" i="0" u="none" strike="noStrike" cap="none">
                <a:solidFill>
                  <a:srgbClr val="6A5656"/>
                </a:solidFill>
                <a:latin typeface="Questrial"/>
                <a:ea typeface="Questrial"/>
                <a:cs typeface="Questrial"/>
                <a:sym typeface="Questrial"/>
              </a:rPr>
              <a:t>Also: </a:t>
            </a:r>
            <a:r>
              <a:rPr lang="en-US" sz="2000" b="0" i="1" u="none" strike="noStrike" cap="none">
                <a:solidFill>
                  <a:srgbClr val="6A5656"/>
                </a:solidFill>
                <a:latin typeface="Questrial"/>
                <a:ea typeface="Questrial"/>
                <a:cs typeface="Questrial"/>
                <a:sym typeface="Questrial"/>
              </a:rPr>
              <a:t>accessibility atlas and inequality figures by anchor and municipality</a:t>
            </a:r>
            <a:endParaRPr sz="2000" b="0" i="0" u="none" strike="noStrike" cap="none">
              <a:solidFill>
                <a:schemeClr val="dk1"/>
              </a:solidFill>
              <a:latin typeface="Questrial"/>
              <a:ea typeface="Questrial"/>
              <a:cs typeface="Questrial"/>
              <a:sym typeface="Questrial"/>
            </a:endParaRPr>
          </a:p>
        </p:txBody>
      </p:sp>
      <p:cxnSp>
        <p:nvCxnSpPr>
          <p:cNvPr id="19" name="Google Shape;308;p12">
            <a:extLst>
              <a:ext uri="{FF2B5EF4-FFF2-40B4-BE49-F238E27FC236}">
                <a16:creationId xmlns:a16="http://schemas.microsoft.com/office/drawing/2014/main" id="{C98D8C99-5003-E032-388B-C8D8F9F982B4}"/>
              </a:ext>
            </a:extLst>
          </p:cNvPr>
          <p:cNvCxnSpPr/>
          <p:nvPr/>
        </p:nvCxnSpPr>
        <p:spPr>
          <a:xfrm>
            <a:off x="14881860" y="7955280"/>
            <a:ext cx="0" cy="493776"/>
          </a:xfrm>
          <a:prstGeom prst="straightConnector1">
            <a:avLst/>
          </a:prstGeom>
          <a:noFill/>
          <a:ln w="31750" cap="flat" cmpd="sng">
            <a:solidFill>
              <a:srgbClr val="8B0707"/>
            </a:solidFill>
            <a:prstDash val="solid"/>
            <a:round/>
            <a:headEnd type="none" w="sm" len="sm"/>
            <a:tailEnd type="none" w="sm" len="sm"/>
          </a:ln>
        </p:spPr>
      </p:cxnSp>
      <p:cxnSp>
        <p:nvCxnSpPr>
          <p:cNvPr id="20" name="Google Shape;309;p12">
            <a:extLst>
              <a:ext uri="{FF2B5EF4-FFF2-40B4-BE49-F238E27FC236}">
                <a16:creationId xmlns:a16="http://schemas.microsoft.com/office/drawing/2014/main" id="{C7C3493C-337C-2108-1A5A-D382303795F8}"/>
              </a:ext>
            </a:extLst>
          </p:cNvPr>
          <p:cNvCxnSpPr/>
          <p:nvPr/>
        </p:nvCxnSpPr>
        <p:spPr>
          <a:xfrm rot="10800000">
            <a:off x="3108960" y="8449056"/>
            <a:ext cx="11772900" cy="0"/>
          </a:xfrm>
          <a:prstGeom prst="straightConnector1">
            <a:avLst/>
          </a:prstGeom>
          <a:noFill/>
          <a:ln w="31750" cap="flat" cmpd="sng">
            <a:solidFill>
              <a:srgbClr val="8B0707"/>
            </a:solidFill>
            <a:prstDash val="solid"/>
            <a:round/>
            <a:headEnd type="none" w="sm" len="sm"/>
            <a:tailEnd type="none" w="sm" len="sm"/>
          </a:ln>
        </p:spPr>
      </p:cxnSp>
      <p:cxnSp>
        <p:nvCxnSpPr>
          <p:cNvPr id="21" name="Google Shape;310;p12">
            <a:extLst>
              <a:ext uri="{FF2B5EF4-FFF2-40B4-BE49-F238E27FC236}">
                <a16:creationId xmlns:a16="http://schemas.microsoft.com/office/drawing/2014/main" id="{9A1AF5DE-3A52-9768-8E9A-FE0CA96EAA69}"/>
              </a:ext>
            </a:extLst>
          </p:cNvPr>
          <p:cNvCxnSpPr/>
          <p:nvPr/>
        </p:nvCxnSpPr>
        <p:spPr>
          <a:xfrm rot="10800000">
            <a:off x="3108960" y="7973568"/>
            <a:ext cx="0" cy="475488"/>
          </a:xfrm>
          <a:prstGeom prst="straightConnector1">
            <a:avLst/>
          </a:prstGeom>
          <a:noFill/>
          <a:ln w="31750" cap="flat" cmpd="sng">
            <a:solidFill>
              <a:srgbClr val="8B0707"/>
            </a:solidFill>
            <a:prstDash val="solid"/>
            <a:round/>
            <a:headEnd type="none" w="sm" len="sm"/>
            <a:tailEnd type="triangle" w="med" len="med"/>
          </a:ln>
        </p:spPr>
      </p:cxnSp>
      <p:sp>
        <p:nvSpPr>
          <p:cNvPr id="22" name="Google Shape;311;p12">
            <a:extLst>
              <a:ext uri="{FF2B5EF4-FFF2-40B4-BE49-F238E27FC236}">
                <a16:creationId xmlns:a16="http://schemas.microsoft.com/office/drawing/2014/main" id="{3AFD4AE2-CB31-DEE5-BACB-6203A3F85932}"/>
              </a:ext>
            </a:extLst>
          </p:cNvPr>
          <p:cNvSpPr/>
          <p:nvPr/>
        </p:nvSpPr>
        <p:spPr>
          <a:xfrm>
            <a:off x="5669280" y="8202168"/>
            <a:ext cx="6949440" cy="493776"/>
          </a:xfrm>
          <a:prstGeom prst="rect">
            <a:avLst/>
          </a:prstGeom>
          <a:solidFill>
            <a:srgbClr val="FFFFFF"/>
          </a:solid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8B0707"/>
              </a:buClr>
              <a:buSzPts val="1600"/>
              <a:buFont typeface="Questrial"/>
              <a:buNone/>
            </a:pPr>
            <a:r>
              <a:rPr lang="en-US" sz="1800" b="1" i="0" u="none" strike="noStrike" cap="none" dirty="0">
                <a:solidFill>
                  <a:srgbClr val="8B0707"/>
                </a:solidFill>
                <a:latin typeface="Questrial"/>
                <a:ea typeface="Questrial"/>
                <a:cs typeface="Questrial"/>
                <a:sym typeface="Questrial"/>
              </a:rPr>
              <a:t>Feedback: </a:t>
            </a:r>
            <a:r>
              <a:rPr lang="en-US" sz="1800" b="0" i="1" u="none" strike="noStrike" cap="none" dirty="0">
                <a:solidFill>
                  <a:srgbClr val="2B2020"/>
                </a:solidFill>
                <a:latin typeface="Questrial"/>
                <a:ea typeface="Questrial"/>
                <a:cs typeface="Questrial"/>
                <a:sym typeface="Questrial"/>
              </a:rPr>
              <a:t>a field-verified feed can later replace the generated one</a:t>
            </a:r>
            <a:endParaRPr sz="1800" b="0" i="0" u="none" strike="noStrike" cap="none" dirty="0">
              <a:solidFill>
                <a:schemeClr val="dk1"/>
              </a:solidFill>
              <a:latin typeface="Questrial"/>
              <a:ea typeface="Questrial"/>
              <a:cs typeface="Questrial"/>
              <a:sym typeface="Questrial"/>
            </a:endParaRPr>
          </a:p>
        </p:txBody>
      </p:sp>
      <p:sp>
        <p:nvSpPr>
          <p:cNvPr id="23" name="Google Shape;312;p12">
            <a:extLst>
              <a:ext uri="{FF2B5EF4-FFF2-40B4-BE49-F238E27FC236}">
                <a16:creationId xmlns:a16="http://schemas.microsoft.com/office/drawing/2014/main" id="{CA818F7D-055A-AD23-2786-9F602B579730}"/>
              </a:ext>
            </a:extLst>
          </p:cNvPr>
          <p:cNvSpPr txBox="1"/>
          <p:nvPr/>
        </p:nvSpPr>
        <p:spPr>
          <a:xfrm>
            <a:off x="822960" y="8961120"/>
            <a:ext cx="16642080"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A5656"/>
              </a:buClr>
              <a:buSzPts val="1600"/>
              <a:buFont typeface="Questrial"/>
              <a:buNone/>
            </a:pPr>
            <a:r>
              <a:rPr lang="en-US" sz="3200" b="0" i="1" u="none" strike="noStrike" cap="none" dirty="0">
                <a:solidFill>
                  <a:schemeClr val="bg1"/>
                </a:solidFill>
                <a:latin typeface="Questrial"/>
                <a:ea typeface="Questrial"/>
                <a:cs typeface="Questrial"/>
                <a:sym typeface="Questrial"/>
              </a:rPr>
              <a:t>Figure 2. Conceptual paradigm of the study. The three outputs are the three main points.</a:t>
            </a:r>
            <a:endParaRPr sz="3200" b="0" i="0" u="none" strike="noStrike" cap="none" dirty="0">
              <a:solidFill>
                <a:schemeClr val="bg1"/>
              </a:solidFill>
              <a:latin typeface="Questrial"/>
              <a:ea typeface="Questrial"/>
              <a:cs typeface="Questrial"/>
              <a:sym typeface="Questrial"/>
            </a:endParaRPr>
          </a:p>
        </p:txBody>
      </p:sp>
    </p:spTree>
    <p:extLst>
      <p:ext uri="{BB962C8B-B14F-4D97-AF65-F5344CB8AC3E}">
        <p14:creationId xmlns:p14="http://schemas.microsoft.com/office/powerpoint/2010/main" val="1685200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80341971-B7D5-EB50-C0B0-74D7E3B4ADAD}"/>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793F0729-1430-F9FF-AAA0-1A91A229A2BB}"/>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291;p12">
            <a:extLst>
              <a:ext uri="{FF2B5EF4-FFF2-40B4-BE49-F238E27FC236}">
                <a16:creationId xmlns:a16="http://schemas.microsoft.com/office/drawing/2014/main" id="{2EA98470-A07F-60EF-644D-FB7D7BA34971}"/>
              </a:ext>
            </a:extLst>
          </p:cNvPr>
          <p:cNvGrpSpPr/>
          <p:nvPr/>
        </p:nvGrpSpPr>
        <p:grpSpPr>
          <a:xfrm>
            <a:off x="-514350" y="-1248816"/>
            <a:ext cx="19524889" cy="2953915"/>
            <a:chOff x="0" y="-76200"/>
            <a:chExt cx="5142358" cy="777986"/>
          </a:xfrm>
        </p:grpSpPr>
        <p:sp>
          <p:nvSpPr>
            <p:cNvPr id="3" name="Google Shape;292;p12">
              <a:extLst>
                <a:ext uri="{FF2B5EF4-FFF2-40B4-BE49-F238E27FC236}">
                  <a16:creationId xmlns:a16="http://schemas.microsoft.com/office/drawing/2014/main" id="{31EE012B-DD43-A928-6142-836761F3130A}"/>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293;p12">
              <a:extLst>
                <a:ext uri="{FF2B5EF4-FFF2-40B4-BE49-F238E27FC236}">
                  <a16:creationId xmlns:a16="http://schemas.microsoft.com/office/drawing/2014/main" id="{B7ADB593-1012-BE91-757B-C2C2E9C5E6F9}"/>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4" name="Google Shape;322;p13">
            <a:extLst>
              <a:ext uri="{FF2B5EF4-FFF2-40B4-BE49-F238E27FC236}">
                <a16:creationId xmlns:a16="http://schemas.microsoft.com/office/drawing/2014/main" id="{A5024485-2429-C743-DEFA-47FA94E41955}"/>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SIGNIFICANCE OF THE STUDY</a:t>
            </a:r>
            <a:endParaRPr/>
          </a:p>
        </p:txBody>
      </p:sp>
      <p:sp>
        <p:nvSpPr>
          <p:cNvPr id="36" name="Google Shape;323;p13">
            <a:extLst>
              <a:ext uri="{FF2B5EF4-FFF2-40B4-BE49-F238E27FC236}">
                <a16:creationId xmlns:a16="http://schemas.microsoft.com/office/drawing/2014/main" id="{A414969D-A914-888A-F485-B08B4DD984B2}"/>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13</a:t>
            </a:r>
            <a:endParaRPr sz="1600" b="0" i="0" u="none" strike="noStrike" cap="none">
              <a:solidFill>
                <a:schemeClr val="dk1"/>
              </a:solidFill>
              <a:latin typeface="Questrial"/>
              <a:ea typeface="Questrial"/>
              <a:cs typeface="Questrial"/>
              <a:sym typeface="Questrial"/>
            </a:endParaRPr>
          </a:p>
        </p:txBody>
      </p:sp>
      <p:sp>
        <p:nvSpPr>
          <p:cNvPr id="38" name="Google Shape;324;p13">
            <a:extLst>
              <a:ext uri="{FF2B5EF4-FFF2-40B4-BE49-F238E27FC236}">
                <a16:creationId xmlns:a16="http://schemas.microsoft.com/office/drawing/2014/main" id="{1E5525CD-0547-A66F-CC49-1209194214A1}"/>
              </a:ext>
            </a:extLst>
          </p:cNvPr>
          <p:cNvSpPr txBox="1"/>
          <p:nvPr/>
        </p:nvSpPr>
        <p:spPr>
          <a:xfrm>
            <a:off x="822959" y="1994421"/>
            <a:ext cx="1664208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600"/>
              <a:buFont typeface="Questrial"/>
              <a:buNone/>
            </a:pPr>
            <a:r>
              <a:rPr lang="en-US" sz="3600" b="0" i="1" u="none" strike="noStrike" cap="none" dirty="0">
                <a:solidFill>
                  <a:schemeClr val="bg1"/>
                </a:solidFill>
                <a:latin typeface="Questrial"/>
                <a:ea typeface="Questrial"/>
                <a:cs typeface="Questrial"/>
                <a:sym typeface="Questrial"/>
              </a:rPr>
              <a:t>Table 4. Beneficiaries of the study and the main point each one uses</a:t>
            </a:r>
            <a:endParaRPr sz="3600" b="0" i="0" u="none" strike="noStrike" cap="none" dirty="0">
              <a:solidFill>
                <a:schemeClr val="bg1"/>
              </a:solidFill>
              <a:latin typeface="Questrial"/>
              <a:ea typeface="Questrial"/>
              <a:cs typeface="Questrial"/>
              <a:sym typeface="Questrial"/>
            </a:endParaRPr>
          </a:p>
        </p:txBody>
      </p:sp>
      <p:graphicFrame>
        <p:nvGraphicFramePr>
          <p:cNvPr id="40" name="Google Shape;325;p13">
            <a:extLst>
              <a:ext uri="{FF2B5EF4-FFF2-40B4-BE49-F238E27FC236}">
                <a16:creationId xmlns:a16="http://schemas.microsoft.com/office/drawing/2014/main" id="{13BFA08A-5A3B-B3BB-9388-05907495DB75}"/>
              </a:ext>
            </a:extLst>
          </p:cNvPr>
          <p:cNvGraphicFramePr/>
          <p:nvPr>
            <p:extLst>
              <p:ext uri="{D42A27DB-BD31-4B8C-83A1-F6EECF244321}">
                <p14:modId xmlns:p14="http://schemas.microsoft.com/office/powerpoint/2010/main" val="873593745"/>
              </p:ext>
            </p:extLst>
          </p:nvPr>
        </p:nvGraphicFramePr>
        <p:xfrm>
          <a:off x="822960" y="2487168"/>
          <a:ext cx="16642100" cy="6148859"/>
        </p:xfrm>
        <a:graphic>
          <a:graphicData uri="http://schemas.openxmlformats.org/drawingml/2006/table">
            <a:tbl>
              <a:tblPr>
                <a:noFill/>
                <a:tableStyleId>{34289B53-5545-4E02-A326-ACEF5BE87AE4}</a:tableStyleId>
              </a:tblPr>
              <a:tblGrid>
                <a:gridCol w="4343400">
                  <a:extLst>
                    <a:ext uri="{9D8B030D-6E8A-4147-A177-3AD203B41FA5}">
                      <a16:colId xmlns:a16="http://schemas.microsoft.com/office/drawing/2014/main" val="20000"/>
                    </a:ext>
                  </a:extLst>
                </a:gridCol>
                <a:gridCol w="1234450">
                  <a:extLst>
                    <a:ext uri="{9D8B030D-6E8A-4147-A177-3AD203B41FA5}">
                      <a16:colId xmlns:a16="http://schemas.microsoft.com/office/drawing/2014/main" val="20001"/>
                    </a:ext>
                  </a:extLst>
                </a:gridCol>
                <a:gridCol w="11064250">
                  <a:extLst>
                    <a:ext uri="{9D8B030D-6E8A-4147-A177-3AD203B41FA5}">
                      <a16:colId xmlns:a16="http://schemas.microsoft.com/office/drawing/2014/main" val="20002"/>
                    </a:ext>
                  </a:extLst>
                </a:gridCol>
              </a:tblGrid>
              <a:tr h="502925">
                <a:tc>
                  <a:txBody>
                    <a:bodyPr/>
                    <a:lstStyle/>
                    <a:p>
                      <a:pPr marL="0" marR="0" lvl="0" indent="0" algn="l" rtl="0">
                        <a:lnSpc>
                          <a:spcPct val="97000"/>
                        </a:lnSpc>
                        <a:spcBef>
                          <a:spcPts val="0"/>
                        </a:spcBef>
                        <a:spcAft>
                          <a:spcPts val="0"/>
                        </a:spcAft>
                        <a:buClr>
                          <a:srgbClr val="FFFFFF"/>
                        </a:buClr>
                        <a:buSzPts val="1750"/>
                        <a:buFont typeface="Questrial"/>
                        <a:buNone/>
                      </a:pPr>
                      <a:r>
                        <a:rPr lang="en-US" sz="2800" b="1" u="none" strike="noStrike" cap="none" dirty="0">
                          <a:solidFill>
                            <a:srgbClr val="FFFFFF"/>
                          </a:solidFill>
                          <a:latin typeface="Questrial"/>
                          <a:ea typeface="Questrial"/>
                          <a:cs typeface="Questrial"/>
                          <a:sym typeface="Questrial"/>
                        </a:rPr>
                        <a:t>Beneficiary</a:t>
                      </a:r>
                      <a:endParaRPr sz="2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ctr" rtl="0">
                        <a:lnSpc>
                          <a:spcPct val="97000"/>
                        </a:lnSpc>
                        <a:spcBef>
                          <a:spcPts val="0"/>
                        </a:spcBef>
                        <a:spcAft>
                          <a:spcPts val="0"/>
                        </a:spcAft>
                        <a:buClr>
                          <a:srgbClr val="FFFFFF"/>
                        </a:buClr>
                        <a:buSzPts val="1750"/>
                        <a:buFont typeface="Questrial"/>
                        <a:buNone/>
                      </a:pPr>
                      <a:r>
                        <a:rPr lang="en-US" sz="2800" b="1" u="none" strike="noStrike" cap="none">
                          <a:solidFill>
                            <a:srgbClr val="FFFFFF"/>
                          </a:solidFill>
                          <a:latin typeface="Questrial"/>
                          <a:ea typeface="Questrial"/>
                          <a:cs typeface="Questrial"/>
                          <a:sym typeface="Questrial"/>
                        </a:rPr>
                        <a:t>Point</a:t>
                      </a:r>
                      <a:endParaRPr sz="2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50"/>
                        <a:buFont typeface="Questrial"/>
                        <a:buNone/>
                      </a:pPr>
                      <a:r>
                        <a:rPr lang="en-US" sz="2800" b="1" u="none" strike="noStrike" cap="none">
                          <a:solidFill>
                            <a:srgbClr val="FFFFFF"/>
                          </a:solidFill>
                          <a:latin typeface="Questrial"/>
                          <a:ea typeface="Questrial"/>
                          <a:cs typeface="Questrial"/>
                          <a:sym typeface="Questrial"/>
                        </a:rPr>
                        <a:t>What they gain</a:t>
                      </a:r>
                      <a:endParaRPr sz="2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extLst>
                  <a:ext uri="{0D108BD9-81ED-4DB2-BD59-A6C34878D82A}">
                    <a16:rowId xmlns:a16="http://schemas.microsoft.com/office/drawing/2014/main" val="10000"/>
                  </a:ext>
                </a:extLst>
              </a:tr>
              <a:tr h="914400">
                <a:tc>
                  <a:txBody>
                    <a:bodyPr/>
                    <a:lstStyle/>
                    <a:p>
                      <a:pPr marL="0" marR="0" lvl="0" indent="0" algn="l" rtl="0">
                        <a:lnSpc>
                          <a:spcPct val="97000"/>
                        </a:lnSpc>
                        <a:spcBef>
                          <a:spcPts val="0"/>
                        </a:spcBef>
                        <a:spcAft>
                          <a:spcPts val="0"/>
                        </a:spcAft>
                        <a:buClr>
                          <a:srgbClr val="8B0707"/>
                        </a:buClr>
                        <a:buSzPts val="1900"/>
                        <a:buFont typeface="Questrial"/>
                        <a:buNone/>
                      </a:pPr>
                      <a:r>
                        <a:rPr lang="en-US" sz="2800" b="1" u="none" strike="noStrike" cap="none" dirty="0">
                          <a:solidFill>
                            <a:srgbClr val="8B0707"/>
                          </a:solidFill>
                          <a:latin typeface="Questrial"/>
                          <a:ea typeface="Questrial"/>
                          <a:cs typeface="Questrial"/>
                          <a:sym typeface="Questrial"/>
                        </a:rPr>
                        <a:t>Commuters</a:t>
                      </a:r>
                      <a:endParaRPr sz="2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850"/>
                        <a:buFont typeface="Questrial"/>
                        <a:buNone/>
                      </a:pPr>
                      <a:r>
                        <a:rPr lang="en-US" sz="2800" b="1" u="none" strike="noStrike" cap="none">
                          <a:solidFill>
                            <a:srgbClr val="8B0707"/>
                          </a:solidFill>
                          <a:latin typeface="Questrial"/>
                          <a:ea typeface="Questrial"/>
                          <a:cs typeface="Questrial"/>
                          <a:sym typeface="Questrial"/>
                        </a:rPr>
                        <a:t>1</a:t>
                      </a:r>
                      <a:endParaRPr sz="2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800"/>
                        <a:buFont typeface="Questrial"/>
                        <a:buNone/>
                      </a:pPr>
                      <a:r>
                        <a:rPr lang="en-US" sz="2800" u="none" strike="noStrike" cap="none">
                          <a:solidFill>
                            <a:srgbClr val="2B2020"/>
                          </a:solidFill>
                          <a:latin typeface="Questrial"/>
                          <a:ea typeface="Questrial"/>
                          <a:cs typeface="Questrial"/>
                          <a:sym typeface="Questrial"/>
                        </a:rPr>
                        <a:t>Trip plans that give the arrival time and the fare, with the 20% discount for senior citizens, students, and persons with disabilities.</a:t>
                      </a:r>
                      <a:endParaRPr sz="2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1"/>
                  </a:ext>
                </a:extLst>
              </a:tr>
              <a:tr h="914400">
                <a:tc>
                  <a:txBody>
                    <a:bodyPr/>
                    <a:lstStyle/>
                    <a:p>
                      <a:pPr marL="0" marR="0" lvl="0" indent="0" algn="l" rtl="0">
                        <a:lnSpc>
                          <a:spcPct val="97000"/>
                        </a:lnSpc>
                        <a:spcBef>
                          <a:spcPts val="0"/>
                        </a:spcBef>
                        <a:spcAft>
                          <a:spcPts val="0"/>
                        </a:spcAft>
                        <a:buClr>
                          <a:srgbClr val="8B0707"/>
                        </a:buClr>
                        <a:buSzPts val="1900"/>
                        <a:buFont typeface="Questrial"/>
                        <a:buNone/>
                      </a:pPr>
                      <a:r>
                        <a:rPr lang="en-US" sz="2800" b="1" u="none" strike="noStrike" cap="none" dirty="0">
                          <a:solidFill>
                            <a:srgbClr val="8B0707"/>
                          </a:solidFill>
                          <a:latin typeface="Questrial"/>
                          <a:ea typeface="Questrial"/>
                          <a:cs typeface="Questrial"/>
                          <a:sym typeface="Questrial"/>
                        </a:rPr>
                        <a:t>Local government units</a:t>
                      </a:r>
                      <a:endParaRPr sz="2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850"/>
                        <a:buFont typeface="Questrial"/>
                        <a:buNone/>
                      </a:pPr>
                      <a:r>
                        <a:rPr lang="en-US" sz="2800" b="1" u="none" strike="noStrike" cap="none" dirty="0">
                          <a:solidFill>
                            <a:srgbClr val="8B0707"/>
                          </a:solidFill>
                          <a:latin typeface="Questrial"/>
                          <a:ea typeface="Questrial"/>
                          <a:cs typeface="Questrial"/>
                          <a:sym typeface="Questrial"/>
                        </a:rPr>
                        <a:t>1</a:t>
                      </a:r>
                      <a:endParaRPr sz="2800" u="none" strike="noStrike" cap="none" dirty="0">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800"/>
                        <a:buFont typeface="Questrial"/>
                        <a:buNone/>
                      </a:pPr>
                      <a:r>
                        <a:rPr lang="en-US" sz="2800" u="none" strike="noStrike" cap="none">
                          <a:solidFill>
                            <a:srgbClr val="2B2020"/>
                          </a:solidFill>
                          <a:latin typeface="Questrial"/>
                          <a:ea typeface="Questrial"/>
                          <a:cs typeface="Questrial"/>
                          <a:sym typeface="Questrial"/>
                        </a:rPr>
                        <a:t>Evidence for their Local Public Transport Route Plans. A proposed route can be tested on the model before a franchise is granted.</a:t>
                      </a:r>
                      <a:endParaRPr sz="2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2"/>
                  </a:ext>
                </a:extLst>
              </a:tr>
              <a:tr h="914400">
                <a:tc>
                  <a:txBody>
                    <a:bodyPr/>
                    <a:lstStyle/>
                    <a:p>
                      <a:pPr marL="0" marR="0" lvl="0" indent="0" algn="l" rtl="0">
                        <a:lnSpc>
                          <a:spcPct val="97000"/>
                        </a:lnSpc>
                        <a:spcBef>
                          <a:spcPts val="0"/>
                        </a:spcBef>
                        <a:spcAft>
                          <a:spcPts val="0"/>
                        </a:spcAft>
                        <a:buClr>
                          <a:srgbClr val="8B0707"/>
                        </a:buClr>
                        <a:buSzPts val="1900"/>
                        <a:buFont typeface="Questrial"/>
                        <a:buNone/>
                      </a:pPr>
                      <a:r>
                        <a:rPr lang="en-US" sz="2800" b="1" u="none" strike="noStrike" cap="none">
                          <a:solidFill>
                            <a:srgbClr val="8B0707"/>
                          </a:solidFill>
                          <a:latin typeface="Questrial"/>
                          <a:ea typeface="Questrial"/>
                          <a:cs typeface="Questrial"/>
                          <a:sym typeface="Questrial"/>
                        </a:rPr>
                        <a:t>Ambulance crews and patients</a:t>
                      </a:r>
                      <a:endParaRPr sz="2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850"/>
                        <a:buFont typeface="Questrial"/>
                        <a:buNone/>
                      </a:pPr>
                      <a:r>
                        <a:rPr lang="en-US" sz="2800" b="1" u="none" strike="noStrike" cap="none">
                          <a:solidFill>
                            <a:srgbClr val="8B0707"/>
                          </a:solidFill>
                          <a:latin typeface="Questrial"/>
                          <a:ea typeface="Questrial"/>
                          <a:cs typeface="Questrial"/>
                          <a:sym typeface="Questrial"/>
                        </a:rPr>
                        <a:t>2</a:t>
                      </a:r>
                      <a:endParaRPr sz="2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800"/>
                        <a:buFont typeface="Questrial"/>
                        <a:buNone/>
                      </a:pPr>
                      <a:r>
                        <a:rPr lang="en-US" sz="2800" u="none" strike="noStrike" cap="none" dirty="0">
                          <a:solidFill>
                            <a:srgbClr val="2B2020"/>
                          </a:solidFill>
                          <a:latin typeface="Questrial"/>
                          <a:ea typeface="Questrial"/>
                          <a:cs typeface="Questrial"/>
                          <a:sym typeface="Questrial"/>
                        </a:rPr>
                        <a:t>The nearest hospital with the needed level of care and a free bed. In a critical case, an open emergency room on the way is not skipped.</a:t>
                      </a:r>
                      <a:endParaRPr sz="2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3"/>
                  </a:ext>
                </a:extLst>
              </a:tr>
              <a:tr h="914400">
                <a:tc>
                  <a:txBody>
                    <a:bodyPr/>
                    <a:lstStyle/>
                    <a:p>
                      <a:pPr marL="0" marR="0" lvl="0" indent="0" algn="l" rtl="0">
                        <a:lnSpc>
                          <a:spcPct val="97000"/>
                        </a:lnSpc>
                        <a:spcBef>
                          <a:spcPts val="0"/>
                        </a:spcBef>
                        <a:spcAft>
                          <a:spcPts val="0"/>
                        </a:spcAft>
                        <a:buClr>
                          <a:srgbClr val="8B0707"/>
                        </a:buClr>
                        <a:buSzPts val="1900"/>
                        <a:buFont typeface="Questrial"/>
                        <a:buNone/>
                      </a:pPr>
                      <a:r>
                        <a:rPr lang="en-US" sz="2800" b="1" u="none" strike="noStrike" cap="none">
                          <a:solidFill>
                            <a:srgbClr val="8B0707"/>
                          </a:solidFill>
                          <a:latin typeface="Questrial"/>
                          <a:ea typeface="Questrial"/>
                          <a:cs typeface="Questrial"/>
                          <a:sym typeface="Questrial"/>
                        </a:rPr>
                        <a:t>Provincial Health Office and PDRRMO</a:t>
                      </a:r>
                      <a:endParaRPr sz="2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850"/>
                        <a:buFont typeface="Questrial"/>
                        <a:buNone/>
                      </a:pPr>
                      <a:r>
                        <a:rPr lang="en-US" sz="2800" b="1" u="none" strike="noStrike" cap="none">
                          <a:solidFill>
                            <a:srgbClr val="8B0707"/>
                          </a:solidFill>
                          <a:latin typeface="Questrial"/>
                          <a:ea typeface="Questrial"/>
                          <a:cs typeface="Questrial"/>
                          <a:sym typeface="Questrial"/>
                        </a:rPr>
                        <a:t>3</a:t>
                      </a:r>
                      <a:endParaRPr sz="2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800"/>
                        <a:buFont typeface="Questrial"/>
                        <a:buNone/>
                      </a:pPr>
                      <a:r>
                        <a:rPr lang="en-US" sz="2800" u="none" strike="noStrike" cap="none" dirty="0">
                          <a:solidFill>
                            <a:srgbClr val="2B2020"/>
                          </a:solidFill>
                          <a:latin typeface="Questrial"/>
                          <a:ea typeface="Questrial"/>
                          <a:cs typeface="Questrial"/>
                          <a:sym typeface="Questrial"/>
                        </a:rPr>
                        <a:t>A bed table by municipality during typhoons and Mayon alerts, and a map of where more public beds would cut travel time the most.</a:t>
                      </a:r>
                      <a:endParaRPr sz="2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4"/>
                  </a:ext>
                </a:extLst>
              </a:tr>
              <a:tr h="914400">
                <a:tc>
                  <a:txBody>
                    <a:bodyPr/>
                    <a:lstStyle/>
                    <a:p>
                      <a:pPr marL="0" marR="0" lvl="0" indent="0" algn="l" rtl="0">
                        <a:lnSpc>
                          <a:spcPct val="97000"/>
                        </a:lnSpc>
                        <a:spcBef>
                          <a:spcPts val="0"/>
                        </a:spcBef>
                        <a:spcAft>
                          <a:spcPts val="0"/>
                        </a:spcAft>
                        <a:buClr>
                          <a:srgbClr val="8B0707"/>
                        </a:buClr>
                        <a:buSzPts val="1900"/>
                        <a:buFont typeface="Questrial"/>
                        <a:buNone/>
                      </a:pPr>
                      <a:r>
                        <a:rPr lang="en-US" sz="2800" b="1" u="none" strike="noStrike" cap="none">
                          <a:solidFill>
                            <a:srgbClr val="8B0707"/>
                          </a:solidFill>
                          <a:latin typeface="Questrial"/>
                          <a:ea typeface="Questrial"/>
                          <a:cs typeface="Questrial"/>
                          <a:sym typeface="Questrial"/>
                        </a:rPr>
                        <a:t>Hospitals</a:t>
                      </a:r>
                      <a:endParaRPr sz="2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850"/>
                        <a:buFont typeface="Questrial"/>
                        <a:buNone/>
                      </a:pPr>
                      <a:r>
                        <a:rPr lang="en-US" sz="2800" b="1" u="none" strike="noStrike" cap="none">
                          <a:solidFill>
                            <a:srgbClr val="8B0707"/>
                          </a:solidFill>
                          <a:latin typeface="Questrial"/>
                          <a:ea typeface="Questrial"/>
                          <a:cs typeface="Questrial"/>
                          <a:sym typeface="Questrial"/>
                        </a:rPr>
                        <a:t>3</a:t>
                      </a:r>
                      <a:endParaRPr sz="2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800"/>
                        <a:buFont typeface="Questrial"/>
                        <a:buNone/>
                      </a:pPr>
                      <a:r>
                        <a:rPr lang="en-US" sz="2800" u="none" strike="noStrike" cap="none" dirty="0">
                          <a:solidFill>
                            <a:srgbClr val="2B2020"/>
                          </a:solidFill>
                          <a:latin typeface="Questrial"/>
                          <a:ea typeface="Questrial"/>
                          <a:cs typeface="Questrial"/>
                          <a:sym typeface="Questrial"/>
                        </a:rPr>
                        <a:t>Reporting is a plain e-mail reply, at most two messages per cycle, and an opt-out is honored right away.</a:t>
                      </a:r>
                      <a:endParaRPr sz="2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5"/>
                  </a:ext>
                </a:extLst>
              </a:tr>
              <a:tr h="914400">
                <a:tc>
                  <a:txBody>
                    <a:bodyPr/>
                    <a:lstStyle/>
                    <a:p>
                      <a:pPr marL="0" marR="0" lvl="0" indent="0" algn="l" rtl="0">
                        <a:lnSpc>
                          <a:spcPct val="97000"/>
                        </a:lnSpc>
                        <a:spcBef>
                          <a:spcPts val="0"/>
                        </a:spcBef>
                        <a:spcAft>
                          <a:spcPts val="0"/>
                        </a:spcAft>
                        <a:buClr>
                          <a:srgbClr val="8B0707"/>
                        </a:buClr>
                        <a:buSzPts val="1900"/>
                        <a:buFont typeface="Questrial"/>
                        <a:buNone/>
                      </a:pPr>
                      <a:r>
                        <a:rPr lang="en-US" sz="2800" b="1" u="none" strike="noStrike" cap="none">
                          <a:solidFill>
                            <a:srgbClr val="8B0707"/>
                          </a:solidFill>
                          <a:latin typeface="Questrial"/>
                          <a:ea typeface="Questrial"/>
                          <a:cs typeface="Questrial"/>
                          <a:sym typeface="Questrial"/>
                        </a:rPr>
                        <a:t>Future researchers</a:t>
                      </a:r>
                      <a:endParaRPr sz="2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850"/>
                        <a:buFont typeface="Questrial"/>
                        <a:buNone/>
                      </a:pPr>
                      <a:r>
                        <a:rPr lang="en-US" sz="2800" b="1" u="none" strike="noStrike" cap="none">
                          <a:solidFill>
                            <a:srgbClr val="8B0707"/>
                          </a:solidFill>
                          <a:latin typeface="Questrial"/>
                          <a:ea typeface="Questrial"/>
                          <a:cs typeface="Questrial"/>
                          <a:sym typeface="Questrial"/>
                        </a:rPr>
                        <a:t>1 to 3</a:t>
                      </a:r>
                      <a:endParaRPr sz="2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800"/>
                        <a:buFont typeface="Questrial"/>
                        <a:buNone/>
                      </a:pPr>
                      <a:r>
                        <a:rPr lang="en-US" sz="2800" u="none" strike="noStrike" cap="none" dirty="0">
                          <a:solidFill>
                            <a:srgbClr val="2B2020"/>
                          </a:solidFill>
                          <a:latin typeface="Questrial"/>
                          <a:ea typeface="Questrial"/>
                          <a:cs typeface="Questrial"/>
                          <a:sym typeface="Questrial"/>
                        </a:rPr>
                        <a:t>An open, tested dataset and code that a later field survey can plug into. The method can be repeated in other provinces.</a:t>
                      </a:r>
                      <a:endParaRPr sz="2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6"/>
                  </a:ext>
                </a:extLst>
              </a:tr>
            </a:tbl>
          </a:graphicData>
        </a:graphic>
      </p:graphicFrame>
      <p:sp>
        <p:nvSpPr>
          <p:cNvPr id="42" name="Google Shape;326;p13">
            <a:extLst>
              <a:ext uri="{FF2B5EF4-FFF2-40B4-BE49-F238E27FC236}">
                <a16:creationId xmlns:a16="http://schemas.microsoft.com/office/drawing/2014/main" id="{E07A7500-51EF-D725-604D-283F561AB6EA}"/>
              </a:ext>
            </a:extLst>
          </p:cNvPr>
          <p:cNvSpPr txBox="1"/>
          <p:nvPr/>
        </p:nvSpPr>
        <p:spPr>
          <a:xfrm>
            <a:off x="822960" y="8659368"/>
            <a:ext cx="16642080" cy="89611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A5656"/>
              </a:buClr>
              <a:buSzPts val="1700"/>
              <a:buFont typeface="Questrial"/>
              <a:buNone/>
            </a:pPr>
            <a:r>
              <a:rPr lang="en-US" sz="2400" b="0" i="1" u="none" strike="noStrike" cap="none" dirty="0">
                <a:solidFill>
                  <a:schemeClr val="bg1"/>
                </a:solidFill>
                <a:latin typeface="Questrial"/>
                <a:ea typeface="Questrial"/>
                <a:cs typeface="Questrial"/>
                <a:sym typeface="Questrial"/>
              </a:rPr>
              <a:t>The study supports SDG targets 11.2 (transport for all), 3.8 (health coverage), and 10.2 (reduced inequalities).</a:t>
            </a:r>
            <a:endParaRPr sz="2400" b="0" i="0" u="none" strike="noStrike" cap="none" dirty="0">
              <a:solidFill>
                <a:schemeClr val="bg1"/>
              </a:solidFill>
              <a:latin typeface="Questrial"/>
              <a:ea typeface="Questrial"/>
              <a:cs typeface="Questrial"/>
              <a:sym typeface="Questrial"/>
            </a:endParaRPr>
          </a:p>
        </p:txBody>
      </p:sp>
    </p:spTree>
    <p:extLst>
      <p:ext uri="{BB962C8B-B14F-4D97-AF65-F5344CB8AC3E}">
        <p14:creationId xmlns:p14="http://schemas.microsoft.com/office/powerpoint/2010/main" val="1557797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D6FDA03D-868B-7746-77E4-C96BFCD413D1}"/>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303BB86F-030F-DD13-3758-AE701EE4F3E4}"/>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333;p14">
            <a:extLst>
              <a:ext uri="{FF2B5EF4-FFF2-40B4-BE49-F238E27FC236}">
                <a16:creationId xmlns:a16="http://schemas.microsoft.com/office/drawing/2014/main" id="{C4B5610D-1012-015E-5D0F-4C4DE4A2B573}"/>
              </a:ext>
            </a:extLst>
          </p:cNvPr>
          <p:cNvGrpSpPr/>
          <p:nvPr/>
        </p:nvGrpSpPr>
        <p:grpSpPr>
          <a:xfrm>
            <a:off x="-514350" y="-1248816"/>
            <a:ext cx="19524889" cy="2953915"/>
            <a:chOff x="0" y="-76200"/>
            <a:chExt cx="5142358" cy="777986"/>
          </a:xfrm>
        </p:grpSpPr>
        <p:sp>
          <p:nvSpPr>
            <p:cNvPr id="3" name="Google Shape;334;p14">
              <a:extLst>
                <a:ext uri="{FF2B5EF4-FFF2-40B4-BE49-F238E27FC236}">
                  <a16:creationId xmlns:a16="http://schemas.microsoft.com/office/drawing/2014/main" id="{8DD2B571-B398-87EF-D489-B9E75131DD9C}"/>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335;p14">
              <a:extLst>
                <a:ext uri="{FF2B5EF4-FFF2-40B4-BE49-F238E27FC236}">
                  <a16:creationId xmlns:a16="http://schemas.microsoft.com/office/drawing/2014/main" id="{D5A85A6E-D2F0-EBF7-348B-21978986CDDB}"/>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 name="Google Shape;336;p14">
            <a:extLst>
              <a:ext uri="{FF2B5EF4-FFF2-40B4-BE49-F238E27FC236}">
                <a16:creationId xmlns:a16="http://schemas.microsoft.com/office/drawing/2014/main" id="{B16E636F-3C26-56A0-F55F-2D29012AA06D}"/>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OBJECTIVES OF THE STUDY / SOP</a:t>
            </a:r>
            <a:endParaRPr/>
          </a:p>
        </p:txBody>
      </p:sp>
      <p:sp>
        <p:nvSpPr>
          <p:cNvPr id="10" name="Google Shape;337;p14">
            <a:extLst>
              <a:ext uri="{FF2B5EF4-FFF2-40B4-BE49-F238E27FC236}">
                <a16:creationId xmlns:a16="http://schemas.microsoft.com/office/drawing/2014/main" id="{DDB263E3-B88C-61A6-2B42-15C493F7780E}"/>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2000" b="0" i="0" u="none" strike="noStrike" cap="none">
                <a:solidFill>
                  <a:srgbClr val="8B0707"/>
                </a:solidFill>
                <a:latin typeface="Questrial"/>
                <a:ea typeface="Questrial"/>
                <a:cs typeface="Questrial"/>
                <a:sym typeface="Questrial"/>
              </a:rPr>
              <a:t>14</a:t>
            </a:r>
            <a:endParaRPr sz="2000" b="0" i="0" u="none" strike="noStrike" cap="none">
              <a:solidFill>
                <a:schemeClr val="dk1"/>
              </a:solidFill>
              <a:latin typeface="Questrial"/>
              <a:ea typeface="Questrial"/>
              <a:cs typeface="Questrial"/>
              <a:sym typeface="Questrial"/>
            </a:endParaRPr>
          </a:p>
        </p:txBody>
      </p:sp>
      <p:sp>
        <p:nvSpPr>
          <p:cNvPr id="12" name="Google Shape;338;p14">
            <a:extLst>
              <a:ext uri="{FF2B5EF4-FFF2-40B4-BE49-F238E27FC236}">
                <a16:creationId xmlns:a16="http://schemas.microsoft.com/office/drawing/2014/main" id="{E26459CE-2C83-A926-4F12-DA101DBAA809}"/>
              </a:ext>
            </a:extLst>
          </p:cNvPr>
          <p:cNvSpPr/>
          <p:nvPr/>
        </p:nvSpPr>
        <p:spPr>
          <a:xfrm>
            <a:off x="822960" y="2103120"/>
            <a:ext cx="16642080" cy="1691640"/>
          </a:xfrm>
          <a:prstGeom prst="roundRect">
            <a:avLst>
              <a:gd name="adj" fmla="val 8648"/>
            </a:avLst>
          </a:prstGeom>
          <a:solidFill>
            <a:srgbClr val="F8E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14" name="Google Shape;339;p14">
            <a:extLst>
              <a:ext uri="{FF2B5EF4-FFF2-40B4-BE49-F238E27FC236}">
                <a16:creationId xmlns:a16="http://schemas.microsoft.com/office/drawing/2014/main" id="{17364F35-78E5-B823-F63E-6EB7F2C9EE4E}"/>
              </a:ext>
            </a:extLst>
          </p:cNvPr>
          <p:cNvSpPr txBox="1"/>
          <p:nvPr/>
        </p:nvSpPr>
        <p:spPr>
          <a:xfrm>
            <a:off x="1234440" y="2176272"/>
            <a:ext cx="15819120" cy="1545336"/>
          </a:xfrm>
          <a:prstGeom prst="rect">
            <a:avLst/>
          </a:prstGeom>
          <a:noFill/>
          <a:ln>
            <a:noFill/>
          </a:ln>
        </p:spPr>
        <p:txBody>
          <a:bodyPr spcFirstLastPara="1" wrap="square" lIns="0" tIns="0" rIns="0" bIns="0" anchor="ctr" anchorCtr="0">
            <a:noAutofit/>
          </a:bodyPr>
          <a:lstStyle/>
          <a:p>
            <a:pPr marL="0" marR="0" lvl="0" indent="0" algn="l" rtl="0">
              <a:lnSpc>
                <a:spcPct val="102000"/>
              </a:lnSpc>
              <a:spcBef>
                <a:spcPts val="0"/>
              </a:spcBef>
              <a:spcAft>
                <a:spcPts val="0"/>
              </a:spcAft>
              <a:buClr>
                <a:srgbClr val="8B0707"/>
              </a:buClr>
              <a:buSzPts val="1900"/>
              <a:buFont typeface="Questrial"/>
              <a:buNone/>
            </a:pPr>
            <a:r>
              <a:rPr lang="en-US" sz="2000" b="1" i="0" u="none" strike="noStrike" cap="none">
                <a:solidFill>
                  <a:srgbClr val="8B0707"/>
                </a:solidFill>
                <a:latin typeface="Questrial"/>
                <a:ea typeface="Questrial"/>
                <a:cs typeface="Questrial"/>
                <a:sym typeface="Questrial"/>
              </a:rPr>
              <a:t>General objective. </a:t>
            </a:r>
            <a:r>
              <a:rPr lang="en-US" sz="2000" b="0" i="0" u="none" strike="noStrike" cap="none">
                <a:solidFill>
                  <a:srgbClr val="2B2020"/>
                </a:solidFill>
                <a:latin typeface="Questrial"/>
                <a:ea typeface="Questrial"/>
                <a:cs typeface="Questrial"/>
                <a:sym typeface="Questrial"/>
              </a:rPr>
              <a:t>This study aims to find out whether a model of Albay's public transport, built only from open sources, can (1) map its routes and forecast the time and fare of each trip, measuring how many essential landmarks each anchor reaches within 30 minutes and how evenly that access is shared; (2) route a patient to the nearest hospital that suits the patient's condition and ability to pay; and (3) keep track of the bed capacity of every hospital in Albay.</a:t>
            </a:r>
            <a:endParaRPr sz="2000" b="0" i="0" u="none" strike="noStrike" cap="none">
              <a:solidFill>
                <a:schemeClr val="dk1"/>
              </a:solidFill>
              <a:latin typeface="Questrial"/>
              <a:ea typeface="Questrial"/>
              <a:cs typeface="Questrial"/>
              <a:sym typeface="Questrial"/>
            </a:endParaRPr>
          </a:p>
        </p:txBody>
      </p:sp>
      <p:sp>
        <p:nvSpPr>
          <p:cNvPr id="16" name="Google Shape;340;p14">
            <a:extLst>
              <a:ext uri="{FF2B5EF4-FFF2-40B4-BE49-F238E27FC236}">
                <a16:creationId xmlns:a16="http://schemas.microsoft.com/office/drawing/2014/main" id="{5B7F5AEC-5D30-D762-53AE-B7E592E662E8}"/>
              </a:ext>
            </a:extLst>
          </p:cNvPr>
          <p:cNvSpPr txBox="1"/>
          <p:nvPr/>
        </p:nvSpPr>
        <p:spPr>
          <a:xfrm>
            <a:off x="822960" y="3867912"/>
            <a:ext cx="16642080" cy="4389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B2020"/>
              </a:buClr>
              <a:buSzPts val="1800"/>
              <a:buFont typeface="Questrial"/>
              <a:buNone/>
            </a:pPr>
            <a:r>
              <a:rPr lang="en-US" sz="3200" b="0" i="1" u="none" strike="noStrike" cap="none" dirty="0">
                <a:solidFill>
                  <a:schemeClr val="bg1"/>
                </a:solidFill>
                <a:latin typeface="Questrial"/>
                <a:ea typeface="Questrial"/>
                <a:cs typeface="Questrial"/>
                <a:sym typeface="Questrial"/>
              </a:rPr>
              <a:t>Specifically, it seeks to answer the following questions, grouped here by main point:</a:t>
            </a:r>
            <a:endParaRPr sz="3200" b="0" i="0" u="none" strike="noStrike" cap="none" dirty="0">
              <a:solidFill>
                <a:schemeClr val="bg1"/>
              </a:solidFill>
              <a:latin typeface="Questrial"/>
              <a:ea typeface="Questrial"/>
              <a:cs typeface="Questrial"/>
              <a:sym typeface="Questrial"/>
            </a:endParaRPr>
          </a:p>
        </p:txBody>
      </p:sp>
      <p:sp>
        <p:nvSpPr>
          <p:cNvPr id="18" name="Google Shape;341;p14">
            <a:extLst>
              <a:ext uri="{FF2B5EF4-FFF2-40B4-BE49-F238E27FC236}">
                <a16:creationId xmlns:a16="http://schemas.microsoft.com/office/drawing/2014/main" id="{D7786CBD-309C-9992-A749-8D5798E27ABC}"/>
              </a:ext>
            </a:extLst>
          </p:cNvPr>
          <p:cNvSpPr/>
          <p:nvPr/>
        </p:nvSpPr>
        <p:spPr>
          <a:xfrm>
            <a:off x="822960" y="4398264"/>
            <a:ext cx="5989320" cy="5157216"/>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0" name="Google Shape;342;p14">
            <a:extLst>
              <a:ext uri="{FF2B5EF4-FFF2-40B4-BE49-F238E27FC236}">
                <a16:creationId xmlns:a16="http://schemas.microsoft.com/office/drawing/2014/main" id="{E80943B1-4400-7BEF-9DA1-2A12467974E9}"/>
              </a:ext>
            </a:extLst>
          </p:cNvPr>
          <p:cNvSpPr/>
          <p:nvPr/>
        </p:nvSpPr>
        <p:spPr>
          <a:xfrm>
            <a:off x="822960" y="4398264"/>
            <a:ext cx="5989320" cy="713232"/>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22" name="Google Shape;343;p14">
            <a:extLst>
              <a:ext uri="{FF2B5EF4-FFF2-40B4-BE49-F238E27FC236}">
                <a16:creationId xmlns:a16="http://schemas.microsoft.com/office/drawing/2014/main" id="{7AD5A830-6957-087B-3D94-1B6A806AD540}"/>
              </a:ext>
            </a:extLst>
          </p:cNvPr>
          <p:cNvSpPr/>
          <p:nvPr/>
        </p:nvSpPr>
        <p:spPr>
          <a:xfrm>
            <a:off x="1051560" y="4535424"/>
            <a:ext cx="438912" cy="438912"/>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1728"/>
              <a:buFont typeface="Questrial"/>
              <a:buNone/>
            </a:pPr>
            <a:r>
              <a:rPr lang="en-US" sz="2000" b="1" i="0" u="none" strike="noStrike" cap="none">
                <a:solidFill>
                  <a:srgbClr val="8B0707"/>
                </a:solidFill>
                <a:latin typeface="Questrial"/>
                <a:ea typeface="Questrial"/>
                <a:cs typeface="Questrial"/>
                <a:sym typeface="Questrial"/>
              </a:rPr>
              <a:t>1</a:t>
            </a:r>
            <a:endParaRPr sz="2000" b="0" i="0" u="none" strike="noStrike" cap="none">
              <a:solidFill>
                <a:schemeClr val="dk1"/>
              </a:solidFill>
              <a:latin typeface="Questrial"/>
              <a:ea typeface="Questrial"/>
              <a:cs typeface="Questrial"/>
              <a:sym typeface="Questrial"/>
            </a:endParaRPr>
          </a:p>
        </p:txBody>
      </p:sp>
      <p:sp>
        <p:nvSpPr>
          <p:cNvPr id="24" name="Google Shape;344;p14">
            <a:extLst>
              <a:ext uri="{FF2B5EF4-FFF2-40B4-BE49-F238E27FC236}">
                <a16:creationId xmlns:a16="http://schemas.microsoft.com/office/drawing/2014/main" id="{6F6337AB-E70C-462F-9588-1D07277B3044}"/>
              </a:ext>
            </a:extLst>
          </p:cNvPr>
          <p:cNvSpPr txBox="1"/>
          <p:nvPr/>
        </p:nvSpPr>
        <p:spPr>
          <a:xfrm>
            <a:off x="1719072" y="4443984"/>
            <a:ext cx="4910328" cy="621792"/>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1700"/>
              <a:buFont typeface="Questrial"/>
              <a:buNone/>
            </a:pPr>
            <a:r>
              <a:rPr lang="en-US" sz="2000" b="1" i="0" u="none" strike="noStrike" cap="none">
                <a:solidFill>
                  <a:srgbClr val="FFFFFF"/>
                </a:solidFill>
                <a:latin typeface="Questrial"/>
                <a:ea typeface="Questrial"/>
                <a:cs typeface="Questrial"/>
                <a:sym typeface="Questrial"/>
              </a:rPr>
              <a:t>Transit Map and Fare Forecast</a:t>
            </a:r>
            <a:endParaRPr sz="2000" b="0" i="0" u="none" strike="noStrike" cap="none">
              <a:solidFill>
                <a:schemeClr val="dk1"/>
              </a:solidFill>
              <a:latin typeface="Questrial"/>
              <a:ea typeface="Questrial"/>
              <a:cs typeface="Questrial"/>
              <a:sym typeface="Questrial"/>
            </a:endParaRPr>
          </a:p>
        </p:txBody>
      </p:sp>
      <p:sp>
        <p:nvSpPr>
          <p:cNvPr id="26" name="Google Shape;345;p14">
            <a:extLst>
              <a:ext uri="{FF2B5EF4-FFF2-40B4-BE49-F238E27FC236}">
                <a16:creationId xmlns:a16="http://schemas.microsoft.com/office/drawing/2014/main" id="{76CE82A0-432B-637E-AFCB-47D3D0E53960}"/>
              </a:ext>
            </a:extLst>
          </p:cNvPr>
          <p:cNvSpPr txBox="1"/>
          <p:nvPr/>
        </p:nvSpPr>
        <p:spPr>
          <a:xfrm>
            <a:off x="1051560" y="5294376"/>
            <a:ext cx="5577840" cy="4169664"/>
          </a:xfrm>
          <a:prstGeom prst="rect">
            <a:avLst/>
          </a:prstGeom>
          <a:noFill/>
          <a:ln>
            <a:noFill/>
          </a:ln>
        </p:spPr>
        <p:txBody>
          <a:bodyPr spcFirstLastPara="1" wrap="square" lIns="0" tIns="0" rIns="0" bIns="0" anchor="t" anchorCtr="0">
            <a:noAutofit/>
          </a:bodyPr>
          <a:lstStyle/>
          <a:p>
            <a:pPr marL="438912" marR="0" lvl="0" indent="-438912" algn="l" rtl="0">
              <a:lnSpc>
                <a:spcPct val="100000"/>
              </a:lnSpc>
              <a:spcBef>
                <a:spcPts val="0"/>
              </a:spcBef>
              <a:spcAft>
                <a:spcPts val="0"/>
              </a:spcAft>
              <a:buClr>
                <a:srgbClr val="8B0707"/>
              </a:buClr>
              <a:buSzPts val="1800"/>
              <a:buFont typeface="Questrial"/>
              <a:buAutoNum type="arabicPeriod"/>
            </a:pPr>
            <a:r>
              <a:rPr lang="en-US" sz="2000" b="0" i="0" u="none" strike="noStrike" cap="none">
                <a:solidFill>
                  <a:srgbClr val="2B2020"/>
                </a:solidFill>
                <a:latin typeface="Questrial"/>
                <a:ea typeface="Questrial"/>
                <a:cs typeface="Questrial"/>
                <a:sym typeface="Questrial"/>
              </a:rPr>
              <a:t>Can departure times be estimated from service headways, and can a time-expanded graph answer earliest-arrival queries exactly and quickly for all landmarks?</a:t>
            </a:r>
            <a:endParaRPr sz="2000" b="0" i="0" u="none" strike="noStrike" cap="none">
              <a:solidFill>
                <a:schemeClr val="dk1"/>
              </a:solidFill>
              <a:latin typeface="Questrial"/>
              <a:ea typeface="Questrial"/>
              <a:cs typeface="Questrial"/>
              <a:sym typeface="Questrial"/>
            </a:endParaRPr>
          </a:p>
          <a:p>
            <a:pPr marL="438912" marR="0" lvl="0" indent="-438912" algn="l" rtl="0">
              <a:lnSpc>
                <a:spcPct val="100000"/>
              </a:lnSpc>
              <a:spcBef>
                <a:spcPts val="1200"/>
              </a:spcBef>
              <a:spcAft>
                <a:spcPts val="0"/>
              </a:spcAft>
              <a:buClr>
                <a:srgbClr val="8B0707"/>
              </a:buClr>
              <a:buSzPts val="1800"/>
              <a:buFont typeface="Questrial"/>
              <a:buAutoNum type="arabicPeriod" startAt="3"/>
            </a:pPr>
            <a:r>
              <a:rPr lang="en-US" sz="2000" b="0" i="0" u="none" strike="noStrike" cap="none">
                <a:solidFill>
                  <a:srgbClr val="2B2020"/>
                </a:solidFill>
                <a:latin typeface="Questrial"/>
                <a:ea typeface="Questrial"/>
                <a:cs typeface="Questrial"/>
                <a:sym typeface="Questrial"/>
              </a:rPr>
              <a:t>Is routing by arrival time, fare, and number of transfers still computationally feasible under the regulated fares?</a:t>
            </a:r>
            <a:endParaRPr sz="2000" b="0" i="0" u="none" strike="noStrike" cap="none">
              <a:solidFill>
                <a:schemeClr val="dk1"/>
              </a:solidFill>
              <a:latin typeface="Questrial"/>
              <a:ea typeface="Questrial"/>
              <a:cs typeface="Questrial"/>
              <a:sym typeface="Questrial"/>
            </a:endParaRPr>
          </a:p>
          <a:p>
            <a:pPr marL="438912" marR="0" lvl="0" indent="-438912" algn="l" rtl="0">
              <a:lnSpc>
                <a:spcPct val="100000"/>
              </a:lnSpc>
              <a:spcBef>
                <a:spcPts val="1200"/>
              </a:spcBef>
              <a:spcAft>
                <a:spcPts val="0"/>
              </a:spcAft>
              <a:buClr>
                <a:srgbClr val="8B0707"/>
              </a:buClr>
              <a:buSzPts val="1800"/>
              <a:buFont typeface="Questrial"/>
              <a:buAutoNum type="arabicPeriod" startAt="3"/>
            </a:pPr>
            <a:r>
              <a:rPr lang="en-US" sz="2000" b="0" i="0" u="none" strike="noStrike" cap="none">
                <a:solidFill>
                  <a:srgbClr val="2B2020"/>
                </a:solidFill>
                <a:latin typeface="Questrial"/>
                <a:ea typeface="Questrial"/>
                <a:cs typeface="Questrial"/>
                <a:sym typeface="Questrial"/>
              </a:rPr>
              <a:t>Do the Gini, Theil, Lorenz, and Palma measures keep their expected properties on landmarks, and can the Theil index still separate inequality within and between municipalities?</a:t>
            </a:r>
            <a:endParaRPr sz="2000" b="0" i="0" u="none" strike="noStrike" cap="none">
              <a:solidFill>
                <a:schemeClr val="dk1"/>
              </a:solidFill>
              <a:latin typeface="Questrial"/>
              <a:ea typeface="Questrial"/>
              <a:cs typeface="Questrial"/>
              <a:sym typeface="Questrial"/>
            </a:endParaRPr>
          </a:p>
        </p:txBody>
      </p:sp>
      <p:sp>
        <p:nvSpPr>
          <p:cNvPr id="28" name="Google Shape;346;p14">
            <a:extLst>
              <a:ext uri="{FF2B5EF4-FFF2-40B4-BE49-F238E27FC236}">
                <a16:creationId xmlns:a16="http://schemas.microsoft.com/office/drawing/2014/main" id="{D5EE5E03-42FB-3967-64B3-90F267E0E8A7}"/>
              </a:ext>
            </a:extLst>
          </p:cNvPr>
          <p:cNvSpPr/>
          <p:nvPr/>
        </p:nvSpPr>
        <p:spPr>
          <a:xfrm>
            <a:off x="7086600" y="4398264"/>
            <a:ext cx="5532120" cy="5157216"/>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0" name="Google Shape;347;p14">
            <a:extLst>
              <a:ext uri="{FF2B5EF4-FFF2-40B4-BE49-F238E27FC236}">
                <a16:creationId xmlns:a16="http://schemas.microsoft.com/office/drawing/2014/main" id="{2A1AC62B-0C25-CF42-176B-06207E973A32}"/>
              </a:ext>
            </a:extLst>
          </p:cNvPr>
          <p:cNvSpPr/>
          <p:nvPr/>
        </p:nvSpPr>
        <p:spPr>
          <a:xfrm>
            <a:off x="7086600" y="4398264"/>
            <a:ext cx="5532120" cy="713232"/>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32" name="Google Shape;348;p14">
            <a:extLst>
              <a:ext uri="{FF2B5EF4-FFF2-40B4-BE49-F238E27FC236}">
                <a16:creationId xmlns:a16="http://schemas.microsoft.com/office/drawing/2014/main" id="{DA6C9343-152F-974E-00C6-6BA804110FF4}"/>
              </a:ext>
            </a:extLst>
          </p:cNvPr>
          <p:cNvSpPr/>
          <p:nvPr/>
        </p:nvSpPr>
        <p:spPr>
          <a:xfrm>
            <a:off x="7315200" y="4535424"/>
            <a:ext cx="438912" cy="438912"/>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1728"/>
              <a:buFont typeface="Questrial"/>
              <a:buNone/>
            </a:pPr>
            <a:r>
              <a:rPr lang="en-US" sz="2000" b="1" i="0" u="none" strike="noStrike" cap="none">
                <a:solidFill>
                  <a:srgbClr val="8B0707"/>
                </a:solidFill>
                <a:latin typeface="Questrial"/>
                <a:ea typeface="Questrial"/>
                <a:cs typeface="Questrial"/>
                <a:sym typeface="Questrial"/>
              </a:rPr>
              <a:t>2</a:t>
            </a:r>
            <a:endParaRPr sz="2000" b="0" i="0" u="none" strike="noStrike" cap="none">
              <a:solidFill>
                <a:schemeClr val="dk1"/>
              </a:solidFill>
              <a:latin typeface="Questrial"/>
              <a:ea typeface="Questrial"/>
              <a:cs typeface="Questrial"/>
              <a:sym typeface="Questrial"/>
            </a:endParaRPr>
          </a:p>
        </p:txBody>
      </p:sp>
      <p:sp>
        <p:nvSpPr>
          <p:cNvPr id="34" name="Google Shape;349;p14">
            <a:extLst>
              <a:ext uri="{FF2B5EF4-FFF2-40B4-BE49-F238E27FC236}">
                <a16:creationId xmlns:a16="http://schemas.microsoft.com/office/drawing/2014/main" id="{AD574726-40EE-7CAE-528A-8BF2AACD4E83}"/>
              </a:ext>
            </a:extLst>
          </p:cNvPr>
          <p:cNvSpPr txBox="1"/>
          <p:nvPr/>
        </p:nvSpPr>
        <p:spPr>
          <a:xfrm>
            <a:off x="7982712" y="4443984"/>
            <a:ext cx="4453128" cy="621792"/>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1700"/>
              <a:buFont typeface="Questrial"/>
              <a:buNone/>
            </a:pPr>
            <a:r>
              <a:rPr lang="en-US" sz="2000" b="1" i="0" u="none" strike="noStrike" cap="none">
                <a:solidFill>
                  <a:srgbClr val="FFFFFF"/>
                </a:solidFill>
                <a:latin typeface="Questrial"/>
                <a:ea typeface="Questrial"/>
                <a:cs typeface="Questrial"/>
                <a:sym typeface="Questrial"/>
              </a:rPr>
              <a:t>Patient Transport Map</a:t>
            </a:r>
            <a:endParaRPr sz="2000" b="0" i="0" u="none" strike="noStrike" cap="none">
              <a:solidFill>
                <a:schemeClr val="dk1"/>
              </a:solidFill>
              <a:latin typeface="Questrial"/>
              <a:ea typeface="Questrial"/>
              <a:cs typeface="Questrial"/>
              <a:sym typeface="Questrial"/>
            </a:endParaRPr>
          </a:p>
        </p:txBody>
      </p:sp>
      <p:sp>
        <p:nvSpPr>
          <p:cNvPr id="36" name="Google Shape;350;p14">
            <a:extLst>
              <a:ext uri="{FF2B5EF4-FFF2-40B4-BE49-F238E27FC236}">
                <a16:creationId xmlns:a16="http://schemas.microsoft.com/office/drawing/2014/main" id="{EB684825-0525-AC73-33D2-CBCC7F5F139F}"/>
              </a:ext>
            </a:extLst>
          </p:cNvPr>
          <p:cNvSpPr txBox="1"/>
          <p:nvPr/>
        </p:nvSpPr>
        <p:spPr>
          <a:xfrm>
            <a:off x="7315200" y="5294376"/>
            <a:ext cx="5120640" cy="4169664"/>
          </a:xfrm>
          <a:prstGeom prst="rect">
            <a:avLst/>
          </a:prstGeom>
          <a:noFill/>
          <a:ln>
            <a:noFill/>
          </a:ln>
        </p:spPr>
        <p:txBody>
          <a:bodyPr spcFirstLastPara="1" wrap="square" lIns="0" tIns="0" rIns="0" bIns="0" anchor="t" anchorCtr="0">
            <a:noAutofit/>
          </a:bodyPr>
          <a:lstStyle/>
          <a:p>
            <a:pPr marL="438912" marR="0" lvl="0" indent="-438912" algn="l" rtl="0">
              <a:lnSpc>
                <a:spcPct val="100000"/>
              </a:lnSpc>
              <a:spcBef>
                <a:spcPts val="0"/>
              </a:spcBef>
              <a:spcAft>
                <a:spcPts val="0"/>
              </a:spcAft>
              <a:buClr>
                <a:srgbClr val="8B0707"/>
              </a:buClr>
              <a:buSzPts val="1800"/>
              <a:buFont typeface="Questrial"/>
              <a:buAutoNum type="arabicPeriod" startAt="2"/>
            </a:pPr>
            <a:r>
              <a:rPr lang="en-US" sz="2000" b="0" i="0" u="none" strike="noStrike" cap="none">
                <a:solidFill>
                  <a:srgbClr val="2B2020"/>
                </a:solidFill>
                <a:latin typeface="Questrial"/>
                <a:ea typeface="Questrial"/>
                <a:cs typeface="Questrial"/>
                <a:sym typeface="Questrial"/>
              </a:rPr>
              <a:t>How does the set of reachable places change when roads are filtered by width, clearance, gross mass, and axle load? Does routing stay consistent across vehicle classes, the ambulance included?</a:t>
            </a:r>
            <a:endParaRPr sz="2000" b="0" i="0" u="none" strike="noStrike" cap="none">
              <a:solidFill>
                <a:schemeClr val="dk1"/>
              </a:solidFill>
              <a:latin typeface="Questrial"/>
              <a:ea typeface="Questrial"/>
              <a:cs typeface="Questrial"/>
              <a:sym typeface="Questrial"/>
            </a:endParaRPr>
          </a:p>
          <a:p>
            <a:pPr marL="438912" marR="0" lvl="0" indent="-438912" algn="l" rtl="0">
              <a:lnSpc>
                <a:spcPct val="100000"/>
              </a:lnSpc>
              <a:spcBef>
                <a:spcPts val="1200"/>
              </a:spcBef>
              <a:spcAft>
                <a:spcPts val="0"/>
              </a:spcAft>
              <a:buClr>
                <a:srgbClr val="8B0707"/>
              </a:buClr>
              <a:buSzPts val="1800"/>
              <a:buFont typeface="Questrial"/>
              <a:buAutoNum type="arabicPeriod" startAt="6"/>
            </a:pPr>
            <a:r>
              <a:rPr lang="en-US" sz="2000" b="0" i="0" u="none" strike="noStrike" cap="none">
                <a:solidFill>
                  <a:srgbClr val="2B2020"/>
                </a:solidFill>
                <a:latin typeface="Questrial"/>
                <a:ea typeface="Questrial"/>
                <a:cs typeface="Questrial"/>
                <a:sym typeface="Questrial"/>
              </a:rPr>
              <a:t>When patients are matched by acuity, level of care, bed status, and ability to pay, does the search find the nearest suitable hospital, and how does the choice change as urgency rises?</a:t>
            </a:r>
            <a:endParaRPr sz="2000" b="0" i="0" u="none" strike="noStrike" cap="none">
              <a:solidFill>
                <a:schemeClr val="dk1"/>
              </a:solidFill>
              <a:latin typeface="Questrial"/>
              <a:ea typeface="Questrial"/>
              <a:cs typeface="Questrial"/>
              <a:sym typeface="Questrial"/>
            </a:endParaRPr>
          </a:p>
        </p:txBody>
      </p:sp>
      <p:sp>
        <p:nvSpPr>
          <p:cNvPr id="38" name="Google Shape;351;p14">
            <a:extLst>
              <a:ext uri="{FF2B5EF4-FFF2-40B4-BE49-F238E27FC236}">
                <a16:creationId xmlns:a16="http://schemas.microsoft.com/office/drawing/2014/main" id="{89D49072-39F7-7BC3-85EA-0EAE82EF0B43}"/>
              </a:ext>
            </a:extLst>
          </p:cNvPr>
          <p:cNvSpPr/>
          <p:nvPr/>
        </p:nvSpPr>
        <p:spPr>
          <a:xfrm>
            <a:off x="12893040" y="4398264"/>
            <a:ext cx="4572000" cy="5157216"/>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0" name="Google Shape;352;p14">
            <a:extLst>
              <a:ext uri="{FF2B5EF4-FFF2-40B4-BE49-F238E27FC236}">
                <a16:creationId xmlns:a16="http://schemas.microsoft.com/office/drawing/2014/main" id="{3169BA97-3FF2-E1D6-79EE-0058ABFDC47D}"/>
              </a:ext>
            </a:extLst>
          </p:cNvPr>
          <p:cNvSpPr/>
          <p:nvPr/>
        </p:nvSpPr>
        <p:spPr>
          <a:xfrm>
            <a:off x="12893040" y="4398264"/>
            <a:ext cx="4572000" cy="713232"/>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000"/>
          </a:p>
        </p:txBody>
      </p:sp>
      <p:sp>
        <p:nvSpPr>
          <p:cNvPr id="42" name="Google Shape;353;p14">
            <a:extLst>
              <a:ext uri="{FF2B5EF4-FFF2-40B4-BE49-F238E27FC236}">
                <a16:creationId xmlns:a16="http://schemas.microsoft.com/office/drawing/2014/main" id="{D52B996B-EAAB-46AE-5E88-E288EB4B6C4B}"/>
              </a:ext>
            </a:extLst>
          </p:cNvPr>
          <p:cNvSpPr/>
          <p:nvPr/>
        </p:nvSpPr>
        <p:spPr>
          <a:xfrm>
            <a:off x="13121640" y="4535424"/>
            <a:ext cx="438912" cy="438912"/>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1728"/>
              <a:buFont typeface="Questrial"/>
              <a:buNone/>
            </a:pPr>
            <a:r>
              <a:rPr lang="en-US" sz="2000" b="1" i="0" u="none" strike="noStrike" cap="none">
                <a:solidFill>
                  <a:srgbClr val="8B0707"/>
                </a:solidFill>
                <a:latin typeface="Questrial"/>
                <a:ea typeface="Questrial"/>
                <a:cs typeface="Questrial"/>
                <a:sym typeface="Questrial"/>
              </a:rPr>
              <a:t>3</a:t>
            </a:r>
            <a:endParaRPr sz="2000" b="0" i="0" u="none" strike="noStrike" cap="none">
              <a:solidFill>
                <a:schemeClr val="dk1"/>
              </a:solidFill>
              <a:latin typeface="Questrial"/>
              <a:ea typeface="Questrial"/>
              <a:cs typeface="Questrial"/>
              <a:sym typeface="Questrial"/>
            </a:endParaRPr>
          </a:p>
        </p:txBody>
      </p:sp>
      <p:sp>
        <p:nvSpPr>
          <p:cNvPr id="44" name="Google Shape;354;p14">
            <a:extLst>
              <a:ext uri="{FF2B5EF4-FFF2-40B4-BE49-F238E27FC236}">
                <a16:creationId xmlns:a16="http://schemas.microsoft.com/office/drawing/2014/main" id="{CCFA6CBE-5018-607C-AA11-6F8DBA77D7B7}"/>
              </a:ext>
            </a:extLst>
          </p:cNvPr>
          <p:cNvSpPr txBox="1"/>
          <p:nvPr/>
        </p:nvSpPr>
        <p:spPr>
          <a:xfrm>
            <a:off x="13789152" y="4443984"/>
            <a:ext cx="3493008" cy="621792"/>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1700"/>
              <a:buFont typeface="Questrial"/>
              <a:buNone/>
            </a:pPr>
            <a:r>
              <a:rPr lang="en-US" sz="2000" b="1" i="0" u="none" strike="noStrike" cap="none">
                <a:solidFill>
                  <a:srgbClr val="FFFFFF"/>
                </a:solidFill>
                <a:latin typeface="Questrial"/>
                <a:ea typeface="Questrial"/>
                <a:cs typeface="Questrial"/>
                <a:sym typeface="Questrial"/>
              </a:rPr>
              <a:t>Hospital Bed Capacity</a:t>
            </a:r>
            <a:endParaRPr sz="2000" b="0" i="0" u="none" strike="noStrike" cap="none">
              <a:solidFill>
                <a:schemeClr val="dk1"/>
              </a:solidFill>
              <a:latin typeface="Questrial"/>
              <a:ea typeface="Questrial"/>
              <a:cs typeface="Questrial"/>
              <a:sym typeface="Questrial"/>
            </a:endParaRPr>
          </a:p>
        </p:txBody>
      </p:sp>
      <p:sp>
        <p:nvSpPr>
          <p:cNvPr id="46" name="Google Shape;355;p14">
            <a:extLst>
              <a:ext uri="{FF2B5EF4-FFF2-40B4-BE49-F238E27FC236}">
                <a16:creationId xmlns:a16="http://schemas.microsoft.com/office/drawing/2014/main" id="{AEE05F51-7627-1E27-1117-06A92ADA085F}"/>
              </a:ext>
            </a:extLst>
          </p:cNvPr>
          <p:cNvSpPr txBox="1"/>
          <p:nvPr/>
        </p:nvSpPr>
        <p:spPr>
          <a:xfrm>
            <a:off x="13121640" y="5294376"/>
            <a:ext cx="4160520" cy="4169664"/>
          </a:xfrm>
          <a:prstGeom prst="rect">
            <a:avLst/>
          </a:prstGeom>
          <a:noFill/>
          <a:ln>
            <a:noFill/>
          </a:ln>
        </p:spPr>
        <p:txBody>
          <a:bodyPr spcFirstLastPara="1" wrap="square" lIns="0" tIns="0" rIns="0" bIns="0" anchor="t" anchorCtr="0">
            <a:noAutofit/>
          </a:bodyPr>
          <a:lstStyle/>
          <a:p>
            <a:pPr marL="438912" marR="0" lvl="0" indent="-438912" algn="l" rtl="0">
              <a:lnSpc>
                <a:spcPct val="100000"/>
              </a:lnSpc>
              <a:spcBef>
                <a:spcPts val="0"/>
              </a:spcBef>
              <a:spcAft>
                <a:spcPts val="0"/>
              </a:spcAft>
              <a:buClr>
                <a:srgbClr val="8B0707"/>
              </a:buClr>
              <a:buSzPts val="1800"/>
              <a:buFont typeface="Questrial"/>
              <a:buAutoNum type="arabicPeriod" startAt="5"/>
            </a:pPr>
            <a:r>
              <a:rPr lang="en-US" sz="2000" b="0" i="0" u="none" strike="noStrike" cap="none">
                <a:solidFill>
                  <a:srgbClr val="2B2020"/>
                </a:solidFill>
                <a:latin typeface="Questrial"/>
                <a:ea typeface="Questrial"/>
                <a:cs typeface="Questrial"/>
                <a:sym typeface="Questrial"/>
              </a:rPr>
              <a:t>Can e-mail agents collect hospital bed status with few messages and fresh reports while discarding invalid replies?</a:t>
            </a:r>
            <a:endParaRPr sz="2000" b="0" i="0" u="none" strike="noStrike" cap="none">
              <a:solidFill>
                <a:schemeClr val="dk1"/>
              </a:solidFill>
              <a:latin typeface="Questrial"/>
              <a:ea typeface="Questrial"/>
              <a:cs typeface="Questrial"/>
              <a:sym typeface="Questrial"/>
            </a:endParaRPr>
          </a:p>
          <a:p>
            <a:pPr marL="0" marR="0" lvl="0" indent="0" algn="l" rtl="0">
              <a:lnSpc>
                <a:spcPct val="98000"/>
              </a:lnSpc>
              <a:spcBef>
                <a:spcPts val="1800"/>
              </a:spcBef>
              <a:spcAft>
                <a:spcPts val="0"/>
              </a:spcAft>
              <a:buClr>
                <a:srgbClr val="6A5656"/>
              </a:buClr>
              <a:buSzPts val="1500"/>
              <a:buFont typeface="Questrial"/>
              <a:buNone/>
            </a:pPr>
            <a:r>
              <a:rPr lang="en-US" sz="2000" b="0" i="1" u="none" strike="noStrike" cap="none">
                <a:solidFill>
                  <a:srgbClr val="6A5656"/>
                </a:solidFill>
                <a:latin typeface="Questrial"/>
                <a:ea typeface="Questrial"/>
                <a:cs typeface="Questrial"/>
                <a:sym typeface="Questrial"/>
              </a:rPr>
              <a:t>Its limits are proved and simulated rather than tested as a hypothesis (Proposition 12).</a:t>
            </a:r>
            <a:endParaRPr sz="2000" b="0" i="0" u="none" strike="noStrike" cap="none">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41606511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966EE371-2DF2-D5BC-966F-6783378381D7}"/>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EF5C1FD0-7711-6DE4-3B30-95EFCF3FFF2E}"/>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362;p15">
            <a:extLst>
              <a:ext uri="{FF2B5EF4-FFF2-40B4-BE49-F238E27FC236}">
                <a16:creationId xmlns:a16="http://schemas.microsoft.com/office/drawing/2014/main" id="{7DD45164-2DAA-002F-6F96-4C773167B65C}"/>
              </a:ext>
            </a:extLst>
          </p:cNvPr>
          <p:cNvGrpSpPr/>
          <p:nvPr/>
        </p:nvGrpSpPr>
        <p:grpSpPr>
          <a:xfrm>
            <a:off x="-514350" y="-1248816"/>
            <a:ext cx="19524889" cy="2953915"/>
            <a:chOff x="0" y="-76200"/>
            <a:chExt cx="5142358" cy="777986"/>
          </a:xfrm>
        </p:grpSpPr>
        <p:sp>
          <p:nvSpPr>
            <p:cNvPr id="3" name="Google Shape;363;p15">
              <a:extLst>
                <a:ext uri="{FF2B5EF4-FFF2-40B4-BE49-F238E27FC236}">
                  <a16:creationId xmlns:a16="http://schemas.microsoft.com/office/drawing/2014/main" id="{267980B2-74FA-9B01-9892-4537304978F6}"/>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364;p15">
              <a:extLst>
                <a:ext uri="{FF2B5EF4-FFF2-40B4-BE49-F238E27FC236}">
                  <a16:creationId xmlns:a16="http://schemas.microsoft.com/office/drawing/2014/main" id="{2C4A59E3-034C-34E5-076B-C1C2A6B2FACF}"/>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 name="Google Shape;365;p15">
            <a:extLst>
              <a:ext uri="{FF2B5EF4-FFF2-40B4-BE49-F238E27FC236}">
                <a16:creationId xmlns:a16="http://schemas.microsoft.com/office/drawing/2014/main" id="{55EC3F87-D994-29FE-D0A5-5943C400FF17}"/>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HYPOTHESES</a:t>
            </a:r>
            <a:endParaRPr/>
          </a:p>
        </p:txBody>
      </p:sp>
      <p:sp>
        <p:nvSpPr>
          <p:cNvPr id="13" name="Google Shape;366;p15">
            <a:extLst>
              <a:ext uri="{FF2B5EF4-FFF2-40B4-BE49-F238E27FC236}">
                <a16:creationId xmlns:a16="http://schemas.microsoft.com/office/drawing/2014/main" id="{52317C33-3CCC-F336-E8F6-6C56D50ABBF8}"/>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600" b="0" i="0" u="none" strike="noStrike" cap="none">
                <a:solidFill>
                  <a:srgbClr val="FFFFFF"/>
                </a:solidFill>
                <a:latin typeface="Questrial"/>
                <a:ea typeface="Questrial"/>
                <a:cs typeface="Questrial"/>
                <a:sym typeface="Questrial"/>
              </a:rPr>
              <a:t>Model Hypotheses</a:t>
            </a:r>
            <a:endParaRPr sz="2600" b="0" i="0" u="none" strike="noStrike" cap="none">
              <a:solidFill>
                <a:schemeClr val="dk1"/>
              </a:solidFill>
              <a:latin typeface="Questrial"/>
              <a:ea typeface="Questrial"/>
              <a:cs typeface="Questrial"/>
              <a:sym typeface="Questrial"/>
            </a:endParaRPr>
          </a:p>
        </p:txBody>
      </p:sp>
      <p:sp>
        <p:nvSpPr>
          <p:cNvPr id="15" name="Google Shape;367;p15">
            <a:extLst>
              <a:ext uri="{FF2B5EF4-FFF2-40B4-BE49-F238E27FC236}">
                <a16:creationId xmlns:a16="http://schemas.microsoft.com/office/drawing/2014/main" id="{87DD1A00-DB04-B1A1-1E54-F1B7B9EDE765}"/>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15</a:t>
            </a:r>
            <a:endParaRPr sz="1600" b="0" i="0" u="none" strike="noStrike" cap="none">
              <a:solidFill>
                <a:schemeClr val="dk1"/>
              </a:solidFill>
              <a:latin typeface="Questrial"/>
              <a:ea typeface="Questrial"/>
              <a:cs typeface="Questrial"/>
              <a:sym typeface="Questrial"/>
            </a:endParaRPr>
          </a:p>
        </p:txBody>
      </p:sp>
      <p:sp>
        <p:nvSpPr>
          <p:cNvPr id="17" name="Google Shape;368;p15">
            <a:extLst>
              <a:ext uri="{FF2B5EF4-FFF2-40B4-BE49-F238E27FC236}">
                <a16:creationId xmlns:a16="http://schemas.microsoft.com/office/drawing/2014/main" id="{ABC94087-E72A-60B7-9F00-B8ABFC122676}"/>
              </a:ext>
            </a:extLst>
          </p:cNvPr>
          <p:cNvSpPr txBox="1"/>
          <p:nvPr/>
        </p:nvSpPr>
        <p:spPr>
          <a:xfrm>
            <a:off x="822959" y="1817796"/>
            <a:ext cx="16642080" cy="56692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B2020"/>
              </a:buClr>
              <a:buSzPts val="1850"/>
              <a:buFont typeface="Questrial"/>
              <a:buNone/>
            </a:pPr>
            <a:r>
              <a:rPr lang="en-US" sz="3200" b="0" i="0" u="none" strike="noStrike" cap="none" dirty="0">
                <a:solidFill>
                  <a:schemeClr val="bg1"/>
                </a:solidFill>
                <a:latin typeface="Questrial"/>
                <a:ea typeface="Questrial"/>
                <a:cs typeface="Questrial"/>
                <a:sym typeface="Questrial"/>
              </a:rPr>
              <a:t>These hypotheses are about the open-data model, not about field conditions. All of them were fixed before the Albay instance was run.</a:t>
            </a:r>
            <a:endParaRPr sz="3200" b="0" i="0" u="none" strike="noStrike" cap="none" dirty="0">
              <a:solidFill>
                <a:schemeClr val="bg1"/>
              </a:solidFill>
              <a:latin typeface="Questrial"/>
              <a:ea typeface="Questrial"/>
              <a:cs typeface="Questrial"/>
              <a:sym typeface="Questrial"/>
            </a:endParaRPr>
          </a:p>
        </p:txBody>
      </p:sp>
      <p:graphicFrame>
        <p:nvGraphicFramePr>
          <p:cNvPr id="19" name="Google Shape;369;p15">
            <a:extLst>
              <a:ext uri="{FF2B5EF4-FFF2-40B4-BE49-F238E27FC236}">
                <a16:creationId xmlns:a16="http://schemas.microsoft.com/office/drawing/2014/main" id="{F5C06C1B-56AE-C453-A714-23B97F268C1E}"/>
              </a:ext>
            </a:extLst>
          </p:cNvPr>
          <p:cNvGraphicFramePr/>
          <p:nvPr>
            <p:extLst>
              <p:ext uri="{D42A27DB-BD31-4B8C-83A1-F6EECF244321}">
                <p14:modId xmlns:p14="http://schemas.microsoft.com/office/powerpoint/2010/main" val="788453414"/>
              </p:ext>
            </p:extLst>
          </p:nvPr>
        </p:nvGraphicFramePr>
        <p:xfrm>
          <a:off x="822960" y="2670048"/>
          <a:ext cx="16642100" cy="6327700"/>
        </p:xfrm>
        <a:graphic>
          <a:graphicData uri="http://schemas.openxmlformats.org/drawingml/2006/table">
            <a:tbl>
              <a:tblPr>
                <a:noFill/>
                <a:tableStyleId>{34289B53-5545-4E02-A326-ACEF5BE87AE4}</a:tableStyleId>
              </a:tblPr>
              <a:tblGrid>
                <a:gridCol w="960125">
                  <a:extLst>
                    <a:ext uri="{9D8B030D-6E8A-4147-A177-3AD203B41FA5}">
                      <a16:colId xmlns:a16="http://schemas.microsoft.com/office/drawing/2014/main" val="20000"/>
                    </a:ext>
                  </a:extLst>
                </a:gridCol>
                <a:gridCol w="960125">
                  <a:extLst>
                    <a:ext uri="{9D8B030D-6E8A-4147-A177-3AD203B41FA5}">
                      <a16:colId xmlns:a16="http://schemas.microsoft.com/office/drawing/2014/main" val="20001"/>
                    </a:ext>
                  </a:extLst>
                </a:gridCol>
                <a:gridCol w="8732525">
                  <a:extLst>
                    <a:ext uri="{9D8B030D-6E8A-4147-A177-3AD203B41FA5}">
                      <a16:colId xmlns:a16="http://schemas.microsoft.com/office/drawing/2014/main" val="20002"/>
                    </a:ext>
                  </a:extLst>
                </a:gridCol>
                <a:gridCol w="5989325">
                  <a:extLst>
                    <a:ext uri="{9D8B030D-6E8A-4147-A177-3AD203B41FA5}">
                      <a16:colId xmlns:a16="http://schemas.microsoft.com/office/drawing/2014/main" val="20003"/>
                    </a:ext>
                  </a:extLst>
                </a:gridCol>
              </a:tblGrid>
              <a:tr h="475500">
                <a:tc>
                  <a:txBody>
                    <a:bodyPr/>
                    <a:lstStyle/>
                    <a:p>
                      <a:pPr marL="0" marR="0" lvl="0" indent="0" algn="ctr" rtl="0">
                        <a:lnSpc>
                          <a:spcPct val="97000"/>
                        </a:lnSpc>
                        <a:spcBef>
                          <a:spcPts val="0"/>
                        </a:spcBef>
                        <a:spcAft>
                          <a:spcPts val="0"/>
                        </a:spcAft>
                        <a:buClr>
                          <a:srgbClr val="FFFFFF"/>
                        </a:buClr>
                        <a:buSzPts val="1700"/>
                        <a:buFont typeface="Questrial"/>
                        <a:buNone/>
                      </a:pPr>
                      <a:r>
                        <a:rPr lang="en-US" sz="2000" b="1" u="none" strike="noStrike" cap="none" dirty="0">
                          <a:solidFill>
                            <a:srgbClr val="FFFFFF"/>
                          </a:solidFill>
                          <a:latin typeface="Questrial"/>
                          <a:ea typeface="Questrial"/>
                          <a:cs typeface="Questrial"/>
                          <a:sym typeface="Questrial"/>
                        </a:rPr>
                        <a:t>Code</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ctr" rtl="0">
                        <a:lnSpc>
                          <a:spcPct val="97000"/>
                        </a:lnSpc>
                        <a:spcBef>
                          <a:spcPts val="0"/>
                        </a:spcBef>
                        <a:spcAft>
                          <a:spcPts val="0"/>
                        </a:spcAft>
                        <a:buClr>
                          <a:srgbClr val="FFFFFF"/>
                        </a:buClr>
                        <a:buSzPts val="1700"/>
                        <a:buFont typeface="Questrial"/>
                        <a:buNone/>
                      </a:pPr>
                      <a:r>
                        <a:rPr lang="en-US" sz="2000" b="1" u="none" strike="noStrike" cap="none" dirty="0">
                          <a:solidFill>
                            <a:srgbClr val="FFFFFF"/>
                          </a:solidFill>
                          <a:latin typeface="Questrial"/>
                          <a:ea typeface="Questrial"/>
                          <a:cs typeface="Questrial"/>
                          <a:sym typeface="Questrial"/>
                        </a:rPr>
                        <a:t>Point</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2000" b="1" u="none" strike="noStrike" cap="none">
                          <a:solidFill>
                            <a:srgbClr val="FFFFFF"/>
                          </a:solidFill>
                          <a:latin typeface="Questrial"/>
                          <a:ea typeface="Questrial"/>
                          <a:cs typeface="Questrial"/>
                          <a:sym typeface="Questrial"/>
                        </a:rPr>
                        <a:t>Hypothesis</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2000" b="1" u="none" strike="noStrike" cap="none">
                          <a:solidFill>
                            <a:srgbClr val="FFFFFF"/>
                          </a:solidFill>
                          <a:latin typeface="Questrial"/>
                          <a:ea typeface="Questrial"/>
                          <a:cs typeface="Questrial"/>
                          <a:sym typeface="Questrial"/>
                        </a:rPr>
                        <a:t>Test or decision rule</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extLst>
                  <a:ext uri="{0D108BD9-81ED-4DB2-BD59-A6C34878D82A}">
                    <a16:rowId xmlns:a16="http://schemas.microsoft.com/office/drawing/2014/main" val="10000"/>
                  </a:ext>
                </a:extLst>
              </a:tr>
              <a:tr h="731525">
                <a:tc>
                  <a:txBody>
                    <a:bodyPr/>
                    <a:lstStyle/>
                    <a:p>
                      <a:pPr marL="0" marR="0" lvl="0" indent="0" algn="ctr" rtl="0">
                        <a:lnSpc>
                          <a:spcPct val="97000"/>
                        </a:lnSpc>
                        <a:spcBef>
                          <a:spcPts val="0"/>
                        </a:spcBef>
                        <a:spcAft>
                          <a:spcPts val="0"/>
                        </a:spcAft>
                        <a:buClr>
                          <a:srgbClr val="8B0707"/>
                        </a:buClr>
                        <a:buSzPts val="1800"/>
                        <a:buFont typeface="Questrial"/>
                        <a:buNone/>
                      </a:pPr>
                      <a:r>
                        <a:rPr lang="en-US" sz="2000" b="1" u="none" strike="noStrike" cap="none">
                          <a:solidFill>
                            <a:srgbClr val="8B0707"/>
                          </a:solidFill>
                          <a:latin typeface="Questrial"/>
                          <a:ea typeface="Questrial"/>
                          <a:cs typeface="Questrial"/>
                          <a:sym typeface="Questrial"/>
                        </a:rPr>
                        <a:t>M1</a:t>
                      </a:r>
                      <a:endParaRPr sz="2000" u="none" strike="noStrike" cap="none">
                        <a:latin typeface="Questrial"/>
                        <a:ea typeface="Questrial"/>
                        <a:cs typeface="Questrial"/>
                        <a:sym typeface="Questrial"/>
                      </a:endParaRPr>
                    </a:p>
                  </a:txBody>
                  <a:tcPr marL="45725" marR="45725" marT="36575" marB="365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700"/>
                        <a:buFont typeface="Questrial"/>
                        <a:buNone/>
                      </a:pPr>
                      <a:r>
                        <a:rPr lang="en-US" sz="2000" b="1" u="none" strike="noStrike" cap="none" dirty="0">
                          <a:solidFill>
                            <a:srgbClr val="8B0707"/>
                          </a:solidFill>
                          <a:latin typeface="Questrial"/>
                          <a:ea typeface="Questrial"/>
                          <a:cs typeface="Questrial"/>
                          <a:sym typeface="Questrial"/>
                        </a:rPr>
                        <a:t>1</a:t>
                      </a:r>
                      <a:endParaRPr sz="2000" u="none" strike="noStrike" cap="none" dirty="0">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700"/>
                        <a:buFont typeface="Questrial"/>
                        <a:buNone/>
                      </a:pPr>
                      <a:r>
                        <a:rPr lang="en-US" sz="2000" u="none" strike="noStrike" cap="none" dirty="0">
                          <a:solidFill>
                            <a:srgbClr val="2B2020"/>
                          </a:solidFill>
                          <a:latin typeface="Questrial"/>
                          <a:ea typeface="Questrial"/>
                          <a:cs typeface="Questrial"/>
                          <a:sym typeface="Questrial"/>
                        </a:rPr>
                        <a:t>Access to hospital beds is unequal, with a weighted Gini above 0.30 at the 30-minute baseline.</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650"/>
                        <a:buFont typeface="Questrial"/>
                        <a:buNone/>
                      </a:pPr>
                      <a:r>
                        <a:rPr lang="en-US" sz="2000" u="none" strike="noStrike" cap="none">
                          <a:solidFill>
                            <a:srgbClr val="8B0707"/>
                          </a:solidFill>
                          <a:latin typeface="Questrial"/>
                          <a:ea typeface="Questrial"/>
                          <a:cs typeface="Questrial"/>
                          <a:sym typeface="Questrial"/>
                        </a:rPr>
                        <a:t>Supported if the 95% bootstrap interval lies wholly above 0.30</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1"/>
                  </a:ext>
                </a:extLst>
              </a:tr>
              <a:tr h="731525">
                <a:tc>
                  <a:txBody>
                    <a:bodyPr/>
                    <a:lstStyle/>
                    <a:p>
                      <a:pPr marL="0" marR="0" lvl="0" indent="0" algn="ctr" rtl="0">
                        <a:lnSpc>
                          <a:spcPct val="97000"/>
                        </a:lnSpc>
                        <a:spcBef>
                          <a:spcPts val="0"/>
                        </a:spcBef>
                        <a:spcAft>
                          <a:spcPts val="0"/>
                        </a:spcAft>
                        <a:buClr>
                          <a:srgbClr val="8B0707"/>
                        </a:buClr>
                        <a:buSzPts val="1800"/>
                        <a:buFont typeface="Questrial"/>
                        <a:buNone/>
                      </a:pPr>
                      <a:r>
                        <a:rPr lang="en-US" sz="2000" b="1" u="none" strike="noStrike" cap="none">
                          <a:solidFill>
                            <a:srgbClr val="8B0707"/>
                          </a:solidFill>
                          <a:latin typeface="Questrial"/>
                          <a:ea typeface="Questrial"/>
                          <a:cs typeface="Questrial"/>
                          <a:sym typeface="Questrial"/>
                        </a:rPr>
                        <a:t>M2</a:t>
                      </a:r>
                      <a:endParaRPr sz="2000" u="none" strike="noStrike" cap="none">
                        <a:latin typeface="Questrial"/>
                        <a:ea typeface="Questrial"/>
                        <a:cs typeface="Questrial"/>
                        <a:sym typeface="Questrial"/>
                      </a:endParaRPr>
                    </a:p>
                  </a:txBody>
                  <a:tcPr marL="45725" marR="45725" marT="36575" marB="365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700"/>
                        <a:buFont typeface="Questrial"/>
                        <a:buNone/>
                      </a:pPr>
                      <a:r>
                        <a:rPr lang="en-US" sz="2000" b="1" u="none" strike="noStrike" cap="none">
                          <a:solidFill>
                            <a:srgbClr val="8B0707"/>
                          </a:solidFill>
                          <a:latin typeface="Questrial"/>
                          <a:ea typeface="Questrial"/>
                          <a:cs typeface="Questrial"/>
                          <a:sym typeface="Questrial"/>
                        </a:rPr>
                        <a:t>1</a:t>
                      </a:r>
                      <a:endParaRPr sz="20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700"/>
                        <a:buFont typeface="Questrial"/>
                        <a:buNone/>
                      </a:pPr>
                      <a:r>
                        <a:rPr lang="en-US" sz="2000" u="none" strike="noStrike" cap="none" dirty="0">
                          <a:solidFill>
                            <a:srgbClr val="2B2020"/>
                          </a:solidFill>
                          <a:latin typeface="Questrial"/>
                          <a:ea typeface="Questrial"/>
                          <a:cs typeface="Questrial"/>
                          <a:sym typeface="Questrial"/>
                        </a:rPr>
                        <a:t>Anchors in urban centers have more access than rural anchors.</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650"/>
                        <a:buFont typeface="Questrial"/>
                        <a:buNone/>
                      </a:pPr>
                      <a:r>
                        <a:rPr lang="en-US" sz="2000" u="none" strike="noStrike" cap="none">
                          <a:solidFill>
                            <a:srgbClr val="8B0707"/>
                          </a:solidFill>
                          <a:latin typeface="Questrial"/>
                          <a:ea typeface="Questrial"/>
                          <a:cs typeface="Questrial"/>
                          <a:sym typeface="Questrial"/>
                        </a:rPr>
                        <a:t>Mann–Whitney U test</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2"/>
                  </a:ext>
                </a:extLst>
              </a:tr>
              <a:tr h="731525">
                <a:tc>
                  <a:txBody>
                    <a:bodyPr/>
                    <a:lstStyle/>
                    <a:p>
                      <a:pPr marL="0" marR="0" lvl="0" indent="0" algn="ctr" rtl="0">
                        <a:lnSpc>
                          <a:spcPct val="97000"/>
                        </a:lnSpc>
                        <a:spcBef>
                          <a:spcPts val="0"/>
                        </a:spcBef>
                        <a:spcAft>
                          <a:spcPts val="0"/>
                        </a:spcAft>
                        <a:buClr>
                          <a:srgbClr val="8B0707"/>
                        </a:buClr>
                        <a:buSzPts val="1800"/>
                        <a:buFont typeface="Questrial"/>
                        <a:buNone/>
                      </a:pPr>
                      <a:r>
                        <a:rPr lang="en-US" sz="2000" b="1" u="none" strike="noStrike" cap="none">
                          <a:solidFill>
                            <a:srgbClr val="8B0707"/>
                          </a:solidFill>
                          <a:latin typeface="Questrial"/>
                          <a:ea typeface="Questrial"/>
                          <a:cs typeface="Questrial"/>
                          <a:sym typeface="Questrial"/>
                        </a:rPr>
                        <a:t>M3</a:t>
                      </a:r>
                      <a:endParaRPr sz="2000" u="none" strike="noStrike" cap="none">
                        <a:latin typeface="Questrial"/>
                        <a:ea typeface="Questrial"/>
                        <a:cs typeface="Questrial"/>
                        <a:sym typeface="Questrial"/>
                      </a:endParaRPr>
                    </a:p>
                  </a:txBody>
                  <a:tcPr marL="45725" marR="45725" marT="36575" marB="365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700"/>
                        <a:buFont typeface="Questrial"/>
                        <a:buNone/>
                      </a:pPr>
                      <a:r>
                        <a:rPr lang="en-US" sz="2000" b="1" u="none" strike="noStrike" cap="none">
                          <a:solidFill>
                            <a:srgbClr val="8B0707"/>
                          </a:solidFill>
                          <a:latin typeface="Questrial"/>
                          <a:ea typeface="Questrial"/>
                          <a:cs typeface="Questrial"/>
                          <a:sym typeface="Questrial"/>
                        </a:rPr>
                        <a:t>1</a:t>
                      </a:r>
                      <a:endParaRPr sz="20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700"/>
                        <a:buFont typeface="Questrial"/>
                        <a:buNone/>
                      </a:pPr>
                      <a:r>
                        <a:rPr lang="en-US" sz="2000" u="none" strike="noStrike" cap="none" dirty="0">
                          <a:solidFill>
                            <a:srgbClr val="2B2020"/>
                          </a:solidFill>
                          <a:latin typeface="Questrial"/>
                          <a:ea typeface="Questrial"/>
                          <a:cs typeface="Questrial"/>
                          <a:sym typeface="Questrial"/>
                        </a:rPr>
                        <a:t>Less than half of the Theil index comes from differences between municipalities.</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650"/>
                        <a:buFont typeface="Questrial"/>
                        <a:buNone/>
                      </a:pPr>
                      <a:r>
                        <a:rPr lang="en-US" sz="2000" u="none" strike="noStrike" cap="none">
                          <a:solidFill>
                            <a:srgbClr val="8B0707"/>
                          </a:solidFill>
                          <a:latin typeface="Questrial"/>
                          <a:ea typeface="Questrial"/>
                          <a:cs typeface="Questrial"/>
                          <a:sym typeface="Questrial"/>
                        </a:rPr>
                        <a:t>Theil decomposition with a bootstrap interval</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3"/>
                  </a:ext>
                </a:extLst>
              </a:tr>
              <a:tr h="731525">
                <a:tc>
                  <a:txBody>
                    <a:bodyPr/>
                    <a:lstStyle/>
                    <a:p>
                      <a:pPr marL="0" marR="0" lvl="0" indent="0" algn="ctr" rtl="0">
                        <a:lnSpc>
                          <a:spcPct val="97000"/>
                        </a:lnSpc>
                        <a:spcBef>
                          <a:spcPts val="0"/>
                        </a:spcBef>
                        <a:spcAft>
                          <a:spcPts val="0"/>
                        </a:spcAft>
                        <a:buClr>
                          <a:srgbClr val="8B0707"/>
                        </a:buClr>
                        <a:buSzPts val="1800"/>
                        <a:buFont typeface="Questrial"/>
                        <a:buNone/>
                      </a:pPr>
                      <a:r>
                        <a:rPr lang="en-US" sz="2000" b="1" u="none" strike="noStrike" cap="none">
                          <a:solidFill>
                            <a:srgbClr val="8B0707"/>
                          </a:solidFill>
                          <a:latin typeface="Questrial"/>
                          <a:ea typeface="Questrial"/>
                          <a:cs typeface="Questrial"/>
                          <a:sym typeface="Questrial"/>
                        </a:rPr>
                        <a:t>M4</a:t>
                      </a:r>
                      <a:endParaRPr sz="2000" u="none" strike="noStrike" cap="none">
                        <a:latin typeface="Questrial"/>
                        <a:ea typeface="Questrial"/>
                        <a:cs typeface="Questrial"/>
                        <a:sym typeface="Questrial"/>
                      </a:endParaRPr>
                    </a:p>
                  </a:txBody>
                  <a:tcPr marL="45725" marR="45725" marT="36575" marB="365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700"/>
                        <a:buFont typeface="Questrial"/>
                        <a:buNone/>
                      </a:pPr>
                      <a:r>
                        <a:rPr lang="en-US" sz="2000" b="1" u="none" strike="noStrike" cap="none">
                          <a:solidFill>
                            <a:srgbClr val="8B0707"/>
                          </a:solidFill>
                          <a:latin typeface="Questrial"/>
                          <a:ea typeface="Questrial"/>
                          <a:cs typeface="Questrial"/>
                          <a:sym typeface="Questrial"/>
                        </a:rPr>
                        <a:t>2</a:t>
                      </a:r>
                      <a:endParaRPr sz="20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700"/>
                        <a:buFont typeface="Questrial"/>
                        <a:buNone/>
                      </a:pPr>
                      <a:r>
                        <a:rPr lang="en-US" sz="2000" u="none" strike="noStrike" cap="none" dirty="0">
                          <a:solidFill>
                            <a:srgbClr val="2B2020"/>
                          </a:solidFill>
                          <a:latin typeface="Questrial"/>
                          <a:ea typeface="Questrial"/>
                          <a:cs typeface="Questrial"/>
                          <a:sym typeface="Questrial"/>
                        </a:rPr>
                        <a:t>A larger vehicle class never reaches more of the road network than a smaller one.</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650"/>
                        <a:buFont typeface="Questrial"/>
                        <a:buNone/>
                      </a:pPr>
                      <a:r>
                        <a:rPr lang="en-US" sz="2000" u="none" strike="noStrike" cap="none">
                          <a:solidFill>
                            <a:srgbClr val="8B0707"/>
                          </a:solidFill>
                          <a:latin typeface="Questrial"/>
                          <a:ea typeface="Questrial"/>
                          <a:cs typeface="Questrial"/>
                          <a:sym typeface="Questrial"/>
                        </a:rPr>
                        <a:t>Exact by Proposition 3; a violation means a road attribute is wrong</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4"/>
                  </a:ext>
                </a:extLst>
              </a:tr>
              <a:tr h="731525">
                <a:tc>
                  <a:txBody>
                    <a:bodyPr/>
                    <a:lstStyle/>
                    <a:p>
                      <a:pPr marL="0" marR="0" lvl="0" indent="0" algn="ctr" rtl="0">
                        <a:lnSpc>
                          <a:spcPct val="97000"/>
                        </a:lnSpc>
                        <a:spcBef>
                          <a:spcPts val="0"/>
                        </a:spcBef>
                        <a:spcAft>
                          <a:spcPts val="0"/>
                        </a:spcAft>
                        <a:buClr>
                          <a:srgbClr val="8B0707"/>
                        </a:buClr>
                        <a:buSzPts val="1800"/>
                        <a:buFont typeface="Questrial"/>
                        <a:buNone/>
                      </a:pPr>
                      <a:r>
                        <a:rPr lang="en-US" sz="2000" b="1" u="none" strike="noStrike" cap="none">
                          <a:solidFill>
                            <a:srgbClr val="8B0707"/>
                          </a:solidFill>
                          <a:latin typeface="Questrial"/>
                          <a:ea typeface="Questrial"/>
                          <a:cs typeface="Questrial"/>
                          <a:sym typeface="Questrial"/>
                        </a:rPr>
                        <a:t>M5</a:t>
                      </a:r>
                      <a:endParaRPr sz="2000" u="none" strike="noStrike" cap="none">
                        <a:latin typeface="Questrial"/>
                        <a:ea typeface="Questrial"/>
                        <a:cs typeface="Questrial"/>
                        <a:sym typeface="Questrial"/>
                      </a:endParaRPr>
                    </a:p>
                  </a:txBody>
                  <a:tcPr marL="45725" marR="45725" marT="36575" marB="365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700"/>
                        <a:buFont typeface="Questrial"/>
                        <a:buNone/>
                      </a:pPr>
                      <a:r>
                        <a:rPr lang="en-US" sz="2000" b="1" u="none" strike="noStrike" cap="none">
                          <a:solidFill>
                            <a:srgbClr val="8B0707"/>
                          </a:solidFill>
                          <a:latin typeface="Questrial"/>
                          <a:ea typeface="Questrial"/>
                          <a:cs typeface="Questrial"/>
                          <a:sym typeface="Questrial"/>
                        </a:rPr>
                        <a:t>1, 2</a:t>
                      </a:r>
                      <a:endParaRPr sz="20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700"/>
                        <a:buFont typeface="Questrial"/>
                        <a:buNone/>
                      </a:pPr>
                      <a:r>
                        <a:rPr lang="en-US" sz="2000" u="none" strike="noStrike" cap="none">
                          <a:solidFill>
                            <a:srgbClr val="2B2020"/>
                          </a:solidFill>
                          <a:latin typeface="Questrial"/>
                          <a:ea typeface="Questrial"/>
                          <a:cs typeface="Questrial"/>
                          <a:sym typeface="Questrial"/>
                        </a:rPr>
                        <a:t>M1 to M3, M6, and M7 hold for every anchor set and for budgets of 15, 30, and 45 minutes.</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650"/>
                        <a:buFont typeface="Questrial"/>
                        <a:buNone/>
                      </a:pPr>
                      <a:r>
                        <a:rPr lang="en-US" sz="2000" u="none" strike="noStrike" cap="none" dirty="0">
                          <a:solidFill>
                            <a:srgbClr val="8B0707"/>
                          </a:solidFill>
                          <a:latin typeface="Questrial"/>
                          <a:ea typeface="Questrial"/>
                          <a:cs typeface="Questrial"/>
                          <a:sym typeface="Questrial"/>
                        </a:rPr>
                        <a:t>Robustness sweep</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5"/>
                  </a:ext>
                </a:extLst>
              </a:tr>
              <a:tr h="731525">
                <a:tc>
                  <a:txBody>
                    <a:bodyPr/>
                    <a:lstStyle/>
                    <a:p>
                      <a:pPr marL="0" marR="0" lvl="0" indent="0" algn="ctr" rtl="0">
                        <a:lnSpc>
                          <a:spcPct val="97000"/>
                        </a:lnSpc>
                        <a:spcBef>
                          <a:spcPts val="0"/>
                        </a:spcBef>
                        <a:spcAft>
                          <a:spcPts val="0"/>
                        </a:spcAft>
                        <a:buClr>
                          <a:srgbClr val="8B0707"/>
                        </a:buClr>
                        <a:buSzPts val="1800"/>
                        <a:buFont typeface="Questrial"/>
                        <a:buNone/>
                      </a:pPr>
                      <a:r>
                        <a:rPr lang="en-US" sz="2000" b="1" u="none" strike="noStrike" cap="none">
                          <a:solidFill>
                            <a:srgbClr val="8B0707"/>
                          </a:solidFill>
                          <a:latin typeface="Questrial"/>
                          <a:ea typeface="Questrial"/>
                          <a:cs typeface="Questrial"/>
                          <a:sym typeface="Questrial"/>
                        </a:rPr>
                        <a:t>M6</a:t>
                      </a:r>
                      <a:endParaRPr sz="2000" u="none" strike="noStrike" cap="none">
                        <a:latin typeface="Questrial"/>
                        <a:ea typeface="Questrial"/>
                        <a:cs typeface="Questrial"/>
                        <a:sym typeface="Questrial"/>
                      </a:endParaRPr>
                    </a:p>
                  </a:txBody>
                  <a:tcPr marL="45725" marR="45725" marT="36575" marB="365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700"/>
                        <a:buFont typeface="Questrial"/>
                        <a:buNone/>
                      </a:pPr>
                      <a:r>
                        <a:rPr lang="en-US" sz="2000" b="1" u="none" strike="noStrike" cap="none">
                          <a:solidFill>
                            <a:srgbClr val="8B0707"/>
                          </a:solidFill>
                          <a:latin typeface="Questrial"/>
                          <a:ea typeface="Questrial"/>
                          <a:cs typeface="Questrial"/>
                          <a:sym typeface="Questrial"/>
                        </a:rPr>
                        <a:t>2</a:t>
                      </a:r>
                      <a:endParaRPr sz="20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700"/>
                        <a:buFont typeface="Questrial"/>
                        <a:buNone/>
                      </a:pPr>
                      <a:r>
                        <a:rPr lang="en-US" sz="2000" u="none" strike="noStrike" cap="none">
                          <a:solidFill>
                            <a:srgbClr val="2B2020"/>
                          </a:solidFill>
                          <a:latin typeface="Questrial"/>
                          <a:ea typeface="Questrial"/>
                          <a:cs typeface="Questrial"/>
                          <a:sym typeface="Questrial"/>
                        </a:rPr>
                        <a:t>For a stable patient who needs free care (acuity 3, payment class 0), the payment gap is larger at rural anchors.</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650"/>
                        <a:buFont typeface="Questrial"/>
                        <a:buNone/>
                      </a:pPr>
                      <a:r>
                        <a:rPr lang="en-US" sz="2000" u="none" strike="noStrike" cap="none" dirty="0">
                          <a:solidFill>
                            <a:srgbClr val="8B0707"/>
                          </a:solidFill>
                          <a:latin typeface="Questrial"/>
                          <a:ea typeface="Questrial"/>
                          <a:cs typeface="Questrial"/>
                          <a:sym typeface="Questrial"/>
                        </a:rPr>
                        <a:t>Mann–Whitney U test</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6"/>
                  </a:ext>
                </a:extLst>
              </a:tr>
              <a:tr h="731525">
                <a:tc>
                  <a:txBody>
                    <a:bodyPr/>
                    <a:lstStyle/>
                    <a:p>
                      <a:pPr marL="0" marR="0" lvl="0" indent="0" algn="ctr" rtl="0">
                        <a:lnSpc>
                          <a:spcPct val="97000"/>
                        </a:lnSpc>
                        <a:spcBef>
                          <a:spcPts val="0"/>
                        </a:spcBef>
                        <a:spcAft>
                          <a:spcPts val="0"/>
                        </a:spcAft>
                        <a:buClr>
                          <a:srgbClr val="8B0707"/>
                        </a:buClr>
                        <a:buSzPts val="1800"/>
                        <a:buFont typeface="Questrial"/>
                        <a:buNone/>
                      </a:pPr>
                      <a:r>
                        <a:rPr lang="en-US" sz="2000" b="1" u="none" strike="noStrike" cap="none">
                          <a:solidFill>
                            <a:srgbClr val="8B0707"/>
                          </a:solidFill>
                          <a:latin typeface="Questrial"/>
                          <a:ea typeface="Questrial"/>
                          <a:cs typeface="Questrial"/>
                          <a:sym typeface="Questrial"/>
                        </a:rPr>
                        <a:t>M7</a:t>
                      </a:r>
                      <a:endParaRPr sz="2000" u="none" strike="noStrike" cap="none">
                        <a:latin typeface="Questrial"/>
                        <a:ea typeface="Questrial"/>
                        <a:cs typeface="Questrial"/>
                        <a:sym typeface="Questrial"/>
                      </a:endParaRPr>
                    </a:p>
                  </a:txBody>
                  <a:tcPr marL="45725" marR="45725" marT="36575" marB="365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700"/>
                        <a:buFont typeface="Questrial"/>
                        <a:buNone/>
                      </a:pPr>
                      <a:r>
                        <a:rPr lang="en-US" sz="2000" b="1" u="none" strike="noStrike" cap="none">
                          <a:solidFill>
                            <a:srgbClr val="8B0707"/>
                          </a:solidFill>
                          <a:latin typeface="Questrial"/>
                          <a:ea typeface="Questrial"/>
                          <a:cs typeface="Questrial"/>
                          <a:sym typeface="Questrial"/>
                        </a:rPr>
                        <a:t>2</a:t>
                      </a:r>
                      <a:endParaRPr sz="20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700"/>
                        <a:buFont typeface="Questrial"/>
                        <a:buNone/>
                      </a:pPr>
                      <a:r>
                        <a:rPr lang="en-US" sz="2000" u="none" strike="noStrike" cap="none">
                          <a:solidFill>
                            <a:srgbClr val="2B2020"/>
                          </a:solidFill>
                          <a:latin typeface="Questrial"/>
                          <a:ea typeface="Questrial"/>
                          <a:cs typeface="Questrial"/>
                          <a:sym typeface="Questrial"/>
                        </a:rPr>
                        <a:t>For high-risk patients (acuity 2), more than half of the anchor weight has a nearest hospital that fails the capability test.</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650"/>
                        <a:buFont typeface="Questrial"/>
                        <a:buNone/>
                      </a:pPr>
                      <a:r>
                        <a:rPr lang="en-US" sz="2000" u="none" strike="noStrike" cap="none" dirty="0">
                          <a:solidFill>
                            <a:srgbClr val="8B0707"/>
                          </a:solidFill>
                          <a:latin typeface="Questrial"/>
                          <a:ea typeface="Questrial"/>
                          <a:cs typeface="Questrial"/>
                          <a:sym typeface="Questrial"/>
                        </a:rPr>
                        <a:t>Supported if the 95% bootstrap interval lies wholly above 0.5</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7"/>
                  </a:ext>
                </a:extLst>
              </a:tr>
              <a:tr h="731525">
                <a:tc>
                  <a:txBody>
                    <a:bodyPr/>
                    <a:lstStyle/>
                    <a:p>
                      <a:pPr marL="0" marR="0" lvl="0" indent="0" algn="ctr" rtl="0">
                        <a:lnSpc>
                          <a:spcPct val="97000"/>
                        </a:lnSpc>
                        <a:spcBef>
                          <a:spcPts val="0"/>
                        </a:spcBef>
                        <a:spcAft>
                          <a:spcPts val="0"/>
                        </a:spcAft>
                        <a:buClr>
                          <a:srgbClr val="8B0707"/>
                        </a:buClr>
                        <a:buSzPts val="1800"/>
                        <a:buFont typeface="Questrial"/>
                        <a:buNone/>
                      </a:pPr>
                      <a:r>
                        <a:rPr lang="en-US" sz="2000" b="1" u="none" strike="noStrike" cap="none">
                          <a:solidFill>
                            <a:srgbClr val="8B0707"/>
                          </a:solidFill>
                          <a:latin typeface="Questrial"/>
                          <a:ea typeface="Questrial"/>
                          <a:cs typeface="Questrial"/>
                          <a:sym typeface="Questrial"/>
                        </a:rPr>
                        <a:t>M8</a:t>
                      </a:r>
                      <a:endParaRPr sz="2000" u="none" strike="noStrike" cap="none">
                        <a:latin typeface="Questrial"/>
                        <a:ea typeface="Questrial"/>
                        <a:cs typeface="Questrial"/>
                        <a:sym typeface="Questrial"/>
                      </a:endParaRPr>
                    </a:p>
                  </a:txBody>
                  <a:tcPr marL="45725" marR="45725" marT="36575" marB="365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700"/>
                        <a:buFont typeface="Questrial"/>
                        <a:buNone/>
                      </a:pPr>
                      <a:r>
                        <a:rPr lang="en-US" sz="2000" b="1" u="none" strike="noStrike" cap="none">
                          <a:solidFill>
                            <a:srgbClr val="8B0707"/>
                          </a:solidFill>
                          <a:latin typeface="Questrial"/>
                          <a:ea typeface="Questrial"/>
                          <a:cs typeface="Questrial"/>
                          <a:sym typeface="Questrial"/>
                        </a:rPr>
                        <a:t>2</a:t>
                      </a:r>
                      <a:endParaRPr sz="20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700"/>
                        <a:buFont typeface="Questrial"/>
                        <a:buNone/>
                      </a:pPr>
                      <a:r>
                        <a:rPr lang="en-US" sz="2000" u="none" strike="noStrike" cap="none" dirty="0">
                          <a:solidFill>
                            <a:srgbClr val="2B2020"/>
                          </a:solidFill>
                          <a:latin typeface="Questrial"/>
                          <a:ea typeface="Questrial"/>
                          <a:cs typeface="Questrial"/>
                          <a:sym typeface="Questrial"/>
                        </a:rPr>
                        <a:t>For emergency patients (acuity 1 and 2), the payment gap is zero at every anchor.</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650"/>
                        <a:buFont typeface="Questrial"/>
                        <a:buNone/>
                      </a:pPr>
                      <a:r>
                        <a:rPr lang="en-US" sz="2000" u="none" strike="noStrike" cap="none" dirty="0">
                          <a:solidFill>
                            <a:srgbClr val="8B0707"/>
                          </a:solidFill>
                          <a:latin typeface="Questrial"/>
                          <a:ea typeface="Questrial"/>
                          <a:cs typeface="Questrial"/>
                          <a:sym typeface="Questrial"/>
                        </a:rPr>
                        <a:t>Exact by Corollary 11; a non-zero value means a coding error</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8"/>
                  </a:ext>
                </a:extLst>
              </a:tr>
            </a:tbl>
          </a:graphicData>
        </a:graphic>
      </p:graphicFrame>
      <p:sp>
        <p:nvSpPr>
          <p:cNvPr id="21" name="Google Shape;370;p15">
            <a:extLst>
              <a:ext uri="{FF2B5EF4-FFF2-40B4-BE49-F238E27FC236}">
                <a16:creationId xmlns:a16="http://schemas.microsoft.com/office/drawing/2014/main" id="{5F866546-12A0-07B3-50D4-1E89C6CD690C}"/>
              </a:ext>
            </a:extLst>
          </p:cNvPr>
          <p:cNvSpPr txBox="1"/>
          <p:nvPr/>
        </p:nvSpPr>
        <p:spPr>
          <a:xfrm>
            <a:off x="822959" y="9222575"/>
            <a:ext cx="16642080" cy="4846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550"/>
              <a:buFont typeface="Questrial"/>
              <a:buNone/>
            </a:pPr>
            <a:r>
              <a:rPr lang="en-US" sz="2400" b="0" i="1" u="none" strike="noStrike" cap="none" dirty="0">
                <a:solidFill>
                  <a:schemeClr val="bg1"/>
                </a:solidFill>
                <a:latin typeface="Questrial"/>
                <a:ea typeface="Questrial"/>
                <a:cs typeface="Questrial"/>
                <a:sym typeface="Questrial"/>
              </a:rPr>
              <a:t>All tests use alpha = 0.05 with Holm's correction. Point 3 has no statistical hypothesis: the agents' limits are proved (Proposition 12) and checked in a 30-day simulation.</a:t>
            </a:r>
            <a:endParaRPr sz="2400" b="0" i="0" u="none" strike="noStrike" cap="none" dirty="0">
              <a:solidFill>
                <a:schemeClr val="bg1"/>
              </a:solidFill>
              <a:latin typeface="Questrial"/>
              <a:ea typeface="Questrial"/>
              <a:cs typeface="Questrial"/>
              <a:sym typeface="Questrial"/>
            </a:endParaRPr>
          </a:p>
        </p:txBody>
      </p:sp>
    </p:spTree>
    <p:extLst>
      <p:ext uri="{BB962C8B-B14F-4D97-AF65-F5344CB8AC3E}">
        <p14:creationId xmlns:p14="http://schemas.microsoft.com/office/powerpoint/2010/main" val="2900842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C564A1F4-11CA-36AC-7054-7487B4695FEE}"/>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9F1EC5B7-A4A4-907E-A937-B0317665DF88}"/>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377;p16">
            <a:extLst>
              <a:ext uri="{FF2B5EF4-FFF2-40B4-BE49-F238E27FC236}">
                <a16:creationId xmlns:a16="http://schemas.microsoft.com/office/drawing/2014/main" id="{DA13624A-6596-3F69-AA9C-23B1B969EC9C}"/>
              </a:ext>
            </a:extLst>
          </p:cNvPr>
          <p:cNvGrpSpPr/>
          <p:nvPr/>
        </p:nvGrpSpPr>
        <p:grpSpPr>
          <a:xfrm>
            <a:off x="-514350" y="-1248816"/>
            <a:ext cx="19524889" cy="2953915"/>
            <a:chOff x="0" y="-76200"/>
            <a:chExt cx="5142358" cy="777986"/>
          </a:xfrm>
        </p:grpSpPr>
        <p:sp>
          <p:nvSpPr>
            <p:cNvPr id="3" name="Google Shape;378;p16">
              <a:extLst>
                <a:ext uri="{FF2B5EF4-FFF2-40B4-BE49-F238E27FC236}">
                  <a16:creationId xmlns:a16="http://schemas.microsoft.com/office/drawing/2014/main" id="{DCDE7149-4DB2-D688-56E8-089569F6B166}"/>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379;p16">
              <a:extLst>
                <a:ext uri="{FF2B5EF4-FFF2-40B4-BE49-F238E27FC236}">
                  <a16:creationId xmlns:a16="http://schemas.microsoft.com/office/drawing/2014/main" id="{344B6D7A-FCA8-9D68-306B-05753AC1F51F}"/>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 name="Google Shape;380;p16">
            <a:extLst>
              <a:ext uri="{FF2B5EF4-FFF2-40B4-BE49-F238E27FC236}">
                <a16:creationId xmlns:a16="http://schemas.microsoft.com/office/drawing/2014/main" id="{B233D5A5-E18C-14CA-0164-FC7A5FC54D0D}"/>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SCOPE AND DELIMITATION</a:t>
            </a:r>
            <a:endParaRPr/>
          </a:p>
        </p:txBody>
      </p:sp>
      <p:sp>
        <p:nvSpPr>
          <p:cNvPr id="10" name="Google Shape;381;p16">
            <a:extLst>
              <a:ext uri="{FF2B5EF4-FFF2-40B4-BE49-F238E27FC236}">
                <a16:creationId xmlns:a16="http://schemas.microsoft.com/office/drawing/2014/main" id="{C094D202-00A3-AE0E-F864-09CD136C003D}"/>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16</a:t>
            </a:r>
            <a:endParaRPr sz="1600" b="0" i="0" u="none" strike="noStrike" cap="none">
              <a:solidFill>
                <a:schemeClr val="dk1"/>
              </a:solidFill>
              <a:latin typeface="Questrial"/>
              <a:ea typeface="Questrial"/>
              <a:cs typeface="Questrial"/>
              <a:sym typeface="Questrial"/>
            </a:endParaRPr>
          </a:p>
        </p:txBody>
      </p:sp>
      <p:sp>
        <p:nvSpPr>
          <p:cNvPr id="12" name="Google Shape;382;p16">
            <a:extLst>
              <a:ext uri="{FF2B5EF4-FFF2-40B4-BE49-F238E27FC236}">
                <a16:creationId xmlns:a16="http://schemas.microsoft.com/office/drawing/2014/main" id="{AE5EBEF2-99C0-FEA0-5AC1-28D55BD2A50A}"/>
              </a:ext>
            </a:extLst>
          </p:cNvPr>
          <p:cNvSpPr/>
          <p:nvPr/>
        </p:nvSpPr>
        <p:spPr>
          <a:xfrm>
            <a:off x="822960" y="2103120"/>
            <a:ext cx="8161020" cy="4069080"/>
          </a:xfrm>
          <a:prstGeom prst="roundRect">
            <a:avLst>
              <a:gd name="adj" fmla="val 3595"/>
            </a:avLst>
          </a:prstGeom>
          <a:solidFill>
            <a:srgbClr val="FFFFFF">
              <a:alpha val="94118"/>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83;p16">
            <a:extLst>
              <a:ext uri="{FF2B5EF4-FFF2-40B4-BE49-F238E27FC236}">
                <a16:creationId xmlns:a16="http://schemas.microsoft.com/office/drawing/2014/main" id="{ADBD84F8-379B-5DC8-B36A-C433F8C93E24}"/>
              </a:ext>
            </a:extLst>
          </p:cNvPr>
          <p:cNvSpPr txBox="1"/>
          <p:nvPr/>
        </p:nvSpPr>
        <p:spPr>
          <a:xfrm>
            <a:off x="1188720" y="2286000"/>
            <a:ext cx="74295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2300"/>
              <a:buFont typeface="Questrial"/>
              <a:buNone/>
            </a:pPr>
            <a:r>
              <a:rPr lang="en-US" sz="4800" b="1" i="0" u="none" strike="noStrike" cap="none" dirty="0">
                <a:solidFill>
                  <a:srgbClr val="8B0707"/>
                </a:solidFill>
                <a:latin typeface="Questrial"/>
                <a:ea typeface="Questrial"/>
                <a:cs typeface="Questrial"/>
                <a:sym typeface="Questrial"/>
              </a:rPr>
              <a:t>Scope</a:t>
            </a:r>
            <a:endParaRPr sz="4800" b="0" i="0" u="none" strike="noStrike" cap="none" dirty="0">
              <a:solidFill>
                <a:schemeClr val="dk1"/>
              </a:solidFill>
              <a:latin typeface="Questrial"/>
              <a:ea typeface="Questrial"/>
              <a:cs typeface="Questrial"/>
              <a:sym typeface="Questrial"/>
            </a:endParaRPr>
          </a:p>
        </p:txBody>
      </p:sp>
      <p:sp>
        <p:nvSpPr>
          <p:cNvPr id="16" name="Google Shape;384;p16">
            <a:extLst>
              <a:ext uri="{FF2B5EF4-FFF2-40B4-BE49-F238E27FC236}">
                <a16:creationId xmlns:a16="http://schemas.microsoft.com/office/drawing/2014/main" id="{0BA53E8D-DE92-7B8C-BD4E-34DC32A739D1}"/>
              </a:ext>
            </a:extLst>
          </p:cNvPr>
          <p:cNvSpPr txBox="1"/>
          <p:nvPr/>
        </p:nvSpPr>
        <p:spPr>
          <a:xfrm>
            <a:off x="1234440" y="2834640"/>
            <a:ext cx="7429500" cy="3200400"/>
          </a:xfrm>
          <a:prstGeom prst="rect">
            <a:avLst/>
          </a:prstGeom>
          <a:noFill/>
          <a:ln>
            <a:noFill/>
          </a:ln>
        </p:spPr>
        <p:txBody>
          <a:bodyPr spcFirstLastPara="1" wrap="square" lIns="0" tIns="0" rIns="0" bIns="0" anchor="t" anchorCtr="0">
            <a:noAutofit/>
          </a:bodyPr>
          <a:lstStyle/>
          <a:p>
            <a:pPr marL="292608" marR="0" lvl="0" indent="-292608" algn="l" rtl="0">
              <a:lnSpc>
                <a:spcPct val="98000"/>
              </a:lnSpc>
              <a:spcBef>
                <a:spcPts val="0"/>
              </a:spcBef>
              <a:spcAft>
                <a:spcPts val="0"/>
              </a:spcAft>
              <a:buClr>
                <a:srgbClr val="8B0707"/>
              </a:buClr>
              <a:buSzPts val="1750"/>
              <a:buFont typeface="Arial"/>
              <a:buChar char="•"/>
            </a:pPr>
            <a:r>
              <a:rPr lang="en-US" sz="2200" b="0" i="0" u="none" strike="noStrike" cap="none" dirty="0">
                <a:solidFill>
                  <a:srgbClr val="2B2020"/>
                </a:solidFill>
                <a:latin typeface="Questrial"/>
                <a:ea typeface="Questrial"/>
                <a:cs typeface="Questrial"/>
                <a:sym typeface="Questrial"/>
              </a:rPr>
              <a:t>All 18 LGUs in Albay's three legislative districts; landmarks as units of analysis</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750"/>
              <a:buFont typeface="Arial"/>
              <a:buChar char="•"/>
            </a:pPr>
            <a:r>
              <a:rPr lang="en-US" sz="2200" b="1" i="0" u="none" strike="noStrike" cap="none" dirty="0">
                <a:solidFill>
                  <a:srgbClr val="8B0707"/>
                </a:solidFill>
                <a:latin typeface="Questrial"/>
                <a:ea typeface="Questrial"/>
                <a:cs typeface="Questrial"/>
                <a:sym typeface="Questrial"/>
              </a:rPr>
              <a:t>Point 1: </a:t>
            </a:r>
            <a:r>
              <a:rPr lang="en-US" sz="2200" b="0" i="0" u="none" strike="noStrike" cap="none" dirty="0">
                <a:solidFill>
                  <a:srgbClr val="2B2020"/>
                </a:solidFill>
                <a:latin typeface="Questrial"/>
                <a:ea typeface="Questrial"/>
                <a:cs typeface="Questrial"/>
                <a:sym typeface="Questrial"/>
              </a:rPr>
              <a:t>jeepneys, tricycles, minibuses, UV vans, and walking; weekday and Saturday departures from 06:00 to 08:00; LTFRB fares; 30-minute baseline</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750"/>
              <a:buFont typeface="Arial"/>
              <a:buChar char="•"/>
            </a:pPr>
            <a:r>
              <a:rPr lang="en-US" sz="2200" b="1" i="0" u="none" strike="noStrike" cap="none" dirty="0">
                <a:solidFill>
                  <a:srgbClr val="8B0707"/>
                </a:solidFill>
                <a:latin typeface="Questrial"/>
                <a:ea typeface="Questrial"/>
                <a:cs typeface="Questrial"/>
                <a:sym typeface="Questrial"/>
              </a:rPr>
              <a:t>Point 2: </a:t>
            </a:r>
            <a:r>
              <a:rPr lang="en-US" sz="2200" b="0" i="0" u="none" strike="noStrike" cap="none" dirty="0">
                <a:solidFill>
                  <a:srgbClr val="2B2020"/>
                </a:solidFill>
                <a:latin typeface="Questrial"/>
                <a:ea typeface="Questrial"/>
                <a:cs typeface="Questrial"/>
                <a:sym typeface="Questrial"/>
              </a:rPr>
              <a:t>ten vehicle classes, including a van-type ambulance; five acuity levels and four payment classes</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750"/>
              <a:buFont typeface="Arial"/>
              <a:buChar char="•"/>
            </a:pPr>
            <a:r>
              <a:rPr lang="en-US" sz="2200" b="1" i="0" u="none" strike="noStrike" cap="none" dirty="0">
                <a:solidFill>
                  <a:srgbClr val="8B0707"/>
                </a:solidFill>
                <a:latin typeface="Questrial"/>
                <a:ea typeface="Questrial"/>
                <a:cs typeface="Questrial"/>
                <a:sym typeface="Questrial"/>
              </a:rPr>
              <a:t>Point 3: </a:t>
            </a:r>
            <a:r>
              <a:rPr lang="en-US" sz="2200" b="0" i="0" u="none" strike="noStrike" cap="none" dirty="0">
                <a:solidFill>
                  <a:srgbClr val="2B2020"/>
                </a:solidFill>
                <a:latin typeface="Questrial"/>
                <a:ea typeface="Questrial"/>
                <a:cs typeface="Questrial"/>
                <a:sym typeface="Questrial"/>
              </a:rPr>
              <a:t>capacity and occupancy of every hospital and infirmary in the registers, by e-mail</a:t>
            </a:r>
            <a:endParaRPr sz="2200" b="0" i="0" u="none" strike="noStrike" cap="none" dirty="0">
              <a:solidFill>
                <a:schemeClr val="dk1"/>
              </a:solidFill>
              <a:latin typeface="Questrial"/>
              <a:ea typeface="Questrial"/>
              <a:cs typeface="Questrial"/>
              <a:sym typeface="Questrial"/>
            </a:endParaRPr>
          </a:p>
        </p:txBody>
      </p:sp>
      <p:sp>
        <p:nvSpPr>
          <p:cNvPr id="18" name="Google Shape;385;p16">
            <a:extLst>
              <a:ext uri="{FF2B5EF4-FFF2-40B4-BE49-F238E27FC236}">
                <a16:creationId xmlns:a16="http://schemas.microsoft.com/office/drawing/2014/main" id="{0AA63FD7-9609-94C8-456B-F796EE0E62BF}"/>
              </a:ext>
            </a:extLst>
          </p:cNvPr>
          <p:cNvSpPr/>
          <p:nvPr/>
        </p:nvSpPr>
        <p:spPr>
          <a:xfrm>
            <a:off x="9304020" y="2103120"/>
            <a:ext cx="8161020" cy="4069080"/>
          </a:xfrm>
          <a:prstGeom prst="roundRect">
            <a:avLst>
              <a:gd name="adj" fmla="val 3595"/>
            </a:avLst>
          </a:prstGeom>
          <a:solidFill>
            <a:srgbClr val="FFFFFF">
              <a:alpha val="94118"/>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86;p16">
            <a:extLst>
              <a:ext uri="{FF2B5EF4-FFF2-40B4-BE49-F238E27FC236}">
                <a16:creationId xmlns:a16="http://schemas.microsoft.com/office/drawing/2014/main" id="{76675EE3-E8F3-6BA7-5D49-7EC6C258325C}"/>
              </a:ext>
            </a:extLst>
          </p:cNvPr>
          <p:cNvSpPr txBox="1"/>
          <p:nvPr/>
        </p:nvSpPr>
        <p:spPr>
          <a:xfrm>
            <a:off x="9669780" y="2286000"/>
            <a:ext cx="74295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2300"/>
              <a:buFont typeface="Questrial"/>
              <a:buNone/>
            </a:pPr>
            <a:r>
              <a:rPr lang="en-US" sz="4800" b="1" i="0" u="none" strike="noStrike" cap="none" dirty="0">
                <a:solidFill>
                  <a:srgbClr val="8B0707"/>
                </a:solidFill>
                <a:latin typeface="Questrial"/>
                <a:ea typeface="Questrial"/>
                <a:cs typeface="Questrial"/>
                <a:sym typeface="Questrial"/>
              </a:rPr>
              <a:t>Delimitation</a:t>
            </a:r>
            <a:endParaRPr sz="4800" b="0" i="0" u="none" strike="noStrike" cap="none" dirty="0">
              <a:solidFill>
                <a:schemeClr val="dk1"/>
              </a:solidFill>
              <a:latin typeface="Questrial"/>
              <a:ea typeface="Questrial"/>
              <a:cs typeface="Questrial"/>
              <a:sym typeface="Questrial"/>
            </a:endParaRPr>
          </a:p>
        </p:txBody>
      </p:sp>
      <p:sp>
        <p:nvSpPr>
          <p:cNvPr id="22" name="Google Shape;387;p16">
            <a:extLst>
              <a:ext uri="{FF2B5EF4-FFF2-40B4-BE49-F238E27FC236}">
                <a16:creationId xmlns:a16="http://schemas.microsoft.com/office/drawing/2014/main" id="{FA2E20EA-CF91-EC04-09A6-64815E251636}"/>
              </a:ext>
            </a:extLst>
          </p:cNvPr>
          <p:cNvSpPr txBox="1"/>
          <p:nvPr/>
        </p:nvSpPr>
        <p:spPr>
          <a:xfrm>
            <a:off x="9715500" y="2834640"/>
            <a:ext cx="7429500" cy="3200400"/>
          </a:xfrm>
          <a:prstGeom prst="rect">
            <a:avLst/>
          </a:prstGeom>
          <a:noFill/>
          <a:ln>
            <a:noFill/>
          </a:ln>
        </p:spPr>
        <p:txBody>
          <a:bodyPr spcFirstLastPara="1" wrap="square" lIns="0" tIns="0" rIns="0" bIns="0" anchor="t" anchorCtr="0">
            <a:noAutofit/>
          </a:bodyPr>
          <a:lstStyle/>
          <a:p>
            <a:pPr marL="292608" marR="0" lvl="0" indent="-292608" algn="l" rtl="0">
              <a:lnSpc>
                <a:spcPct val="98000"/>
              </a:lnSpc>
              <a:spcBef>
                <a:spcPts val="0"/>
              </a:spcBef>
              <a:spcAft>
                <a:spcPts val="0"/>
              </a:spcAft>
              <a:buClr>
                <a:srgbClr val="8B0707"/>
              </a:buClr>
              <a:buSzPts val="1750"/>
              <a:buFont typeface="Arial"/>
              <a:buChar char="•"/>
            </a:pPr>
            <a:r>
              <a:rPr lang="en-US" sz="2200" b="0" i="0" u="none" strike="noStrike" cap="none" dirty="0">
                <a:solidFill>
                  <a:srgbClr val="2B2020"/>
                </a:solidFill>
                <a:latin typeface="Questrial"/>
                <a:ea typeface="Questrial"/>
                <a:cs typeface="Questrial"/>
                <a:sym typeface="Questrial"/>
              </a:rPr>
              <a:t>Computational only; no field survey and no human participants</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750"/>
              <a:buFont typeface="Arial"/>
              <a:buChar char="•"/>
            </a:pPr>
            <a:r>
              <a:rPr lang="en-US" sz="2200" b="0" i="0" u="none" strike="noStrike" cap="none" dirty="0">
                <a:solidFill>
                  <a:srgbClr val="2B2020"/>
                </a:solidFill>
                <a:latin typeface="Questrial"/>
                <a:ea typeface="Questrial"/>
                <a:cs typeface="Questrial"/>
                <a:sym typeface="Questrial"/>
              </a:rPr>
              <a:t>No hospital is contacted; the agents run on a mock mail server</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750"/>
              <a:buFont typeface="Arial"/>
              <a:buChar char="•"/>
            </a:pPr>
            <a:r>
              <a:rPr lang="en-US" sz="2200" b="0" i="0" u="none" strike="noStrike" cap="none" dirty="0">
                <a:solidFill>
                  <a:srgbClr val="2B2020"/>
                </a:solidFill>
                <a:latin typeface="Questrial"/>
                <a:ea typeface="Questrial"/>
                <a:cs typeface="Questrial"/>
                <a:sym typeface="Questrial"/>
              </a:rPr>
              <a:t>Barangays only weight the anchors and get no score of their own</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750"/>
              <a:buFont typeface="Arial"/>
              <a:buChar char="•"/>
            </a:pPr>
            <a:r>
              <a:rPr lang="en-US" sz="2200" b="0" i="0" u="none" strike="noStrike" cap="none" dirty="0">
                <a:solidFill>
                  <a:srgbClr val="2B2020"/>
                </a:solidFill>
                <a:latin typeface="Questrial"/>
                <a:ea typeface="Questrial"/>
                <a:cs typeface="Questrial"/>
                <a:sym typeface="Questrial"/>
              </a:rPr>
              <a:t>Trips end at the provincial border</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750"/>
              <a:buFont typeface="Arial"/>
              <a:buChar char="•"/>
            </a:pPr>
            <a:r>
              <a:rPr lang="en-US" sz="2200" b="0" i="0" u="none" strike="noStrike" cap="none" dirty="0">
                <a:solidFill>
                  <a:srgbClr val="2B2020"/>
                </a:solidFill>
                <a:latin typeface="Questrial"/>
                <a:ea typeface="Questrial"/>
                <a:cs typeface="Questrial"/>
                <a:sym typeface="Questrial"/>
              </a:rPr>
              <a:t>Typhoon and Mayon disruptions, traffic, and dispatch delays are not modeled</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750"/>
              <a:buFont typeface="Arial"/>
              <a:buChar char="•"/>
            </a:pPr>
            <a:r>
              <a:rPr lang="en-US" sz="2200" b="0" i="0" u="none" strike="noStrike" cap="none" dirty="0">
                <a:solidFill>
                  <a:srgbClr val="2B2020"/>
                </a:solidFill>
                <a:latin typeface="Questrial"/>
                <a:ea typeface="Questrial"/>
                <a:cs typeface="Questrial"/>
                <a:sym typeface="Questrial"/>
              </a:rPr>
              <a:t>Hospital mode does not triage; the crew or user enters the acuity</a:t>
            </a:r>
            <a:endParaRPr sz="2200" b="0" i="0" u="none" strike="noStrike" cap="none" dirty="0">
              <a:solidFill>
                <a:schemeClr val="dk1"/>
              </a:solidFill>
              <a:latin typeface="Questrial"/>
              <a:ea typeface="Questrial"/>
              <a:cs typeface="Questrial"/>
              <a:sym typeface="Questrial"/>
            </a:endParaRPr>
          </a:p>
        </p:txBody>
      </p:sp>
      <p:sp>
        <p:nvSpPr>
          <p:cNvPr id="24" name="Google Shape;388;p16">
            <a:extLst>
              <a:ext uri="{FF2B5EF4-FFF2-40B4-BE49-F238E27FC236}">
                <a16:creationId xmlns:a16="http://schemas.microsoft.com/office/drawing/2014/main" id="{EEB697C8-9581-D2EC-E16B-E426816947CF}"/>
              </a:ext>
            </a:extLst>
          </p:cNvPr>
          <p:cNvSpPr txBox="1"/>
          <p:nvPr/>
        </p:nvSpPr>
        <p:spPr>
          <a:xfrm>
            <a:off x="822955" y="6281928"/>
            <a:ext cx="1664208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600"/>
              <a:buFont typeface="Questrial"/>
              <a:buNone/>
            </a:pPr>
            <a:r>
              <a:rPr lang="en-US" sz="3600" b="0" i="1" u="none" strike="noStrike" cap="none" dirty="0">
                <a:solidFill>
                  <a:schemeClr val="bg1"/>
                </a:solidFill>
                <a:latin typeface="Questrial"/>
                <a:ea typeface="Questrial"/>
                <a:cs typeface="Questrial"/>
                <a:sym typeface="Questrial"/>
              </a:rPr>
              <a:t>Table 5. Study area by legislative district (PSA, 2021; PhilAtlas, n.d.)</a:t>
            </a:r>
            <a:endParaRPr sz="3600" b="0" i="0" u="none" strike="noStrike" cap="none" dirty="0">
              <a:solidFill>
                <a:schemeClr val="bg1"/>
              </a:solidFill>
              <a:latin typeface="Questrial"/>
              <a:ea typeface="Questrial"/>
              <a:cs typeface="Questrial"/>
              <a:sym typeface="Questrial"/>
            </a:endParaRPr>
          </a:p>
        </p:txBody>
      </p:sp>
      <p:graphicFrame>
        <p:nvGraphicFramePr>
          <p:cNvPr id="26" name="Google Shape;389;p16">
            <a:extLst>
              <a:ext uri="{FF2B5EF4-FFF2-40B4-BE49-F238E27FC236}">
                <a16:creationId xmlns:a16="http://schemas.microsoft.com/office/drawing/2014/main" id="{1B852615-CFDB-CE49-78D4-0162DCCD18B7}"/>
              </a:ext>
            </a:extLst>
          </p:cNvPr>
          <p:cNvGraphicFramePr/>
          <p:nvPr>
            <p:extLst>
              <p:ext uri="{D42A27DB-BD31-4B8C-83A1-F6EECF244321}">
                <p14:modId xmlns:p14="http://schemas.microsoft.com/office/powerpoint/2010/main" val="3191199202"/>
              </p:ext>
            </p:extLst>
          </p:nvPr>
        </p:nvGraphicFramePr>
        <p:xfrm>
          <a:off x="822960" y="6739128"/>
          <a:ext cx="16642075" cy="2286000"/>
        </p:xfrm>
        <a:graphic>
          <a:graphicData uri="http://schemas.openxmlformats.org/drawingml/2006/table">
            <a:tbl>
              <a:tblPr>
                <a:noFill/>
                <a:tableStyleId>{34289B53-5545-4E02-A326-ACEF5BE87AE4}</a:tableStyleId>
              </a:tblPr>
              <a:tblGrid>
                <a:gridCol w="1691650">
                  <a:extLst>
                    <a:ext uri="{9D8B030D-6E8A-4147-A177-3AD203B41FA5}">
                      <a16:colId xmlns:a16="http://schemas.microsoft.com/office/drawing/2014/main" val="20000"/>
                    </a:ext>
                  </a:extLst>
                </a:gridCol>
                <a:gridCol w="10058400">
                  <a:extLst>
                    <a:ext uri="{9D8B030D-6E8A-4147-A177-3AD203B41FA5}">
                      <a16:colId xmlns:a16="http://schemas.microsoft.com/office/drawing/2014/main" val="20001"/>
                    </a:ext>
                  </a:extLst>
                </a:gridCol>
                <a:gridCol w="2423150">
                  <a:extLst>
                    <a:ext uri="{9D8B030D-6E8A-4147-A177-3AD203B41FA5}">
                      <a16:colId xmlns:a16="http://schemas.microsoft.com/office/drawing/2014/main" val="20002"/>
                    </a:ext>
                  </a:extLst>
                </a:gridCol>
                <a:gridCol w="2468875">
                  <a:extLst>
                    <a:ext uri="{9D8B030D-6E8A-4147-A177-3AD203B41FA5}">
                      <a16:colId xmlns:a16="http://schemas.microsoft.com/office/drawing/2014/main" val="20003"/>
                    </a:ext>
                  </a:extLst>
                </a:gridCol>
              </a:tblGrid>
              <a:tr h="457200">
                <a:tc>
                  <a:txBody>
                    <a:bodyPr/>
                    <a:lstStyle/>
                    <a:p>
                      <a:pPr marL="0" marR="0" lvl="0" indent="0" algn="l" rtl="0">
                        <a:lnSpc>
                          <a:spcPct val="97000"/>
                        </a:lnSpc>
                        <a:spcBef>
                          <a:spcPts val="0"/>
                        </a:spcBef>
                        <a:spcAft>
                          <a:spcPts val="0"/>
                        </a:spcAft>
                        <a:buClr>
                          <a:srgbClr val="FFFFFF"/>
                        </a:buClr>
                        <a:buSzPts val="1600"/>
                        <a:buFont typeface="Questrial"/>
                        <a:buNone/>
                      </a:pPr>
                      <a:r>
                        <a:rPr lang="en-US" sz="2100" b="1" u="none" strike="noStrike" cap="none" dirty="0">
                          <a:solidFill>
                            <a:srgbClr val="FFFFFF"/>
                          </a:solidFill>
                          <a:latin typeface="Questrial"/>
                          <a:ea typeface="Questrial"/>
                          <a:cs typeface="Questrial"/>
                          <a:sym typeface="Questrial"/>
                        </a:rPr>
                        <a:t>District</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600"/>
                        <a:buFont typeface="Questrial"/>
                        <a:buNone/>
                      </a:pPr>
                      <a:r>
                        <a:rPr lang="en-US" sz="2100" b="1" u="none" strike="noStrike" cap="none" dirty="0">
                          <a:solidFill>
                            <a:srgbClr val="FFFFFF"/>
                          </a:solidFill>
                          <a:latin typeface="Questrial"/>
                          <a:ea typeface="Questrial"/>
                          <a:cs typeface="Questrial"/>
                          <a:sym typeface="Questrial"/>
                        </a:rPr>
                        <a:t>Local government units</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600"/>
                        <a:buFont typeface="Questrial"/>
                        <a:buNone/>
                      </a:pPr>
                      <a:r>
                        <a:rPr lang="en-US" sz="2100" b="1" u="none" strike="noStrike" cap="none">
                          <a:solidFill>
                            <a:srgbClr val="FFFFFF"/>
                          </a:solidFill>
                          <a:latin typeface="Questrial"/>
                          <a:ea typeface="Questrial"/>
                          <a:cs typeface="Questrial"/>
                          <a:sym typeface="Questrial"/>
                        </a:rPr>
                        <a:t>Population (2020)</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600"/>
                        <a:buFont typeface="Questrial"/>
                        <a:buNone/>
                      </a:pPr>
                      <a:r>
                        <a:rPr lang="en-US" sz="2100" b="1" u="none" strike="noStrike" cap="none">
                          <a:solidFill>
                            <a:srgbClr val="FFFFFF"/>
                          </a:solidFill>
                          <a:latin typeface="Questrial"/>
                          <a:ea typeface="Questrial"/>
                          <a:cs typeface="Questrial"/>
                          <a:sym typeface="Questrial"/>
                        </a:rPr>
                        <a:t>Land area (km²)</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extLst>
                  <a:ext uri="{0D108BD9-81ED-4DB2-BD59-A6C34878D82A}">
                    <a16:rowId xmlns:a16="http://schemas.microsoft.com/office/drawing/2014/main" val="10000"/>
                  </a:ext>
                </a:extLst>
              </a:tr>
              <a:tr h="457200">
                <a:tc>
                  <a:txBody>
                    <a:bodyPr/>
                    <a:lstStyle/>
                    <a:p>
                      <a:pPr marL="0" marR="0" lvl="0" indent="0" algn="l" rtl="0">
                        <a:lnSpc>
                          <a:spcPct val="97000"/>
                        </a:lnSpc>
                        <a:spcBef>
                          <a:spcPts val="0"/>
                        </a:spcBef>
                        <a:spcAft>
                          <a:spcPts val="0"/>
                        </a:spcAft>
                        <a:buClr>
                          <a:srgbClr val="8B0707"/>
                        </a:buClr>
                        <a:buSzPts val="1600"/>
                        <a:buFont typeface="Questrial"/>
                        <a:buNone/>
                      </a:pPr>
                      <a:r>
                        <a:rPr lang="en-US" sz="2100" b="1" u="none" strike="noStrike" cap="none" dirty="0">
                          <a:solidFill>
                            <a:srgbClr val="8B0707"/>
                          </a:solidFill>
                          <a:latin typeface="Questrial"/>
                          <a:ea typeface="Questrial"/>
                          <a:cs typeface="Questrial"/>
                          <a:sym typeface="Questrial"/>
                        </a:rPr>
                        <a:t>First</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2100" u="none" strike="noStrike" cap="none" dirty="0">
                          <a:solidFill>
                            <a:srgbClr val="2B2020"/>
                          </a:solidFill>
                          <a:latin typeface="Questrial"/>
                          <a:ea typeface="Questrial"/>
                          <a:cs typeface="Questrial"/>
                          <a:sym typeface="Questrial"/>
                        </a:rPr>
                        <a:t>Tabaco City, </a:t>
                      </a:r>
                      <a:r>
                        <a:rPr lang="en-US" sz="2100" u="none" strike="noStrike" cap="none" dirty="0" err="1">
                          <a:solidFill>
                            <a:srgbClr val="2B2020"/>
                          </a:solidFill>
                          <a:latin typeface="Questrial"/>
                          <a:ea typeface="Questrial"/>
                          <a:cs typeface="Questrial"/>
                          <a:sym typeface="Questrial"/>
                        </a:rPr>
                        <a:t>Bacacay</a:t>
                      </a:r>
                      <a:r>
                        <a:rPr lang="en-US" sz="2100" u="none" strike="noStrike" cap="none" dirty="0">
                          <a:solidFill>
                            <a:srgbClr val="2B2020"/>
                          </a:solidFill>
                          <a:latin typeface="Questrial"/>
                          <a:ea typeface="Questrial"/>
                          <a:cs typeface="Questrial"/>
                          <a:sym typeface="Questrial"/>
                        </a:rPr>
                        <a:t>, </a:t>
                      </a:r>
                      <a:r>
                        <a:rPr lang="en-US" sz="2100" u="none" strike="noStrike" cap="none" dirty="0" err="1">
                          <a:solidFill>
                            <a:srgbClr val="2B2020"/>
                          </a:solidFill>
                          <a:latin typeface="Questrial"/>
                          <a:ea typeface="Questrial"/>
                          <a:cs typeface="Questrial"/>
                          <a:sym typeface="Questrial"/>
                        </a:rPr>
                        <a:t>Malilipot</a:t>
                      </a:r>
                      <a:r>
                        <a:rPr lang="en-US" sz="2100" u="none" strike="noStrike" cap="none" dirty="0">
                          <a:solidFill>
                            <a:srgbClr val="2B2020"/>
                          </a:solidFill>
                          <a:latin typeface="Questrial"/>
                          <a:ea typeface="Questrial"/>
                          <a:cs typeface="Questrial"/>
                          <a:sym typeface="Questrial"/>
                        </a:rPr>
                        <a:t>, Malinao, Santo Domingo, Tiwi</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r" rtl="0">
                        <a:lnSpc>
                          <a:spcPct val="97000"/>
                        </a:lnSpc>
                        <a:spcBef>
                          <a:spcPts val="0"/>
                        </a:spcBef>
                        <a:spcAft>
                          <a:spcPts val="0"/>
                        </a:spcAft>
                        <a:buClr>
                          <a:srgbClr val="2B2020"/>
                        </a:buClr>
                        <a:buSzPts val="1600"/>
                        <a:buFont typeface="Questrial"/>
                        <a:buNone/>
                      </a:pPr>
                      <a:r>
                        <a:rPr lang="en-US" sz="2100" u="none" strike="noStrike" cap="none">
                          <a:solidFill>
                            <a:srgbClr val="2B2020"/>
                          </a:solidFill>
                          <a:latin typeface="Questrial"/>
                          <a:ea typeface="Questrial"/>
                          <a:cs typeface="Questrial"/>
                          <a:sym typeface="Questrial"/>
                        </a:rPr>
                        <a:t>395,907</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r" rtl="0">
                        <a:lnSpc>
                          <a:spcPct val="97000"/>
                        </a:lnSpc>
                        <a:spcBef>
                          <a:spcPts val="0"/>
                        </a:spcBef>
                        <a:spcAft>
                          <a:spcPts val="0"/>
                        </a:spcAft>
                        <a:buClr>
                          <a:srgbClr val="2B2020"/>
                        </a:buClr>
                        <a:buSzPts val="1600"/>
                        <a:buFont typeface="Questrial"/>
                        <a:buNone/>
                      </a:pPr>
                      <a:r>
                        <a:rPr lang="en-US" sz="2100" u="none" strike="noStrike" cap="none" dirty="0">
                          <a:solidFill>
                            <a:srgbClr val="2B2020"/>
                          </a:solidFill>
                          <a:latin typeface="Questrial"/>
                          <a:ea typeface="Questrial"/>
                          <a:cs typeface="Questrial"/>
                          <a:sym typeface="Questrial"/>
                        </a:rPr>
                        <a:t>547.88</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1"/>
                  </a:ext>
                </a:extLst>
              </a:tr>
              <a:tr h="457200">
                <a:tc>
                  <a:txBody>
                    <a:bodyPr/>
                    <a:lstStyle/>
                    <a:p>
                      <a:pPr marL="0" marR="0" lvl="0" indent="0" algn="l" rtl="0">
                        <a:lnSpc>
                          <a:spcPct val="97000"/>
                        </a:lnSpc>
                        <a:spcBef>
                          <a:spcPts val="0"/>
                        </a:spcBef>
                        <a:spcAft>
                          <a:spcPts val="0"/>
                        </a:spcAft>
                        <a:buClr>
                          <a:srgbClr val="8B0707"/>
                        </a:buClr>
                        <a:buSzPts val="1600"/>
                        <a:buFont typeface="Questrial"/>
                        <a:buNone/>
                      </a:pPr>
                      <a:r>
                        <a:rPr lang="en-US" sz="2100" b="1" u="none" strike="noStrike" cap="none">
                          <a:solidFill>
                            <a:srgbClr val="8B0707"/>
                          </a:solidFill>
                          <a:latin typeface="Questrial"/>
                          <a:ea typeface="Questrial"/>
                          <a:cs typeface="Questrial"/>
                          <a:sym typeface="Questrial"/>
                        </a:rPr>
                        <a:t>Second</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2100" u="none" strike="noStrike" cap="none" dirty="0">
                          <a:solidFill>
                            <a:srgbClr val="2B2020"/>
                          </a:solidFill>
                          <a:latin typeface="Questrial"/>
                          <a:ea typeface="Questrial"/>
                          <a:cs typeface="Questrial"/>
                          <a:sym typeface="Questrial"/>
                        </a:rPr>
                        <a:t>Camalig, Daraga, Legazpi City, Manito, </a:t>
                      </a:r>
                      <a:r>
                        <a:rPr lang="en-US" sz="2100" u="none" strike="noStrike" cap="none" dirty="0" err="1">
                          <a:solidFill>
                            <a:srgbClr val="2B2020"/>
                          </a:solidFill>
                          <a:latin typeface="Questrial"/>
                          <a:ea typeface="Questrial"/>
                          <a:cs typeface="Questrial"/>
                          <a:sym typeface="Questrial"/>
                        </a:rPr>
                        <a:t>Rapu-Rapu</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r" rtl="0">
                        <a:lnSpc>
                          <a:spcPct val="97000"/>
                        </a:lnSpc>
                        <a:spcBef>
                          <a:spcPts val="0"/>
                        </a:spcBef>
                        <a:spcAft>
                          <a:spcPts val="0"/>
                        </a:spcAft>
                        <a:buClr>
                          <a:srgbClr val="2B2020"/>
                        </a:buClr>
                        <a:buSzPts val="1600"/>
                        <a:buFont typeface="Questrial"/>
                        <a:buNone/>
                      </a:pPr>
                      <a:r>
                        <a:rPr lang="en-US" sz="2100" u="none" strike="noStrike" cap="none">
                          <a:solidFill>
                            <a:srgbClr val="2B2020"/>
                          </a:solidFill>
                          <a:latin typeface="Questrial"/>
                          <a:ea typeface="Questrial"/>
                          <a:cs typeface="Questrial"/>
                          <a:sym typeface="Questrial"/>
                        </a:rPr>
                        <a:t>477,781</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r" rtl="0">
                        <a:lnSpc>
                          <a:spcPct val="97000"/>
                        </a:lnSpc>
                        <a:spcBef>
                          <a:spcPts val="0"/>
                        </a:spcBef>
                        <a:spcAft>
                          <a:spcPts val="0"/>
                        </a:spcAft>
                        <a:buClr>
                          <a:srgbClr val="2B2020"/>
                        </a:buClr>
                        <a:buSzPts val="1600"/>
                        <a:buFont typeface="Questrial"/>
                        <a:buNone/>
                      </a:pPr>
                      <a:r>
                        <a:rPr lang="en-US" sz="2100" u="none" strike="noStrike" cap="none">
                          <a:solidFill>
                            <a:srgbClr val="2B2020"/>
                          </a:solidFill>
                          <a:latin typeface="Questrial"/>
                          <a:ea typeface="Questrial"/>
                          <a:cs typeface="Questrial"/>
                          <a:sym typeface="Questrial"/>
                        </a:rPr>
                        <a:t>673.85</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2"/>
                  </a:ext>
                </a:extLst>
              </a:tr>
              <a:tr h="457200">
                <a:tc>
                  <a:txBody>
                    <a:bodyPr/>
                    <a:lstStyle/>
                    <a:p>
                      <a:pPr marL="0" marR="0" lvl="0" indent="0" algn="l" rtl="0">
                        <a:lnSpc>
                          <a:spcPct val="97000"/>
                        </a:lnSpc>
                        <a:spcBef>
                          <a:spcPts val="0"/>
                        </a:spcBef>
                        <a:spcAft>
                          <a:spcPts val="0"/>
                        </a:spcAft>
                        <a:buClr>
                          <a:srgbClr val="8B0707"/>
                        </a:buClr>
                        <a:buSzPts val="1600"/>
                        <a:buFont typeface="Questrial"/>
                        <a:buNone/>
                      </a:pPr>
                      <a:r>
                        <a:rPr lang="en-US" sz="2100" b="1" u="none" strike="noStrike" cap="none">
                          <a:solidFill>
                            <a:srgbClr val="8B0707"/>
                          </a:solidFill>
                          <a:latin typeface="Questrial"/>
                          <a:ea typeface="Questrial"/>
                          <a:cs typeface="Questrial"/>
                          <a:sym typeface="Questrial"/>
                        </a:rPr>
                        <a:t>Third</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2100" u="none" strike="noStrike" cap="none" dirty="0" err="1">
                          <a:solidFill>
                            <a:srgbClr val="2B2020"/>
                          </a:solidFill>
                          <a:latin typeface="Questrial"/>
                          <a:ea typeface="Questrial"/>
                          <a:cs typeface="Questrial"/>
                          <a:sym typeface="Questrial"/>
                        </a:rPr>
                        <a:t>Guinobatan</a:t>
                      </a:r>
                      <a:r>
                        <a:rPr lang="en-US" sz="2100" u="none" strike="noStrike" cap="none" dirty="0">
                          <a:solidFill>
                            <a:srgbClr val="2B2020"/>
                          </a:solidFill>
                          <a:latin typeface="Questrial"/>
                          <a:ea typeface="Questrial"/>
                          <a:cs typeface="Questrial"/>
                          <a:sym typeface="Questrial"/>
                        </a:rPr>
                        <a:t>, </a:t>
                      </a:r>
                      <a:r>
                        <a:rPr lang="en-US" sz="2100" u="none" strike="noStrike" cap="none" dirty="0" err="1">
                          <a:solidFill>
                            <a:srgbClr val="2B2020"/>
                          </a:solidFill>
                          <a:latin typeface="Questrial"/>
                          <a:ea typeface="Questrial"/>
                          <a:cs typeface="Questrial"/>
                          <a:sym typeface="Questrial"/>
                        </a:rPr>
                        <a:t>Jovellar</a:t>
                      </a:r>
                      <a:r>
                        <a:rPr lang="en-US" sz="2100" u="none" strike="noStrike" cap="none" dirty="0">
                          <a:solidFill>
                            <a:srgbClr val="2B2020"/>
                          </a:solidFill>
                          <a:latin typeface="Questrial"/>
                          <a:ea typeface="Questrial"/>
                          <a:cs typeface="Questrial"/>
                          <a:sym typeface="Questrial"/>
                        </a:rPr>
                        <a:t>, </a:t>
                      </a:r>
                      <a:r>
                        <a:rPr lang="en-US" sz="2100" u="none" strike="noStrike" cap="none" dirty="0" err="1">
                          <a:solidFill>
                            <a:srgbClr val="2B2020"/>
                          </a:solidFill>
                          <a:latin typeface="Questrial"/>
                          <a:ea typeface="Questrial"/>
                          <a:cs typeface="Questrial"/>
                          <a:sym typeface="Questrial"/>
                        </a:rPr>
                        <a:t>Libon</a:t>
                      </a:r>
                      <a:r>
                        <a:rPr lang="en-US" sz="2100" u="none" strike="noStrike" cap="none" dirty="0">
                          <a:solidFill>
                            <a:srgbClr val="2B2020"/>
                          </a:solidFill>
                          <a:latin typeface="Questrial"/>
                          <a:ea typeface="Questrial"/>
                          <a:cs typeface="Questrial"/>
                          <a:sym typeface="Questrial"/>
                        </a:rPr>
                        <a:t>, </a:t>
                      </a:r>
                      <a:r>
                        <a:rPr lang="en-US" sz="2100" u="none" strike="noStrike" cap="none" dirty="0" err="1">
                          <a:solidFill>
                            <a:srgbClr val="2B2020"/>
                          </a:solidFill>
                          <a:latin typeface="Questrial"/>
                          <a:ea typeface="Questrial"/>
                          <a:cs typeface="Questrial"/>
                          <a:sym typeface="Questrial"/>
                        </a:rPr>
                        <a:t>Ligao</a:t>
                      </a:r>
                      <a:r>
                        <a:rPr lang="en-US" sz="2100" u="none" strike="noStrike" cap="none" dirty="0">
                          <a:solidFill>
                            <a:srgbClr val="2B2020"/>
                          </a:solidFill>
                          <a:latin typeface="Questrial"/>
                          <a:ea typeface="Questrial"/>
                          <a:cs typeface="Questrial"/>
                          <a:sym typeface="Questrial"/>
                        </a:rPr>
                        <a:t> City, Oas, Pio Duran, </a:t>
                      </a:r>
                      <a:r>
                        <a:rPr lang="en-US" sz="2100" u="none" strike="noStrike" cap="none" dirty="0" err="1">
                          <a:solidFill>
                            <a:srgbClr val="2B2020"/>
                          </a:solidFill>
                          <a:latin typeface="Questrial"/>
                          <a:ea typeface="Questrial"/>
                          <a:cs typeface="Questrial"/>
                          <a:sym typeface="Questrial"/>
                        </a:rPr>
                        <a:t>Polangui</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r" rtl="0">
                        <a:lnSpc>
                          <a:spcPct val="97000"/>
                        </a:lnSpc>
                        <a:spcBef>
                          <a:spcPts val="0"/>
                        </a:spcBef>
                        <a:spcAft>
                          <a:spcPts val="0"/>
                        </a:spcAft>
                        <a:buClr>
                          <a:srgbClr val="2B2020"/>
                        </a:buClr>
                        <a:buSzPts val="1600"/>
                        <a:buFont typeface="Questrial"/>
                        <a:buNone/>
                      </a:pPr>
                      <a:r>
                        <a:rPr lang="en-US" sz="2100" u="none" strike="noStrike" cap="none">
                          <a:solidFill>
                            <a:srgbClr val="2B2020"/>
                          </a:solidFill>
                          <a:latin typeface="Questrial"/>
                          <a:ea typeface="Questrial"/>
                          <a:cs typeface="Questrial"/>
                          <a:sym typeface="Questrial"/>
                        </a:rPr>
                        <a:t>501,080</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r" rtl="0">
                        <a:lnSpc>
                          <a:spcPct val="97000"/>
                        </a:lnSpc>
                        <a:spcBef>
                          <a:spcPts val="0"/>
                        </a:spcBef>
                        <a:spcAft>
                          <a:spcPts val="0"/>
                        </a:spcAft>
                        <a:buClr>
                          <a:srgbClr val="2B2020"/>
                        </a:buClr>
                        <a:buSzPts val="1600"/>
                        <a:buFont typeface="Questrial"/>
                        <a:buNone/>
                      </a:pPr>
                      <a:r>
                        <a:rPr lang="en-US" sz="2100" u="none" strike="noStrike" cap="none">
                          <a:solidFill>
                            <a:srgbClr val="2B2020"/>
                          </a:solidFill>
                          <a:latin typeface="Questrial"/>
                          <a:ea typeface="Questrial"/>
                          <a:cs typeface="Questrial"/>
                          <a:sym typeface="Questrial"/>
                        </a:rPr>
                        <a:t>1,353.18</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3"/>
                  </a:ext>
                </a:extLst>
              </a:tr>
              <a:tr h="457200">
                <a:tc>
                  <a:txBody>
                    <a:bodyPr/>
                    <a:lstStyle/>
                    <a:p>
                      <a:pPr marL="0" marR="0" lvl="0" indent="0" algn="l" rtl="0">
                        <a:lnSpc>
                          <a:spcPct val="97000"/>
                        </a:lnSpc>
                        <a:spcBef>
                          <a:spcPts val="0"/>
                        </a:spcBef>
                        <a:spcAft>
                          <a:spcPts val="0"/>
                        </a:spcAft>
                        <a:buClr>
                          <a:srgbClr val="8B0707"/>
                        </a:buClr>
                        <a:buSzPts val="1600"/>
                        <a:buFont typeface="Questrial"/>
                        <a:buNone/>
                      </a:pPr>
                      <a:r>
                        <a:rPr lang="en-US" sz="2100" b="1" u="none" strike="noStrike" cap="none">
                          <a:solidFill>
                            <a:srgbClr val="8B0707"/>
                          </a:solidFill>
                          <a:latin typeface="Questrial"/>
                          <a:ea typeface="Questrial"/>
                          <a:cs typeface="Questrial"/>
                          <a:sym typeface="Questrial"/>
                        </a:rPr>
                        <a:t>Total</a:t>
                      </a:r>
                      <a:endParaRPr sz="21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600"/>
                        <a:buFont typeface="Questrial"/>
                        <a:buNone/>
                      </a:pPr>
                      <a:r>
                        <a:rPr lang="en-US" sz="2100" b="1" u="none" strike="noStrike" cap="none" dirty="0">
                          <a:solidFill>
                            <a:srgbClr val="2B2020"/>
                          </a:solidFill>
                          <a:latin typeface="Questrial"/>
                          <a:ea typeface="Questrial"/>
                          <a:cs typeface="Questrial"/>
                          <a:sym typeface="Questrial"/>
                        </a:rPr>
                        <a:t>18 LGUs</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r" rtl="0">
                        <a:lnSpc>
                          <a:spcPct val="97000"/>
                        </a:lnSpc>
                        <a:spcBef>
                          <a:spcPts val="0"/>
                        </a:spcBef>
                        <a:spcAft>
                          <a:spcPts val="0"/>
                        </a:spcAft>
                        <a:buClr>
                          <a:srgbClr val="2B2020"/>
                        </a:buClr>
                        <a:buSzPts val="1600"/>
                        <a:buFont typeface="Questrial"/>
                        <a:buNone/>
                      </a:pPr>
                      <a:r>
                        <a:rPr lang="en-US" sz="2100" b="1" u="none" strike="noStrike" cap="none" dirty="0">
                          <a:solidFill>
                            <a:srgbClr val="2B2020"/>
                          </a:solidFill>
                          <a:latin typeface="Questrial"/>
                          <a:ea typeface="Questrial"/>
                          <a:cs typeface="Questrial"/>
                          <a:sym typeface="Questrial"/>
                        </a:rPr>
                        <a:t>1,374,768</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r" rtl="0">
                        <a:lnSpc>
                          <a:spcPct val="97000"/>
                        </a:lnSpc>
                        <a:spcBef>
                          <a:spcPts val="0"/>
                        </a:spcBef>
                        <a:spcAft>
                          <a:spcPts val="0"/>
                        </a:spcAft>
                        <a:buClr>
                          <a:srgbClr val="2B2020"/>
                        </a:buClr>
                        <a:buSzPts val="1600"/>
                        <a:buFont typeface="Questrial"/>
                        <a:buNone/>
                      </a:pPr>
                      <a:r>
                        <a:rPr lang="en-US" sz="2100" b="1" u="none" strike="noStrike" cap="none" dirty="0">
                          <a:solidFill>
                            <a:srgbClr val="2B2020"/>
                          </a:solidFill>
                          <a:latin typeface="Questrial"/>
                          <a:ea typeface="Questrial"/>
                          <a:cs typeface="Questrial"/>
                          <a:sym typeface="Questrial"/>
                        </a:rPr>
                        <a:t>2,574.91</a:t>
                      </a:r>
                      <a:endParaRPr sz="21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1852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8600FC48-F658-98AF-F962-217F4E35970F}"/>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BFF9C1B1-F848-22B7-BA45-748982AE5834}"/>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396;p17">
            <a:extLst>
              <a:ext uri="{FF2B5EF4-FFF2-40B4-BE49-F238E27FC236}">
                <a16:creationId xmlns:a16="http://schemas.microsoft.com/office/drawing/2014/main" id="{1C7BF3E2-2C1B-09A1-EDB2-EBCC69F5C774}"/>
              </a:ext>
            </a:extLst>
          </p:cNvPr>
          <p:cNvGrpSpPr/>
          <p:nvPr/>
        </p:nvGrpSpPr>
        <p:grpSpPr>
          <a:xfrm>
            <a:off x="-514350" y="-1248816"/>
            <a:ext cx="19524889" cy="2953915"/>
            <a:chOff x="0" y="-76200"/>
            <a:chExt cx="5142358" cy="777986"/>
          </a:xfrm>
        </p:grpSpPr>
        <p:sp>
          <p:nvSpPr>
            <p:cNvPr id="3" name="Google Shape;397;p17">
              <a:extLst>
                <a:ext uri="{FF2B5EF4-FFF2-40B4-BE49-F238E27FC236}">
                  <a16:creationId xmlns:a16="http://schemas.microsoft.com/office/drawing/2014/main" id="{D0091BC5-C650-35E2-0463-737E0DA2FBCE}"/>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398;p17">
              <a:extLst>
                <a:ext uri="{FF2B5EF4-FFF2-40B4-BE49-F238E27FC236}">
                  <a16:creationId xmlns:a16="http://schemas.microsoft.com/office/drawing/2014/main" id="{2E9C75E8-FAAE-5F57-5A63-6DF70FFDB3C8}"/>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 name="Google Shape;399;p17">
            <a:extLst>
              <a:ext uri="{FF2B5EF4-FFF2-40B4-BE49-F238E27FC236}">
                <a16:creationId xmlns:a16="http://schemas.microsoft.com/office/drawing/2014/main" id="{2CAE5315-0E0B-55B8-E23A-260D449DE72A}"/>
              </a:ext>
            </a:extLst>
          </p:cNvPr>
          <p:cNvSpPr txBox="1"/>
          <p:nvPr/>
        </p:nvSpPr>
        <p:spPr>
          <a:xfrm>
            <a:off x="213886" y="324392"/>
            <a:ext cx="17376398" cy="1191095"/>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600" b="0" i="0" u="none" strike="noStrike" cap="none" dirty="0">
                <a:solidFill>
                  <a:srgbClr val="FFFFFF"/>
                </a:solidFill>
                <a:latin typeface="Questrial"/>
                <a:ea typeface="Questrial"/>
                <a:cs typeface="Questrial"/>
                <a:sym typeface="Questrial"/>
              </a:rPr>
              <a:t>METHODOLOGY</a:t>
            </a:r>
            <a:endParaRPr sz="8600" dirty="0"/>
          </a:p>
        </p:txBody>
      </p:sp>
      <p:sp>
        <p:nvSpPr>
          <p:cNvPr id="7" name="Google Shape;400;p17">
            <a:extLst>
              <a:ext uri="{FF2B5EF4-FFF2-40B4-BE49-F238E27FC236}">
                <a16:creationId xmlns:a16="http://schemas.microsoft.com/office/drawing/2014/main" id="{5286B091-6E88-4185-DD5C-79F44217CC9A}"/>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400" b="0" i="0" u="none" strike="noStrike" cap="none">
                <a:solidFill>
                  <a:srgbClr val="FFFFFF"/>
                </a:solidFill>
                <a:latin typeface="Questrial"/>
                <a:ea typeface="Questrial"/>
                <a:cs typeface="Questrial"/>
                <a:sym typeface="Questrial"/>
              </a:rPr>
              <a:t>Research Design</a:t>
            </a:r>
            <a:endParaRPr sz="2400" b="0" i="0" u="none" strike="noStrike" cap="none">
              <a:solidFill>
                <a:schemeClr val="dk1"/>
              </a:solidFill>
              <a:latin typeface="Questrial"/>
              <a:ea typeface="Questrial"/>
              <a:cs typeface="Questrial"/>
              <a:sym typeface="Questrial"/>
            </a:endParaRPr>
          </a:p>
        </p:txBody>
      </p:sp>
      <p:sp>
        <p:nvSpPr>
          <p:cNvPr id="8" name="Google Shape;401;p17">
            <a:extLst>
              <a:ext uri="{FF2B5EF4-FFF2-40B4-BE49-F238E27FC236}">
                <a16:creationId xmlns:a16="http://schemas.microsoft.com/office/drawing/2014/main" id="{70E5A6EF-DA07-7829-3392-D2C33DFC76B9}"/>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2400" b="0" i="0" u="none" strike="noStrike" cap="none">
                <a:solidFill>
                  <a:srgbClr val="8B0707"/>
                </a:solidFill>
                <a:latin typeface="Questrial"/>
                <a:ea typeface="Questrial"/>
                <a:cs typeface="Questrial"/>
                <a:sym typeface="Questrial"/>
              </a:rPr>
              <a:t>17</a:t>
            </a:r>
            <a:endParaRPr sz="2400" b="0" i="0" u="none" strike="noStrike" cap="none">
              <a:solidFill>
                <a:schemeClr val="dk1"/>
              </a:solidFill>
              <a:latin typeface="Questrial"/>
              <a:ea typeface="Questrial"/>
              <a:cs typeface="Questrial"/>
              <a:sym typeface="Questrial"/>
            </a:endParaRPr>
          </a:p>
        </p:txBody>
      </p:sp>
      <p:sp>
        <p:nvSpPr>
          <p:cNvPr id="9" name="Google Shape;402;p17">
            <a:extLst>
              <a:ext uri="{FF2B5EF4-FFF2-40B4-BE49-F238E27FC236}">
                <a16:creationId xmlns:a16="http://schemas.microsoft.com/office/drawing/2014/main" id="{DCC20458-71B7-7D70-DA22-BE1A4D6B9A5C}"/>
              </a:ext>
            </a:extLst>
          </p:cNvPr>
          <p:cNvSpPr txBox="1"/>
          <p:nvPr/>
        </p:nvSpPr>
        <p:spPr>
          <a:xfrm>
            <a:off x="822959" y="1906524"/>
            <a:ext cx="16642080" cy="1097280"/>
          </a:xfrm>
          <a:prstGeom prst="rect">
            <a:avLst/>
          </a:prstGeom>
          <a:noFill/>
          <a:ln>
            <a:noFill/>
          </a:ln>
        </p:spPr>
        <p:txBody>
          <a:bodyPr spcFirstLastPara="1" wrap="square" lIns="0" tIns="0" rIns="0" bIns="0" anchor="ctr" anchorCtr="0">
            <a:noAutofit/>
          </a:bodyPr>
          <a:lstStyle/>
          <a:p>
            <a:pPr marL="0" marR="0" lvl="0" indent="0" algn="l" rtl="0">
              <a:lnSpc>
                <a:spcPct val="102000"/>
              </a:lnSpc>
              <a:spcBef>
                <a:spcPts val="0"/>
              </a:spcBef>
              <a:spcAft>
                <a:spcPts val="0"/>
              </a:spcAft>
              <a:buClr>
                <a:srgbClr val="2B2020"/>
              </a:buClr>
              <a:buSzPts val="1950"/>
              <a:buFont typeface="Questrial"/>
              <a:buNone/>
            </a:pPr>
            <a:r>
              <a:rPr lang="en-US" sz="2800" b="0" i="0" u="none" strike="noStrike" cap="none" dirty="0">
                <a:solidFill>
                  <a:schemeClr val="bg1"/>
                </a:solidFill>
                <a:latin typeface="Questrial"/>
                <a:ea typeface="Questrial"/>
                <a:cs typeface="Questrial"/>
                <a:sym typeface="Questrial"/>
              </a:rPr>
              <a:t>This is a quantitative study built on computational modeling. No field data were collected. The model is formulated first, its properties are then proved, the software is checked against independent code, and the experiments are run last, on the open-data instance of Albay.</a:t>
            </a:r>
            <a:endParaRPr sz="2800" b="0" i="0" u="none" strike="noStrike" cap="none" dirty="0">
              <a:solidFill>
                <a:schemeClr val="bg1"/>
              </a:solidFill>
              <a:latin typeface="Questrial"/>
              <a:ea typeface="Questrial"/>
              <a:cs typeface="Questrial"/>
              <a:sym typeface="Questrial"/>
            </a:endParaRPr>
          </a:p>
        </p:txBody>
      </p:sp>
      <p:sp>
        <p:nvSpPr>
          <p:cNvPr id="10" name="Google Shape;403;p17">
            <a:extLst>
              <a:ext uri="{FF2B5EF4-FFF2-40B4-BE49-F238E27FC236}">
                <a16:creationId xmlns:a16="http://schemas.microsoft.com/office/drawing/2014/main" id="{67F6F7C4-15BF-763D-86C4-CBD4AC849023}"/>
              </a:ext>
            </a:extLst>
          </p:cNvPr>
          <p:cNvSpPr/>
          <p:nvPr/>
        </p:nvSpPr>
        <p:spPr>
          <a:xfrm>
            <a:off x="822960" y="3246120"/>
            <a:ext cx="3520440" cy="658368"/>
          </a:xfrm>
          <a:prstGeom prst="rect">
            <a:avLst/>
          </a:prstGeom>
          <a:solidFill>
            <a:srgbClr val="8B0707"/>
          </a:solidFill>
          <a:ln w="19050" cap="flat" cmpd="sng">
            <a:solidFill>
              <a:srgbClr val="8B0707"/>
            </a:solidFill>
            <a:prstDash val="solid"/>
            <a:round/>
            <a:headEnd type="none" w="sm" len="sm"/>
            <a:tailEnd type="none" w="sm" len="sm"/>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FFFFFF"/>
              </a:buClr>
              <a:buSzPts val="1850"/>
              <a:buFont typeface="Questrial"/>
              <a:buNone/>
            </a:pPr>
            <a:r>
              <a:rPr lang="en-US" sz="2400" b="1" i="0" u="none" strike="noStrike" cap="none" dirty="0">
                <a:solidFill>
                  <a:srgbClr val="FFFFFF"/>
                </a:solidFill>
                <a:latin typeface="Questrial"/>
                <a:ea typeface="Questrial"/>
                <a:cs typeface="Questrial"/>
                <a:sym typeface="Questrial"/>
              </a:rPr>
              <a:t>1. </a:t>
            </a:r>
            <a:r>
              <a:rPr lang="en-US" sz="2400" b="0" i="0" u="none" strike="noStrike" cap="none" dirty="0">
                <a:solidFill>
                  <a:srgbClr val="FFFFFF"/>
                </a:solidFill>
                <a:latin typeface="Questrial"/>
                <a:ea typeface="Questrial"/>
                <a:cs typeface="Questrial"/>
                <a:sym typeface="Questrial"/>
              </a:rPr>
              <a:t>Formulate the model</a:t>
            </a:r>
            <a:endParaRPr sz="2400" b="0" i="0" u="none" strike="noStrike" cap="none" dirty="0">
              <a:solidFill>
                <a:schemeClr val="dk1"/>
              </a:solidFill>
              <a:latin typeface="Questrial"/>
              <a:ea typeface="Questrial"/>
              <a:cs typeface="Questrial"/>
              <a:sym typeface="Questrial"/>
            </a:endParaRPr>
          </a:p>
        </p:txBody>
      </p:sp>
      <p:cxnSp>
        <p:nvCxnSpPr>
          <p:cNvPr id="11" name="Google Shape;404;p17">
            <a:extLst>
              <a:ext uri="{FF2B5EF4-FFF2-40B4-BE49-F238E27FC236}">
                <a16:creationId xmlns:a16="http://schemas.microsoft.com/office/drawing/2014/main" id="{C2CC81F1-89B2-B1BD-1377-C8597DB387B1}"/>
              </a:ext>
            </a:extLst>
          </p:cNvPr>
          <p:cNvCxnSpPr/>
          <p:nvPr/>
        </p:nvCxnSpPr>
        <p:spPr>
          <a:xfrm>
            <a:off x="4416552" y="3575304"/>
            <a:ext cx="707136" cy="0"/>
          </a:xfrm>
          <a:prstGeom prst="straightConnector1">
            <a:avLst/>
          </a:prstGeom>
          <a:noFill/>
          <a:ln w="31750" cap="flat" cmpd="sng">
            <a:solidFill>
              <a:srgbClr val="8B0707"/>
            </a:solidFill>
            <a:prstDash val="solid"/>
            <a:round/>
            <a:headEnd type="none" w="sm" len="sm"/>
            <a:tailEnd type="triangle" w="med" len="med"/>
          </a:ln>
        </p:spPr>
      </p:cxnSp>
      <p:sp>
        <p:nvSpPr>
          <p:cNvPr id="12" name="Google Shape;405;p17">
            <a:extLst>
              <a:ext uri="{FF2B5EF4-FFF2-40B4-BE49-F238E27FC236}">
                <a16:creationId xmlns:a16="http://schemas.microsoft.com/office/drawing/2014/main" id="{1F1B7052-2DB6-E426-87AB-40C41C297ECC}"/>
              </a:ext>
            </a:extLst>
          </p:cNvPr>
          <p:cNvSpPr/>
          <p:nvPr/>
        </p:nvSpPr>
        <p:spPr>
          <a:xfrm>
            <a:off x="5196840" y="3246120"/>
            <a:ext cx="3520440" cy="658368"/>
          </a:xfrm>
          <a:prstGeom prst="rect">
            <a:avLst/>
          </a:prstGeom>
          <a:solidFill>
            <a:srgbClr val="FFFFFF">
              <a:alpha val="94902"/>
            </a:srgbClr>
          </a:solidFill>
          <a:ln w="19050" cap="flat" cmpd="sng">
            <a:solidFill>
              <a:srgbClr val="8B0707"/>
            </a:solidFill>
            <a:prstDash val="solid"/>
            <a:round/>
            <a:headEnd type="none" w="sm" len="sm"/>
            <a:tailEnd type="none" w="sm" len="sm"/>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8B0707"/>
              </a:buClr>
              <a:buSzPts val="1850"/>
              <a:buFont typeface="Questrial"/>
              <a:buNone/>
            </a:pPr>
            <a:r>
              <a:rPr lang="en-US" sz="2400" b="1" i="0" u="none" strike="noStrike" cap="none" dirty="0">
                <a:solidFill>
                  <a:srgbClr val="8B0707"/>
                </a:solidFill>
                <a:latin typeface="Questrial"/>
                <a:ea typeface="Questrial"/>
                <a:cs typeface="Questrial"/>
                <a:sym typeface="Questrial"/>
              </a:rPr>
              <a:t>2. </a:t>
            </a:r>
            <a:r>
              <a:rPr lang="en-US" sz="2400" b="0" i="0" u="none" strike="noStrike" cap="none" dirty="0">
                <a:solidFill>
                  <a:srgbClr val="2B2020"/>
                </a:solidFill>
                <a:latin typeface="Questrial"/>
                <a:ea typeface="Questrial"/>
                <a:cs typeface="Questrial"/>
                <a:sym typeface="Questrial"/>
              </a:rPr>
              <a:t>Prove its properties</a:t>
            </a:r>
            <a:endParaRPr sz="2400" b="0" i="0" u="none" strike="noStrike" cap="none" dirty="0">
              <a:solidFill>
                <a:schemeClr val="dk1"/>
              </a:solidFill>
              <a:latin typeface="Questrial"/>
              <a:ea typeface="Questrial"/>
              <a:cs typeface="Questrial"/>
              <a:sym typeface="Questrial"/>
            </a:endParaRPr>
          </a:p>
        </p:txBody>
      </p:sp>
      <p:cxnSp>
        <p:nvCxnSpPr>
          <p:cNvPr id="13" name="Google Shape;406;p17">
            <a:extLst>
              <a:ext uri="{FF2B5EF4-FFF2-40B4-BE49-F238E27FC236}">
                <a16:creationId xmlns:a16="http://schemas.microsoft.com/office/drawing/2014/main" id="{6596D819-F84C-390C-A6AC-AD126F36C9DE}"/>
              </a:ext>
            </a:extLst>
          </p:cNvPr>
          <p:cNvCxnSpPr/>
          <p:nvPr/>
        </p:nvCxnSpPr>
        <p:spPr>
          <a:xfrm>
            <a:off x="8790432" y="3575304"/>
            <a:ext cx="707136" cy="0"/>
          </a:xfrm>
          <a:prstGeom prst="straightConnector1">
            <a:avLst/>
          </a:prstGeom>
          <a:noFill/>
          <a:ln w="31750" cap="flat" cmpd="sng">
            <a:solidFill>
              <a:srgbClr val="8B0707"/>
            </a:solidFill>
            <a:prstDash val="solid"/>
            <a:round/>
            <a:headEnd type="none" w="sm" len="sm"/>
            <a:tailEnd type="triangle" w="med" len="med"/>
          </a:ln>
        </p:spPr>
      </p:cxnSp>
      <p:sp>
        <p:nvSpPr>
          <p:cNvPr id="14" name="Google Shape;407;p17">
            <a:extLst>
              <a:ext uri="{FF2B5EF4-FFF2-40B4-BE49-F238E27FC236}">
                <a16:creationId xmlns:a16="http://schemas.microsoft.com/office/drawing/2014/main" id="{726E70A5-96F3-1293-2359-D63FFD37A1C1}"/>
              </a:ext>
            </a:extLst>
          </p:cNvPr>
          <p:cNvSpPr/>
          <p:nvPr/>
        </p:nvSpPr>
        <p:spPr>
          <a:xfrm>
            <a:off x="9570720" y="3246120"/>
            <a:ext cx="3520440" cy="658368"/>
          </a:xfrm>
          <a:prstGeom prst="rect">
            <a:avLst/>
          </a:prstGeom>
          <a:solidFill>
            <a:srgbClr val="FFFFFF">
              <a:alpha val="94902"/>
            </a:srgbClr>
          </a:solidFill>
          <a:ln w="19050" cap="flat" cmpd="sng">
            <a:solidFill>
              <a:srgbClr val="8B0707"/>
            </a:solidFill>
            <a:prstDash val="solid"/>
            <a:round/>
            <a:headEnd type="none" w="sm" len="sm"/>
            <a:tailEnd type="none" w="sm" len="sm"/>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8B0707"/>
              </a:buClr>
              <a:buSzPts val="1850"/>
              <a:buFont typeface="Questrial"/>
              <a:buNone/>
            </a:pPr>
            <a:r>
              <a:rPr lang="en-US" sz="2400" b="1" i="0" u="none" strike="noStrike" cap="none">
                <a:solidFill>
                  <a:srgbClr val="8B0707"/>
                </a:solidFill>
                <a:latin typeface="Questrial"/>
                <a:ea typeface="Questrial"/>
                <a:cs typeface="Questrial"/>
                <a:sym typeface="Questrial"/>
              </a:rPr>
              <a:t>3. </a:t>
            </a:r>
            <a:r>
              <a:rPr lang="en-US" sz="2400" b="0" i="0" u="none" strike="noStrike" cap="none">
                <a:solidFill>
                  <a:srgbClr val="2B2020"/>
                </a:solidFill>
                <a:latin typeface="Questrial"/>
                <a:ea typeface="Questrial"/>
                <a:cs typeface="Questrial"/>
                <a:sym typeface="Questrial"/>
              </a:rPr>
              <a:t>Verify the software</a:t>
            </a:r>
            <a:endParaRPr sz="2400" b="0" i="0" u="none" strike="noStrike" cap="none">
              <a:solidFill>
                <a:schemeClr val="dk1"/>
              </a:solidFill>
              <a:latin typeface="Questrial"/>
              <a:ea typeface="Questrial"/>
              <a:cs typeface="Questrial"/>
              <a:sym typeface="Questrial"/>
            </a:endParaRPr>
          </a:p>
        </p:txBody>
      </p:sp>
      <p:cxnSp>
        <p:nvCxnSpPr>
          <p:cNvPr id="15" name="Google Shape;408;p17">
            <a:extLst>
              <a:ext uri="{FF2B5EF4-FFF2-40B4-BE49-F238E27FC236}">
                <a16:creationId xmlns:a16="http://schemas.microsoft.com/office/drawing/2014/main" id="{07DDE0BB-4127-DEEF-FA2C-6A6F349714D2}"/>
              </a:ext>
            </a:extLst>
          </p:cNvPr>
          <p:cNvCxnSpPr/>
          <p:nvPr/>
        </p:nvCxnSpPr>
        <p:spPr>
          <a:xfrm>
            <a:off x="13164312" y="3575304"/>
            <a:ext cx="707136" cy="0"/>
          </a:xfrm>
          <a:prstGeom prst="straightConnector1">
            <a:avLst/>
          </a:prstGeom>
          <a:noFill/>
          <a:ln w="31750" cap="flat" cmpd="sng">
            <a:solidFill>
              <a:srgbClr val="8B0707"/>
            </a:solidFill>
            <a:prstDash val="solid"/>
            <a:round/>
            <a:headEnd type="none" w="sm" len="sm"/>
            <a:tailEnd type="triangle" w="med" len="med"/>
          </a:ln>
        </p:spPr>
      </p:cxnSp>
      <p:sp>
        <p:nvSpPr>
          <p:cNvPr id="16" name="Google Shape;409;p17">
            <a:extLst>
              <a:ext uri="{FF2B5EF4-FFF2-40B4-BE49-F238E27FC236}">
                <a16:creationId xmlns:a16="http://schemas.microsoft.com/office/drawing/2014/main" id="{0E891014-0DC7-0D95-6EE8-E014F1978E0D}"/>
              </a:ext>
            </a:extLst>
          </p:cNvPr>
          <p:cNvSpPr/>
          <p:nvPr/>
        </p:nvSpPr>
        <p:spPr>
          <a:xfrm>
            <a:off x="13944600" y="3246120"/>
            <a:ext cx="3520440" cy="658368"/>
          </a:xfrm>
          <a:prstGeom prst="rect">
            <a:avLst/>
          </a:prstGeom>
          <a:solidFill>
            <a:srgbClr val="FFFFFF">
              <a:alpha val="94902"/>
            </a:srgbClr>
          </a:solidFill>
          <a:ln w="19050" cap="flat" cmpd="sng">
            <a:solidFill>
              <a:srgbClr val="8B0707"/>
            </a:solidFill>
            <a:prstDash val="solid"/>
            <a:round/>
            <a:headEnd type="none" w="sm" len="sm"/>
            <a:tailEnd type="none" w="sm" len="sm"/>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8B0707"/>
              </a:buClr>
              <a:buSzPts val="1850"/>
              <a:buFont typeface="Questrial"/>
              <a:buNone/>
            </a:pPr>
            <a:r>
              <a:rPr lang="en-US" sz="2400" b="1" i="0" u="none" strike="noStrike" cap="none">
                <a:solidFill>
                  <a:srgbClr val="8B0707"/>
                </a:solidFill>
                <a:latin typeface="Questrial"/>
                <a:ea typeface="Questrial"/>
                <a:cs typeface="Questrial"/>
                <a:sym typeface="Questrial"/>
              </a:rPr>
              <a:t>4. </a:t>
            </a:r>
            <a:r>
              <a:rPr lang="en-US" sz="2400" b="0" i="0" u="none" strike="noStrike" cap="none">
                <a:solidFill>
                  <a:srgbClr val="2B2020"/>
                </a:solidFill>
                <a:latin typeface="Questrial"/>
                <a:ea typeface="Questrial"/>
                <a:cs typeface="Questrial"/>
                <a:sym typeface="Questrial"/>
              </a:rPr>
              <a:t>Run the experiments</a:t>
            </a:r>
            <a:endParaRPr sz="2400" b="0" i="0" u="none" strike="noStrike" cap="none">
              <a:solidFill>
                <a:schemeClr val="dk1"/>
              </a:solidFill>
              <a:latin typeface="Questrial"/>
              <a:ea typeface="Questrial"/>
              <a:cs typeface="Questrial"/>
              <a:sym typeface="Questrial"/>
            </a:endParaRPr>
          </a:p>
        </p:txBody>
      </p:sp>
      <p:sp>
        <p:nvSpPr>
          <p:cNvPr id="17" name="Google Shape;410;p17">
            <a:extLst>
              <a:ext uri="{FF2B5EF4-FFF2-40B4-BE49-F238E27FC236}">
                <a16:creationId xmlns:a16="http://schemas.microsoft.com/office/drawing/2014/main" id="{4C0AE058-39E8-26DB-9653-4D02C106FC35}"/>
              </a:ext>
            </a:extLst>
          </p:cNvPr>
          <p:cNvSpPr txBox="1"/>
          <p:nvPr/>
        </p:nvSpPr>
        <p:spPr>
          <a:xfrm>
            <a:off x="822959" y="4009644"/>
            <a:ext cx="1664208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600"/>
              <a:buFont typeface="Questrial"/>
              <a:buNone/>
            </a:pPr>
            <a:r>
              <a:rPr lang="en-US" sz="3600" b="0" i="1" u="none" strike="noStrike" cap="none" dirty="0">
                <a:solidFill>
                  <a:schemeClr val="bg1"/>
                </a:solidFill>
                <a:latin typeface="Questrial"/>
                <a:ea typeface="Questrial"/>
                <a:cs typeface="Questrial"/>
                <a:sym typeface="Questrial"/>
              </a:rPr>
              <a:t>Table 6. Variables of the study</a:t>
            </a:r>
            <a:endParaRPr sz="3600" b="0" i="0" u="none" strike="noStrike" cap="none" dirty="0">
              <a:solidFill>
                <a:schemeClr val="bg1"/>
              </a:solidFill>
              <a:latin typeface="Questrial"/>
              <a:ea typeface="Questrial"/>
              <a:cs typeface="Questrial"/>
              <a:sym typeface="Questrial"/>
            </a:endParaRPr>
          </a:p>
        </p:txBody>
      </p:sp>
      <p:graphicFrame>
        <p:nvGraphicFramePr>
          <p:cNvPr id="18" name="Google Shape;411;p17">
            <a:extLst>
              <a:ext uri="{FF2B5EF4-FFF2-40B4-BE49-F238E27FC236}">
                <a16:creationId xmlns:a16="http://schemas.microsoft.com/office/drawing/2014/main" id="{0C2A8B2C-BD3F-6B33-C831-5B0A10D52E48}"/>
              </a:ext>
            </a:extLst>
          </p:cNvPr>
          <p:cNvGraphicFramePr/>
          <p:nvPr>
            <p:extLst>
              <p:ext uri="{D42A27DB-BD31-4B8C-83A1-F6EECF244321}">
                <p14:modId xmlns:p14="http://schemas.microsoft.com/office/powerpoint/2010/main" val="626026069"/>
              </p:ext>
            </p:extLst>
          </p:nvPr>
        </p:nvGraphicFramePr>
        <p:xfrm>
          <a:off x="822960" y="4498848"/>
          <a:ext cx="15524773" cy="3291850"/>
        </p:xfrm>
        <a:graphic>
          <a:graphicData uri="http://schemas.openxmlformats.org/drawingml/2006/table">
            <a:tbl>
              <a:tblPr>
                <a:noFill/>
                <a:tableStyleId>{34289B53-5545-4E02-A326-ACEF5BE87AE4}</a:tableStyleId>
              </a:tblPr>
              <a:tblGrid>
                <a:gridCol w="4430073">
                  <a:extLst>
                    <a:ext uri="{9D8B030D-6E8A-4147-A177-3AD203B41FA5}">
                      <a16:colId xmlns:a16="http://schemas.microsoft.com/office/drawing/2014/main" val="20000"/>
                    </a:ext>
                  </a:extLst>
                </a:gridCol>
                <a:gridCol w="5547350">
                  <a:extLst>
                    <a:ext uri="{9D8B030D-6E8A-4147-A177-3AD203B41FA5}">
                      <a16:colId xmlns:a16="http://schemas.microsoft.com/office/drawing/2014/main" val="20001"/>
                    </a:ext>
                  </a:extLst>
                </a:gridCol>
                <a:gridCol w="5547350">
                  <a:extLst>
                    <a:ext uri="{9D8B030D-6E8A-4147-A177-3AD203B41FA5}">
                      <a16:colId xmlns:a16="http://schemas.microsoft.com/office/drawing/2014/main" val="20002"/>
                    </a:ext>
                  </a:extLst>
                </a:gridCol>
              </a:tblGrid>
              <a:tr h="502925">
                <a:tc>
                  <a:txBody>
                    <a:bodyPr/>
                    <a:lstStyle/>
                    <a:p>
                      <a:pPr marL="0" marR="0" lvl="0" indent="0" algn="l" rtl="0">
                        <a:lnSpc>
                          <a:spcPct val="97000"/>
                        </a:lnSpc>
                        <a:spcBef>
                          <a:spcPts val="0"/>
                        </a:spcBef>
                        <a:spcAft>
                          <a:spcPts val="0"/>
                        </a:spcAft>
                        <a:buClr>
                          <a:srgbClr val="FFFFFF"/>
                        </a:buClr>
                        <a:buSzPts val="1700"/>
                        <a:buFont typeface="Questrial"/>
                        <a:buNone/>
                      </a:pPr>
                      <a:r>
                        <a:rPr lang="en-US" sz="2000" b="1" u="none" strike="noStrike" cap="none" dirty="0">
                          <a:solidFill>
                            <a:srgbClr val="FFFFFF"/>
                          </a:solidFill>
                          <a:latin typeface="Questrial"/>
                          <a:ea typeface="Questrial"/>
                          <a:cs typeface="Questrial"/>
                          <a:sym typeface="Questrial"/>
                        </a:rPr>
                        <a:t>Independent (varied)</a:t>
                      </a:r>
                      <a:endParaRPr sz="20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2000" b="1" u="none" strike="noStrike" cap="none">
                          <a:solidFill>
                            <a:srgbClr val="FFFFFF"/>
                          </a:solidFill>
                          <a:latin typeface="Questrial"/>
                          <a:ea typeface="Questrial"/>
                          <a:cs typeface="Questrial"/>
                          <a:sym typeface="Questrial"/>
                        </a:rPr>
                        <a:t>Dependent (measured)</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700"/>
                        <a:buFont typeface="Questrial"/>
                        <a:buNone/>
                      </a:pPr>
                      <a:r>
                        <a:rPr lang="en-US" sz="2000" b="1" u="none" strike="noStrike" cap="none">
                          <a:solidFill>
                            <a:srgbClr val="FFFFFF"/>
                          </a:solidFill>
                          <a:latin typeface="Questrial"/>
                          <a:ea typeface="Questrial"/>
                          <a:cs typeface="Questrial"/>
                          <a:sym typeface="Questrial"/>
                        </a:rPr>
                        <a:t>Controlled (held fixed)</a:t>
                      </a:r>
                      <a:endParaRPr sz="20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extLst>
                  <a:ext uri="{0D108BD9-81ED-4DB2-BD59-A6C34878D82A}">
                    <a16:rowId xmlns:a16="http://schemas.microsoft.com/office/drawing/2014/main" val="10000"/>
                  </a:ext>
                </a:extLst>
              </a:tr>
              <a:tr h="2788925">
                <a:tc>
                  <a:txBody>
                    <a:bodyPr/>
                    <a:lstStyle/>
                    <a:p>
                      <a:pPr marL="292608" marR="0" lvl="0" indent="-292608" algn="l" rtl="0">
                        <a:lnSpc>
                          <a:spcPct val="98000"/>
                        </a:lnSpc>
                        <a:spcBef>
                          <a:spcPts val="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Travel-time budget (15, 30, 45 min)</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Departure time (06:00 to 08:00)</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Headway changes (±25%, ±50%)</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Vehicle class (10 classes)</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Anchor set (3 versions)</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Acuity level and payment class</a:t>
                      </a:r>
                      <a:endParaRPr sz="2000" u="none" strike="noStrike" cap="none" dirty="0">
                        <a:latin typeface="Questrial"/>
                        <a:ea typeface="Questrial"/>
                        <a:cs typeface="Questrial"/>
                        <a:sym typeface="Questrial"/>
                      </a:endParaRPr>
                    </a:p>
                  </a:txBody>
                  <a:tcPr marL="228600" marR="182875" marT="182875" marB="91450">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292608" marR="0" lvl="0" indent="-292608" algn="l" rtl="0">
                        <a:lnSpc>
                          <a:spcPct val="98000"/>
                        </a:lnSpc>
                        <a:spcBef>
                          <a:spcPts val="0"/>
                        </a:spcBef>
                        <a:spcAft>
                          <a:spcPts val="0"/>
                        </a:spcAft>
                        <a:buClr>
                          <a:srgbClr val="8B0707"/>
                        </a:buClr>
                        <a:buSzPts val="1900"/>
                        <a:buFont typeface="Arial"/>
                        <a:buChar char="•"/>
                      </a:pPr>
                      <a:r>
                        <a:rPr lang="en-US" sz="2000" u="none" strike="noStrike" cap="none">
                          <a:solidFill>
                            <a:srgbClr val="2B2020"/>
                          </a:solidFill>
                          <a:latin typeface="Questrial"/>
                          <a:ea typeface="Questrial"/>
                          <a:cs typeface="Questrial"/>
                          <a:sym typeface="Questrial"/>
                        </a:rPr>
                        <a:t>Earliest arrival and door-to-door time</a:t>
                      </a:r>
                      <a:endParaRPr sz="2000" u="none" strike="noStrike" cap="none">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a:solidFill>
                            <a:srgbClr val="2B2020"/>
                          </a:solidFill>
                          <a:latin typeface="Questrial"/>
                          <a:ea typeface="Questrial"/>
                          <a:cs typeface="Questrial"/>
                          <a:sym typeface="Questrial"/>
                        </a:rPr>
                        <a:t>Fare and number of transfers</a:t>
                      </a:r>
                      <a:endParaRPr sz="2000" u="none" strike="noStrike" cap="none">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a:solidFill>
                            <a:srgbClr val="2B2020"/>
                          </a:solidFill>
                          <a:latin typeface="Questrial"/>
                          <a:ea typeface="Questrial"/>
                          <a:cs typeface="Questrial"/>
                          <a:sym typeface="Questrial"/>
                        </a:rPr>
                        <a:t>Landmarks reachable in 30 minutes</a:t>
                      </a:r>
                      <a:endParaRPr sz="2000" u="none" strike="noStrike" cap="none">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a:solidFill>
                            <a:srgbClr val="2B2020"/>
                          </a:solidFill>
                          <a:latin typeface="Questrial"/>
                          <a:ea typeface="Questrial"/>
                          <a:cs typeface="Questrial"/>
                          <a:sym typeface="Questrial"/>
                        </a:rPr>
                        <a:t>Gini, Theil, Lorenz, and Palma values</a:t>
                      </a:r>
                      <a:endParaRPr sz="2000" u="none" strike="noStrike" cap="none">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a:solidFill>
                            <a:srgbClr val="2B2020"/>
                          </a:solidFill>
                          <a:latin typeface="Questrial"/>
                          <a:ea typeface="Questrial"/>
                          <a:cs typeface="Questrial"/>
                          <a:sym typeface="Questrial"/>
                        </a:rPr>
                        <a:t>Nearest suitable hospital and its travel time</a:t>
                      </a:r>
                      <a:endParaRPr sz="2000" u="none" strike="noStrike" cap="none">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a:solidFill>
                            <a:srgbClr val="2B2020"/>
                          </a:solidFill>
                          <a:latin typeface="Questrial"/>
                          <a:ea typeface="Questrial"/>
                          <a:cs typeface="Questrial"/>
                          <a:sym typeface="Questrial"/>
                        </a:rPr>
                        <a:t>Payment gap and free-bed access</a:t>
                      </a:r>
                      <a:endParaRPr sz="2000" u="none" strike="noStrike" cap="none">
                        <a:latin typeface="Questrial"/>
                        <a:ea typeface="Questrial"/>
                        <a:cs typeface="Questrial"/>
                        <a:sym typeface="Questrial"/>
                      </a:endParaRPr>
                    </a:p>
                  </a:txBody>
                  <a:tcPr marL="228600" marR="182875" marT="182875" marB="91450">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292608" marR="0" lvl="0" indent="-292608" algn="l" rtl="0">
                        <a:lnSpc>
                          <a:spcPct val="98000"/>
                        </a:lnSpc>
                        <a:spcBef>
                          <a:spcPts val="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Walking speed of 4.5 km/h</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Walking leg of at most 15 minutes</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Minimum transfer time</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LTFRB fares and the 20% discount</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Report age limit of 12 hours</a:t>
                      </a:r>
                      <a:endParaRPr sz="2000" u="none" strike="noStrike" cap="none" dirty="0">
                        <a:latin typeface="Questrial"/>
                        <a:ea typeface="Questrial"/>
                        <a:cs typeface="Questrial"/>
                        <a:sym typeface="Questrial"/>
                      </a:endParaRPr>
                    </a:p>
                    <a:p>
                      <a:pPr marL="292608" marR="0" lvl="0" indent="-292608" algn="l" rtl="0">
                        <a:lnSpc>
                          <a:spcPct val="98000"/>
                        </a:lnSpc>
                        <a:spcBef>
                          <a:spcPts val="600"/>
                        </a:spcBef>
                        <a:spcAft>
                          <a:spcPts val="0"/>
                        </a:spcAft>
                        <a:buClr>
                          <a:srgbClr val="8B0707"/>
                        </a:buClr>
                        <a:buSzPts val="1900"/>
                        <a:buFont typeface="Arial"/>
                        <a:buChar char="•"/>
                      </a:pPr>
                      <a:r>
                        <a:rPr lang="en-US" sz="2000" u="none" strike="noStrike" cap="none" dirty="0">
                          <a:solidFill>
                            <a:srgbClr val="2B2020"/>
                          </a:solidFill>
                          <a:latin typeface="Questrial"/>
                          <a:ea typeface="Questrial"/>
                          <a:cs typeface="Questrial"/>
                          <a:sym typeface="Questrial"/>
                        </a:rPr>
                        <a:t>Inquiry cycle of 8 hours</a:t>
                      </a:r>
                      <a:endParaRPr sz="2000" u="none" strike="noStrike" cap="none" dirty="0">
                        <a:latin typeface="Questrial"/>
                        <a:ea typeface="Questrial"/>
                        <a:cs typeface="Questrial"/>
                        <a:sym typeface="Questrial"/>
                      </a:endParaRPr>
                    </a:p>
                  </a:txBody>
                  <a:tcPr marL="228600" marR="182875" marT="182875" marB="91450">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1"/>
                  </a:ext>
                </a:extLst>
              </a:tr>
            </a:tbl>
          </a:graphicData>
        </a:graphic>
      </p:graphicFrame>
      <p:sp>
        <p:nvSpPr>
          <p:cNvPr id="19" name="Google Shape;412;p17">
            <a:extLst>
              <a:ext uri="{FF2B5EF4-FFF2-40B4-BE49-F238E27FC236}">
                <a16:creationId xmlns:a16="http://schemas.microsoft.com/office/drawing/2014/main" id="{3308CCC1-0139-C55F-1A50-310F81C3D9CA}"/>
              </a:ext>
            </a:extLst>
          </p:cNvPr>
          <p:cNvSpPr/>
          <p:nvPr/>
        </p:nvSpPr>
        <p:spPr>
          <a:xfrm>
            <a:off x="822960" y="8065008"/>
            <a:ext cx="16642080" cy="1490472"/>
          </a:xfrm>
          <a:prstGeom prst="roundRect">
            <a:avLst>
              <a:gd name="adj" fmla="val 9815"/>
            </a:avLst>
          </a:prstGeom>
          <a:solidFill>
            <a:srgbClr val="F8E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413;p17">
            <a:extLst>
              <a:ext uri="{FF2B5EF4-FFF2-40B4-BE49-F238E27FC236}">
                <a16:creationId xmlns:a16="http://schemas.microsoft.com/office/drawing/2014/main" id="{A1228518-A2C8-B43D-B3C8-29FCFEAE957C}"/>
              </a:ext>
            </a:extLst>
          </p:cNvPr>
          <p:cNvSpPr txBox="1"/>
          <p:nvPr/>
        </p:nvSpPr>
        <p:spPr>
          <a:xfrm>
            <a:off x="1188720" y="8110728"/>
            <a:ext cx="15910560" cy="1399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850"/>
              <a:buFont typeface="Questrial"/>
              <a:buNone/>
            </a:pPr>
            <a:r>
              <a:rPr lang="en-US" sz="2400" b="1" i="0" u="none" strike="noStrike" cap="none">
                <a:solidFill>
                  <a:srgbClr val="8B0707"/>
                </a:solidFill>
                <a:latin typeface="Questrial"/>
                <a:ea typeface="Questrial"/>
                <a:cs typeface="Questrial"/>
                <a:sym typeface="Questrial"/>
              </a:rPr>
              <a:t>Where the numbers come from. </a:t>
            </a:r>
            <a:r>
              <a:rPr lang="en-US" sz="2400" b="0" i="0" u="none" strike="noStrike" cap="none">
                <a:solidFill>
                  <a:srgbClr val="2B2020"/>
                </a:solidFill>
                <a:latin typeface="Questrial"/>
                <a:ea typeface="Questrial"/>
                <a:cs typeface="Questrial"/>
                <a:sym typeface="Questrial"/>
              </a:rPr>
              <a:t>Every value in the study is either taken from a public register, derived from one by a stated rule, declared as a model parameter, or generated synthetically for testing. Synthetic values are always labeled as such.</a:t>
            </a:r>
            <a:endParaRPr sz="2400" b="0" i="0" u="none" strike="noStrike" cap="none">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3172957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B107B275-C20E-438B-4421-57C30A3D058D}"/>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D6FAE08A-FEC1-1ECC-40A0-BDB78ED63BA0}"/>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420;p18">
            <a:extLst>
              <a:ext uri="{FF2B5EF4-FFF2-40B4-BE49-F238E27FC236}">
                <a16:creationId xmlns:a16="http://schemas.microsoft.com/office/drawing/2014/main" id="{7DC1623D-6FE0-9415-0ECB-8A04C5A30431}"/>
              </a:ext>
            </a:extLst>
          </p:cNvPr>
          <p:cNvGrpSpPr/>
          <p:nvPr/>
        </p:nvGrpSpPr>
        <p:grpSpPr>
          <a:xfrm>
            <a:off x="-514350" y="-1248816"/>
            <a:ext cx="19524889" cy="2953915"/>
            <a:chOff x="0" y="-76200"/>
            <a:chExt cx="5142358" cy="777986"/>
          </a:xfrm>
        </p:grpSpPr>
        <p:sp>
          <p:nvSpPr>
            <p:cNvPr id="3" name="Google Shape;421;p18">
              <a:extLst>
                <a:ext uri="{FF2B5EF4-FFF2-40B4-BE49-F238E27FC236}">
                  <a16:creationId xmlns:a16="http://schemas.microsoft.com/office/drawing/2014/main" id="{F3612C0F-EEB0-004B-436A-1567C14110D9}"/>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422;p18">
              <a:extLst>
                <a:ext uri="{FF2B5EF4-FFF2-40B4-BE49-F238E27FC236}">
                  <a16:creationId xmlns:a16="http://schemas.microsoft.com/office/drawing/2014/main" id="{46C126E5-9A0F-DF32-39B1-FEA45AD7C7E0}"/>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 name="Google Shape;423;p18">
            <a:extLst>
              <a:ext uri="{FF2B5EF4-FFF2-40B4-BE49-F238E27FC236}">
                <a16:creationId xmlns:a16="http://schemas.microsoft.com/office/drawing/2014/main" id="{2B322AEB-9D16-928A-3956-7DEC06202EC6}"/>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METHODOLOGY</a:t>
            </a:r>
            <a:endParaRPr/>
          </a:p>
        </p:txBody>
      </p:sp>
      <p:sp>
        <p:nvSpPr>
          <p:cNvPr id="10" name="Google Shape;424;p18">
            <a:extLst>
              <a:ext uri="{FF2B5EF4-FFF2-40B4-BE49-F238E27FC236}">
                <a16:creationId xmlns:a16="http://schemas.microsoft.com/office/drawing/2014/main" id="{ADF7BBF5-DF0F-04CE-C188-3291A745704D}"/>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600" b="0" i="0" u="none" strike="noStrike" cap="none">
                <a:solidFill>
                  <a:srgbClr val="FFFFFF"/>
                </a:solidFill>
                <a:latin typeface="Questrial"/>
                <a:ea typeface="Questrial"/>
                <a:cs typeface="Questrial"/>
                <a:sym typeface="Questrial"/>
              </a:rPr>
              <a:t>Population and Sample</a:t>
            </a:r>
            <a:endParaRPr sz="2600" b="0" i="0" u="none" strike="noStrike" cap="none">
              <a:solidFill>
                <a:schemeClr val="dk1"/>
              </a:solidFill>
              <a:latin typeface="Questrial"/>
              <a:ea typeface="Questrial"/>
              <a:cs typeface="Questrial"/>
              <a:sym typeface="Questrial"/>
            </a:endParaRPr>
          </a:p>
        </p:txBody>
      </p:sp>
      <p:sp>
        <p:nvSpPr>
          <p:cNvPr id="12" name="Google Shape;425;p18">
            <a:extLst>
              <a:ext uri="{FF2B5EF4-FFF2-40B4-BE49-F238E27FC236}">
                <a16:creationId xmlns:a16="http://schemas.microsoft.com/office/drawing/2014/main" id="{000242BD-7483-94F5-8CD0-C865B8D5D5AC}"/>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18</a:t>
            </a:r>
            <a:endParaRPr sz="1600" b="0" i="0" u="none" strike="noStrike" cap="none">
              <a:solidFill>
                <a:schemeClr val="dk1"/>
              </a:solidFill>
              <a:latin typeface="Questrial"/>
              <a:ea typeface="Questrial"/>
              <a:cs typeface="Questrial"/>
              <a:sym typeface="Questrial"/>
            </a:endParaRPr>
          </a:p>
        </p:txBody>
      </p:sp>
      <p:sp>
        <p:nvSpPr>
          <p:cNvPr id="14" name="Google Shape;426;p18">
            <a:extLst>
              <a:ext uri="{FF2B5EF4-FFF2-40B4-BE49-F238E27FC236}">
                <a16:creationId xmlns:a16="http://schemas.microsoft.com/office/drawing/2014/main" id="{60D0E4CA-4AFC-345B-FD35-D5094C86BE02}"/>
              </a:ext>
            </a:extLst>
          </p:cNvPr>
          <p:cNvSpPr txBox="1"/>
          <p:nvPr/>
        </p:nvSpPr>
        <p:spPr>
          <a:xfrm>
            <a:off x="822960" y="1807464"/>
            <a:ext cx="16642080" cy="1143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B2020"/>
              </a:buClr>
              <a:buSzPts val="1850"/>
              <a:buFont typeface="Questrial"/>
              <a:buNone/>
            </a:pPr>
            <a:r>
              <a:rPr lang="en-US" sz="2400" b="0" i="0" u="none" strike="noStrike" cap="none" dirty="0">
                <a:solidFill>
                  <a:schemeClr val="bg1"/>
                </a:solidFill>
                <a:latin typeface="Questrial"/>
                <a:ea typeface="Questrial"/>
                <a:cs typeface="Questrial"/>
                <a:sym typeface="Questrial"/>
              </a:rPr>
              <a:t>The study has no human respondents. Its population is every named public landmark in Albay that appears in at least one open register and meets the inclusion criteria. All qualifying landmarks are used, so there is no random sampling. Each anchor is weighted by the 2020 census population of the barangays nearest to it by road (PSA, 2021).</a:t>
            </a:r>
            <a:endParaRPr sz="2400" b="0" i="0" u="none" strike="noStrike" cap="none" dirty="0">
              <a:solidFill>
                <a:schemeClr val="bg1"/>
              </a:solidFill>
              <a:latin typeface="Questrial"/>
              <a:ea typeface="Questrial"/>
              <a:cs typeface="Questrial"/>
              <a:sym typeface="Questrial"/>
            </a:endParaRPr>
          </a:p>
        </p:txBody>
      </p:sp>
      <p:sp>
        <p:nvSpPr>
          <p:cNvPr id="16" name="Google Shape;427;p18">
            <a:extLst>
              <a:ext uri="{FF2B5EF4-FFF2-40B4-BE49-F238E27FC236}">
                <a16:creationId xmlns:a16="http://schemas.microsoft.com/office/drawing/2014/main" id="{F5FCF5E9-4B99-CAA5-C649-8EC44C1340D2}"/>
              </a:ext>
            </a:extLst>
          </p:cNvPr>
          <p:cNvSpPr txBox="1"/>
          <p:nvPr/>
        </p:nvSpPr>
        <p:spPr>
          <a:xfrm>
            <a:off x="822960" y="3105912"/>
            <a:ext cx="10607040" cy="38404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600"/>
              <a:buFont typeface="Questrial"/>
              <a:buNone/>
            </a:pPr>
            <a:r>
              <a:rPr lang="en-US" sz="2400" b="0" i="1" u="none" strike="noStrike" cap="none" dirty="0">
                <a:solidFill>
                  <a:schemeClr val="bg1"/>
                </a:solidFill>
                <a:latin typeface="Questrial"/>
                <a:ea typeface="Questrial"/>
                <a:cs typeface="Questrial"/>
                <a:sym typeface="Questrial"/>
              </a:rPr>
              <a:t>Table 7. Landmark classes, their role, and their source registers</a:t>
            </a:r>
            <a:endParaRPr sz="2400" b="0" i="0" u="none" strike="noStrike" cap="none" dirty="0">
              <a:solidFill>
                <a:schemeClr val="bg1"/>
              </a:solidFill>
              <a:latin typeface="Questrial"/>
              <a:ea typeface="Questrial"/>
              <a:cs typeface="Questrial"/>
              <a:sym typeface="Questrial"/>
            </a:endParaRPr>
          </a:p>
        </p:txBody>
      </p:sp>
      <p:graphicFrame>
        <p:nvGraphicFramePr>
          <p:cNvPr id="18" name="Google Shape;428;p18">
            <a:extLst>
              <a:ext uri="{FF2B5EF4-FFF2-40B4-BE49-F238E27FC236}">
                <a16:creationId xmlns:a16="http://schemas.microsoft.com/office/drawing/2014/main" id="{289000EB-A5B2-0D70-B292-2CACB2FDB8B8}"/>
              </a:ext>
            </a:extLst>
          </p:cNvPr>
          <p:cNvGraphicFramePr/>
          <p:nvPr>
            <p:extLst>
              <p:ext uri="{D42A27DB-BD31-4B8C-83A1-F6EECF244321}">
                <p14:modId xmlns:p14="http://schemas.microsoft.com/office/powerpoint/2010/main" val="1464663272"/>
              </p:ext>
            </p:extLst>
          </p:nvPr>
        </p:nvGraphicFramePr>
        <p:xfrm>
          <a:off x="822960" y="3584448"/>
          <a:ext cx="10607050" cy="6413832"/>
        </p:xfrm>
        <a:graphic>
          <a:graphicData uri="http://schemas.openxmlformats.org/drawingml/2006/table">
            <a:tbl>
              <a:tblPr>
                <a:noFill/>
                <a:tableStyleId>{34289B53-5545-4E02-A326-ACEF5BE87AE4}</a:tableStyleId>
              </a:tblPr>
              <a:tblGrid>
                <a:gridCol w="3657600">
                  <a:extLst>
                    <a:ext uri="{9D8B030D-6E8A-4147-A177-3AD203B41FA5}">
                      <a16:colId xmlns:a16="http://schemas.microsoft.com/office/drawing/2014/main" val="20000"/>
                    </a:ext>
                  </a:extLst>
                </a:gridCol>
                <a:gridCol w="192025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457200">
                <a:tc>
                  <a:txBody>
                    <a:bodyPr/>
                    <a:lstStyle/>
                    <a:p>
                      <a:pPr marL="0" marR="0" lvl="0" indent="0" algn="l" rtl="0">
                        <a:lnSpc>
                          <a:spcPct val="97000"/>
                        </a:lnSpc>
                        <a:spcBef>
                          <a:spcPts val="0"/>
                        </a:spcBef>
                        <a:spcAft>
                          <a:spcPts val="0"/>
                        </a:spcAft>
                        <a:buClr>
                          <a:srgbClr val="FFFFFF"/>
                        </a:buClr>
                        <a:buSzPts val="1600"/>
                        <a:buFont typeface="Questrial"/>
                        <a:buNone/>
                      </a:pPr>
                      <a:r>
                        <a:rPr lang="en-US" sz="2200" b="1" u="none" strike="noStrike" cap="none" dirty="0">
                          <a:solidFill>
                            <a:srgbClr val="FFFFFF"/>
                          </a:solidFill>
                          <a:latin typeface="Questrial"/>
                          <a:ea typeface="Questrial"/>
                          <a:cs typeface="Questrial"/>
                          <a:sym typeface="Questrial"/>
                        </a:rPr>
                        <a:t>Landmark class</a:t>
                      </a:r>
                      <a:endParaRPr lang="en-US" sz="22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600"/>
                        <a:buFont typeface="Questrial"/>
                        <a:buNone/>
                      </a:pPr>
                      <a:r>
                        <a:rPr lang="en-US" sz="2200" b="1" u="none" strike="noStrike" cap="none">
                          <a:solidFill>
                            <a:srgbClr val="FFFFFF"/>
                          </a:solidFill>
                          <a:latin typeface="Questrial"/>
                          <a:ea typeface="Questrial"/>
                          <a:cs typeface="Questrial"/>
                          <a:sym typeface="Questrial"/>
                        </a:rPr>
                        <a:t>Role</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600"/>
                        <a:buFont typeface="Questrial"/>
                        <a:buNone/>
                      </a:pPr>
                      <a:r>
                        <a:rPr lang="en-US" sz="2200" b="1" u="none" strike="noStrike" cap="none">
                          <a:solidFill>
                            <a:srgbClr val="FFFFFF"/>
                          </a:solidFill>
                          <a:latin typeface="Questrial"/>
                          <a:ea typeface="Questrial"/>
                          <a:cs typeface="Questrial"/>
                          <a:sym typeface="Questrial"/>
                        </a:rPr>
                        <a:t>Open register</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extLst>
                  <a:ext uri="{0D108BD9-81ED-4DB2-BD59-A6C34878D82A}">
                    <a16:rowId xmlns:a16="http://schemas.microsoft.com/office/drawing/2014/main" val="10000"/>
                  </a:ext>
                </a:extLst>
              </a:tr>
              <a:tr h="612650">
                <a:tc>
                  <a:txBody>
                    <a:bodyPr/>
                    <a:lstStyle/>
                    <a:p>
                      <a:pPr marL="0" marR="0" lvl="0" indent="0" algn="l" rtl="0">
                        <a:lnSpc>
                          <a:spcPct val="97000"/>
                        </a:lnSpc>
                        <a:spcBef>
                          <a:spcPts val="0"/>
                        </a:spcBef>
                        <a:spcAft>
                          <a:spcPts val="0"/>
                        </a:spcAft>
                        <a:buClr>
                          <a:srgbClr val="2B2020"/>
                        </a:buClr>
                        <a:buSzPts val="1550"/>
                        <a:buFont typeface="Questrial"/>
                        <a:buNone/>
                      </a:pPr>
                      <a:r>
                        <a:rPr lang="en-US" sz="2200" u="none" strike="noStrike" cap="none">
                          <a:solidFill>
                            <a:srgbClr val="2B2020"/>
                          </a:solidFill>
                          <a:latin typeface="Questrial"/>
                          <a:ea typeface="Questrial"/>
                          <a:cs typeface="Questrial"/>
                          <a:sym typeface="Questrial"/>
                        </a:rPr>
                        <a:t>Public transport terminal</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200" u="none" strike="noStrike" cap="none">
                          <a:solidFill>
                            <a:srgbClr val="8B0707"/>
                          </a:solidFill>
                          <a:latin typeface="Questrial"/>
                          <a:ea typeface="Questrial"/>
                          <a:cs typeface="Questrial"/>
                          <a:sym typeface="Questrial"/>
                        </a:rPr>
                        <a:t>Anchor</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500"/>
                        <a:buFont typeface="Questrial"/>
                        <a:buNone/>
                      </a:pPr>
                      <a:r>
                        <a:rPr lang="en-US" sz="2200" u="none" strike="noStrike" cap="none">
                          <a:solidFill>
                            <a:srgbClr val="6A5656"/>
                          </a:solidFill>
                          <a:latin typeface="Questrial"/>
                          <a:ea typeface="Questrial"/>
                          <a:cs typeface="Questrial"/>
                          <a:sym typeface="Questrial"/>
                        </a:rPr>
                        <a:t>OpenStreetMap; LGU route plans</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1"/>
                  </a:ext>
                </a:extLst>
              </a:tr>
              <a:tr h="612650">
                <a:tc>
                  <a:txBody>
                    <a:bodyPr/>
                    <a:lstStyle/>
                    <a:p>
                      <a:pPr marL="0" marR="0" lvl="0" indent="0" algn="l" rtl="0">
                        <a:lnSpc>
                          <a:spcPct val="97000"/>
                        </a:lnSpc>
                        <a:spcBef>
                          <a:spcPts val="0"/>
                        </a:spcBef>
                        <a:spcAft>
                          <a:spcPts val="0"/>
                        </a:spcAft>
                        <a:buClr>
                          <a:srgbClr val="2B2020"/>
                        </a:buClr>
                        <a:buSzPts val="1550"/>
                        <a:buFont typeface="Questrial"/>
                        <a:buNone/>
                      </a:pPr>
                      <a:r>
                        <a:rPr lang="en-US" sz="2200" u="none" strike="noStrike" cap="none">
                          <a:solidFill>
                            <a:srgbClr val="2B2020"/>
                          </a:solidFill>
                          <a:latin typeface="Questrial"/>
                          <a:ea typeface="Questrial"/>
                          <a:cs typeface="Questrial"/>
                          <a:sym typeface="Questrial"/>
                        </a:rPr>
                        <a:t>Municipal or city hall</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200" u="none" strike="noStrike" cap="none">
                          <a:solidFill>
                            <a:srgbClr val="8B0707"/>
                          </a:solidFill>
                          <a:latin typeface="Questrial"/>
                          <a:ea typeface="Questrial"/>
                          <a:cs typeface="Questrial"/>
                          <a:sym typeface="Questrial"/>
                        </a:rPr>
                        <a:t>Anchor</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6A5656"/>
                        </a:buClr>
                        <a:buSzPts val="1500"/>
                        <a:buFont typeface="Questrial"/>
                        <a:buNone/>
                      </a:pPr>
                      <a:r>
                        <a:rPr lang="en-US" sz="2200" u="none" strike="noStrike" cap="none">
                          <a:solidFill>
                            <a:srgbClr val="6A5656"/>
                          </a:solidFill>
                          <a:latin typeface="Questrial"/>
                          <a:ea typeface="Questrial"/>
                          <a:cs typeface="Questrial"/>
                          <a:sym typeface="Questrial"/>
                        </a:rPr>
                        <a:t>OpenStreetMap; PSGC</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2"/>
                  </a:ext>
                </a:extLst>
              </a:tr>
              <a:tr h="612650">
                <a:tc>
                  <a:txBody>
                    <a:bodyPr/>
                    <a:lstStyle/>
                    <a:p>
                      <a:pPr marL="0" marR="0" lvl="0" indent="0" algn="l" rtl="0">
                        <a:lnSpc>
                          <a:spcPct val="97000"/>
                        </a:lnSpc>
                        <a:spcBef>
                          <a:spcPts val="0"/>
                        </a:spcBef>
                        <a:spcAft>
                          <a:spcPts val="0"/>
                        </a:spcAft>
                        <a:buClr>
                          <a:srgbClr val="2B2020"/>
                        </a:buClr>
                        <a:buSzPts val="1550"/>
                        <a:buFont typeface="Questrial"/>
                        <a:buNone/>
                      </a:pPr>
                      <a:r>
                        <a:rPr lang="en-US" sz="2200" u="none" strike="noStrike" cap="none">
                          <a:solidFill>
                            <a:srgbClr val="2B2020"/>
                          </a:solidFill>
                          <a:latin typeface="Questrial"/>
                          <a:ea typeface="Questrial"/>
                          <a:cs typeface="Questrial"/>
                          <a:sym typeface="Questrial"/>
                        </a:rPr>
                        <a:t>Town plaza, port, or pier</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200" u="none" strike="noStrike" cap="none">
                          <a:solidFill>
                            <a:srgbClr val="8B0707"/>
                          </a:solidFill>
                          <a:latin typeface="Questrial"/>
                          <a:ea typeface="Questrial"/>
                          <a:cs typeface="Questrial"/>
                          <a:sym typeface="Questrial"/>
                        </a:rPr>
                        <a:t>Anchor</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500"/>
                        <a:buFont typeface="Questrial"/>
                        <a:buNone/>
                      </a:pPr>
                      <a:r>
                        <a:rPr lang="en-US" sz="2200" u="none" strike="noStrike" cap="none">
                          <a:solidFill>
                            <a:srgbClr val="6A5656"/>
                          </a:solidFill>
                          <a:latin typeface="Questrial"/>
                          <a:ea typeface="Questrial"/>
                          <a:cs typeface="Questrial"/>
                          <a:sym typeface="Questrial"/>
                        </a:rPr>
                        <a:t>OpenStreetMap; PPA port list</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3"/>
                  </a:ext>
                </a:extLst>
              </a:tr>
              <a:tr h="612650">
                <a:tc>
                  <a:txBody>
                    <a:bodyPr/>
                    <a:lstStyle/>
                    <a:p>
                      <a:pPr marL="0" marR="0" lvl="0" indent="0" algn="l" rtl="0">
                        <a:lnSpc>
                          <a:spcPct val="97000"/>
                        </a:lnSpc>
                        <a:spcBef>
                          <a:spcPts val="0"/>
                        </a:spcBef>
                        <a:spcAft>
                          <a:spcPts val="0"/>
                        </a:spcAft>
                        <a:buClr>
                          <a:srgbClr val="2B2020"/>
                        </a:buClr>
                        <a:buSzPts val="1550"/>
                        <a:buFont typeface="Questrial"/>
                        <a:buNone/>
                      </a:pPr>
                      <a:r>
                        <a:rPr lang="en-US" sz="2200" u="none" strike="noStrike" cap="none">
                          <a:solidFill>
                            <a:srgbClr val="2B2020"/>
                          </a:solidFill>
                          <a:latin typeface="Questrial"/>
                          <a:ea typeface="Questrial"/>
                          <a:cs typeface="Questrial"/>
                          <a:sym typeface="Questrial"/>
                        </a:rPr>
                        <a:t>Major boarding junction</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200" u="none" strike="noStrike" cap="none">
                          <a:solidFill>
                            <a:srgbClr val="8B0707"/>
                          </a:solidFill>
                          <a:latin typeface="Questrial"/>
                          <a:ea typeface="Questrial"/>
                          <a:cs typeface="Questrial"/>
                          <a:sym typeface="Questrial"/>
                        </a:rPr>
                        <a:t>Anchor</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6A5656"/>
                        </a:buClr>
                        <a:buSzPts val="1500"/>
                        <a:buFont typeface="Questrial"/>
                        <a:buNone/>
                      </a:pPr>
                      <a:r>
                        <a:rPr lang="en-US" sz="2200" u="none" strike="noStrike" cap="none">
                          <a:solidFill>
                            <a:srgbClr val="6A5656"/>
                          </a:solidFill>
                          <a:latin typeface="Questrial"/>
                          <a:ea typeface="Questrial"/>
                          <a:cs typeface="Questrial"/>
                          <a:sym typeface="Questrial"/>
                        </a:rPr>
                        <a:t>OpenStreetMap junction nodes</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4"/>
                  </a:ext>
                </a:extLst>
              </a:tr>
              <a:tr h="612650">
                <a:tc>
                  <a:txBody>
                    <a:bodyPr/>
                    <a:lstStyle/>
                    <a:p>
                      <a:pPr marL="0" marR="0" lvl="0" indent="0" algn="l" rtl="0">
                        <a:lnSpc>
                          <a:spcPct val="97000"/>
                        </a:lnSpc>
                        <a:spcBef>
                          <a:spcPts val="0"/>
                        </a:spcBef>
                        <a:spcAft>
                          <a:spcPts val="0"/>
                        </a:spcAft>
                        <a:buClr>
                          <a:srgbClr val="2B2020"/>
                        </a:buClr>
                        <a:buSzPts val="1550"/>
                        <a:buFont typeface="Questrial"/>
                        <a:buNone/>
                      </a:pPr>
                      <a:r>
                        <a:rPr lang="en-US" sz="2200" u="none" strike="noStrike" cap="none">
                          <a:solidFill>
                            <a:srgbClr val="2B2020"/>
                          </a:solidFill>
                          <a:latin typeface="Questrial"/>
                          <a:ea typeface="Questrial"/>
                          <a:cs typeface="Questrial"/>
                          <a:sym typeface="Questrial"/>
                        </a:rPr>
                        <a:t>Hospital, infirmary, or RHU</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200" u="none" strike="noStrike" cap="none">
                          <a:solidFill>
                            <a:srgbClr val="8B0707"/>
                          </a:solidFill>
                          <a:latin typeface="Questrial"/>
                          <a:ea typeface="Questrial"/>
                          <a:cs typeface="Questrial"/>
                          <a:sym typeface="Questrial"/>
                        </a:rPr>
                        <a:t>Destination</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500"/>
                        <a:buFont typeface="Questrial"/>
                        <a:buNone/>
                      </a:pPr>
                      <a:r>
                        <a:rPr lang="en-US" sz="2200" u="none" strike="noStrike" cap="none">
                          <a:solidFill>
                            <a:srgbClr val="6A5656"/>
                          </a:solidFill>
                          <a:latin typeface="Questrial"/>
                          <a:ea typeface="Questrial"/>
                          <a:cs typeface="Questrial"/>
                          <a:sym typeface="Questrial"/>
                        </a:rPr>
                        <a:t>DOH registry; PhilHealth list; Malasakit directory</a:t>
                      </a:r>
                      <a:endParaRPr lang="en-US" sz="22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5"/>
                  </a:ext>
                </a:extLst>
              </a:tr>
              <a:tr h="612650">
                <a:tc>
                  <a:txBody>
                    <a:bodyPr/>
                    <a:lstStyle/>
                    <a:p>
                      <a:pPr marL="0" marR="0" lvl="0" indent="0" algn="l" rtl="0">
                        <a:lnSpc>
                          <a:spcPct val="97000"/>
                        </a:lnSpc>
                        <a:spcBef>
                          <a:spcPts val="0"/>
                        </a:spcBef>
                        <a:spcAft>
                          <a:spcPts val="0"/>
                        </a:spcAft>
                        <a:buClr>
                          <a:srgbClr val="2B2020"/>
                        </a:buClr>
                        <a:buSzPts val="1550"/>
                        <a:buFont typeface="Questrial"/>
                        <a:buNone/>
                      </a:pPr>
                      <a:r>
                        <a:rPr lang="en-US" sz="2200" u="none" strike="noStrike" cap="none">
                          <a:solidFill>
                            <a:srgbClr val="2B2020"/>
                          </a:solidFill>
                          <a:latin typeface="Questrial"/>
                          <a:ea typeface="Questrial"/>
                          <a:cs typeface="Questrial"/>
                          <a:sym typeface="Questrial"/>
                        </a:rPr>
                        <a:t>Public elementary or secondary school</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200" u="none" strike="noStrike" cap="none">
                          <a:solidFill>
                            <a:srgbClr val="8B0707"/>
                          </a:solidFill>
                          <a:latin typeface="Questrial"/>
                          <a:ea typeface="Questrial"/>
                          <a:cs typeface="Questrial"/>
                          <a:sym typeface="Questrial"/>
                        </a:rPr>
                        <a:t>Destination</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6A5656"/>
                        </a:buClr>
                        <a:buSzPts val="1500"/>
                        <a:buFont typeface="Questrial"/>
                        <a:buNone/>
                      </a:pPr>
                      <a:r>
                        <a:rPr lang="en-US" sz="2200" u="none" strike="noStrike" cap="none">
                          <a:solidFill>
                            <a:srgbClr val="6A5656"/>
                          </a:solidFill>
                          <a:latin typeface="Questrial"/>
                          <a:ea typeface="Questrial"/>
                          <a:cs typeface="Questrial"/>
                          <a:sym typeface="Questrial"/>
                        </a:rPr>
                        <a:t>DepEd Masterlist of Schools</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6"/>
                  </a:ext>
                </a:extLst>
              </a:tr>
              <a:tr h="612650">
                <a:tc>
                  <a:txBody>
                    <a:bodyPr/>
                    <a:lstStyle/>
                    <a:p>
                      <a:pPr marL="0" marR="0" lvl="0" indent="0" algn="l" rtl="0">
                        <a:lnSpc>
                          <a:spcPct val="97000"/>
                        </a:lnSpc>
                        <a:spcBef>
                          <a:spcPts val="0"/>
                        </a:spcBef>
                        <a:spcAft>
                          <a:spcPts val="0"/>
                        </a:spcAft>
                        <a:buClr>
                          <a:srgbClr val="2B2020"/>
                        </a:buClr>
                        <a:buSzPts val="1550"/>
                        <a:buFont typeface="Questrial"/>
                        <a:buNone/>
                      </a:pPr>
                      <a:r>
                        <a:rPr lang="en-US" sz="2200" u="none" strike="noStrike" cap="none">
                          <a:solidFill>
                            <a:srgbClr val="2B2020"/>
                          </a:solidFill>
                          <a:latin typeface="Questrial"/>
                          <a:ea typeface="Questrial"/>
                          <a:cs typeface="Questrial"/>
                          <a:sym typeface="Questrial"/>
                        </a:rPr>
                        <a:t>Government service office</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200" u="none" strike="noStrike" cap="none">
                          <a:solidFill>
                            <a:srgbClr val="8B0707"/>
                          </a:solidFill>
                          <a:latin typeface="Questrial"/>
                          <a:ea typeface="Questrial"/>
                          <a:cs typeface="Questrial"/>
                          <a:sym typeface="Questrial"/>
                        </a:rPr>
                        <a:t>Destination</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500"/>
                        <a:buFont typeface="Questrial"/>
                        <a:buNone/>
                      </a:pPr>
                      <a:r>
                        <a:rPr lang="en-US" sz="2200" u="none" strike="noStrike" cap="none">
                          <a:solidFill>
                            <a:srgbClr val="6A5656"/>
                          </a:solidFill>
                          <a:latin typeface="Questrial"/>
                          <a:ea typeface="Questrial"/>
                          <a:cs typeface="Questrial"/>
                          <a:sym typeface="Questrial"/>
                        </a:rPr>
                        <a:t>OpenStreetMap; agency directories</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7"/>
                  </a:ext>
                </a:extLst>
              </a:tr>
              <a:tr h="612650">
                <a:tc>
                  <a:txBody>
                    <a:bodyPr/>
                    <a:lstStyle/>
                    <a:p>
                      <a:pPr marL="0" marR="0" lvl="0" indent="0" algn="l" rtl="0">
                        <a:lnSpc>
                          <a:spcPct val="97000"/>
                        </a:lnSpc>
                        <a:spcBef>
                          <a:spcPts val="0"/>
                        </a:spcBef>
                        <a:spcAft>
                          <a:spcPts val="0"/>
                        </a:spcAft>
                        <a:buClr>
                          <a:srgbClr val="2B2020"/>
                        </a:buClr>
                        <a:buSzPts val="1550"/>
                        <a:buFont typeface="Questrial"/>
                        <a:buNone/>
                      </a:pPr>
                      <a:r>
                        <a:rPr lang="en-US" sz="2200" u="none" strike="noStrike" cap="none">
                          <a:solidFill>
                            <a:srgbClr val="2B2020"/>
                          </a:solidFill>
                          <a:latin typeface="Questrial"/>
                          <a:ea typeface="Questrial"/>
                          <a:cs typeface="Questrial"/>
                          <a:sym typeface="Questrial"/>
                        </a:rPr>
                        <a:t>Public market</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200" u="none" strike="noStrike" cap="none">
                          <a:solidFill>
                            <a:srgbClr val="8B0707"/>
                          </a:solidFill>
                          <a:latin typeface="Questrial"/>
                          <a:ea typeface="Questrial"/>
                          <a:cs typeface="Questrial"/>
                          <a:sym typeface="Questrial"/>
                        </a:rPr>
                        <a:t>Both</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6A5656"/>
                        </a:buClr>
                        <a:buSzPts val="1500"/>
                        <a:buFont typeface="Questrial"/>
                        <a:buNone/>
                      </a:pPr>
                      <a:r>
                        <a:rPr lang="en-US" sz="2200" u="none" strike="noStrike" cap="none">
                          <a:solidFill>
                            <a:srgbClr val="6A5656"/>
                          </a:solidFill>
                          <a:latin typeface="Questrial"/>
                          <a:ea typeface="Questrial"/>
                          <a:cs typeface="Questrial"/>
                          <a:sym typeface="Questrial"/>
                        </a:rPr>
                        <a:t>OpenStreetMap; LGU lists</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8"/>
                  </a:ext>
                </a:extLst>
              </a:tr>
              <a:tr h="612650">
                <a:tc>
                  <a:txBody>
                    <a:bodyPr/>
                    <a:lstStyle/>
                    <a:p>
                      <a:pPr marL="0" marR="0" lvl="0" indent="0" algn="l" rtl="0">
                        <a:lnSpc>
                          <a:spcPct val="97000"/>
                        </a:lnSpc>
                        <a:spcBef>
                          <a:spcPts val="0"/>
                        </a:spcBef>
                        <a:spcAft>
                          <a:spcPts val="0"/>
                        </a:spcAft>
                        <a:buClr>
                          <a:srgbClr val="2B2020"/>
                        </a:buClr>
                        <a:buSzPts val="1550"/>
                        <a:buFont typeface="Questrial"/>
                        <a:buNone/>
                      </a:pPr>
                      <a:r>
                        <a:rPr lang="en-US" sz="2200" u="none" strike="noStrike" cap="none">
                          <a:solidFill>
                            <a:srgbClr val="2B2020"/>
                          </a:solidFill>
                          <a:latin typeface="Questrial"/>
                          <a:ea typeface="Questrial"/>
                          <a:cs typeface="Questrial"/>
                          <a:sym typeface="Questrial"/>
                        </a:rPr>
                        <a:t>Designated evacuation center</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50"/>
                        <a:buFont typeface="Questrial"/>
                        <a:buNone/>
                      </a:pPr>
                      <a:r>
                        <a:rPr lang="en-US" sz="2200" u="none" strike="noStrike" cap="none">
                          <a:solidFill>
                            <a:srgbClr val="8B0707"/>
                          </a:solidFill>
                          <a:latin typeface="Questrial"/>
                          <a:ea typeface="Questrial"/>
                          <a:cs typeface="Questrial"/>
                          <a:sym typeface="Questrial"/>
                        </a:rPr>
                        <a:t>Destination</a:t>
                      </a:r>
                      <a:endParaRPr lang="en-US" sz="22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6A5656"/>
                        </a:buClr>
                        <a:buSzPts val="1500"/>
                        <a:buFont typeface="Questrial"/>
                        <a:buNone/>
                      </a:pPr>
                      <a:r>
                        <a:rPr lang="en-US" sz="2200" u="none" strike="noStrike" cap="none" dirty="0">
                          <a:solidFill>
                            <a:srgbClr val="6A5656"/>
                          </a:solidFill>
                          <a:latin typeface="Questrial"/>
                          <a:ea typeface="Questrial"/>
                          <a:cs typeface="Questrial"/>
                          <a:sym typeface="Questrial"/>
                        </a:rPr>
                        <a:t>LGU disaster risk reduction plans</a:t>
                      </a:r>
                      <a:endParaRPr lang="en-US" sz="22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9"/>
                  </a:ext>
                </a:extLst>
              </a:tr>
            </a:tbl>
          </a:graphicData>
        </a:graphic>
      </p:graphicFrame>
      <p:sp>
        <p:nvSpPr>
          <p:cNvPr id="20" name="Google Shape;429;p18">
            <a:extLst>
              <a:ext uri="{FF2B5EF4-FFF2-40B4-BE49-F238E27FC236}">
                <a16:creationId xmlns:a16="http://schemas.microsoft.com/office/drawing/2014/main" id="{182C4BF0-7656-A58D-16E2-465A9C0BDFD2}"/>
              </a:ext>
            </a:extLst>
          </p:cNvPr>
          <p:cNvSpPr/>
          <p:nvPr/>
        </p:nvSpPr>
        <p:spPr>
          <a:xfrm>
            <a:off x="11750040" y="3200400"/>
            <a:ext cx="5715000" cy="6355080"/>
          </a:xfrm>
          <a:prstGeom prst="roundRect">
            <a:avLst>
              <a:gd name="adj" fmla="val 2559"/>
            </a:avLst>
          </a:prstGeom>
          <a:solidFill>
            <a:srgbClr val="FFFFFF">
              <a:alpha val="94118"/>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30;p18">
            <a:extLst>
              <a:ext uri="{FF2B5EF4-FFF2-40B4-BE49-F238E27FC236}">
                <a16:creationId xmlns:a16="http://schemas.microsoft.com/office/drawing/2014/main" id="{EB056BDC-28FF-10F5-4212-DBC7A5D03ACD}"/>
              </a:ext>
            </a:extLst>
          </p:cNvPr>
          <p:cNvSpPr txBox="1"/>
          <p:nvPr/>
        </p:nvSpPr>
        <p:spPr>
          <a:xfrm>
            <a:off x="12070080" y="3337560"/>
            <a:ext cx="50749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2100"/>
              <a:buFont typeface="Questrial"/>
              <a:buNone/>
            </a:pPr>
            <a:r>
              <a:rPr lang="en-US" sz="3200" b="1" i="0" u="none" strike="noStrike" cap="none" dirty="0">
                <a:solidFill>
                  <a:srgbClr val="8B0707"/>
                </a:solidFill>
                <a:latin typeface="Questrial"/>
                <a:ea typeface="Questrial"/>
                <a:cs typeface="Questrial"/>
                <a:sym typeface="Questrial"/>
              </a:rPr>
              <a:t>Inclusion criteria</a:t>
            </a:r>
            <a:endParaRPr sz="3200" b="0" i="0" u="none" strike="noStrike" cap="none" dirty="0">
              <a:solidFill>
                <a:schemeClr val="dk1"/>
              </a:solidFill>
              <a:latin typeface="Questrial"/>
              <a:ea typeface="Questrial"/>
              <a:cs typeface="Questrial"/>
              <a:sym typeface="Questrial"/>
            </a:endParaRPr>
          </a:p>
        </p:txBody>
      </p:sp>
      <p:sp>
        <p:nvSpPr>
          <p:cNvPr id="24" name="Google Shape;431;p18">
            <a:extLst>
              <a:ext uri="{FF2B5EF4-FFF2-40B4-BE49-F238E27FC236}">
                <a16:creationId xmlns:a16="http://schemas.microsoft.com/office/drawing/2014/main" id="{4890D445-38EF-0AF5-DF3E-489C32B1FA48}"/>
              </a:ext>
            </a:extLst>
          </p:cNvPr>
          <p:cNvSpPr txBox="1"/>
          <p:nvPr/>
        </p:nvSpPr>
        <p:spPr>
          <a:xfrm>
            <a:off x="12070080" y="3886200"/>
            <a:ext cx="5166360" cy="3291840"/>
          </a:xfrm>
          <a:prstGeom prst="rect">
            <a:avLst/>
          </a:prstGeom>
          <a:noFill/>
          <a:ln>
            <a:noFill/>
          </a:ln>
        </p:spPr>
        <p:txBody>
          <a:bodyPr spcFirstLastPara="1" wrap="square" lIns="0" tIns="0" rIns="0" bIns="0" anchor="t" anchorCtr="0">
            <a:noAutofit/>
          </a:bodyPr>
          <a:lstStyle/>
          <a:p>
            <a:pPr marL="384048" marR="0" lvl="0" indent="-384048" algn="l" rtl="0">
              <a:lnSpc>
                <a:spcPct val="98000"/>
              </a:lnSpc>
              <a:spcBef>
                <a:spcPts val="0"/>
              </a:spcBef>
              <a:spcAft>
                <a:spcPts val="0"/>
              </a:spcAft>
              <a:buClr>
                <a:srgbClr val="8B0707"/>
              </a:buClr>
              <a:buSzPts val="1750"/>
              <a:buFont typeface="Questrial"/>
              <a:buAutoNum type="arabicPeriod"/>
            </a:pPr>
            <a:r>
              <a:rPr lang="en-US" sz="2400" b="0" i="0" u="none" strike="noStrike" cap="none" dirty="0">
                <a:solidFill>
                  <a:srgbClr val="2B2020"/>
                </a:solidFill>
                <a:latin typeface="Questrial"/>
                <a:ea typeface="Questrial"/>
                <a:cs typeface="Questrial"/>
                <a:sym typeface="Questrial"/>
              </a:rPr>
              <a:t>Listed in an open register under a name residents know</a:t>
            </a:r>
            <a:endParaRPr sz="2400" b="0" i="0" u="none" strike="noStrike" cap="none" dirty="0">
              <a:solidFill>
                <a:schemeClr val="dk1"/>
              </a:solidFill>
              <a:latin typeface="Questrial"/>
              <a:ea typeface="Questrial"/>
              <a:cs typeface="Questrial"/>
              <a:sym typeface="Questrial"/>
            </a:endParaRPr>
          </a:p>
          <a:p>
            <a:pPr marL="384048" marR="0" lvl="0" indent="-384048" algn="l" rtl="0">
              <a:lnSpc>
                <a:spcPct val="98000"/>
              </a:lnSpc>
              <a:spcBef>
                <a:spcPts val="800"/>
              </a:spcBef>
              <a:spcAft>
                <a:spcPts val="0"/>
              </a:spcAft>
              <a:buClr>
                <a:srgbClr val="8B0707"/>
              </a:buClr>
              <a:buSzPts val="1750"/>
              <a:buFont typeface="Questrial"/>
              <a:buAutoNum type="arabicPeriod"/>
            </a:pPr>
            <a:r>
              <a:rPr lang="en-US" sz="2400" b="0" i="0" u="none" strike="noStrike" cap="none" dirty="0">
                <a:solidFill>
                  <a:srgbClr val="2B2020"/>
                </a:solidFill>
                <a:latin typeface="Questrial"/>
                <a:ea typeface="Questrial"/>
                <a:cs typeface="Questrial"/>
                <a:sym typeface="Questrial"/>
              </a:rPr>
              <a:t>Published location within 150 m of a road node</a:t>
            </a:r>
            <a:endParaRPr sz="2400" b="0" i="0" u="none" strike="noStrike" cap="none" dirty="0">
              <a:solidFill>
                <a:schemeClr val="dk1"/>
              </a:solidFill>
              <a:latin typeface="Questrial"/>
              <a:ea typeface="Questrial"/>
              <a:cs typeface="Questrial"/>
              <a:sym typeface="Questrial"/>
            </a:endParaRPr>
          </a:p>
          <a:p>
            <a:pPr marL="384048" marR="0" lvl="0" indent="-384048" algn="l" rtl="0">
              <a:lnSpc>
                <a:spcPct val="98000"/>
              </a:lnSpc>
              <a:spcBef>
                <a:spcPts val="800"/>
              </a:spcBef>
              <a:spcAft>
                <a:spcPts val="0"/>
              </a:spcAft>
              <a:buClr>
                <a:srgbClr val="8B0707"/>
              </a:buClr>
              <a:buSzPts val="1750"/>
              <a:buFont typeface="Questrial"/>
              <a:buAutoNum type="arabicPeriod"/>
            </a:pPr>
            <a:r>
              <a:rPr lang="en-US" sz="2400" b="0" i="0" u="none" strike="noStrike" cap="none" dirty="0">
                <a:solidFill>
                  <a:srgbClr val="2B2020"/>
                </a:solidFill>
                <a:latin typeface="Questrial"/>
                <a:ea typeface="Questrial"/>
                <a:cs typeface="Questrial"/>
                <a:sym typeface="Questrial"/>
              </a:rPr>
              <a:t>Currently operating, not closed or proposed</a:t>
            </a:r>
            <a:endParaRPr sz="2400" b="0" i="0" u="none" strike="noStrike" cap="none" dirty="0">
              <a:solidFill>
                <a:schemeClr val="dk1"/>
              </a:solidFill>
              <a:latin typeface="Questrial"/>
              <a:ea typeface="Questrial"/>
              <a:cs typeface="Questrial"/>
              <a:sym typeface="Questrial"/>
            </a:endParaRPr>
          </a:p>
          <a:p>
            <a:pPr marL="384048" marR="0" lvl="0" indent="-384048" algn="l" rtl="0">
              <a:lnSpc>
                <a:spcPct val="98000"/>
              </a:lnSpc>
              <a:spcBef>
                <a:spcPts val="800"/>
              </a:spcBef>
              <a:spcAft>
                <a:spcPts val="0"/>
              </a:spcAft>
              <a:buClr>
                <a:srgbClr val="8B0707"/>
              </a:buClr>
              <a:buSzPts val="1750"/>
              <a:buFont typeface="Questrial"/>
              <a:buAutoNum type="arabicPeriod"/>
            </a:pPr>
            <a:r>
              <a:rPr lang="en-US" sz="2400" b="0" i="0" u="none" strike="noStrike" cap="none" dirty="0">
                <a:solidFill>
                  <a:srgbClr val="2B2020"/>
                </a:solidFill>
                <a:latin typeface="Questrial"/>
                <a:ea typeface="Questrial"/>
                <a:cs typeface="Questrial"/>
                <a:sym typeface="Questrial"/>
              </a:rPr>
              <a:t>Has a size (beds, classrooms, windows) or counts as one</a:t>
            </a:r>
            <a:endParaRPr sz="2400" b="0" i="0" u="none" strike="noStrike" cap="none" dirty="0">
              <a:solidFill>
                <a:schemeClr val="dk1"/>
              </a:solidFill>
              <a:latin typeface="Questrial"/>
              <a:ea typeface="Questrial"/>
              <a:cs typeface="Questrial"/>
              <a:sym typeface="Questrial"/>
            </a:endParaRPr>
          </a:p>
        </p:txBody>
      </p:sp>
      <p:sp>
        <p:nvSpPr>
          <p:cNvPr id="26" name="Google Shape;432;p18">
            <a:extLst>
              <a:ext uri="{FF2B5EF4-FFF2-40B4-BE49-F238E27FC236}">
                <a16:creationId xmlns:a16="http://schemas.microsoft.com/office/drawing/2014/main" id="{C6744652-A235-FDC4-84CC-B0AD44F61B4D}"/>
              </a:ext>
            </a:extLst>
          </p:cNvPr>
          <p:cNvSpPr txBox="1"/>
          <p:nvPr/>
        </p:nvSpPr>
        <p:spPr>
          <a:xfrm>
            <a:off x="12070080" y="7178040"/>
            <a:ext cx="50749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2100"/>
              <a:buFont typeface="Questrial"/>
              <a:buNone/>
            </a:pPr>
            <a:r>
              <a:rPr lang="en-US" sz="3200" b="1" i="0" u="none" strike="noStrike" cap="none" dirty="0">
                <a:solidFill>
                  <a:srgbClr val="8B0707"/>
                </a:solidFill>
                <a:latin typeface="Questrial"/>
                <a:ea typeface="Questrial"/>
                <a:cs typeface="Questrial"/>
                <a:sym typeface="Questrial"/>
              </a:rPr>
              <a:t>Exclusions</a:t>
            </a:r>
            <a:endParaRPr sz="3200" b="0" i="0" u="none" strike="noStrike" cap="none" dirty="0">
              <a:solidFill>
                <a:schemeClr val="dk1"/>
              </a:solidFill>
              <a:latin typeface="Questrial"/>
              <a:ea typeface="Questrial"/>
              <a:cs typeface="Questrial"/>
              <a:sym typeface="Questrial"/>
            </a:endParaRPr>
          </a:p>
        </p:txBody>
      </p:sp>
      <p:sp>
        <p:nvSpPr>
          <p:cNvPr id="28" name="Google Shape;433;p18">
            <a:extLst>
              <a:ext uri="{FF2B5EF4-FFF2-40B4-BE49-F238E27FC236}">
                <a16:creationId xmlns:a16="http://schemas.microsoft.com/office/drawing/2014/main" id="{3D01EF30-E8FA-0A17-9F3C-2065C1C3B4BE}"/>
              </a:ext>
            </a:extLst>
          </p:cNvPr>
          <p:cNvSpPr txBox="1"/>
          <p:nvPr/>
        </p:nvSpPr>
        <p:spPr>
          <a:xfrm>
            <a:off x="12070080" y="7680960"/>
            <a:ext cx="5166360" cy="1737360"/>
          </a:xfrm>
          <a:prstGeom prst="rect">
            <a:avLst/>
          </a:prstGeom>
          <a:noFill/>
          <a:ln>
            <a:noFill/>
          </a:ln>
        </p:spPr>
        <p:txBody>
          <a:bodyPr spcFirstLastPara="1" wrap="square" lIns="0" tIns="0" rIns="0" bIns="0" anchor="t" anchorCtr="0">
            <a:noAutofit/>
          </a:bodyPr>
          <a:lstStyle/>
          <a:p>
            <a:pPr marL="0" marR="0" lvl="0" indent="0" algn="l" rtl="0">
              <a:lnSpc>
                <a:spcPct val="98000"/>
              </a:lnSpc>
              <a:spcBef>
                <a:spcPts val="0"/>
              </a:spcBef>
              <a:spcAft>
                <a:spcPts val="0"/>
              </a:spcAft>
              <a:buClr>
                <a:srgbClr val="2B2020"/>
              </a:buClr>
              <a:buSzPts val="1700"/>
              <a:buFont typeface="Questrial"/>
              <a:buNone/>
            </a:pPr>
            <a:r>
              <a:rPr lang="en-US" sz="2400" b="0" i="0" u="none" strike="noStrike" cap="none" dirty="0">
                <a:solidFill>
                  <a:srgbClr val="2B2020"/>
                </a:solidFill>
                <a:latin typeface="Questrial"/>
                <a:ea typeface="Questrial"/>
                <a:cs typeface="Questrial"/>
                <a:sym typeface="Questrial"/>
              </a:rPr>
              <a:t>Private schools go to a separate layer. Records of one place within 50 m are merged and logged. A landmark more than 150 m from a road is dropped, never moved.</a:t>
            </a:r>
            <a:endParaRPr sz="2400" b="0" i="0" u="none" strike="noStrike" cap="none" dirty="0">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946468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3EFD2B87-1D5A-8DC4-D1E2-614FFE9B0D93}"/>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CADAC8CC-B52D-3138-904F-DF9EDC504824}"/>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440;p19">
            <a:extLst>
              <a:ext uri="{FF2B5EF4-FFF2-40B4-BE49-F238E27FC236}">
                <a16:creationId xmlns:a16="http://schemas.microsoft.com/office/drawing/2014/main" id="{86F6A964-663E-A961-6B42-4E4D8C82D42B}"/>
              </a:ext>
            </a:extLst>
          </p:cNvPr>
          <p:cNvGrpSpPr/>
          <p:nvPr/>
        </p:nvGrpSpPr>
        <p:grpSpPr>
          <a:xfrm>
            <a:off x="-514350" y="-1248816"/>
            <a:ext cx="19524889" cy="2953915"/>
            <a:chOff x="0" y="-76200"/>
            <a:chExt cx="5142358" cy="777986"/>
          </a:xfrm>
        </p:grpSpPr>
        <p:sp>
          <p:nvSpPr>
            <p:cNvPr id="3" name="Google Shape;441;p19">
              <a:extLst>
                <a:ext uri="{FF2B5EF4-FFF2-40B4-BE49-F238E27FC236}">
                  <a16:creationId xmlns:a16="http://schemas.microsoft.com/office/drawing/2014/main" id="{C17CC4B0-CEE4-A003-7E8C-5396ADCEC13E}"/>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442;p19">
              <a:extLst>
                <a:ext uri="{FF2B5EF4-FFF2-40B4-BE49-F238E27FC236}">
                  <a16:creationId xmlns:a16="http://schemas.microsoft.com/office/drawing/2014/main" id="{061AAB82-DB48-DBC8-5232-978DC3287DA8}"/>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 name="Google Shape;443;p19">
            <a:extLst>
              <a:ext uri="{FF2B5EF4-FFF2-40B4-BE49-F238E27FC236}">
                <a16:creationId xmlns:a16="http://schemas.microsoft.com/office/drawing/2014/main" id="{7BC2748A-3FC7-B05F-583E-143C4E8A26E4}"/>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METHODOLOGY</a:t>
            </a:r>
            <a:endParaRPr/>
          </a:p>
        </p:txBody>
      </p:sp>
      <p:sp>
        <p:nvSpPr>
          <p:cNvPr id="10" name="Google Shape;444;p19">
            <a:extLst>
              <a:ext uri="{FF2B5EF4-FFF2-40B4-BE49-F238E27FC236}">
                <a16:creationId xmlns:a16="http://schemas.microsoft.com/office/drawing/2014/main" id="{44268D47-4833-2690-66A0-54C8AAEB4504}"/>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600" b="0" i="0" u="none" strike="noStrike" cap="none">
                <a:solidFill>
                  <a:srgbClr val="FFFFFF"/>
                </a:solidFill>
                <a:latin typeface="Questrial"/>
                <a:ea typeface="Questrial"/>
                <a:cs typeface="Questrial"/>
                <a:sym typeface="Questrial"/>
              </a:rPr>
              <a:t>Data Gathering Tools</a:t>
            </a:r>
            <a:endParaRPr sz="2600" b="0" i="0" u="none" strike="noStrike" cap="none">
              <a:solidFill>
                <a:schemeClr val="dk1"/>
              </a:solidFill>
              <a:latin typeface="Questrial"/>
              <a:ea typeface="Questrial"/>
              <a:cs typeface="Questrial"/>
              <a:sym typeface="Questrial"/>
            </a:endParaRPr>
          </a:p>
        </p:txBody>
      </p:sp>
      <p:sp>
        <p:nvSpPr>
          <p:cNvPr id="12" name="Google Shape;445;p19">
            <a:extLst>
              <a:ext uri="{FF2B5EF4-FFF2-40B4-BE49-F238E27FC236}">
                <a16:creationId xmlns:a16="http://schemas.microsoft.com/office/drawing/2014/main" id="{46A76B50-B08E-612F-EA38-14FE5C683CE9}"/>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19</a:t>
            </a:r>
            <a:endParaRPr sz="1600" b="0" i="0" u="none" strike="noStrike" cap="none">
              <a:solidFill>
                <a:schemeClr val="dk1"/>
              </a:solidFill>
              <a:latin typeface="Questrial"/>
              <a:ea typeface="Questrial"/>
              <a:cs typeface="Questrial"/>
              <a:sym typeface="Questrial"/>
            </a:endParaRPr>
          </a:p>
        </p:txBody>
      </p:sp>
      <p:sp>
        <p:nvSpPr>
          <p:cNvPr id="14" name="Google Shape;446;p19">
            <a:extLst>
              <a:ext uri="{FF2B5EF4-FFF2-40B4-BE49-F238E27FC236}">
                <a16:creationId xmlns:a16="http://schemas.microsoft.com/office/drawing/2014/main" id="{9DB6A1EF-62B8-4C5D-92B2-981BA550932E}"/>
              </a:ext>
            </a:extLst>
          </p:cNvPr>
          <p:cNvSpPr/>
          <p:nvPr/>
        </p:nvSpPr>
        <p:spPr>
          <a:xfrm>
            <a:off x="822960" y="2103120"/>
            <a:ext cx="5334000" cy="7452360"/>
          </a:xfrm>
          <a:prstGeom prst="roundRect">
            <a:avLst>
              <a:gd name="adj" fmla="val 2742"/>
            </a:avLst>
          </a:prstGeom>
          <a:solidFill>
            <a:srgbClr val="FFFFFF">
              <a:alpha val="94118"/>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47;p19">
            <a:extLst>
              <a:ext uri="{FF2B5EF4-FFF2-40B4-BE49-F238E27FC236}">
                <a16:creationId xmlns:a16="http://schemas.microsoft.com/office/drawing/2014/main" id="{F718B747-3B1B-FEBA-B694-D12106851206}"/>
              </a:ext>
            </a:extLst>
          </p:cNvPr>
          <p:cNvSpPr txBox="1"/>
          <p:nvPr/>
        </p:nvSpPr>
        <p:spPr>
          <a:xfrm>
            <a:off x="1143000" y="2286000"/>
            <a:ext cx="46939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2200"/>
              <a:buFont typeface="Questrial"/>
              <a:buNone/>
            </a:pPr>
            <a:r>
              <a:rPr lang="en-US" sz="3200" b="1" i="0" u="none" strike="noStrike" cap="none" dirty="0">
                <a:solidFill>
                  <a:srgbClr val="8B0707"/>
                </a:solidFill>
                <a:latin typeface="Questrial"/>
                <a:ea typeface="Questrial"/>
                <a:cs typeface="Questrial"/>
                <a:sym typeface="Questrial"/>
              </a:rPr>
              <a:t>Data sources</a:t>
            </a:r>
            <a:endParaRPr sz="3200" b="0" i="0" u="none" strike="noStrike" cap="none" dirty="0">
              <a:solidFill>
                <a:schemeClr val="dk1"/>
              </a:solidFill>
              <a:latin typeface="Questrial"/>
              <a:ea typeface="Questrial"/>
              <a:cs typeface="Questrial"/>
              <a:sym typeface="Questrial"/>
            </a:endParaRPr>
          </a:p>
        </p:txBody>
      </p:sp>
      <p:sp>
        <p:nvSpPr>
          <p:cNvPr id="18" name="Google Shape;448;p19">
            <a:extLst>
              <a:ext uri="{FF2B5EF4-FFF2-40B4-BE49-F238E27FC236}">
                <a16:creationId xmlns:a16="http://schemas.microsoft.com/office/drawing/2014/main" id="{B13318EE-8F74-D9DF-DEE6-C7C78F34C3CB}"/>
              </a:ext>
            </a:extLst>
          </p:cNvPr>
          <p:cNvSpPr txBox="1"/>
          <p:nvPr/>
        </p:nvSpPr>
        <p:spPr>
          <a:xfrm>
            <a:off x="1188720" y="2926080"/>
            <a:ext cx="4693920" cy="6492240"/>
          </a:xfrm>
          <a:prstGeom prst="rect">
            <a:avLst/>
          </a:prstGeom>
          <a:noFill/>
          <a:ln>
            <a:noFill/>
          </a:ln>
        </p:spPr>
        <p:txBody>
          <a:bodyPr spcFirstLastPara="1" wrap="square" lIns="0" tIns="0" rIns="0" bIns="0" anchor="t" anchorCtr="0">
            <a:noAutofit/>
          </a:bodyPr>
          <a:lstStyle/>
          <a:p>
            <a:pPr marL="292608" marR="0" lvl="0" indent="-292608" algn="l" rtl="0">
              <a:lnSpc>
                <a:spcPct val="100000"/>
              </a:lnSpc>
              <a:spcBef>
                <a:spcPts val="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OpenStreetMap roads, road limits, and junctions</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PSA 2020 census and PSGC</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DOH National Health Facility Registry</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DOH hospital licensing records</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PhilHealth list of accredited hospitals</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DOH Malasakit Center directory</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DepEd </a:t>
            </a:r>
            <a:r>
              <a:rPr lang="en-US" sz="2400" b="0" i="0" u="none" strike="noStrike" cap="none" dirty="0" err="1">
                <a:solidFill>
                  <a:srgbClr val="2B2020"/>
                </a:solidFill>
                <a:latin typeface="Questrial"/>
                <a:ea typeface="Questrial"/>
                <a:cs typeface="Questrial"/>
                <a:sym typeface="Questrial"/>
              </a:rPr>
              <a:t>Masterlist</a:t>
            </a:r>
            <a:r>
              <a:rPr lang="en-US" sz="2400" b="0" i="0" u="none" strike="noStrike" cap="none" dirty="0">
                <a:solidFill>
                  <a:srgbClr val="2B2020"/>
                </a:solidFill>
                <a:latin typeface="Questrial"/>
                <a:ea typeface="Questrial"/>
                <a:cs typeface="Questrial"/>
                <a:sym typeface="Questrial"/>
              </a:rPr>
              <a:t> of Schools</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Philippine Ports Authority port list</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LTFRB fare order (September 28, 2026)</a:t>
            </a:r>
            <a:endParaRPr sz="2400" b="0" i="0" u="none" strike="noStrike" cap="none" dirty="0">
              <a:solidFill>
                <a:schemeClr val="dk1"/>
              </a:solidFill>
              <a:latin typeface="Questrial"/>
              <a:ea typeface="Questrial"/>
              <a:cs typeface="Questrial"/>
              <a:sym typeface="Questrial"/>
            </a:endParaRPr>
          </a:p>
        </p:txBody>
      </p:sp>
      <p:sp>
        <p:nvSpPr>
          <p:cNvPr id="20" name="Google Shape;449;p19">
            <a:extLst>
              <a:ext uri="{FF2B5EF4-FFF2-40B4-BE49-F238E27FC236}">
                <a16:creationId xmlns:a16="http://schemas.microsoft.com/office/drawing/2014/main" id="{8544E5E9-0749-98AA-B6BD-E547DF8AC2E8}"/>
              </a:ext>
            </a:extLst>
          </p:cNvPr>
          <p:cNvSpPr/>
          <p:nvPr/>
        </p:nvSpPr>
        <p:spPr>
          <a:xfrm>
            <a:off x="6477000" y="2103120"/>
            <a:ext cx="5334000" cy="7452360"/>
          </a:xfrm>
          <a:prstGeom prst="roundRect">
            <a:avLst>
              <a:gd name="adj" fmla="val 2742"/>
            </a:avLst>
          </a:prstGeom>
          <a:solidFill>
            <a:srgbClr val="FFFFFF">
              <a:alpha val="94118"/>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50;p19">
            <a:extLst>
              <a:ext uri="{FF2B5EF4-FFF2-40B4-BE49-F238E27FC236}">
                <a16:creationId xmlns:a16="http://schemas.microsoft.com/office/drawing/2014/main" id="{F74CA278-A11A-5BA2-B5B5-3C65C585456F}"/>
              </a:ext>
            </a:extLst>
          </p:cNvPr>
          <p:cNvSpPr txBox="1"/>
          <p:nvPr/>
        </p:nvSpPr>
        <p:spPr>
          <a:xfrm>
            <a:off x="6797040" y="2286000"/>
            <a:ext cx="501396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2200"/>
              <a:buFont typeface="Questrial"/>
              <a:buNone/>
            </a:pPr>
            <a:r>
              <a:rPr lang="en-US" sz="3200" b="1" i="0" u="none" strike="noStrike" cap="none" dirty="0">
                <a:solidFill>
                  <a:srgbClr val="8B0707"/>
                </a:solidFill>
                <a:latin typeface="Questrial"/>
                <a:ea typeface="Questrial"/>
                <a:cs typeface="Questrial"/>
                <a:sym typeface="Questrial"/>
              </a:rPr>
              <a:t>Software and equipment</a:t>
            </a:r>
            <a:endParaRPr sz="3200" b="0" i="0" u="none" strike="noStrike" cap="none" dirty="0">
              <a:solidFill>
                <a:schemeClr val="dk1"/>
              </a:solidFill>
              <a:latin typeface="Questrial"/>
              <a:ea typeface="Questrial"/>
              <a:cs typeface="Questrial"/>
              <a:sym typeface="Questrial"/>
            </a:endParaRPr>
          </a:p>
        </p:txBody>
      </p:sp>
      <p:sp>
        <p:nvSpPr>
          <p:cNvPr id="24" name="Google Shape;451;p19">
            <a:extLst>
              <a:ext uri="{FF2B5EF4-FFF2-40B4-BE49-F238E27FC236}">
                <a16:creationId xmlns:a16="http://schemas.microsoft.com/office/drawing/2014/main" id="{A6408E95-AA79-FC8B-9515-1BAAFE895E8A}"/>
              </a:ext>
            </a:extLst>
          </p:cNvPr>
          <p:cNvSpPr txBox="1"/>
          <p:nvPr/>
        </p:nvSpPr>
        <p:spPr>
          <a:xfrm>
            <a:off x="6842760" y="2926080"/>
            <a:ext cx="4693920" cy="6492240"/>
          </a:xfrm>
          <a:prstGeom prst="rect">
            <a:avLst/>
          </a:prstGeom>
          <a:noFill/>
          <a:ln>
            <a:noFill/>
          </a:ln>
        </p:spPr>
        <p:txBody>
          <a:bodyPr spcFirstLastPara="1" wrap="square" lIns="0" tIns="0" rIns="0" bIns="0" anchor="t" anchorCtr="0">
            <a:noAutofit/>
          </a:bodyPr>
          <a:lstStyle/>
          <a:p>
            <a:pPr marL="292608" marR="0" lvl="0" indent="-292608" algn="l" rtl="0">
              <a:lnSpc>
                <a:spcPct val="100000"/>
              </a:lnSpc>
              <a:spcBef>
                <a:spcPts val="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Routing engine in Python (label-setting search)</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GTFS Schedule Validator by </a:t>
            </a:r>
            <a:r>
              <a:rPr lang="en-US" sz="2400" b="0" i="0" u="none" strike="noStrike" cap="none" dirty="0" err="1">
                <a:solidFill>
                  <a:srgbClr val="2B2020"/>
                </a:solidFill>
                <a:latin typeface="Questrial"/>
                <a:ea typeface="Questrial"/>
                <a:cs typeface="Questrial"/>
                <a:sym typeface="Questrial"/>
              </a:rPr>
              <a:t>MobilityData</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E-mail agents using SMTP and IMAP on a mock mail server</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verify_hospital_mode.py, run with a fixed seed</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MAP - A web application: transit map, hospital mode, and bed dashboard</a:t>
            </a:r>
            <a:endParaRPr sz="24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8B0707"/>
              </a:buClr>
              <a:buSzPts val="2050"/>
              <a:buFont typeface="Arial"/>
              <a:buChar char="•"/>
            </a:pPr>
            <a:r>
              <a:rPr lang="en-US" sz="2400" b="0" i="0" u="none" strike="noStrike" cap="none" dirty="0">
                <a:solidFill>
                  <a:srgbClr val="2B2020"/>
                </a:solidFill>
                <a:latin typeface="Questrial"/>
                <a:ea typeface="Questrial"/>
                <a:cs typeface="Questrial"/>
                <a:sym typeface="Questrial"/>
              </a:rPr>
              <a:t>One consumer laptop, single core, no server</a:t>
            </a:r>
            <a:endParaRPr sz="2400" b="0" i="0" u="none" strike="noStrike" cap="none" dirty="0">
              <a:solidFill>
                <a:schemeClr val="dk1"/>
              </a:solidFill>
              <a:latin typeface="Questrial"/>
              <a:ea typeface="Questrial"/>
              <a:cs typeface="Questrial"/>
              <a:sym typeface="Questrial"/>
            </a:endParaRPr>
          </a:p>
        </p:txBody>
      </p:sp>
      <p:sp>
        <p:nvSpPr>
          <p:cNvPr id="26" name="Google Shape;452;p19">
            <a:extLst>
              <a:ext uri="{FF2B5EF4-FFF2-40B4-BE49-F238E27FC236}">
                <a16:creationId xmlns:a16="http://schemas.microsoft.com/office/drawing/2014/main" id="{48045C4E-42BA-CF60-7951-F330883F2F99}"/>
              </a:ext>
            </a:extLst>
          </p:cNvPr>
          <p:cNvSpPr/>
          <p:nvPr/>
        </p:nvSpPr>
        <p:spPr>
          <a:xfrm>
            <a:off x="12131040" y="2103120"/>
            <a:ext cx="5334000" cy="7452360"/>
          </a:xfrm>
          <a:prstGeom prst="roundRect">
            <a:avLst>
              <a:gd name="adj" fmla="val 2742"/>
            </a:avLst>
          </a:prstGeom>
          <a:solidFill>
            <a:srgbClr val="8B0707"/>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53;p19">
            <a:extLst>
              <a:ext uri="{FF2B5EF4-FFF2-40B4-BE49-F238E27FC236}">
                <a16:creationId xmlns:a16="http://schemas.microsoft.com/office/drawing/2014/main" id="{E34105B5-04BD-4935-6300-097E2B06B363}"/>
              </a:ext>
            </a:extLst>
          </p:cNvPr>
          <p:cNvSpPr txBox="1"/>
          <p:nvPr/>
        </p:nvSpPr>
        <p:spPr>
          <a:xfrm>
            <a:off x="12451080" y="2286000"/>
            <a:ext cx="46939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Questrial"/>
              <a:buNone/>
            </a:pPr>
            <a:r>
              <a:rPr lang="en-US" sz="3200" b="1" i="0" u="none" strike="noStrike" cap="none" dirty="0">
                <a:solidFill>
                  <a:srgbClr val="FFFFFF"/>
                </a:solidFill>
                <a:latin typeface="Questrial"/>
                <a:ea typeface="Questrial"/>
                <a:cs typeface="Questrial"/>
                <a:sym typeface="Questrial"/>
              </a:rPr>
              <a:t>Validity and reliability</a:t>
            </a:r>
            <a:endParaRPr sz="3200" b="0" i="0" u="none" strike="noStrike" cap="none" dirty="0">
              <a:solidFill>
                <a:schemeClr val="dk1"/>
              </a:solidFill>
              <a:latin typeface="Questrial"/>
              <a:ea typeface="Questrial"/>
              <a:cs typeface="Questrial"/>
              <a:sym typeface="Questrial"/>
            </a:endParaRPr>
          </a:p>
        </p:txBody>
      </p:sp>
      <p:sp>
        <p:nvSpPr>
          <p:cNvPr id="30" name="Google Shape;454;p19">
            <a:extLst>
              <a:ext uri="{FF2B5EF4-FFF2-40B4-BE49-F238E27FC236}">
                <a16:creationId xmlns:a16="http://schemas.microsoft.com/office/drawing/2014/main" id="{E2BB1CEB-137E-DC19-3329-2372D24D4B85}"/>
              </a:ext>
            </a:extLst>
          </p:cNvPr>
          <p:cNvSpPr txBox="1"/>
          <p:nvPr/>
        </p:nvSpPr>
        <p:spPr>
          <a:xfrm>
            <a:off x="12496800" y="2926080"/>
            <a:ext cx="4693920" cy="6492240"/>
          </a:xfrm>
          <a:prstGeom prst="rect">
            <a:avLst/>
          </a:prstGeom>
          <a:noFill/>
          <a:ln>
            <a:noFill/>
          </a:ln>
        </p:spPr>
        <p:txBody>
          <a:bodyPr spcFirstLastPara="1" wrap="square" lIns="0" tIns="0" rIns="0" bIns="0" anchor="t" anchorCtr="0">
            <a:noAutofit/>
          </a:bodyPr>
          <a:lstStyle/>
          <a:p>
            <a:pPr marL="292608" marR="0" lvl="0" indent="-292608" algn="l" rtl="0">
              <a:lnSpc>
                <a:spcPct val="100000"/>
              </a:lnSpc>
              <a:spcBef>
                <a:spcPts val="0"/>
              </a:spcBef>
              <a:spcAft>
                <a:spcPts val="0"/>
              </a:spcAft>
              <a:buClr>
                <a:srgbClr val="E2B04A"/>
              </a:buClr>
              <a:buSzPts val="1950"/>
              <a:buFont typeface="Arial"/>
              <a:buChar char="•"/>
            </a:pPr>
            <a:r>
              <a:rPr lang="en-US" sz="2200" b="0" i="0" u="none" strike="noStrike" cap="none" dirty="0">
                <a:solidFill>
                  <a:srgbClr val="FFFFFF"/>
                </a:solidFill>
                <a:latin typeface="Questrial"/>
                <a:ea typeface="Questrial"/>
                <a:cs typeface="Questrial"/>
                <a:sym typeface="Questrial"/>
              </a:rPr>
              <a:t>Each result used in the analysis has a written proof, 12 in all (9 propositions, 3 corollaries).</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E2B04A"/>
              </a:buClr>
              <a:buSzPts val="1950"/>
              <a:buFont typeface="Arial"/>
              <a:buChar char="•"/>
            </a:pPr>
            <a:r>
              <a:rPr lang="en-US" sz="2200" b="0" i="0" u="none" strike="noStrike" cap="none" dirty="0">
                <a:solidFill>
                  <a:srgbClr val="FFFFFF"/>
                </a:solidFill>
                <a:latin typeface="Questrial"/>
                <a:ea typeface="Questrial"/>
                <a:cs typeface="Questrial"/>
                <a:sym typeface="Questrial"/>
              </a:rPr>
              <a:t>The engine was checked against code that shares nothing with it: exhaustive enumeration, Floyd–</a:t>
            </a:r>
            <a:r>
              <a:rPr lang="en-US" sz="2200" b="0" i="0" u="none" strike="noStrike" cap="none" dirty="0" err="1">
                <a:solidFill>
                  <a:srgbClr val="FFFFFF"/>
                </a:solidFill>
                <a:latin typeface="Questrial"/>
                <a:ea typeface="Questrial"/>
                <a:cs typeface="Questrial"/>
                <a:sym typeface="Questrial"/>
              </a:rPr>
              <a:t>Warshall</a:t>
            </a:r>
            <a:r>
              <a:rPr lang="en-US" sz="2200" b="0" i="0" u="none" strike="noStrike" cap="none" dirty="0">
                <a:solidFill>
                  <a:srgbClr val="FFFFFF"/>
                </a:solidFill>
                <a:latin typeface="Questrial"/>
                <a:ea typeface="Questrial"/>
                <a:cs typeface="Questrial"/>
                <a:sym typeface="Questrial"/>
              </a:rPr>
              <a:t>, and a topological sweep.</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E2B04A"/>
              </a:buClr>
              <a:buSzPts val="1950"/>
              <a:buFont typeface="Arial"/>
              <a:buChar char="•"/>
            </a:pPr>
            <a:r>
              <a:rPr lang="en-US" sz="2200" b="0" i="0" u="none" strike="noStrike" cap="none" dirty="0">
                <a:solidFill>
                  <a:srgbClr val="FFFFFF"/>
                </a:solidFill>
                <a:latin typeface="Questrial"/>
                <a:ea typeface="Questrial"/>
                <a:cs typeface="Questrial"/>
                <a:sym typeface="Questrial"/>
              </a:rPr>
              <a:t>1,018 of 1,018 random queries matched exhaustive enumeration.</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E2B04A"/>
              </a:buClr>
              <a:buSzPts val="1950"/>
              <a:buFont typeface="Arial"/>
              <a:buChar char="•"/>
            </a:pPr>
            <a:r>
              <a:rPr lang="en-US" sz="2200" b="0" i="0" u="none" strike="noStrike" cap="none" dirty="0">
                <a:solidFill>
                  <a:srgbClr val="FFFFFF"/>
                </a:solidFill>
                <a:latin typeface="Questrial"/>
                <a:ea typeface="Questrial"/>
                <a:cs typeface="Questrial"/>
                <a:sym typeface="Questrial"/>
              </a:rPr>
              <a:t>5,200 of 5,200 hospital-mode queries matched the reference code.</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E2B04A"/>
              </a:buClr>
              <a:buSzPts val="1950"/>
              <a:buFont typeface="Arial"/>
              <a:buChar char="•"/>
            </a:pPr>
            <a:r>
              <a:rPr lang="en-US" sz="2200" b="0" i="0" u="none" strike="noStrike" cap="none" dirty="0">
                <a:solidFill>
                  <a:srgbClr val="FFFFFF"/>
                </a:solidFill>
                <a:latin typeface="Questrial"/>
                <a:ea typeface="Questrial"/>
                <a:cs typeface="Questrial"/>
                <a:sym typeface="Questrial"/>
              </a:rPr>
              <a:t>The GTFS feed must pass the validator with no blocking errors.</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200"/>
              </a:spcBef>
              <a:spcAft>
                <a:spcPts val="0"/>
              </a:spcAft>
              <a:buClr>
                <a:srgbClr val="E2B04A"/>
              </a:buClr>
              <a:buSzPts val="1950"/>
              <a:buFont typeface="Arial"/>
              <a:buChar char="•"/>
            </a:pPr>
            <a:r>
              <a:rPr lang="en-US" sz="2200" b="0" i="0" u="none" strike="noStrike" cap="none" dirty="0">
                <a:solidFill>
                  <a:srgbClr val="FFFFFF"/>
                </a:solidFill>
                <a:latin typeface="Questrial"/>
                <a:ea typeface="Questrial"/>
                <a:cs typeface="Questrial"/>
                <a:sym typeface="Questrial"/>
              </a:rPr>
              <a:t>A fixed seed and archived checksums let anyone reproduce every number.</a:t>
            </a:r>
            <a:endParaRPr sz="2200" b="0" i="0" u="none" strike="noStrike" cap="none" dirty="0">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646069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E2A4CC8C-31A2-8076-4FFE-8290BE32C0D5}"/>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36B02AD4-FD25-CE9C-0B30-0027DB0CEBC4}"/>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461;p20">
            <a:extLst>
              <a:ext uri="{FF2B5EF4-FFF2-40B4-BE49-F238E27FC236}">
                <a16:creationId xmlns:a16="http://schemas.microsoft.com/office/drawing/2014/main" id="{3090A20A-45D5-B993-5A14-D6FCD3E1FAAE}"/>
              </a:ext>
            </a:extLst>
          </p:cNvPr>
          <p:cNvGrpSpPr/>
          <p:nvPr/>
        </p:nvGrpSpPr>
        <p:grpSpPr>
          <a:xfrm>
            <a:off x="-514350" y="-1248816"/>
            <a:ext cx="19524889" cy="2953915"/>
            <a:chOff x="0" y="-76200"/>
            <a:chExt cx="5142358" cy="777986"/>
          </a:xfrm>
        </p:grpSpPr>
        <p:sp>
          <p:nvSpPr>
            <p:cNvPr id="3" name="Google Shape;462;p20">
              <a:extLst>
                <a:ext uri="{FF2B5EF4-FFF2-40B4-BE49-F238E27FC236}">
                  <a16:creationId xmlns:a16="http://schemas.microsoft.com/office/drawing/2014/main" id="{67036142-379C-781E-3943-5469E8C53E2A}"/>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463;p20">
              <a:extLst>
                <a:ext uri="{FF2B5EF4-FFF2-40B4-BE49-F238E27FC236}">
                  <a16:creationId xmlns:a16="http://schemas.microsoft.com/office/drawing/2014/main" id="{BA2A4DC2-A34C-1B5F-C3FD-8061E9D05982}"/>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 name="Google Shape;464;p20">
            <a:extLst>
              <a:ext uri="{FF2B5EF4-FFF2-40B4-BE49-F238E27FC236}">
                <a16:creationId xmlns:a16="http://schemas.microsoft.com/office/drawing/2014/main" id="{BB82EBD3-38CB-6C3B-7D15-01B4D188467C}"/>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METHODOLOGY</a:t>
            </a:r>
            <a:endParaRPr/>
          </a:p>
        </p:txBody>
      </p:sp>
      <p:sp>
        <p:nvSpPr>
          <p:cNvPr id="7" name="Google Shape;465;p20">
            <a:extLst>
              <a:ext uri="{FF2B5EF4-FFF2-40B4-BE49-F238E27FC236}">
                <a16:creationId xmlns:a16="http://schemas.microsoft.com/office/drawing/2014/main" id="{40A6865E-6A3F-15A1-52CC-67DD2BE1AE9C}"/>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600" b="0" i="0" u="none" strike="noStrike" cap="none">
                <a:solidFill>
                  <a:srgbClr val="FFFFFF"/>
                </a:solidFill>
                <a:latin typeface="Questrial"/>
                <a:ea typeface="Questrial"/>
                <a:cs typeface="Questrial"/>
                <a:sym typeface="Questrial"/>
              </a:rPr>
              <a:t>Data Gathering Procedure</a:t>
            </a:r>
            <a:endParaRPr sz="2600" b="0" i="0" u="none" strike="noStrike" cap="none">
              <a:solidFill>
                <a:schemeClr val="dk1"/>
              </a:solidFill>
              <a:latin typeface="Questrial"/>
              <a:ea typeface="Questrial"/>
              <a:cs typeface="Questrial"/>
              <a:sym typeface="Questrial"/>
            </a:endParaRPr>
          </a:p>
        </p:txBody>
      </p:sp>
      <p:sp>
        <p:nvSpPr>
          <p:cNvPr id="8" name="Google Shape;466;p20">
            <a:extLst>
              <a:ext uri="{FF2B5EF4-FFF2-40B4-BE49-F238E27FC236}">
                <a16:creationId xmlns:a16="http://schemas.microsoft.com/office/drawing/2014/main" id="{5A62A975-1E49-02CA-7455-8A3A6EB8D5A6}"/>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20</a:t>
            </a:r>
            <a:endParaRPr sz="1600" b="0" i="0" u="none" strike="noStrike" cap="none">
              <a:solidFill>
                <a:schemeClr val="dk1"/>
              </a:solidFill>
              <a:latin typeface="Questrial"/>
              <a:ea typeface="Questrial"/>
              <a:cs typeface="Questrial"/>
              <a:sym typeface="Questrial"/>
            </a:endParaRPr>
          </a:p>
        </p:txBody>
      </p:sp>
      <p:sp>
        <p:nvSpPr>
          <p:cNvPr id="9" name="Google Shape;467;p20">
            <a:extLst>
              <a:ext uri="{FF2B5EF4-FFF2-40B4-BE49-F238E27FC236}">
                <a16:creationId xmlns:a16="http://schemas.microsoft.com/office/drawing/2014/main" id="{C3BBD388-1DDE-5F2B-EA27-FEE3C979E629}"/>
              </a:ext>
            </a:extLst>
          </p:cNvPr>
          <p:cNvSpPr/>
          <p:nvPr/>
        </p:nvSpPr>
        <p:spPr>
          <a:xfrm>
            <a:off x="822960" y="2103120"/>
            <a:ext cx="3817620" cy="320497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468;p20">
            <a:extLst>
              <a:ext uri="{FF2B5EF4-FFF2-40B4-BE49-F238E27FC236}">
                <a16:creationId xmlns:a16="http://schemas.microsoft.com/office/drawing/2014/main" id="{9671747D-268A-54CF-CC45-F0E49DC7B5CE}"/>
              </a:ext>
            </a:extLst>
          </p:cNvPr>
          <p:cNvSpPr/>
          <p:nvPr/>
        </p:nvSpPr>
        <p:spPr>
          <a:xfrm>
            <a:off x="822960" y="2103120"/>
            <a:ext cx="3817620" cy="566928"/>
          </a:xfrm>
          <a:prstGeom prst="rect">
            <a:avLst/>
          </a:prstGeom>
          <a:solidFill>
            <a:srgbClr val="8B0707"/>
          </a:solidFill>
          <a:ln>
            <a:noFill/>
          </a:ln>
        </p:spPr>
        <p:txBody>
          <a:bodyPr spcFirstLastPara="1" wrap="square" lIns="228600" tIns="0" rIns="91425" bIns="0" anchor="ctr" anchorCtr="0">
            <a:noAutofit/>
          </a:bodyPr>
          <a:lstStyle/>
          <a:p>
            <a:pPr marL="0" marR="0" lvl="0" indent="0" algn="l" rtl="0">
              <a:lnSpc>
                <a:spcPct val="100000"/>
              </a:lnSpc>
              <a:spcBef>
                <a:spcPts val="0"/>
              </a:spcBef>
              <a:spcAft>
                <a:spcPts val="0"/>
              </a:spcAft>
              <a:buClr>
                <a:srgbClr val="FFFFFF"/>
              </a:buClr>
              <a:buSzPts val="1700"/>
              <a:buFont typeface="Questrial"/>
              <a:buNone/>
            </a:pPr>
            <a:r>
              <a:rPr lang="en-US" sz="2800" b="1" i="0" u="none" strike="noStrike" cap="none" dirty="0">
                <a:solidFill>
                  <a:srgbClr val="FFFFFF"/>
                </a:solidFill>
                <a:latin typeface="Questrial"/>
                <a:ea typeface="Questrial"/>
                <a:cs typeface="Questrial"/>
                <a:sym typeface="Questrial"/>
              </a:rPr>
              <a:t>Stage 1</a:t>
            </a:r>
            <a:endParaRPr sz="2800" b="0" i="0" u="none" strike="noStrike" cap="none" dirty="0">
              <a:solidFill>
                <a:schemeClr val="dk1"/>
              </a:solidFill>
              <a:latin typeface="Questrial"/>
              <a:ea typeface="Questrial"/>
              <a:cs typeface="Questrial"/>
              <a:sym typeface="Questrial"/>
            </a:endParaRPr>
          </a:p>
        </p:txBody>
      </p:sp>
      <p:sp>
        <p:nvSpPr>
          <p:cNvPr id="11" name="Google Shape;469;p20">
            <a:extLst>
              <a:ext uri="{FF2B5EF4-FFF2-40B4-BE49-F238E27FC236}">
                <a16:creationId xmlns:a16="http://schemas.microsoft.com/office/drawing/2014/main" id="{1DF8F6C9-A807-0B51-A476-2A1D856FE1AE}"/>
              </a:ext>
            </a:extLst>
          </p:cNvPr>
          <p:cNvSpPr txBox="1"/>
          <p:nvPr/>
        </p:nvSpPr>
        <p:spPr>
          <a:xfrm>
            <a:off x="2674620" y="2103120"/>
            <a:ext cx="1783080" cy="56692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450"/>
              <a:buFont typeface="Questrial"/>
              <a:buNone/>
            </a:pPr>
            <a:r>
              <a:rPr lang="en-US" sz="2400" b="0" i="1" u="none" strike="noStrike" cap="none" dirty="0">
                <a:solidFill>
                  <a:srgbClr val="FFFFFF"/>
                </a:solidFill>
                <a:latin typeface="Questrial"/>
                <a:ea typeface="Questrial"/>
                <a:cs typeface="Questrial"/>
                <a:sym typeface="Questrial"/>
              </a:rPr>
              <a:t>Points 1, 2</a:t>
            </a:r>
            <a:endParaRPr sz="2400" b="0" i="0" u="none" strike="noStrike" cap="none" dirty="0">
              <a:solidFill>
                <a:schemeClr val="dk1"/>
              </a:solidFill>
              <a:latin typeface="Questrial"/>
              <a:ea typeface="Questrial"/>
              <a:cs typeface="Questrial"/>
              <a:sym typeface="Questrial"/>
            </a:endParaRPr>
          </a:p>
        </p:txBody>
      </p:sp>
      <p:sp>
        <p:nvSpPr>
          <p:cNvPr id="12" name="Google Shape;470;p20">
            <a:extLst>
              <a:ext uri="{FF2B5EF4-FFF2-40B4-BE49-F238E27FC236}">
                <a16:creationId xmlns:a16="http://schemas.microsoft.com/office/drawing/2014/main" id="{5578EA4B-3C01-F6FF-B098-338238051177}"/>
              </a:ext>
            </a:extLst>
          </p:cNvPr>
          <p:cNvSpPr txBox="1"/>
          <p:nvPr/>
        </p:nvSpPr>
        <p:spPr>
          <a:xfrm>
            <a:off x="1051560" y="2788920"/>
            <a:ext cx="340614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950"/>
              <a:buFont typeface="Questrial"/>
              <a:buNone/>
            </a:pPr>
            <a:r>
              <a:rPr lang="en-US" sz="2800" b="1" i="0" u="none" strike="noStrike" cap="none" dirty="0">
                <a:solidFill>
                  <a:srgbClr val="8B0707"/>
                </a:solidFill>
                <a:latin typeface="Questrial"/>
                <a:ea typeface="Questrial"/>
                <a:cs typeface="Questrial"/>
                <a:sym typeface="Questrial"/>
              </a:rPr>
              <a:t>Road network</a:t>
            </a:r>
            <a:endParaRPr sz="2800" b="0" i="0" u="none" strike="noStrike" cap="none" dirty="0">
              <a:solidFill>
                <a:schemeClr val="dk1"/>
              </a:solidFill>
              <a:latin typeface="Questrial"/>
              <a:ea typeface="Questrial"/>
              <a:cs typeface="Questrial"/>
              <a:sym typeface="Questrial"/>
            </a:endParaRPr>
          </a:p>
        </p:txBody>
      </p:sp>
      <p:sp>
        <p:nvSpPr>
          <p:cNvPr id="13" name="Google Shape;471;p20">
            <a:extLst>
              <a:ext uri="{FF2B5EF4-FFF2-40B4-BE49-F238E27FC236}">
                <a16:creationId xmlns:a16="http://schemas.microsoft.com/office/drawing/2014/main" id="{40AAC74B-8EF4-97E2-2AC5-86A2B53AAAD9}"/>
              </a:ext>
            </a:extLst>
          </p:cNvPr>
          <p:cNvSpPr txBox="1"/>
          <p:nvPr/>
        </p:nvSpPr>
        <p:spPr>
          <a:xfrm>
            <a:off x="1051560" y="3291840"/>
            <a:ext cx="3406140" cy="1924812"/>
          </a:xfrm>
          <a:prstGeom prst="rect">
            <a:avLst/>
          </a:prstGeom>
          <a:noFill/>
          <a:ln>
            <a:noFill/>
          </a:ln>
        </p:spPr>
        <p:txBody>
          <a:bodyPr spcFirstLastPara="1" wrap="square" lIns="0" tIns="0" rIns="0" bIns="0" anchor="t" anchorCtr="0">
            <a:noAutofit/>
          </a:bodyPr>
          <a:lstStyle/>
          <a:p>
            <a:pPr marL="0" marR="0" lvl="0" indent="0" algn="ctr" rtl="0">
              <a:lnSpc>
                <a:spcPct val="102000"/>
              </a:lnSpc>
              <a:spcBef>
                <a:spcPts val="0"/>
              </a:spcBef>
              <a:spcAft>
                <a:spcPts val="0"/>
              </a:spcAft>
              <a:buClr>
                <a:srgbClr val="2B2020"/>
              </a:buClr>
              <a:buSzPts val="1750"/>
              <a:buFont typeface="Questrial"/>
              <a:buNone/>
            </a:pPr>
            <a:r>
              <a:rPr lang="en-US" sz="2200" b="0" i="0" u="none" strike="noStrike" cap="none" dirty="0">
                <a:solidFill>
                  <a:srgbClr val="2B2020"/>
                </a:solidFill>
                <a:latin typeface="Questrial"/>
                <a:ea typeface="Questrial"/>
                <a:cs typeface="Questrial"/>
                <a:sym typeface="Questrial"/>
              </a:rPr>
              <a:t>OpenStreetMap roads are extracted with width, clearance, mass, and axle-load limits. Missing limits are set to +∞ and flagged.</a:t>
            </a:r>
            <a:endParaRPr sz="2200" b="0" i="0" u="none" strike="noStrike" cap="none" dirty="0">
              <a:solidFill>
                <a:schemeClr val="dk1"/>
              </a:solidFill>
              <a:latin typeface="Questrial"/>
              <a:ea typeface="Questrial"/>
              <a:cs typeface="Questrial"/>
              <a:sym typeface="Questrial"/>
            </a:endParaRPr>
          </a:p>
        </p:txBody>
      </p:sp>
      <p:cxnSp>
        <p:nvCxnSpPr>
          <p:cNvPr id="14" name="Google Shape;472;p20">
            <a:extLst>
              <a:ext uri="{FF2B5EF4-FFF2-40B4-BE49-F238E27FC236}">
                <a16:creationId xmlns:a16="http://schemas.microsoft.com/office/drawing/2014/main" id="{BE138762-9996-1069-3C2F-06E2EC518053}"/>
              </a:ext>
            </a:extLst>
          </p:cNvPr>
          <p:cNvCxnSpPr/>
          <p:nvPr/>
        </p:nvCxnSpPr>
        <p:spPr>
          <a:xfrm>
            <a:off x="4695444" y="3705606"/>
            <a:ext cx="347472" cy="0"/>
          </a:xfrm>
          <a:prstGeom prst="straightConnector1">
            <a:avLst/>
          </a:prstGeom>
          <a:noFill/>
          <a:ln w="31750" cap="flat" cmpd="sng">
            <a:solidFill>
              <a:srgbClr val="8B0707"/>
            </a:solidFill>
            <a:prstDash val="solid"/>
            <a:round/>
            <a:headEnd type="none" w="sm" len="sm"/>
            <a:tailEnd type="triangle" w="med" len="med"/>
          </a:ln>
        </p:spPr>
      </p:cxnSp>
      <p:sp>
        <p:nvSpPr>
          <p:cNvPr id="15" name="Google Shape;473;p20">
            <a:extLst>
              <a:ext uri="{FF2B5EF4-FFF2-40B4-BE49-F238E27FC236}">
                <a16:creationId xmlns:a16="http://schemas.microsoft.com/office/drawing/2014/main" id="{D6A02C7A-CE60-8356-ABED-157F8F601D31}"/>
              </a:ext>
            </a:extLst>
          </p:cNvPr>
          <p:cNvSpPr/>
          <p:nvPr/>
        </p:nvSpPr>
        <p:spPr>
          <a:xfrm>
            <a:off x="5097780" y="2103120"/>
            <a:ext cx="3817620" cy="320497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474;p20">
            <a:extLst>
              <a:ext uri="{FF2B5EF4-FFF2-40B4-BE49-F238E27FC236}">
                <a16:creationId xmlns:a16="http://schemas.microsoft.com/office/drawing/2014/main" id="{AE52A805-F274-837F-2C42-912E32675667}"/>
              </a:ext>
            </a:extLst>
          </p:cNvPr>
          <p:cNvSpPr/>
          <p:nvPr/>
        </p:nvSpPr>
        <p:spPr>
          <a:xfrm>
            <a:off x="5097780" y="2103120"/>
            <a:ext cx="3817620" cy="566928"/>
          </a:xfrm>
          <a:prstGeom prst="rect">
            <a:avLst/>
          </a:prstGeom>
          <a:solidFill>
            <a:srgbClr val="8B0707"/>
          </a:solidFill>
          <a:ln>
            <a:noFill/>
          </a:ln>
        </p:spPr>
        <p:txBody>
          <a:bodyPr spcFirstLastPara="1" wrap="square" lIns="228600" tIns="0" rIns="91425" bIns="0" anchor="ctr" anchorCtr="0">
            <a:noAutofit/>
          </a:bodyPr>
          <a:lstStyle/>
          <a:p>
            <a:pPr marL="0" marR="0" lvl="0" indent="0" algn="l" rtl="0">
              <a:lnSpc>
                <a:spcPct val="100000"/>
              </a:lnSpc>
              <a:spcBef>
                <a:spcPts val="0"/>
              </a:spcBef>
              <a:spcAft>
                <a:spcPts val="0"/>
              </a:spcAft>
              <a:buClr>
                <a:srgbClr val="FFFFFF"/>
              </a:buClr>
              <a:buSzPts val="1700"/>
              <a:buFont typeface="Questrial"/>
              <a:buNone/>
            </a:pPr>
            <a:r>
              <a:rPr lang="en-US" sz="2800" b="1" i="0" u="none" strike="noStrike" cap="none" dirty="0">
                <a:solidFill>
                  <a:srgbClr val="FFFFFF"/>
                </a:solidFill>
                <a:latin typeface="Questrial"/>
                <a:ea typeface="Questrial"/>
                <a:cs typeface="Questrial"/>
                <a:sym typeface="Questrial"/>
              </a:rPr>
              <a:t>Stage 2</a:t>
            </a:r>
            <a:endParaRPr sz="2800" b="0" i="0" u="none" strike="noStrike" cap="none" dirty="0">
              <a:solidFill>
                <a:schemeClr val="dk1"/>
              </a:solidFill>
              <a:latin typeface="Questrial"/>
              <a:ea typeface="Questrial"/>
              <a:cs typeface="Questrial"/>
              <a:sym typeface="Questrial"/>
            </a:endParaRPr>
          </a:p>
        </p:txBody>
      </p:sp>
      <p:sp>
        <p:nvSpPr>
          <p:cNvPr id="17" name="Google Shape;475;p20">
            <a:extLst>
              <a:ext uri="{FF2B5EF4-FFF2-40B4-BE49-F238E27FC236}">
                <a16:creationId xmlns:a16="http://schemas.microsoft.com/office/drawing/2014/main" id="{7F825A33-8597-0036-867A-FEA731A912EF}"/>
              </a:ext>
            </a:extLst>
          </p:cNvPr>
          <p:cNvSpPr txBox="1"/>
          <p:nvPr/>
        </p:nvSpPr>
        <p:spPr>
          <a:xfrm>
            <a:off x="6949440" y="2103120"/>
            <a:ext cx="1783080" cy="56692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450"/>
              <a:buFont typeface="Questrial"/>
              <a:buNone/>
            </a:pPr>
            <a:r>
              <a:rPr lang="en-US" sz="2400" b="0" i="1" u="none" strike="noStrike" cap="none" dirty="0">
                <a:solidFill>
                  <a:srgbClr val="FFFFFF"/>
                </a:solidFill>
                <a:latin typeface="Questrial"/>
                <a:ea typeface="Questrial"/>
                <a:cs typeface="Questrial"/>
                <a:sym typeface="Questrial"/>
              </a:rPr>
              <a:t>Points 1, 2</a:t>
            </a:r>
            <a:endParaRPr sz="2400" b="0" i="0" u="none" strike="noStrike" cap="none" dirty="0">
              <a:solidFill>
                <a:schemeClr val="dk1"/>
              </a:solidFill>
              <a:latin typeface="Questrial"/>
              <a:ea typeface="Questrial"/>
              <a:cs typeface="Questrial"/>
              <a:sym typeface="Questrial"/>
            </a:endParaRPr>
          </a:p>
        </p:txBody>
      </p:sp>
      <p:sp>
        <p:nvSpPr>
          <p:cNvPr id="18" name="Google Shape;476;p20">
            <a:extLst>
              <a:ext uri="{FF2B5EF4-FFF2-40B4-BE49-F238E27FC236}">
                <a16:creationId xmlns:a16="http://schemas.microsoft.com/office/drawing/2014/main" id="{8DF028A1-B540-8711-4CC9-B4F8F04A7471}"/>
              </a:ext>
            </a:extLst>
          </p:cNvPr>
          <p:cNvSpPr txBox="1"/>
          <p:nvPr/>
        </p:nvSpPr>
        <p:spPr>
          <a:xfrm>
            <a:off x="5326380" y="2788920"/>
            <a:ext cx="340614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950"/>
              <a:buFont typeface="Questrial"/>
              <a:buNone/>
            </a:pPr>
            <a:r>
              <a:rPr lang="en-US" sz="2800" b="1" i="0" u="none" strike="noStrike" cap="none" dirty="0">
                <a:solidFill>
                  <a:srgbClr val="8B0707"/>
                </a:solidFill>
                <a:latin typeface="Questrial"/>
                <a:ea typeface="Questrial"/>
                <a:cs typeface="Questrial"/>
                <a:sym typeface="Questrial"/>
              </a:rPr>
              <a:t>Landmarks</a:t>
            </a:r>
            <a:endParaRPr sz="2800" b="0" i="0" u="none" strike="noStrike" cap="none" dirty="0">
              <a:solidFill>
                <a:schemeClr val="dk1"/>
              </a:solidFill>
              <a:latin typeface="Questrial"/>
              <a:ea typeface="Questrial"/>
              <a:cs typeface="Questrial"/>
              <a:sym typeface="Questrial"/>
            </a:endParaRPr>
          </a:p>
        </p:txBody>
      </p:sp>
      <p:sp>
        <p:nvSpPr>
          <p:cNvPr id="19" name="Google Shape;477;p20">
            <a:extLst>
              <a:ext uri="{FF2B5EF4-FFF2-40B4-BE49-F238E27FC236}">
                <a16:creationId xmlns:a16="http://schemas.microsoft.com/office/drawing/2014/main" id="{1D641F5F-3EC0-EF61-A531-A546C3093FBA}"/>
              </a:ext>
            </a:extLst>
          </p:cNvPr>
          <p:cNvSpPr txBox="1"/>
          <p:nvPr/>
        </p:nvSpPr>
        <p:spPr>
          <a:xfrm>
            <a:off x="5303520" y="3154993"/>
            <a:ext cx="3406140" cy="1924812"/>
          </a:xfrm>
          <a:prstGeom prst="rect">
            <a:avLst/>
          </a:prstGeom>
          <a:noFill/>
          <a:ln>
            <a:noFill/>
          </a:ln>
        </p:spPr>
        <p:txBody>
          <a:bodyPr spcFirstLastPara="1" wrap="square" lIns="0" tIns="0" rIns="0" bIns="0" anchor="t" anchorCtr="0">
            <a:noAutofit/>
          </a:bodyPr>
          <a:lstStyle/>
          <a:p>
            <a:pPr marL="0" marR="0" lvl="0" indent="0" algn="ctr" rtl="0">
              <a:lnSpc>
                <a:spcPct val="102000"/>
              </a:lnSpc>
              <a:spcBef>
                <a:spcPts val="0"/>
              </a:spcBef>
              <a:spcAft>
                <a:spcPts val="0"/>
              </a:spcAft>
              <a:buClr>
                <a:srgbClr val="2B2020"/>
              </a:buClr>
              <a:buSzPts val="1750"/>
              <a:buFont typeface="Questrial"/>
              <a:buNone/>
            </a:pPr>
            <a:r>
              <a:rPr lang="en-US" sz="2200" b="0" i="0" u="none" strike="noStrike" cap="none" dirty="0">
                <a:solidFill>
                  <a:srgbClr val="2B2020"/>
                </a:solidFill>
                <a:latin typeface="Questrial"/>
                <a:ea typeface="Questrial"/>
                <a:cs typeface="Questrial"/>
                <a:sym typeface="Questrial"/>
              </a:rPr>
              <a:t>Registers are combined and duplicates removed. Each landmark is snapped to a road node within 150 m; one that fails is dropped, not moved.</a:t>
            </a:r>
            <a:endParaRPr sz="2200" b="0" i="0" u="none" strike="noStrike" cap="none" dirty="0">
              <a:solidFill>
                <a:schemeClr val="dk1"/>
              </a:solidFill>
              <a:latin typeface="Questrial"/>
              <a:ea typeface="Questrial"/>
              <a:cs typeface="Questrial"/>
              <a:sym typeface="Questrial"/>
            </a:endParaRPr>
          </a:p>
        </p:txBody>
      </p:sp>
      <p:cxnSp>
        <p:nvCxnSpPr>
          <p:cNvPr id="20" name="Google Shape;478;p20">
            <a:extLst>
              <a:ext uri="{FF2B5EF4-FFF2-40B4-BE49-F238E27FC236}">
                <a16:creationId xmlns:a16="http://schemas.microsoft.com/office/drawing/2014/main" id="{58EBB53F-CE0A-C89C-6529-DA8D8E47F744}"/>
              </a:ext>
            </a:extLst>
          </p:cNvPr>
          <p:cNvCxnSpPr/>
          <p:nvPr/>
        </p:nvCxnSpPr>
        <p:spPr>
          <a:xfrm>
            <a:off x="8970264" y="3705606"/>
            <a:ext cx="347472" cy="0"/>
          </a:xfrm>
          <a:prstGeom prst="straightConnector1">
            <a:avLst/>
          </a:prstGeom>
          <a:noFill/>
          <a:ln w="31750" cap="flat" cmpd="sng">
            <a:solidFill>
              <a:srgbClr val="8B0707"/>
            </a:solidFill>
            <a:prstDash val="solid"/>
            <a:round/>
            <a:headEnd type="none" w="sm" len="sm"/>
            <a:tailEnd type="triangle" w="med" len="med"/>
          </a:ln>
        </p:spPr>
      </p:cxnSp>
      <p:sp>
        <p:nvSpPr>
          <p:cNvPr id="21" name="Google Shape;479;p20">
            <a:extLst>
              <a:ext uri="{FF2B5EF4-FFF2-40B4-BE49-F238E27FC236}">
                <a16:creationId xmlns:a16="http://schemas.microsoft.com/office/drawing/2014/main" id="{D89EE3BD-538C-FB65-6BDF-0EAD2A2A0343}"/>
              </a:ext>
            </a:extLst>
          </p:cNvPr>
          <p:cNvSpPr/>
          <p:nvPr/>
        </p:nvSpPr>
        <p:spPr>
          <a:xfrm>
            <a:off x="9372600" y="2103120"/>
            <a:ext cx="3817620" cy="320497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480;p20">
            <a:extLst>
              <a:ext uri="{FF2B5EF4-FFF2-40B4-BE49-F238E27FC236}">
                <a16:creationId xmlns:a16="http://schemas.microsoft.com/office/drawing/2014/main" id="{77B9EAE2-E19E-88E8-5F84-A804CD853E02}"/>
              </a:ext>
            </a:extLst>
          </p:cNvPr>
          <p:cNvSpPr/>
          <p:nvPr/>
        </p:nvSpPr>
        <p:spPr>
          <a:xfrm>
            <a:off x="9372600" y="2103120"/>
            <a:ext cx="3817620" cy="566928"/>
          </a:xfrm>
          <a:prstGeom prst="rect">
            <a:avLst/>
          </a:prstGeom>
          <a:solidFill>
            <a:srgbClr val="8B0707"/>
          </a:solidFill>
          <a:ln>
            <a:noFill/>
          </a:ln>
        </p:spPr>
        <p:txBody>
          <a:bodyPr spcFirstLastPara="1" wrap="square" lIns="228600" tIns="0" rIns="91425" bIns="0" anchor="ctr" anchorCtr="0">
            <a:noAutofit/>
          </a:bodyPr>
          <a:lstStyle/>
          <a:p>
            <a:pPr marL="0" marR="0" lvl="0" indent="0" algn="l" rtl="0">
              <a:lnSpc>
                <a:spcPct val="100000"/>
              </a:lnSpc>
              <a:spcBef>
                <a:spcPts val="0"/>
              </a:spcBef>
              <a:spcAft>
                <a:spcPts val="0"/>
              </a:spcAft>
              <a:buClr>
                <a:srgbClr val="FFFFFF"/>
              </a:buClr>
              <a:buSzPts val="1700"/>
              <a:buFont typeface="Questrial"/>
              <a:buNone/>
            </a:pPr>
            <a:r>
              <a:rPr lang="en-US" sz="2800" b="1" i="0" u="none" strike="noStrike" cap="none" dirty="0">
                <a:solidFill>
                  <a:srgbClr val="FFFFFF"/>
                </a:solidFill>
                <a:latin typeface="Questrial"/>
                <a:ea typeface="Questrial"/>
                <a:cs typeface="Questrial"/>
                <a:sym typeface="Questrial"/>
              </a:rPr>
              <a:t>Stage 3</a:t>
            </a:r>
            <a:endParaRPr sz="2800" b="0" i="0" u="none" strike="noStrike" cap="none" dirty="0">
              <a:solidFill>
                <a:schemeClr val="dk1"/>
              </a:solidFill>
              <a:latin typeface="Questrial"/>
              <a:ea typeface="Questrial"/>
              <a:cs typeface="Questrial"/>
              <a:sym typeface="Questrial"/>
            </a:endParaRPr>
          </a:p>
        </p:txBody>
      </p:sp>
      <p:sp>
        <p:nvSpPr>
          <p:cNvPr id="23" name="Google Shape;481;p20">
            <a:extLst>
              <a:ext uri="{FF2B5EF4-FFF2-40B4-BE49-F238E27FC236}">
                <a16:creationId xmlns:a16="http://schemas.microsoft.com/office/drawing/2014/main" id="{37879AD5-3C14-C86E-9261-1838B8D46035}"/>
              </a:ext>
            </a:extLst>
          </p:cNvPr>
          <p:cNvSpPr txBox="1"/>
          <p:nvPr/>
        </p:nvSpPr>
        <p:spPr>
          <a:xfrm>
            <a:off x="11224260" y="2103120"/>
            <a:ext cx="1783080" cy="56692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450"/>
              <a:buFont typeface="Questrial"/>
              <a:buNone/>
            </a:pPr>
            <a:r>
              <a:rPr lang="en-US" sz="2400" b="0" i="1" u="none" strike="noStrike" cap="none" dirty="0">
                <a:solidFill>
                  <a:srgbClr val="FFFFFF"/>
                </a:solidFill>
                <a:latin typeface="Questrial"/>
                <a:ea typeface="Questrial"/>
                <a:cs typeface="Questrial"/>
                <a:sym typeface="Questrial"/>
              </a:rPr>
              <a:t>Point 1</a:t>
            </a:r>
            <a:endParaRPr sz="2400" b="0" i="0" u="none" strike="noStrike" cap="none" dirty="0">
              <a:solidFill>
                <a:schemeClr val="dk1"/>
              </a:solidFill>
              <a:latin typeface="Questrial"/>
              <a:ea typeface="Questrial"/>
              <a:cs typeface="Questrial"/>
              <a:sym typeface="Questrial"/>
            </a:endParaRPr>
          </a:p>
        </p:txBody>
      </p:sp>
      <p:sp>
        <p:nvSpPr>
          <p:cNvPr id="24" name="Google Shape;482;p20">
            <a:extLst>
              <a:ext uri="{FF2B5EF4-FFF2-40B4-BE49-F238E27FC236}">
                <a16:creationId xmlns:a16="http://schemas.microsoft.com/office/drawing/2014/main" id="{B97E7E7A-5F53-938C-2899-FB3C1C649112}"/>
              </a:ext>
            </a:extLst>
          </p:cNvPr>
          <p:cNvSpPr txBox="1"/>
          <p:nvPr/>
        </p:nvSpPr>
        <p:spPr>
          <a:xfrm>
            <a:off x="9601200" y="2788920"/>
            <a:ext cx="340614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950"/>
              <a:buFont typeface="Questrial"/>
              <a:buNone/>
            </a:pPr>
            <a:r>
              <a:rPr lang="en-US" sz="2800" b="1" i="0" u="none" strike="noStrike" cap="none" dirty="0">
                <a:solidFill>
                  <a:srgbClr val="8B0707"/>
                </a:solidFill>
                <a:latin typeface="Questrial"/>
                <a:ea typeface="Questrial"/>
                <a:cs typeface="Questrial"/>
                <a:sym typeface="Questrial"/>
              </a:rPr>
              <a:t>GTFS feed</a:t>
            </a:r>
            <a:endParaRPr sz="2800" b="0" i="0" u="none" strike="noStrike" cap="none" dirty="0">
              <a:solidFill>
                <a:schemeClr val="dk1"/>
              </a:solidFill>
              <a:latin typeface="Questrial"/>
              <a:ea typeface="Questrial"/>
              <a:cs typeface="Questrial"/>
              <a:sym typeface="Questrial"/>
            </a:endParaRPr>
          </a:p>
        </p:txBody>
      </p:sp>
      <p:sp>
        <p:nvSpPr>
          <p:cNvPr id="25" name="Google Shape;483;p20">
            <a:extLst>
              <a:ext uri="{FF2B5EF4-FFF2-40B4-BE49-F238E27FC236}">
                <a16:creationId xmlns:a16="http://schemas.microsoft.com/office/drawing/2014/main" id="{1A0952E3-5410-D597-86DD-B13AEF819B7B}"/>
              </a:ext>
            </a:extLst>
          </p:cNvPr>
          <p:cNvSpPr txBox="1"/>
          <p:nvPr/>
        </p:nvSpPr>
        <p:spPr>
          <a:xfrm>
            <a:off x="9601200" y="3291840"/>
            <a:ext cx="3406140" cy="1924812"/>
          </a:xfrm>
          <a:prstGeom prst="rect">
            <a:avLst/>
          </a:prstGeom>
          <a:noFill/>
          <a:ln>
            <a:noFill/>
          </a:ln>
        </p:spPr>
        <p:txBody>
          <a:bodyPr spcFirstLastPara="1" wrap="square" lIns="0" tIns="0" rIns="0" bIns="0" anchor="t" anchorCtr="0">
            <a:noAutofit/>
          </a:bodyPr>
          <a:lstStyle/>
          <a:p>
            <a:pPr marL="0" marR="0" lvl="0" indent="0" algn="ctr" rtl="0">
              <a:lnSpc>
                <a:spcPct val="102000"/>
              </a:lnSpc>
              <a:spcBef>
                <a:spcPts val="0"/>
              </a:spcBef>
              <a:spcAft>
                <a:spcPts val="0"/>
              </a:spcAft>
              <a:buClr>
                <a:srgbClr val="2B2020"/>
              </a:buClr>
              <a:buSzPts val="1750"/>
              <a:buFont typeface="Questrial"/>
              <a:buNone/>
            </a:pPr>
            <a:r>
              <a:rPr lang="en-US" sz="2200" b="0" i="0" u="none" strike="noStrike" cap="none">
                <a:solidFill>
                  <a:srgbClr val="2B2020"/>
                </a:solidFill>
                <a:latin typeface="Questrial"/>
                <a:ea typeface="Questrial"/>
                <a:cs typeface="Questrial"/>
                <a:sym typeface="Questrial"/>
              </a:rPr>
              <a:t>Stops, routes, trips, headways, fares, and shapes are generated. The feed must pass the GTFS validator.</a:t>
            </a:r>
            <a:endParaRPr sz="2200" b="0" i="0" u="none" strike="noStrike" cap="none">
              <a:solidFill>
                <a:schemeClr val="dk1"/>
              </a:solidFill>
              <a:latin typeface="Questrial"/>
              <a:ea typeface="Questrial"/>
              <a:cs typeface="Questrial"/>
              <a:sym typeface="Questrial"/>
            </a:endParaRPr>
          </a:p>
        </p:txBody>
      </p:sp>
      <p:cxnSp>
        <p:nvCxnSpPr>
          <p:cNvPr id="26" name="Google Shape;484;p20">
            <a:extLst>
              <a:ext uri="{FF2B5EF4-FFF2-40B4-BE49-F238E27FC236}">
                <a16:creationId xmlns:a16="http://schemas.microsoft.com/office/drawing/2014/main" id="{CBA7D5DC-9449-C684-363B-7EE0872E3E4D}"/>
              </a:ext>
            </a:extLst>
          </p:cNvPr>
          <p:cNvCxnSpPr/>
          <p:nvPr/>
        </p:nvCxnSpPr>
        <p:spPr>
          <a:xfrm>
            <a:off x="13245084" y="3705606"/>
            <a:ext cx="347472" cy="0"/>
          </a:xfrm>
          <a:prstGeom prst="straightConnector1">
            <a:avLst/>
          </a:prstGeom>
          <a:noFill/>
          <a:ln w="31750" cap="flat" cmpd="sng">
            <a:solidFill>
              <a:srgbClr val="8B0707"/>
            </a:solidFill>
            <a:prstDash val="solid"/>
            <a:round/>
            <a:headEnd type="none" w="sm" len="sm"/>
            <a:tailEnd type="triangle" w="med" len="med"/>
          </a:ln>
        </p:spPr>
      </p:cxnSp>
      <p:sp>
        <p:nvSpPr>
          <p:cNvPr id="27" name="Google Shape;485;p20">
            <a:extLst>
              <a:ext uri="{FF2B5EF4-FFF2-40B4-BE49-F238E27FC236}">
                <a16:creationId xmlns:a16="http://schemas.microsoft.com/office/drawing/2014/main" id="{EF1FD3F8-57C3-FE35-66F4-C8B83228F605}"/>
              </a:ext>
            </a:extLst>
          </p:cNvPr>
          <p:cNvSpPr/>
          <p:nvPr/>
        </p:nvSpPr>
        <p:spPr>
          <a:xfrm>
            <a:off x="13647420" y="2103120"/>
            <a:ext cx="3817620" cy="320497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486;p20">
            <a:extLst>
              <a:ext uri="{FF2B5EF4-FFF2-40B4-BE49-F238E27FC236}">
                <a16:creationId xmlns:a16="http://schemas.microsoft.com/office/drawing/2014/main" id="{E9B5CF6E-F633-AD4A-098E-7267B68719C3}"/>
              </a:ext>
            </a:extLst>
          </p:cNvPr>
          <p:cNvSpPr/>
          <p:nvPr/>
        </p:nvSpPr>
        <p:spPr>
          <a:xfrm>
            <a:off x="13647420" y="2103120"/>
            <a:ext cx="3817620" cy="566928"/>
          </a:xfrm>
          <a:prstGeom prst="rect">
            <a:avLst/>
          </a:prstGeom>
          <a:solidFill>
            <a:srgbClr val="8B0707"/>
          </a:solidFill>
          <a:ln>
            <a:noFill/>
          </a:ln>
        </p:spPr>
        <p:txBody>
          <a:bodyPr spcFirstLastPara="1" wrap="square" lIns="228600" tIns="0" rIns="91425" bIns="0" anchor="ctr" anchorCtr="0">
            <a:noAutofit/>
          </a:bodyPr>
          <a:lstStyle/>
          <a:p>
            <a:pPr marL="0" marR="0" lvl="0" indent="0" algn="l" rtl="0">
              <a:lnSpc>
                <a:spcPct val="100000"/>
              </a:lnSpc>
              <a:spcBef>
                <a:spcPts val="0"/>
              </a:spcBef>
              <a:spcAft>
                <a:spcPts val="0"/>
              </a:spcAft>
              <a:buClr>
                <a:srgbClr val="FFFFFF"/>
              </a:buClr>
              <a:buSzPts val="1700"/>
              <a:buFont typeface="Questrial"/>
              <a:buNone/>
            </a:pPr>
            <a:r>
              <a:rPr lang="en-US" sz="2800" b="1" i="0" u="none" strike="noStrike" cap="none" dirty="0">
                <a:solidFill>
                  <a:srgbClr val="FFFFFF"/>
                </a:solidFill>
                <a:latin typeface="Questrial"/>
                <a:ea typeface="Questrial"/>
                <a:cs typeface="Questrial"/>
                <a:sym typeface="Questrial"/>
              </a:rPr>
              <a:t>Stage</a:t>
            </a:r>
            <a:r>
              <a:rPr lang="en-US" sz="1700" b="1" i="0" u="none" strike="noStrike" cap="none" dirty="0">
                <a:solidFill>
                  <a:srgbClr val="FFFFFF"/>
                </a:solidFill>
                <a:latin typeface="Questrial"/>
                <a:ea typeface="Questrial"/>
                <a:cs typeface="Questrial"/>
                <a:sym typeface="Questrial"/>
              </a:rPr>
              <a:t> 4</a:t>
            </a:r>
            <a:endParaRPr sz="1700" b="0" i="0" u="none" strike="noStrike" cap="none" dirty="0">
              <a:solidFill>
                <a:schemeClr val="dk1"/>
              </a:solidFill>
              <a:latin typeface="Questrial"/>
              <a:ea typeface="Questrial"/>
              <a:cs typeface="Questrial"/>
              <a:sym typeface="Questrial"/>
            </a:endParaRPr>
          </a:p>
        </p:txBody>
      </p:sp>
      <p:sp>
        <p:nvSpPr>
          <p:cNvPr id="29" name="Google Shape;487;p20">
            <a:extLst>
              <a:ext uri="{FF2B5EF4-FFF2-40B4-BE49-F238E27FC236}">
                <a16:creationId xmlns:a16="http://schemas.microsoft.com/office/drawing/2014/main" id="{1312DE59-FDAA-FB6E-337E-6205D7814042}"/>
              </a:ext>
            </a:extLst>
          </p:cNvPr>
          <p:cNvSpPr txBox="1"/>
          <p:nvPr/>
        </p:nvSpPr>
        <p:spPr>
          <a:xfrm>
            <a:off x="15499080" y="2103120"/>
            <a:ext cx="1783080" cy="56692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450"/>
              <a:buFont typeface="Questrial"/>
              <a:buNone/>
            </a:pPr>
            <a:r>
              <a:rPr lang="en-US" sz="2400" b="0" i="1" u="none" strike="noStrike" cap="none" dirty="0">
                <a:solidFill>
                  <a:srgbClr val="FFFFFF"/>
                </a:solidFill>
                <a:latin typeface="Questrial"/>
                <a:ea typeface="Questrial"/>
                <a:cs typeface="Questrial"/>
                <a:sym typeface="Questrial"/>
              </a:rPr>
              <a:t>Point 1</a:t>
            </a:r>
            <a:endParaRPr sz="2400" b="0" i="0" u="none" strike="noStrike" cap="none" dirty="0">
              <a:solidFill>
                <a:schemeClr val="dk1"/>
              </a:solidFill>
              <a:latin typeface="Questrial"/>
              <a:ea typeface="Questrial"/>
              <a:cs typeface="Questrial"/>
              <a:sym typeface="Questrial"/>
            </a:endParaRPr>
          </a:p>
        </p:txBody>
      </p:sp>
      <p:sp>
        <p:nvSpPr>
          <p:cNvPr id="30" name="Google Shape;488;p20">
            <a:extLst>
              <a:ext uri="{FF2B5EF4-FFF2-40B4-BE49-F238E27FC236}">
                <a16:creationId xmlns:a16="http://schemas.microsoft.com/office/drawing/2014/main" id="{3525138E-41A9-EC88-8170-120AD9AB2727}"/>
              </a:ext>
            </a:extLst>
          </p:cNvPr>
          <p:cNvSpPr txBox="1"/>
          <p:nvPr/>
        </p:nvSpPr>
        <p:spPr>
          <a:xfrm>
            <a:off x="13876020" y="2788920"/>
            <a:ext cx="340614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1950"/>
              <a:buFont typeface="Questrial"/>
              <a:buNone/>
            </a:pPr>
            <a:r>
              <a:rPr lang="en-US" sz="2800" b="1" i="0" u="none" strike="noStrike" cap="none" dirty="0">
                <a:solidFill>
                  <a:srgbClr val="8B0707"/>
                </a:solidFill>
                <a:latin typeface="Questrial"/>
                <a:ea typeface="Questrial"/>
                <a:cs typeface="Questrial"/>
                <a:sym typeface="Questrial"/>
              </a:rPr>
              <a:t>Graph and queries</a:t>
            </a:r>
            <a:endParaRPr sz="2800" b="0" i="0" u="none" strike="noStrike" cap="none" dirty="0">
              <a:solidFill>
                <a:schemeClr val="dk1"/>
              </a:solidFill>
              <a:latin typeface="Questrial"/>
              <a:ea typeface="Questrial"/>
              <a:cs typeface="Questrial"/>
              <a:sym typeface="Questrial"/>
            </a:endParaRPr>
          </a:p>
        </p:txBody>
      </p:sp>
      <p:sp>
        <p:nvSpPr>
          <p:cNvPr id="31" name="Google Shape;489;p20">
            <a:extLst>
              <a:ext uri="{FF2B5EF4-FFF2-40B4-BE49-F238E27FC236}">
                <a16:creationId xmlns:a16="http://schemas.microsoft.com/office/drawing/2014/main" id="{FC0EB33D-E144-D2F7-7BF8-AE606399E372}"/>
              </a:ext>
            </a:extLst>
          </p:cNvPr>
          <p:cNvSpPr txBox="1"/>
          <p:nvPr/>
        </p:nvSpPr>
        <p:spPr>
          <a:xfrm>
            <a:off x="13821156" y="3313049"/>
            <a:ext cx="3461004" cy="1924812"/>
          </a:xfrm>
          <a:prstGeom prst="rect">
            <a:avLst/>
          </a:prstGeom>
          <a:noFill/>
          <a:ln>
            <a:noFill/>
          </a:ln>
        </p:spPr>
        <p:txBody>
          <a:bodyPr spcFirstLastPara="1" wrap="square" lIns="0" tIns="0" rIns="0" bIns="0" anchor="t" anchorCtr="0">
            <a:noAutofit/>
          </a:bodyPr>
          <a:lstStyle/>
          <a:p>
            <a:pPr marL="0" marR="0" lvl="0" indent="0" algn="ctr" rtl="0">
              <a:lnSpc>
                <a:spcPct val="102000"/>
              </a:lnSpc>
              <a:spcBef>
                <a:spcPts val="0"/>
              </a:spcBef>
              <a:spcAft>
                <a:spcPts val="0"/>
              </a:spcAft>
              <a:buClr>
                <a:srgbClr val="2B2020"/>
              </a:buClr>
              <a:buSzPts val="1750"/>
              <a:buFont typeface="Questrial"/>
              <a:buNone/>
            </a:pPr>
            <a:r>
              <a:rPr lang="en-US" sz="2100" b="0" i="0" u="none" strike="noStrike" cap="none" dirty="0">
                <a:solidFill>
                  <a:srgbClr val="2B2020"/>
                </a:solidFill>
                <a:latin typeface="Questrial"/>
                <a:ea typeface="Questrial"/>
                <a:cs typeface="Questrial"/>
                <a:sym typeface="Questrial"/>
              </a:rPr>
              <a:t>The time-expanded graph is built with walking links. Earliest arrivals and fares are computed for every anchor, destination, and departure time.</a:t>
            </a:r>
            <a:endParaRPr sz="2100" b="0" i="0" u="none" strike="noStrike" cap="none" dirty="0">
              <a:solidFill>
                <a:schemeClr val="dk1"/>
              </a:solidFill>
              <a:latin typeface="Questrial"/>
              <a:ea typeface="Questrial"/>
              <a:cs typeface="Questrial"/>
              <a:sym typeface="Questrial"/>
            </a:endParaRPr>
          </a:p>
        </p:txBody>
      </p:sp>
      <p:sp>
        <p:nvSpPr>
          <p:cNvPr id="32" name="Google Shape;490;p20">
            <a:extLst>
              <a:ext uri="{FF2B5EF4-FFF2-40B4-BE49-F238E27FC236}">
                <a16:creationId xmlns:a16="http://schemas.microsoft.com/office/drawing/2014/main" id="{623B4561-F440-1286-5F93-97ABC35486A0}"/>
              </a:ext>
            </a:extLst>
          </p:cNvPr>
          <p:cNvSpPr/>
          <p:nvPr/>
        </p:nvSpPr>
        <p:spPr>
          <a:xfrm>
            <a:off x="822960" y="5811012"/>
            <a:ext cx="3817620" cy="320497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200"/>
          </a:p>
        </p:txBody>
      </p:sp>
      <p:sp>
        <p:nvSpPr>
          <p:cNvPr id="33" name="Google Shape;491;p20">
            <a:extLst>
              <a:ext uri="{FF2B5EF4-FFF2-40B4-BE49-F238E27FC236}">
                <a16:creationId xmlns:a16="http://schemas.microsoft.com/office/drawing/2014/main" id="{80CCC64A-8B10-6AD7-0F19-6AE81F4839E9}"/>
              </a:ext>
            </a:extLst>
          </p:cNvPr>
          <p:cNvSpPr/>
          <p:nvPr/>
        </p:nvSpPr>
        <p:spPr>
          <a:xfrm>
            <a:off x="822960" y="5811012"/>
            <a:ext cx="3817620" cy="566928"/>
          </a:xfrm>
          <a:prstGeom prst="rect">
            <a:avLst/>
          </a:prstGeom>
          <a:solidFill>
            <a:srgbClr val="8B0707"/>
          </a:solidFill>
          <a:ln>
            <a:noFill/>
          </a:ln>
        </p:spPr>
        <p:txBody>
          <a:bodyPr spcFirstLastPara="1" wrap="square" lIns="228600" tIns="0" rIns="91425" bIns="0" anchor="ctr" anchorCtr="0">
            <a:noAutofit/>
          </a:bodyPr>
          <a:lstStyle/>
          <a:p>
            <a:pPr marL="0" marR="0" lvl="0" indent="0" rtl="0">
              <a:lnSpc>
                <a:spcPct val="100000"/>
              </a:lnSpc>
              <a:spcBef>
                <a:spcPts val="0"/>
              </a:spcBef>
              <a:spcAft>
                <a:spcPts val="0"/>
              </a:spcAft>
              <a:buClr>
                <a:srgbClr val="FFFFFF"/>
              </a:buClr>
              <a:buSzPts val="1700"/>
              <a:buFont typeface="Questrial"/>
              <a:buNone/>
            </a:pPr>
            <a:r>
              <a:rPr lang="en-US" sz="2800" b="1" i="0" u="none" strike="noStrike" cap="none" dirty="0">
                <a:solidFill>
                  <a:srgbClr val="FFFFFF"/>
                </a:solidFill>
                <a:latin typeface="Questrial"/>
                <a:ea typeface="Questrial"/>
                <a:cs typeface="Questrial"/>
                <a:sym typeface="Questrial"/>
              </a:rPr>
              <a:t>Stage 5</a:t>
            </a:r>
            <a:endParaRPr sz="2800" b="0" i="0" u="none" strike="noStrike" cap="none" dirty="0">
              <a:solidFill>
                <a:schemeClr val="dk1"/>
              </a:solidFill>
              <a:latin typeface="Questrial"/>
              <a:ea typeface="Questrial"/>
              <a:cs typeface="Questrial"/>
              <a:sym typeface="Questrial"/>
            </a:endParaRPr>
          </a:p>
        </p:txBody>
      </p:sp>
      <p:sp>
        <p:nvSpPr>
          <p:cNvPr id="34" name="Google Shape;492;p20">
            <a:extLst>
              <a:ext uri="{FF2B5EF4-FFF2-40B4-BE49-F238E27FC236}">
                <a16:creationId xmlns:a16="http://schemas.microsoft.com/office/drawing/2014/main" id="{F72E9CDC-4394-F929-0217-F03913EF12CD}"/>
              </a:ext>
            </a:extLst>
          </p:cNvPr>
          <p:cNvSpPr txBox="1"/>
          <p:nvPr/>
        </p:nvSpPr>
        <p:spPr>
          <a:xfrm>
            <a:off x="2674620" y="5811012"/>
            <a:ext cx="1783080" cy="56692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450"/>
              <a:buFont typeface="Questrial"/>
              <a:buNone/>
            </a:pPr>
            <a:r>
              <a:rPr lang="en-US" sz="2400" b="0" i="1" u="none" strike="noStrike" cap="none" dirty="0">
                <a:solidFill>
                  <a:srgbClr val="FFFFFF"/>
                </a:solidFill>
                <a:latin typeface="Questrial"/>
                <a:ea typeface="Questrial"/>
                <a:cs typeface="Questrial"/>
                <a:sym typeface="Questrial"/>
              </a:rPr>
              <a:t>Point 1</a:t>
            </a:r>
            <a:endParaRPr sz="2400" b="0" i="0" u="none" strike="noStrike" cap="none" dirty="0">
              <a:solidFill>
                <a:schemeClr val="dk1"/>
              </a:solidFill>
              <a:latin typeface="Questrial"/>
              <a:ea typeface="Questrial"/>
              <a:cs typeface="Questrial"/>
              <a:sym typeface="Questrial"/>
            </a:endParaRPr>
          </a:p>
        </p:txBody>
      </p:sp>
      <p:sp>
        <p:nvSpPr>
          <p:cNvPr id="35" name="Google Shape;493;p20">
            <a:extLst>
              <a:ext uri="{FF2B5EF4-FFF2-40B4-BE49-F238E27FC236}">
                <a16:creationId xmlns:a16="http://schemas.microsoft.com/office/drawing/2014/main" id="{07F28D41-6694-D079-40D2-33A886BD3D4A}"/>
              </a:ext>
            </a:extLst>
          </p:cNvPr>
          <p:cNvSpPr txBox="1"/>
          <p:nvPr/>
        </p:nvSpPr>
        <p:spPr>
          <a:xfrm>
            <a:off x="1051560" y="6496812"/>
            <a:ext cx="340614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1950"/>
              <a:buFont typeface="Questrial"/>
              <a:buNone/>
            </a:pPr>
            <a:r>
              <a:rPr lang="en-US" sz="2790" b="1" i="0" u="none" strike="noStrike" cap="none" dirty="0">
                <a:solidFill>
                  <a:srgbClr val="8B0707"/>
                </a:solidFill>
                <a:latin typeface="Questrial"/>
                <a:ea typeface="Questrial"/>
                <a:cs typeface="Questrial"/>
                <a:sym typeface="Questrial"/>
              </a:rPr>
              <a:t>Access and inequality</a:t>
            </a:r>
            <a:endParaRPr sz="2790" b="0" i="0" u="none" strike="noStrike" cap="none" dirty="0">
              <a:solidFill>
                <a:schemeClr val="dk1"/>
              </a:solidFill>
              <a:latin typeface="Questrial"/>
              <a:ea typeface="Questrial"/>
              <a:cs typeface="Questrial"/>
              <a:sym typeface="Questrial"/>
            </a:endParaRPr>
          </a:p>
        </p:txBody>
      </p:sp>
      <p:sp>
        <p:nvSpPr>
          <p:cNvPr id="36" name="Google Shape;494;p20">
            <a:extLst>
              <a:ext uri="{FF2B5EF4-FFF2-40B4-BE49-F238E27FC236}">
                <a16:creationId xmlns:a16="http://schemas.microsoft.com/office/drawing/2014/main" id="{E519C9FC-F310-7BDC-E1E2-EB51DA44DABB}"/>
              </a:ext>
            </a:extLst>
          </p:cNvPr>
          <p:cNvSpPr txBox="1"/>
          <p:nvPr/>
        </p:nvSpPr>
        <p:spPr>
          <a:xfrm>
            <a:off x="1051560" y="6999732"/>
            <a:ext cx="3406140" cy="1924812"/>
          </a:xfrm>
          <a:prstGeom prst="rect">
            <a:avLst/>
          </a:prstGeom>
          <a:noFill/>
          <a:ln>
            <a:noFill/>
          </a:ln>
        </p:spPr>
        <p:txBody>
          <a:bodyPr spcFirstLastPara="1" wrap="square" lIns="0" tIns="0" rIns="0" bIns="0" anchor="t" anchorCtr="0">
            <a:noAutofit/>
          </a:bodyPr>
          <a:lstStyle/>
          <a:p>
            <a:pPr marL="0" marR="0" lvl="0" indent="0" algn="ctr" rtl="0">
              <a:lnSpc>
                <a:spcPct val="102000"/>
              </a:lnSpc>
              <a:spcBef>
                <a:spcPts val="0"/>
              </a:spcBef>
              <a:spcAft>
                <a:spcPts val="0"/>
              </a:spcAft>
              <a:buClr>
                <a:srgbClr val="2B2020"/>
              </a:buClr>
              <a:buSzPts val="1750"/>
              <a:buFont typeface="Questrial"/>
              <a:buNone/>
            </a:pPr>
            <a:r>
              <a:rPr lang="en-US" sz="2200" b="0" i="0" u="none" strike="noStrike" cap="none">
                <a:solidFill>
                  <a:srgbClr val="2B2020"/>
                </a:solidFill>
                <a:latin typeface="Questrial"/>
                <a:ea typeface="Questrial"/>
                <a:cs typeface="Questrial"/>
                <a:sym typeface="Questrial"/>
              </a:rPr>
              <a:t>Landmarks within 30 minutes are counted for each anchor. The Gini, Theil, Lorenz, and Palma values follow.</a:t>
            </a:r>
            <a:endParaRPr sz="2200" b="0" i="0" u="none" strike="noStrike" cap="none">
              <a:solidFill>
                <a:schemeClr val="dk1"/>
              </a:solidFill>
              <a:latin typeface="Questrial"/>
              <a:ea typeface="Questrial"/>
              <a:cs typeface="Questrial"/>
              <a:sym typeface="Questrial"/>
            </a:endParaRPr>
          </a:p>
        </p:txBody>
      </p:sp>
      <p:cxnSp>
        <p:nvCxnSpPr>
          <p:cNvPr id="37" name="Google Shape;495;p20">
            <a:extLst>
              <a:ext uri="{FF2B5EF4-FFF2-40B4-BE49-F238E27FC236}">
                <a16:creationId xmlns:a16="http://schemas.microsoft.com/office/drawing/2014/main" id="{BB87E831-191D-6171-4D94-36A27E8FC3AE}"/>
              </a:ext>
            </a:extLst>
          </p:cNvPr>
          <p:cNvCxnSpPr/>
          <p:nvPr/>
        </p:nvCxnSpPr>
        <p:spPr>
          <a:xfrm>
            <a:off x="4695444" y="7413498"/>
            <a:ext cx="347472" cy="0"/>
          </a:xfrm>
          <a:prstGeom prst="straightConnector1">
            <a:avLst/>
          </a:prstGeom>
          <a:noFill/>
          <a:ln w="31750" cap="flat" cmpd="sng">
            <a:solidFill>
              <a:srgbClr val="8B0707"/>
            </a:solidFill>
            <a:prstDash val="solid"/>
            <a:round/>
            <a:headEnd type="none" w="sm" len="sm"/>
            <a:tailEnd type="triangle" w="med" len="med"/>
          </a:ln>
        </p:spPr>
      </p:cxnSp>
      <p:sp>
        <p:nvSpPr>
          <p:cNvPr id="38" name="Google Shape;496;p20">
            <a:extLst>
              <a:ext uri="{FF2B5EF4-FFF2-40B4-BE49-F238E27FC236}">
                <a16:creationId xmlns:a16="http://schemas.microsoft.com/office/drawing/2014/main" id="{3BA13143-6068-EEEE-E9E1-C4991082BC9F}"/>
              </a:ext>
            </a:extLst>
          </p:cNvPr>
          <p:cNvSpPr/>
          <p:nvPr/>
        </p:nvSpPr>
        <p:spPr>
          <a:xfrm>
            <a:off x="5097780" y="5811012"/>
            <a:ext cx="3817620" cy="3204972"/>
          </a:xfrm>
          <a:prstGeom prst="rect">
            <a:avLst/>
          </a:prstGeom>
          <a:solidFill>
            <a:srgbClr val="F8EAEA"/>
          </a:solidFill>
          <a:ln w="15875" cap="flat" cmpd="sng">
            <a:solidFill>
              <a:srgbClr val="8B070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200"/>
          </a:p>
        </p:txBody>
      </p:sp>
      <p:sp>
        <p:nvSpPr>
          <p:cNvPr id="39" name="Google Shape;497;p20">
            <a:extLst>
              <a:ext uri="{FF2B5EF4-FFF2-40B4-BE49-F238E27FC236}">
                <a16:creationId xmlns:a16="http://schemas.microsoft.com/office/drawing/2014/main" id="{3872E766-3FE9-3F51-44B9-DB100EF884FD}"/>
              </a:ext>
            </a:extLst>
          </p:cNvPr>
          <p:cNvSpPr/>
          <p:nvPr/>
        </p:nvSpPr>
        <p:spPr>
          <a:xfrm>
            <a:off x="5097780" y="5811012"/>
            <a:ext cx="3817620" cy="566928"/>
          </a:xfrm>
          <a:prstGeom prst="rect">
            <a:avLst/>
          </a:prstGeom>
          <a:solidFill>
            <a:srgbClr val="5E0404"/>
          </a:solidFill>
          <a:ln>
            <a:noFill/>
          </a:ln>
        </p:spPr>
        <p:txBody>
          <a:bodyPr spcFirstLastPara="1" wrap="square" lIns="228600" tIns="0" rIns="91425" bIns="0" anchor="ctr" anchorCtr="0">
            <a:noAutofit/>
          </a:bodyPr>
          <a:lstStyle/>
          <a:p>
            <a:pPr marL="0" marR="0" lvl="0" indent="0" rtl="0">
              <a:lnSpc>
                <a:spcPct val="100000"/>
              </a:lnSpc>
              <a:spcBef>
                <a:spcPts val="0"/>
              </a:spcBef>
              <a:spcAft>
                <a:spcPts val="0"/>
              </a:spcAft>
              <a:buClr>
                <a:srgbClr val="FFFFFF"/>
              </a:buClr>
              <a:buSzPts val="1700"/>
              <a:buFont typeface="Questrial"/>
              <a:buNone/>
            </a:pPr>
            <a:r>
              <a:rPr lang="en-US" sz="2800" b="1" i="0" u="none" strike="noStrike" cap="none" dirty="0">
                <a:solidFill>
                  <a:srgbClr val="FFFFFF"/>
                </a:solidFill>
                <a:latin typeface="Questrial"/>
                <a:ea typeface="Questrial"/>
                <a:cs typeface="Questrial"/>
                <a:sym typeface="Questrial"/>
              </a:rPr>
              <a:t>Stage 6</a:t>
            </a:r>
            <a:endParaRPr sz="2800" b="0" i="0" u="none" strike="noStrike" cap="none" dirty="0">
              <a:solidFill>
                <a:schemeClr val="dk1"/>
              </a:solidFill>
              <a:latin typeface="Questrial"/>
              <a:ea typeface="Questrial"/>
              <a:cs typeface="Questrial"/>
              <a:sym typeface="Questrial"/>
            </a:endParaRPr>
          </a:p>
        </p:txBody>
      </p:sp>
      <p:sp>
        <p:nvSpPr>
          <p:cNvPr id="40" name="Google Shape;498;p20">
            <a:extLst>
              <a:ext uri="{FF2B5EF4-FFF2-40B4-BE49-F238E27FC236}">
                <a16:creationId xmlns:a16="http://schemas.microsoft.com/office/drawing/2014/main" id="{C852EB2D-3757-7846-672C-2039245A2D31}"/>
              </a:ext>
            </a:extLst>
          </p:cNvPr>
          <p:cNvSpPr txBox="1"/>
          <p:nvPr/>
        </p:nvSpPr>
        <p:spPr>
          <a:xfrm>
            <a:off x="6949440" y="5811012"/>
            <a:ext cx="1783080" cy="56692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450"/>
              <a:buFont typeface="Questrial"/>
              <a:buNone/>
            </a:pPr>
            <a:r>
              <a:rPr lang="en-US" sz="2400" b="0" i="1" u="none" strike="noStrike" cap="none" dirty="0">
                <a:solidFill>
                  <a:srgbClr val="FFFFFF"/>
                </a:solidFill>
                <a:latin typeface="Questrial"/>
                <a:ea typeface="Questrial"/>
                <a:cs typeface="Questrial"/>
                <a:sym typeface="Questrial"/>
              </a:rPr>
              <a:t>Point 2</a:t>
            </a:r>
            <a:endParaRPr sz="2400" b="0" i="0" u="none" strike="noStrike" cap="none" dirty="0">
              <a:solidFill>
                <a:schemeClr val="dk1"/>
              </a:solidFill>
              <a:latin typeface="Questrial"/>
              <a:ea typeface="Questrial"/>
              <a:cs typeface="Questrial"/>
              <a:sym typeface="Questrial"/>
            </a:endParaRPr>
          </a:p>
        </p:txBody>
      </p:sp>
      <p:sp>
        <p:nvSpPr>
          <p:cNvPr id="41" name="Google Shape;499;p20">
            <a:extLst>
              <a:ext uri="{FF2B5EF4-FFF2-40B4-BE49-F238E27FC236}">
                <a16:creationId xmlns:a16="http://schemas.microsoft.com/office/drawing/2014/main" id="{085B832B-AB8A-787C-9529-2465BB82E862}"/>
              </a:ext>
            </a:extLst>
          </p:cNvPr>
          <p:cNvSpPr txBox="1"/>
          <p:nvPr/>
        </p:nvSpPr>
        <p:spPr>
          <a:xfrm>
            <a:off x="5326380" y="6496812"/>
            <a:ext cx="340614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1950"/>
              <a:buFont typeface="Questrial"/>
              <a:buNone/>
            </a:pPr>
            <a:r>
              <a:rPr lang="en-US" sz="2800" b="1" i="0" u="none" strike="noStrike" cap="none" dirty="0">
                <a:solidFill>
                  <a:srgbClr val="8B0707"/>
                </a:solidFill>
                <a:latin typeface="Questrial"/>
                <a:ea typeface="Questrial"/>
                <a:cs typeface="Questrial"/>
                <a:sym typeface="Questrial"/>
              </a:rPr>
              <a:t>Hospital layer</a:t>
            </a:r>
            <a:endParaRPr sz="2800" b="0" i="0" u="none" strike="noStrike" cap="none" dirty="0">
              <a:solidFill>
                <a:schemeClr val="dk1"/>
              </a:solidFill>
              <a:latin typeface="Questrial"/>
              <a:ea typeface="Questrial"/>
              <a:cs typeface="Questrial"/>
              <a:sym typeface="Questrial"/>
            </a:endParaRPr>
          </a:p>
        </p:txBody>
      </p:sp>
      <p:sp>
        <p:nvSpPr>
          <p:cNvPr id="42" name="Google Shape;500;p20">
            <a:extLst>
              <a:ext uri="{FF2B5EF4-FFF2-40B4-BE49-F238E27FC236}">
                <a16:creationId xmlns:a16="http://schemas.microsoft.com/office/drawing/2014/main" id="{8B530050-817E-F238-41D9-A43D3FB87FC9}"/>
              </a:ext>
            </a:extLst>
          </p:cNvPr>
          <p:cNvSpPr txBox="1"/>
          <p:nvPr/>
        </p:nvSpPr>
        <p:spPr>
          <a:xfrm>
            <a:off x="5326380" y="6999732"/>
            <a:ext cx="3406140" cy="1924812"/>
          </a:xfrm>
          <a:prstGeom prst="rect">
            <a:avLst/>
          </a:prstGeom>
          <a:noFill/>
          <a:ln>
            <a:noFill/>
          </a:ln>
        </p:spPr>
        <p:txBody>
          <a:bodyPr spcFirstLastPara="1" wrap="square" lIns="0" tIns="0" rIns="0" bIns="0" anchor="t" anchorCtr="0">
            <a:noAutofit/>
          </a:bodyPr>
          <a:lstStyle/>
          <a:p>
            <a:pPr marL="0" marR="0" lvl="0" indent="0" algn="ctr" rtl="0">
              <a:lnSpc>
                <a:spcPct val="102000"/>
              </a:lnSpc>
              <a:spcBef>
                <a:spcPts val="0"/>
              </a:spcBef>
              <a:spcAft>
                <a:spcPts val="0"/>
              </a:spcAft>
              <a:buClr>
                <a:srgbClr val="2B2020"/>
              </a:buClr>
              <a:buSzPts val="1750"/>
              <a:buFont typeface="Questrial"/>
              <a:buNone/>
            </a:pPr>
            <a:r>
              <a:rPr lang="en-US" sz="2200" b="0" i="0" u="none" strike="noStrike" cap="none" dirty="0">
                <a:solidFill>
                  <a:srgbClr val="2B2020"/>
                </a:solidFill>
                <a:latin typeface="Questrial"/>
                <a:ea typeface="Questrial"/>
                <a:cs typeface="Questrial"/>
                <a:sym typeface="Questrial"/>
              </a:rPr>
              <a:t>Each hospital gets its level, ER flag, ownership, PhilHealth and Malasakit status, and a cost class from 0 to 3.</a:t>
            </a:r>
            <a:endParaRPr sz="2200" b="0" i="0" u="none" strike="noStrike" cap="none" dirty="0">
              <a:solidFill>
                <a:schemeClr val="dk1"/>
              </a:solidFill>
              <a:latin typeface="Questrial"/>
              <a:ea typeface="Questrial"/>
              <a:cs typeface="Questrial"/>
              <a:sym typeface="Questrial"/>
            </a:endParaRPr>
          </a:p>
        </p:txBody>
      </p:sp>
      <p:cxnSp>
        <p:nvCxnSpPr>
          <p:cNvPr id="43" name="Google Shape;501;p20">
            <a:extLst>
              <a:ext uri="{FF2B5EF4-FFF2-40B4-BE49-F238E27FC236}">
                <a16:creationId xmlns:a16="http://schemas.microsoft.com/office/drawing/2014/main" id="{A93B9A77-B61C-452E-FCC0-60439277A9BB}"/>
              </a:ext>
            </a:extLst>
          </p:cNvPr>
          <p:cNvCxnSpPr/>
          <p:nvPr/>
        </p:nvCxnSpPr>
        <p:spPr>
          <a:xfrm>
            <a:off x="8970264" y="7413498"/>
            <a:ext cx="347472" cy="0"/>
          </a:xfrm>
          <a:prstGeom prst="straightConnector1">
            <a:avLst/>
          </a:prstGeom>
          <a:noFill/>
          <a:ln w="31750" cap="flat" cmpd="sng">
            <a:solidFill>
              <a:srgbClr val="8B0707"/>
            </a:solidFill>
            <a:prstDash val="solid"/>
            <a:round/>
            <a:headEnd type="none" w="sm" len="sm"/>
            <a:tailEnd type="triangle" w="med" len="med"/>
          </a:ln>
        </p:spPr>
      </p:cxnSp>
      <p:sp>
        <p:nvSpPr>
          <p:cNvPr id="44" name="Google Shape;502;p20">
            <a:extLst>
              <a:ext uri="{FF2B5EF4-FFF2-40B4-BE49-F238E27FC236}">
                <a16:creationId xmlns:a16="http://schemas.microsoft.com/office/drawing/2014/main" id="{A6B9EBBA-727A-9427-7074-4976337CE597}"/>
              </a:ext>
            </a:extLst>
          </p:cNvPr>
          <p:cNvSpPr/>
          <p:nvPr/>
        </p:nvSpPr>
        <p:spPr>
          <a:xfrm>
            <a:off x="9372600" y="5811012"/>
            <a:ext cx="3817620" cy="3204972"/>
          </a:xfrm>
          <a:prstGeom prst="rect">
            <a:avLst/>
          </a:prstGeom>
          <a:solidFill>
            <a:srgbClr val="F8EAEA"/>
          </a:solidFill>
          <a:ln w="15875" cap="flat" cmpd="sng">
            <a:solidFill>
              <a:srgbClr val="8B0707"/>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200"/>
          </a:p>
        </p:txBody>
      </p:sp>
      <p:sp>
        <p:nvSpPr>
          <p:cNvPr id="45" name="Google Shape;503;p20">
            <a:extLst>
              <a:ext uri="{FF2B5EF4-FFF2-40B4-BE49-F238E27FC236}">
                <a16:creationId xmlns:a16="http://schemas.microsoft.com/office/drawing/2014/main" id="{9E269ECD-C59F-A3EF-5CD2-75064A02E8F2}"/>
              </a:ext>
            </a:extLst>
          </p:cNvPr>
          <p:cNvSpPr/>
          <p:nvPr/>
        </p:nvSpPr>
        <p:spPr>
          <a:xfrm>
            <a:off x="9372600" y="5811012"/>
            <a:ext cx="3817620" cy="566928"/>
          </a:xfrm>
          <a:prstGeom prst="rect">
            <a:avLst/>
          </a:prstGeom>
          <a:solidFill>
            <a:srgbClr val="5E0404"/>
          </a:solidFill>
          <a:ln>
            <a:noFill/>
          </a:ln>
        </p:spPr>
        <p:txBody>
          <a:bodyPr spcFirstLastPara="1" wrap="square" lIns="228600" tIns="0" rIns="91425" bIns="0" anchor="ctr" anchorCtr="0">
            <a:noAutofit/>
          </a:bodyPr>
          <a:lstStyle/>
          <a:p>
            <a:pPr marL="0" marR="0" lvl="0" indent="0" rtl="0">
              <a:lnSpc>
                <a:spcPct val="100000"/>
              </a:lnSpc>
              <a:spcBef>
                <a:spcPts val="0"/>
              </a:spcBef>
              <a:spcAft>
                <a:spcPts val="0"/>
              </a:spcAft>
              <a:buClr>
                <a:srgbClr val="FFFFFF"/>
              </a:buClr>
              <a:buSzPts val="1700"/>
              <a:buFont typeface="Questrial"/>
              <a:buNone/>
            </a:pPr>
            <a:r>
              <a:rPr lang="en-US" sz="2800" b="1" i="0" u="none" strike="noStrike" cap="none" dirty="0">
                <a:solidFill>
                  <a:srgbClr val="FFFFFF"/>
                </a:solidFill>
                <a:latin typeface="Questrial"/>
                <a:ea typeface="Questrial"/>
                <a:cs typeface="Questrial"/>
                <a:sym typeface="Questrial"/>
              </a:rPr>
              <a:t>Stage 7</a:t>
            </a:r>
            <a:endParaRPr sz="2800" b="0" i="0" u="none" strike="noStrike" cap="none" dirty="0">
              <a:solidFill>
                <a:schemeClr val="dk1"/>
              </a:solidFill>
              <a:latin typeface="Questrial"/>
              <a:ea typeface="Questrial"/>
              <a:cs typeface="Questrial"/>
              <a:sym typeface="Questrial"/>
            </a:endParaRPr>
          </a:p>
        </p:txBody>
      </p:sp>
      <p:sp>
        <p:nvSpPr>
          <p:cNvPr id="46" name="Google Shape;504;p20">
            <a:extLst>
              <a:ext uri="{FF2B5EF4-FFF2-40B4-BE49-F238E27FC236}">
                <a16:creationId xmlns:a16="http://schemas.microsoft.com/office/drawing/2014/main" id="{9A26F274-BBB4-388B-67FF-42DAE435DBD6}"/>
              </a:ext>
            </a:extLst>
          </p:cNvPr>
          <p:cNvSpPr txBox="1"/>
          <p:nvPr/>
        </p:nvSpPr>
        <p:spPr>
          <a:xfrm>
            <a:off x="11304270" y="5792724"/>
            <a:ext cx="1783080" cy="56692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450"/>
              <a:buFont typeface="Questrial"/>
              <a:buNone/>
            </a:pPr>
            <a:r>
              <a:rPr lang="en-US" sz="2400" b="0" i="1" u="none" strike="noStrike" cap="none" dirty="0">
                <a:solidFill>
                  <a:srgbClr val="FFFFFF"/>
                </a:solidFill>
                <a:latin typeface="Questrial"/>
                <a:ea typeface="Questrial"/>
                <a:cs typeface="Questrial"/>
                <a:sym typeface="Questrial"/>
              </a:rPr>
              <a:t>Point 3</a:t>
            </a:r>
            <a:endParaRPr sz="2400" b="0" i="0" u="none" strike="noStrike" cap="none" dirty="0">
              <a:solidFill>
                <a:schemeClr val="dk1"/>
              </a:solidFill>
              <a:latin typeface="Questrial"/>
              <a:ea typeface="Questrial"/>
              <a:cs typeface="Questrial"/>
              <a:sym typeface="Questrial"/>
            </a:endParaRPr>
          </a:p>
        </p:txBody>
      </p:sp>
      <p:sp>
        <p:nvSpPr>
          <p:cNvPr id="47" name="Google Shape;505;p20">
            <a:extLst>
              <a:ext uri="{FF2B5EF4-FFF2-40B4-BE49-F238E27FC236}">
                <a16:creationId xmlns:a16="http://schemas.microsoft.com/office/drawing/2014/main" id="{A355B20C-F0C3-76F9-638E-B842D7910457}"/>
              </a:ext>
            </a:extLst>
          </p:cNvPr>
          <p:cNvSpPr txBox="1"/>
          <p:nvPr/>
        </p:nvSpPr>
        <p:spPr>
          <a:xfrm>
            <a:off x="9601200" y="6496812"/>
            <a:ext cx="340614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1950"/>
              <a:buFont typeface="Questrial"/>
              <a:buNone/>
            </a:pPr>
            <a:r>
              <a:rPr lang="en-US" sz="2800" b="1" i="0" u="none" strike="noStrike" cap="none" dirty="0">
                <a:solidFill>
                  <a:srgbClr val="8B0707"/>
                </a:solidFill>
                <a:latin typeface="Questrial"/>
                <a:ea typeface="Questrial"/>
                <a:cs typeface="Questrial"/>
                <a:sym typeface="Questrial"/>
              </a:rPr>
              <a:t>Bed tracking</a:t>
            </a:r>
            <a:endParaRPr sz="2800" b="0" i="0" u="none" strike="noStrike" cap="none" dirty="0">
              <a:solidFill>
                <a:schemeClr val="dk1"/>
              </a:solidFill>
              <a:latin typeface="Questrial"/>
              <a:ea typeface="Questrial"/>
              <a:cs typeface="Questrial"/>
              <a:sym typeface="Questrial"/>
            </a:endParaRPr>
          </a:p>
        </p:txBody>
      </p:sp>
      <p:sp>
        <p:nvSpPr>
          <p:cNvPr id="48" name="Google Shape;506;p20">
            <a:extLst>
              <a:ext uri="{FF2B5EF4-FFF2-40B4-BE49-F238E27FC236}">
                <a16:creationId xmlns:a16="http://schemas.microsoft.com/office/drawing/2014/main" id="{E67AA211-D511-3ECB-4D95-E0A01F24C203}"/>
              </a:ext>
            </a:extLst>
          </p:cNvPr>
          <p:cNvSpPr txBox="1"/>
          <p:nvPr/>
        </p:nvSpPr>
        <p:spPr>
          <a:xfrm>
            <a:off x="9601200" y="6999732"/>
            <a:ext cx="3406140" cy="1924812"/>
          </a:xfrm>
          <a:prstGeom prst="rect">
            <a:avLst/>
          </a:prstGeom>
          <a:noFill/>
          <a:ln>
            <a:noFill/>
          </a:ln>
        </p:spPr>
        <p:txBody>
          <a:bodyPr spcFirstLastPara="1" wrap="square" lIns="0" tIns="0" rIns="0" bIns="0" anchor="t" anchorCtr="0">
            <a:noAutofit/>
          </a:bodyPr>
          <a:lstStyle/>
          <a:p>
            <a:pPr marL="0" marR="0" lvl="0" indent="0" algn="ctr" rtl="0">
              <a:lnSpc>
                <a:spcPct val="102000"/>
              </a:lnSpc>
              <a:spcBef>
                <a:spcPts val="0"/>
              </a:spcBef>
              <a:spcAft>
                <a:spcPts val="0"/>
              </a:spcAft>
              <a:buClr>
                <a:srgbClr val="2B2020"/>
              </a:buClr>
              <a:buSzPts val="1750"/>
              <a:buFont typeface="Questrial"/>
              <a:buNone/>
            </a:pPr>
            <a:r>
              <a:rPr lang="en-US" sz="2200" b="0" i="0" u="none" strike="noStrike" cap="none">
                <a:solidFill>
                  <a:srgbClr val="2B2020"/>
                </a:solidFill>
                <a:latin typeface="Questrial"/>
                <a:ea typeface="Questrial"/>
                <a:cs typeface="Questrial"/>
                <a:sym typeface="Questrial"/>
              </a:rPr>
              <a:t>The agents send inquiries, read replies, and check them against rules V1 to V5. This runs only on a simulated mail server.</a:t>
            </a:r>
            <a:endParaRPr sz="2200" b="0" i="0" u="none" strike="noStrike" cap="none">
              <a:solidFill>
                <a:schemeClr val="dk1"/>
              </a:solidFill>
              <a:latin typeface="Questrial"/>
              <a:ea typeface="Questrial"/>
              <a:cs typeface="Questrial"/>
              <a:sym typeface="Questrial"/>
            </a:endParaRPr>
          </a:p>
        </p:txBody>
      </p:sp>
      <p:cxnSp>
        <p:nvCxnSpPr>
          <p:cNvPr id="49" name="Google Shape;507;p20">
            <a:extLst>
              <a:ext uri="{FF2B5EF4-FFF2-40B4-BE49-F238E27FC236}">
                <a16:creationId xmlns:a16="http://schemas.microsoft.com/office/drawing/2014/main" id="{346CEB60-0EEA-367C-CD1D-318379E6954C}"/>
              </a:ext>
            </a:extLst>
          </p:cNvPr>
          <p:cNvCxnSpPr/>
          <p:nvPr/>
        </p:nvCxnSpPr>
        <p:spPr>
          <a:xfrm>
            <a:off x="13245084" y="7413498"/>
            <a:ext cx="347472" cy="0"/>
          </a:xfrm>
          <a:prstGeom prst="straightConnector1">
            <a:avLst/>
          </a:prstGeom>
          <a:noFill/>
          <a:ln w="31750" cap="flat" cmpd="sng">
            <a:solidFill>
              <a:srgbClr val="8B0707"/>
            </a:solidFill>
            <a:prstDash val="solid"/>
            <a:round/>
            <a:headEnd type="none" w="sm" len="sm"/>
            <a:tailEnd type="triangle" w="med" len="med"/>
          </a:ln>
        </p:spPr>
      </p:cxnSp>
      <p:sp>
        <p:nvSpPr>
          <p:cNvPr id="50" name="Google Shape;508;p20">
            <a:extLst>
              <a:ext uri="{FF2B5EF4-FFF2-40B4-BE49-F238E27FC236}">
                <a16:creationId xmlns:a16="http://schemas.microsoft.com/office/drawing/2014/main" id="{2428AA02-3B33-F1A3-C7AA-8CD7BB5104A7}"/>
              </a:ext>
            </a:extLst>
          </p:cNvPr>
          <p:cNvSpPr/>
          <p:nvPr/>
        </p:nvSpPr>
        <p:spPr>
          <a:xfrm>
            <a:off x="13647420" y="5811012"/>
            <a:ext cx="3817620" cy="320497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200"/>
          </a:p>
        </p:txBody>
      </p:sp>
      <p:sp>
        <p:nvSpPr>
          <p:cNvPr id="51" name="Google Shape;509;p20">
            <a:extLst>
              <a:ext uri="{FF2B5EF4-FFF2-40B4-BE49-F238E27FC236}">
                <a16:creationId xmlns:a16="http://schemas.microsoft.com/office/drawing/2014/main" id="{8F422483-9C75-3049-8912-54252E1E3280}"/>
              </a:ext>
            </a:extLst>
          </p:cNvPr>
          <p:cNvSpPr/>
          <p:nvPr/>
        </p:nvSpPr>
        <p:spPr>
          <a:xfrm>
            <a:off x="13647420" y="5811012"/>
            <a:ext cx="3817620" cy="566928"/>
          </a:xfrm>
          <a:prstGeom prst="rect">
            <a:avLst/>
          </a:prstGeom>
          <a:solidFill>
            <a:srgbClr val="8B0707"/>
          </a:solidFill>
          <a:ln>
            <a:noFill/>
          </a:ln>
        </p:spPr>
        <p:txBody>
          <a:bodyPr spcFirstLastPara="1" wrap="square" lIns="228600" tIns="0" rIns="91425" bIns="0" anchor="ctr" anchorCtr="0">
            <a:noAutofit/>
          </a:bodyPr>
          <a:lstStyle/>
          <a:p>
            <a:pPr marL="0" marR="0" lvl="0" indent="0" rtl="0">
              <a:lnSpc>
                <a:spcPct val="100000"/>
              </a:lnSpc>
              <a:spcBef>
                <a:spcPts val="0"/>
              </a:spcBef>
              <a:spcAft>
                <a:spcPts val="0"/>
              </a:spcAft>
              <a:buClr>
                <a:srgbClr val="FFFFFF"/>
              </a:buClr>
              <a:buSzPts val="1700"/>
              <a:buFont typeface="Questrial"/>
              <a:buNone/>
            </a:pPr>
            <a:r>
              <a:rPr lang="en-US" sz="2800" b="1" i="0" u="none" strike="noStrike" cap="none" dirty="0">
                <a:solidFill>
                  <a:srgbClr val="FFFFFF"/>
                </a:solidFill>
                <a:latin typeface="Questrial"/>
                <a:ea typeface="Questrial"/>
                <a:cs typeface="Questrial"/>
                <a:sym typeface="Questrial"/>
              </a:rPr>
              <a:t>Stage 8</a:t>
            </a:r>
            <a:endParaRPr sz="2800" b="0" i="0" u="none" strike="noStrike" cap="none" dirty="0">
              <a:solidFill>
                <a:schemeClr val="dk1"/>
              </a:solidFill>
              <a:latin typeface="Questrial"/>
              <a:ea typeface="Questrial"/>
              <a:cs typeface="Questrial"/>
              <a:sym typeface="Questrial"/>
            </a:endParaRPr>
          </a:p>
        </p:txBody>
      </p:sp>
      <p:sp>
        <p:nvSpPr>
          <p:cNvPr id="52" name="Google Shape;510;p20">
            <a:extLst>
              <a:ext uri="{FF2B5EF4-FFF2-40B4-BE49-F238E27FC236}">
                <a16:creationId xmlns:a16="http://schemas.microsoft.com/office/drawing/2014/main" id="{45E1A310-2F79-8CE5-B696-28FBCF9A7EAB}"/>
              </a:ext>
            </a:extLst>
          </p:cNvPr>
          <p:cNvSpPr txBox="1"/>
          <p:nvPr/>
        </p:nvSpPr>
        <p:spPr>
          <a:xfrm>
            <a:off x="15499080" y="5811012"/>
            <a:ext cx="1783080" cy="56692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1450"/>
              <a:buFont typeface="Questrial"/>
              <a:buNone/>
            </a:pPr>
            <a:r>
              <a:rPr lang="en-US" sz="2200" b="0" i="1" u="none" strike="noStrike" cap="none" dirty="0">
                <a:solidFill>
                  <a:srgbClr val="FFFFFF"/>
                </a:solidFill>
                <a:latin typeface="Questrial"/>
                <a:ea typeface="Questrial"/>
                <a:cs typeface="Questrial"/>
                <a:sym typeface="Questrial"/>
              </a:rPr>
              <a:t>All </a:t>
            </a:r>
            <a:r>
              <a:rPr lang="en-US" sz="2400" b="0" i="1" u="none" strike="noStrike" cap="none" dirty="0">
                <a:solidFill>
                  <a:srgbClr val="FFFFFF"/>
                </a:solidFill>
                <a:latin typeface="Questrial"/>
                <a:ea typeface="Questrial"/>
                <a:cs typeface="Questrial"/>
                <a:sym typeface="Questrial"/>
              </a:rPr>
              <a:t>points</a:t>
            </a:r>
            <a:endParaRPr sz="2400" b="0" i="0" u="none" strike="noStrike" cap="none" dirty="0">
              <a:solidFill>
                <a:schemeClr val="dk1"/>
              </a:solidFill>
              <a:latin typeface="Questrial"/>
              <a:ea typeface="Questrial"/>
              <a:cs typeface="Questrial"/>
              <a:sym typeface="Questrial"/>
            </a:endParaRPr>
          </a:p>
        </p:txBody>
      </p:sp>
      <p:sp>
        <p:nvSpPr>
          <p:cNvPr id="53" name="Google Shape;511;p20">
            <a:extLst>
              <a:ext uri="{FF2B5EF4-FFF2-40B4-BE49-F238E27FC236}">
                <a16:creationId xmlns:a16="http://schemas.microsoft.com/office/drawing/2014/main" id="{24C1AD82-619B-D1E6-5B2D-702B6834233B}"/>
              </a:ext>
            </a:extLst>
          </p:cNvPr>
          <p:cNvSpPr txBox="1"/>
          <p:nvPr/>
        </p:nvSpPr>
        <p:spPr>
          <a:xfrm>
            <a:off x="13876020" y="6496812"/>
            <a:ext cx="340614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1950"/>
              <a:buFont typeface="Questrial"/>
              <a:buNone/>
            </a:pPr>
            <a:r>
              <a:rPr lang="en-US" sz="2800" b="1" i="0" u="none" strike="noStrike" cap="none" dirty="0">
                <a:solidFill>
                  <a:srgbClr val="8B0707"/>
                </a:solidFill>
                <a:latin typeface="Questrial"/>
                <a:ea typeface="Questrial"/>
                <a:cs typeface="Questrial"/>
                <a:sym typeface="Questrial"/>
              </a:rPr>
              <a:t>Prototype</a:t>
            </a:r>
            <a:endParaRPr sz="2800" b="0" i="0" u="none" strike="noStrike" cap="none" dirty="0">
              <a:solidFill>
                <a:schemeClr val="dk1"/>
              </a:solidFill>
              <a:latin typeface="Questrial"/>
              <a:ea typeface="Questrial"/>
              <a:cs typeface="Questrial"/>
              <a:sym typeface="Questrial"/>
            </a:endParaRPr>
          </a:p>
        </p:txBody>
      </p:sp>
      <p:sp>
        <p:nvSpPr>
          <p:cNvPr id="54" name="Google Shape;512;p20">
            <a:extLst>
              <a:ext uri="{FF2B5EF4-FFF2-40B4-BE49-F238E27FC236}">
                <a16:creationId xmlns:a16="http://schemas.microsoft.com/office/drawing/2014/main" id="{14A46EFF-EE06-6A8C-79B8-E7BC8AC9184F}"/>
              </a:ext>
            </a:extLst>
          </p:cNvPr>
          <p:cNvSpPr txBox="1"/>
          <p:nvPr/>
        </p:nvSpPr>
        <p:spPr>
          <a:xfrm>
            <a:off x="13876020" y="6999732"/>
            <a:ext cx="3406140" cy="1924812"/>
          </a:xfrm>
          <a:prstGeom prst="rect">
            <a:avLst/>
          </a:prstGeom>
          <a:noFill/>
          <a:ln>
            <a:noFill/>
          </a:ln>
        </p:spPr>
        <p:txBody>
          <a:bodyPr spcFirstLastPara="1" wrap="square" lIns="0" tIns="0" rIns="0" bIns="0" anchor="t" anchorCtr="0">
            <a:noAutofit/>
          </a:bodyPr>
          <a:lstStyle/>
          <a:p>
            <a:pPr marL="0" marR="0" lvl="0" indent="0" algn="ctr" rtl="0">
              <a:lnSpc>
                <a:spcPct val="102000"/>
              </a:lnSpc>
              <a:spcBef>
                <a:spcPts val="0"/>
              </a:spcBef>
              <a:spcAft>
                <a:spcPts val="0"/>
              </a:spcAft>
              <a:buClr>
                <a:srgbClr val="2B2020"/>
              </a:buClr>
              <a:buSzPts val="1750"/>
              <a:buFont typeface="Questrial"/>
              <a:buNone/>
            </a:pPr>
            <a:r>
              <a:rPr lang="en-US" sz="2200" b="0" i="0" u="none" strike="noStrike" cap="none">
                <a:solidFill>
                  <a:srgbClr val="2B2020"/>
                </a:solidFill>
                <a:latin typeface="Questrial"/>
                <a:ea typeface="Questrial"/>
                <a:cs typeface="Questrial"/>
                <a:sym typeface="Questrial"/>
              </a:rPr>
              <a:t>Transit map and fares, hospital mode, and the bed dashboard are put together in one web application.</a:t>
            </a:r>
            <a:endParaRPr sz="2200" b="0" i="0" u="none" strike="noStrike" cap="none">
              <a:solidFill>
                <a:schemeClr val="dk1"/>
              </a:solidFill>
              <a:latin typeface="Questrial"/>
              <a:ea typeface="Questrial"/>
              <a:cs typeface="Questrial"/>
              <a:sym typeface="Questrial"/>
            </a:endParaRPr>
          </a:p>
        </p:txBody>
      </p:sp>
      <p:cxnSp>
        <p:nvCxnSpPr>
          <p:cNvPr id="55" name="Google Shape;513;p20">
            <a:extLst>
              <a:ext uri="{FF2B5EF4-FFF2-40B4-BE49-F238E27FC236}">
                <a16:creationId xmlns:a16="http://schemas.microsoft.com/office/drawing/2014/main" id="{0E9FE5E1-CCF9-4904-E706-96F6D7F0F7ED}"/>
              </a:ext>
            </a:extLst>
          </p:cNvPr>
          <p:cNvCxnSpPr/>
          <p:nvPr/>
        </p:nvCxnSpPr>
        <p:spPr>
          <a:xfrm>
            <a:off x="15556230" y="5308092"/>
            <a:ext cx="0" cy="251460"/>
          </a:xfrm>
          <a:prstGeom prst="straightConnector1">
            <a:avLst/>
          </a:prstGeom>
          <a:noFill/>
          <a:ln w="31750" cap="flat" cmpd="sng">
            <a:solidFill>
              <a:srgbClr val="8B0707"/>
            </a:solidFill>
            <a:prstDash val="solid"/>
            <a:round/>
            <a:headEnd type="none" w="sm" len="sm"/>
            <a:tailEnd type="none" w="sm" len="sm"/>
          </a:ln>
        </p:spPr>
      </p:cxnSp>
      <p:cxnSp>
        <p:nvCxnSpPr>
          <p:cNvPr id="56" name="Google Shape;514;p20">
            <a:extLst>
              <a:ext uri="{FF2B5EF4-FFF2-40B4-BE49-F238E27FC236}">
                <a16:creationId xmlns:a16="http://schemas.microsoft.com/office/drawing/2014/main" id="{D4CC9CB8-1D6C-95C6-C8C4-2D86ADE57777}"/>
              </a:ext>
            </a:extLst>
          </p:cNvPr>
          <p:cNvCxnSpPr/>
          <p:nvPr/>
        </p:nvCxnSpPr>
        <p:spPr>
          <a:xfrm rot="10800000">
            <a:off x="2731770" y="5559552"/>
            <a:ext cx="12824460" cy="0"/>
          </a:xfrm>
          <a:prstGeom prst="straightConnector1">
            <a:avLst/>
          </a:prstGeom>
          <a:noFill/>
          <a:ln w="31750" cap="flat" cmpd="sng">
            <a:solidFill>
              <a:srgbClr val="8B0707"/>
            </a:solidFill>
            <a:prstDash val="solid"/>
            <a:round/>
            <a:headEnd type="none" w="sm" len="sm"/>
            <a:tailEnd type="none" w="sm" len="sm"/>
          </a:ln>
        </p:spPr>
      </p:cxnSp>
      <p:cxnSp>
        <p:nvCxnSpPr>
          <p:cNvPr id="57" name="Google Shape;515;p20">
            <a:extLst>
              <a:ext uri="{FF2B5EF4-FFF2-40B4-BE49-F238E27FC236}">
                <a16:creationId xmlns:a16="http://schemas.microsoft.com/office/drawing/2014/main" id="{B06BF5EE-A75B-08E2-AF30-6AA138D74FBB}"/>
              </a:ext>
            </a:extLst>
          </p:cNvPr>
          <p:cNvCxnSpPr/>
          <p:nvPr/>
        </p:nvCxnSpPr>
        <p:spPr>
          <a:xfrm>
            <a:off x="2731770" y="5559552"/>
            <a:ext cx="0" cy="233172"/>
          </a:xfrm>
          <a:prstGeom prst="straightConnector1">
            <a:avLst/>
          </a:prstGeom>
          <a:noFill/>
          <a:ln w="31750" cap="flat" cmpd="sng">
            <a:solidFill>
              <a:srgbClr val="8B0707"/>
            </a:solidFill>
            <a:prstDash val="solid"/>
            <a:round/>
            <a:headEnd type="none" w="sm" len="sm"/>
            <a:tailEnd type="triangle" w="med" len="med"/>
          </a:ln>
        </p:spPr>
      </p:cxnSp>
      <p:sp>
        <p:nvSpPr>
          <p:cNvPr id="58" name="Google Shape;516;p20">
            <a:extLst>
              <a:ext uri="{FF2B5EF4-FFF2-40B4-BE49-F238E27FC236}">
                <a16:creationId xmlns:a16="http://schemas.microsoft.com/office/drawing/2014/main" id="{96AFCE29-68B6-CAD6-4D46-5BFD6B110477}"/>
              </a:ext>
            </a:extLst>
          </p:cNvPr>
          <p:cNvSpPr txBox="1"/>
          <p:nvPr/>
        </p:nvSpPr>
        <p:spPr>
          <a:xfrm>
            <a:off x="822960" y="9125712"/>
            <a:ext cx="16642080"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A5656"/>
              </a:buClr>
              <a:buSzPts val="1600"/>
              <a:buFont typeface="Questrial"/>
              <a:buNone/>
            </a:pPr>
            <a:r>
              <a:rPr lang="en-US" sz="1600" b="0" i="1" u="none" strike="noStrike" cap="none">
                <a:solidFill>
                  <a:srgbClr val="6A5656"/>
                </a:solidFill>
                <a:latin typeface="Questrial"/>
                <a:ea typeface="Questrial"/>
                <a:cs typeface="Questrial"/>
                <a:sym typeface="Questrial"/>
              </a:rPr>
              <a:t>Figure 3. Data gathering procedure and the main point each stage serves. Stages 6 and 7 (dashed) belong to the hospital extension.</a:t>
            </a:r>
            <a:endParaRPr sz="1600" b="0" i="0" u="none" strike="noStrike" cap="none">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3268433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01B9E90D-C48D-42EB-1F75-3DCA7B26DE65}"/>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A84D22AB-1958-6862-141E-A8665B9B15B5}"/>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dirty="0"/>
          </a:p>
        </p:txBody>
      </p:sp>
      <p:grpSp>
        <p:nvGrpSpPr>
          <p:cNvPr id="2" name="Google Shape;523;p21">
            <a:extLst>
              <a:ext uri="{FF2B5EF4-FFF2-40B4-BE49-F238E27FC236}">
                <a16:creationId xmlns:a16="http://schemas.microsoft.com/office/drawing/2014/main" id="{0CDF1CC9-6C2E-6DE6-3003-901A3E9C48FE}"/>
              </a:ext>
            </a:extLst>
          </p:cNvPr>
          <p:cNvGrpSpPr/>
          <p:nvPr/>
        </p:nvGrpSpPr>
        <p:grpSpPr>
          <a:xfrm>
            <a:off x="-618445" y="-1284934"/>
            <a:ext cx="19524889" cy="2953915"/>
            <a:chOff x="0" y="-76200"/>
            <a:chExt cx="5142358" cy="777986"/>
          </a:xfrm>
        </p:grpSpPr>
        <p:sp>
          <p:nvSpPr>
            <p:cNvPr id="3" name="Google Shape;524;p21">
              <a:extLst>
                <a:ext uri="{FF2B5EF4-FFF2-40B4-BE49-F238E27FC236}">
                  <a16:creationId xmlns:a16="http://schemas.microsoft.com/office/drawing/2014/main" id="{65AA03ED-C366-8900-B5F1-9D32D54FF4D7}"/>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525;p21">
              <a:extLst>
                <a:ext uri="{FF2B5EF4-FFF2-40B4-BE49-F238E27FC236}">
                  <a16:creationId xmlns:a16="http://schemas.microsoft.com/office/drawing/2014/main" id="{2C5B5E9D-3A0D-665F-CA14-458B38357271}"/>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 name="Google Shape;526;p21">
            <a:extLst>
              <a:ext uri="{FF2B5EF4-FFF2-40B4-BE49-F238E27FC236}">
                <a16:creationId xmlns:a16="http://schemas.microsoft.com/office/drawing/2014/main" id="{59ABB521-34D1-C1BA-BC58-4BDE0FEFADCE}"/>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METHODOLOGY</a:t>
            </a:r>
            <a:endParaRPr/>
          </a:p>
        </p:txBody>
      </p:sp>
      <p:sp>
        <p:nvSpPr>
          <p:cNvPr id="76" name="Google Shape;528;p21">
            <a:extLst>
              <a:ext uri="{FF2B5EF4-FFF2-40B4-BE49-F238E27FC236}">
                <a16:creationId xmlns:a16="http://schemas.microsoft.com/office/drawing/2014/main" id="{D1F6E3A7-1D1E-89CD-21AA-658C85B5A4BE}"/>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800" b="0" i="0" u="none" strike="noStrike" cap="none">
                <a:solidFill>
                  <a:srgbClr val="8B0707"/>
                </a:solidFill>
                <a:latin typeface="Questrial"/>
                <a:ea typeface="Questrial"/>
                <a:cs typeface="Questrial"/>
                <a:sym typeface="Questrial"/>
              </a:rPr>
              <a:t>21</a:t>
            </a:r>
            <a:endParaRPr sz="1800" b="0" i="0" u="none" strike="noStrike" cap="none">
              <a:solidFill>
                <a:schemeClr val="dk1"/>
              </a:solidFill>
              <a:latin typeface="Questrial"/>
              <a:ea typeface="Questrial"/>
              <a:cs typeface="Questrial"/>
              <a:sym typeface="Questrial"/>
            </a:endParaRPr>
          </a:p>
        </p:txBody>
      </p:sp>
      <p:sp>
        <p:nvSpPr>
          <p:cNvPr id="78" name="Google Shape;529;p21">
            <a:extLst>
              <a:ext uri="{FF2B5EF4-FFF2-40B4-BE49-F238E27FC236}">
                <a16:creationId xmlns:a16="http://schemas.microsoft.com/office/drawing/2014/main" id="{A05144D7-4225-21AE-395C-02EB69A92534}"/>
              </a:ext>
            </a:extLst>
          </p:cNvPr>
          <p:cNvSpPr txBox="1"/>
          <p:nvPr/>
        </p:nvSpPr>
        <p:spPr>
          <a:xfrm>
            <a:off x="877824" y="1785959"/>
            <a:ext cx="85039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2100"/>
              <a:buFont typeface="Questrial"/>
              <a:buNone/>
            </a:pPr>
            <a:r>
              <a:rPr lang="en-US" sz="2800" b="1" i="0" u="none" strike="noStrike" cap="none" dirty="0">
                <a:solidFill>
                  <a:schemeClr val="bg1"/>
                </a:solidFill>
                <a:latin typeface="Questrial"/>
                <a:ea typeface="Questrial"/>
                <a:cs typeface="Questrial"/>
                <a:sym typeface="Questrial"/>
              </a:rPr>
              <a:t>Model equations, by main point</a:t>
            </a:r>
            <a:endParaRPr sz="2800" b="0" i="0" u="none" strike="noStrike" cap="none" dirty="0">
              <a:solidFill>
                <a:schemeClr val="bg1"/>
              </a:solidFill>
              <a:latin typeface="Questrial"/>
              <a:ea typeface="Questrial"/>
              <a:cs typeface="Questrial"/>
              <a:sym typeface="Questrial"/>
            </a:endParaRPr>
          </a:p>
        </p:txBody>
      </p:sp>
      <p:sp>
        <p:nvSpPr>
          <p:cNvPr id="80" name="Google Shape;530;p21">
            <a:extLst>
              <a:ext uri="{FF2B5EF4-FFF2-40B4-BE49-F238E27FC236}">
                <a16:creationId xmlns:a16="http://schemas.microsoft.com/office/drawing/2014/main" id="{CBBD7184-4C26-B42D-C43E-067BC7F66EE8}"/>
              </a:ext>
            </a:extLst>
          </p:cNvPr>
          <p:cNvSpPr/>
          <p:nvPr/>
        </p:nvSpPr>
        <p:spPr>
          <a:xfrm>
            <a:off x="822960" y="2514600"/>
            <a:ext cx="8503920" cy="1627632"/>
          </a:xfrm>
          <a:prstGeom prst="rect">
            <a:avLst/>
          </a:prstGeom>
          <a:solidFill>
            <a:srgbClr val="FFFFFF">
              <a:alpha val="94902"/>
            </a:srgbClr>
          </a:solidFill>
          <a:ln w="12700" cap="flat" cmpd="sng">
            <a:solidFill>
              <a:srgbClr val="F1D6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2" name="Google Shape;531;p21">
            <a:extLst>
              <a:ext uri="{FF2B5EF4-FFF2-40B4-BE49-F238E27FC236}">
                <a16:creationId xmlns:a16="http://schemas.microsoft.com/office/drawing/2014/main" id="{8DF61B9D-216A-D6DC-F50C-7E9F4C1169E6}"/>
              </a:ext>
            </a:extLst>
          </p:cNvPr>
          <p:cNvSpPr/>
          <p:nvPr/>
        </p:nvSpPr>
        <p:spPr>
          <a:xfrm>
            <a:off x="822960" y="2514600"/>
            <a:ext cx="109728" cy="1627632"/>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84" name="Google Shape;532;p21">
            <a:extLst>
              <a:ext uri="{FF2B5EF4-FFF2-40B4-BE49-F238E27FC236}">
                <a16:creationId xmlns:a16="http://schemas.microsoft.com/office/drawing/2014/main" id="{418FA26C-D7D0-7DAA-0199-E8DF20E76563}"/>
              </a:ext>
            </a:extLst>
          </p:cNvPr>
          <p:cNvSpPr txBox="1"/>
          <p:nvPr/>
        </p:nvSpPr>
        <p:spPr>
          <a:xfrm>
            <a:off x="1097280" y="2569464"/>
            <a:ext cx="795528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400"/>
              <a:buFont typeface="Questrial"/>
              <a:buNone/>
            </a:pPr>
            <a:r>
              <a:rPr lang="en-US" sz="1800" b="1" i="0" u="none" strike="noStrike" cap="none">
                <a:solidFill>
                  <a:srgbClr val="6A5656"/>
                </a:solidFill>
                <a:latin typeface="Questrial"/>
                <a:ea typeface="Questrial"/>
                <a:cs typeface="Questrial"/>
                <a:sym typeface="Questrial"/>
              </a:rPr>
              <a:t>POINT 1   </a:t>
            </a:r>
            <a:r>
              <a:rPr lang="en-US" sz="1800" b="1" i="0" u="none" strike="noStrike" cap="none">
                <a:solidFill>
                  <a:srgbClr val="8B0707"/>
                </a:solidFill>
                <a:latin typeface="Questrial"/>
                <a:ea typeface="Questrial"/>
                <a:cs typeface="Questrial"/>
                <a:sym typeface="Questrial"/>
              </a:rPr>
              <a:t>Fare of a journey</a:t>
            </a:r>
            <a:endParaRPr sz="1800" b="0" i="0" u="none" strike="noStrike" cap="none">
              <a:solidFill>
                <a:schemeClr val="dk1"/>
              </a:solidFill>
              <a:latin typeface="Questrial"/>
              <a:ea typeface="Questrial"/>
              <a:cs typeface="Questrial"/>
              <a:sym typeface="Questrial"/>
            </a:endParaRPr>
          </a:p>
        </p:txBody>
      </p:sp>
      <p:pic>
        <p:nvPicPr>
          <p:cNvPr id="86" name="Google Shape;533;p21" descr="Fare of a journey">
            <a:extLst>
              <a:ext uri="{FF2B5EF4-FFF2-40B4-BE49-F238E27FC236}">
                <a16:creationId xmlns:a16="http://schemas.microsoft.com/office/drawing/2014/main" id="{0257DCAF-C81D-7DEE-CF89-2CDC09FB2E52}"/>
              </a:ext>
            </a:extLst>
          </p:cNvPr>
          <p:cNvPicPr preferRelativeResize="0"/>
          <p:nvPr/>
        </p:nvPicPr>
        <p:blipFill rotWithShape="1">
          <a:blip r:embed="rId4">
            <a:alphaModFix/>
          </a:blip>
          <a:srcRect/>
          <a:stretch/>
        </p:blipFill>
        <p:spPr>
          <a:xfrm>
            <a:off x="1143000" y="2971800"/>
            <a:ext cx="5890199" cy="572780"/>
          </a:xfrm>
          <a:prstGeom prst="rect">
            <a:avLst/>
          </a:prstGeom>
          <a:noFill/>
          <a:ln>
            <a:noFill/>
          </a:ln>
        </p:spPr>
      </p:pic>
      <p:sp>
        <p:nvSpPr>
          <p:cNvPr id="88" name="Google Shape;534;p21">
            <a:extLst>
              <a:ext uri="{FF2B5EF4-FFF2-40B4-BE49-F238E27FC236}">
                <a16:creationId xmlns:a16="http://schemas.microsoft.com/office/drawing/2014/main" id="{D241F872-1FAE-726C-C583-9BBA8999DF72}"/>
              </a:ext>
            </a:extLst>
          </p:cNvPr>
          <p:cNvSpPr txBox="1"/>
          <p:nvPr/>
        </p:nvSpPr>
        <p:spPr>
          <a:xfrm>
            <a:off x="1097280" y="3557016"/>
            <a:ext cx="7955280" cy="548640"/>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6A5656"/>
              </a:buClr>
              <a:buSzPts val="1400"/>
              <a:buFont typeface="Questrial"/>
              <a:buNone/>
            </a:pPr>
            <a:r>
              <a:rPr lang="en-US" sz="1800" b="0" i="1" u="none" strike="noStrike" cap="none">
                <a:solidFill>
                  <a:srgbClr val="6A5656"/>
                </a:solidFill>
                <a:latin typeface="Questrial"/>
                <a:ea typeface="Questrial"/>
                <a:cs typeface="Questrial"/>
                <a:sym typeface="Questrial"/>
              </a:rPr>
              <a:t>Each leg pays a base fare f0 for the first d0 km and r per km after. Traditional jeepney: PHP 14.00 for 4 km, then PHP 2.00 per km; discounted fare = 0.8 f(d).</a:t>
            </a:r>
            <a:endParaRPr sz="1800" b="0" i="0" u="none" strike="noStrike" cap="none">
              <a:solidFill>
                <a:schemeClr val="dk1"/>
              </a:solidFill>
              <a:latin typeface="Questrial"/>
              <a:ea typeface="Questrial"/>
              <a:cs typeface="Questrial"/>
              <a:sym typeface="Questrial"/>
            </a:endParaRPr>
          </a:p>
        </p:txBody>
      </p:sp>
      <p:sp>
        <p:nvSpPr>
          <p:cNvPr id="90" name="Google Shape;535;p21">
            <a:extLst>
              <a:ext uri="{FF2B5EF4-FFF2-40B4-BE49-F238E27FC236}">
                <a16:creationId xmlns:a16="http://schemas.microsoft.com/office/drawing/2014/main" id="{4D22BBCA-B1B7-1310-C9F0-B6EDEE577D62}"/>
              </a:ext>
            </a:extLst>
          </p:cNvPr>
          <p:cNvSpPr/>
          <p:nvPr/>
        </p:nvSpPr>
        <p:spPr>
          <a:xfrm>
            <a:off x="822960" y="4251960"/>
            <a:ext cx="8503920" cy="1627632"/>
          </a:xfrm>
          <a:prstGeom prst="rect">
            <a:avLst/>
          </a:prstGeom>
          <a:solidFill>
            <a:srgbClr val="FFFFFF">
              <a:alpha val="94902"/>
            </a:srgbClr>
          </a:solidFill>
          <a:ln w="12700" cap="flat" cmpd="sng">
            <a:solidFill>
              <a:srgbClr val="F1D6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2" name="Google Shape;536;p21">
            <a:extLst>
              <a:ext uri="{FF2B5EF4-FFF2-40B4-BE49-F238E27FC236}">
                <a16:creationId xmlns:a16="http://schemas.microsoft.com/office/drawing/2014/main" id="{F1099A02-AC1B-DBE1-D1FA-4F232DF36EDD}"/>
              </a:ext>
            </a:extLst>
          </p:cNvPr>
          <p:cNvSpPr/>
          <p:nvPr/>
        </p:nvSpPr>
        <p:spPr>
          <a:xfrm>
            <a:off x="822960" y="4251960"/>
            <a:ext cx="109728" cy="1627632"/>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94" name="Google Shape;537;p21">
            <a:extLst>
              <a:ext uri="{FF2B5EF4-FFF2-40B4-BE49-F238E27FC236}">
                <a16:creationId xmlns:a16="http://schemas.microsoft.com/office/drawing/2014/main" id="{ECA9D826-F03B-F10F-E53A-A5260EF47C1F}"/>
              </a:ext>
            </a:extLst>
          </p:cNvPr>
          <p:cNvSpPr txBox="1"/>
          <p:nvPr/>
        </p:nvSpPr>
        <p:spPr>
          <a:xfrm>
            <a:off x="1097280" y="4306824"/>
            <a:ext cx="795528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400"/>
              <a:buFont typeface="Questrial"/>
              <a:buNone/>
            </a:pPr>
            <a:r>
              <a:rPr lang="en-US" sz="1800" b="1" i="0" u="none" strike="noStrike" cap="none">
                <a:solidFill>
                  <a:srgbClr val="6A5656"/>
                </a:solidFill>
                <a:latin typeface="Questrial"/>
                <a:ea typeface="Questrial"/>
                <a:cs typeface="Questrial"/>
                <a:sym typeface="Questrial"/>
              </a:rPr>
              <a:t>POINT 1   </a:t>
            </a:r>
            <a:r>
              <a:rPr lang="en-US" sz="1800" b="1" i="0" u="none" strike="noStrike" cap="none">
                <a:solidFill>
                  <a:srgbClr val="8B0707"/>
                </a:solidFill>
                <a:latin typeface="Questrial"/>
                <a:ea typeface="Questrial"/>
                <a:cs typeface="Questrial"/>
                <a:sym typeface="Questrial"/>
              </a:rPr>
              <a:t>Cumulative accessibility</a:t>
            </a:r>
            <a:endParaRPr sz="1800" b="0" i="0" u="none" strike="noStrike" cap="none">
              <a:solidFill>
                <a:schemeClr val="dk1"/>
              </a:solidFill>
              <a:latin typeface="Questrial"/>
              <a:ea typeface="Questrial"/>
              <a:cs typeface="Questrial"/>
              <a:sym typeface="Questrial"/>
            </a:endParaRPr>
          </a:p>
        </p:txBody>
      </p:sp>
      <p:pic>
        <p:nvPicPr>
          <p:cNvPr id="96" name="Google Shape;538;p21" descr="Cumulative accessibility">
            <a:extLst>
              <a:ext uri="{FF2B5EF4-FFF2-40B4-BE49-F238E27FC236}">
                <a16:creationId xmlns:a16="http://schemas.microsoft.com/office/drawing/2014/main" id="{0968D9F7-36B6-DA57-2DE3-ED55B3C1516F}"/>
              </a:ext>
            </a:extLst>
          </p:cNvPr>
          <p:cNvPicPr preferRelativeResize="0"/>
          <p:nvPr/>
        </p:nvPicPr>
        <p:blipFill rotWithShape="1">
          <a:blip r:embed="rId5">
            <a:alphaModFix/>
          </a:blip>
          <a:srcRect/>
          <a:stretch/>
        </p:blipFill>
        <p:spPr>
          <a:xfrm>
            <a:off x="1143000" y="4709160"/>
            <a:ext cx="3728557" cy="572780"/>
          </a:xfrm>
          <a:prstGeom prst="rect">
            <a:avLst/>
          </a:prstGeom>
          <a:noFill/>
          <a:ln>
            <a:noFill/>
          </a:ln>
        </p:spPr>
      </p:pic>
      <p:sp>
        <p:nvSpPr>
          <p:cNvPr id="98" name="Google Shape;539;p21">
            <a:extLst>
              <a:ext uri="{FF2B5EF4-FFF2-40B4-BE49-F238E27FC236}">
                <a16:creationId xmlns:a16="http://schemas.microsoft.com/office/drawing/2014/main" id="{D78816A3-DF81-F1AB-0701-BC8C774BEEE1}"/>
              </a:ext>
            </a:extLst>
          </p:cNvPr>
          <p:cNvSpPr txBox="1"/>
          <p:nvPr/>
        </p:nvSpPr>
        <p:spPr>
          <a:xfrm>
            <a:off x="1097280" y="5294376"/>
            <a:ext cx="7955280" cy="548640"/>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6A5656"/>
              </a:buClr>
              <a:buSzPts val="1400"/>
              <a:buFont typeface="Questrial"/>
              <a:buNone/>
            </a:pPr>
            <a:r>
              <a:rPr lang="en-US" sz="1800" b="0" i="1" u="none" strike="noStrike" cap="none">
                <a:solidFill>
                  <a:srgbClr val="6A5656"/>
                </a:solidFill>
                <a:latin typeface="Questrial"/>
                <a:ea typeface="Questrial"/>
                <a:cs typeface="Questrial"/>
                <a:sym typeface="Questrial"/>
              </a:rPr>
              <a:t>Landmarks of type k that anchor a reaches within the budget, with travel time averaged over 25 departures from 06:00 to 08:00.</a:t>
            </a:r>
            <a:endParaRPr sz="1800" b="0" i="0" u="none" strike="noStrike" cap="none">
              <a:solidFill>
                <a:schemeClr val="dk1"/>
              </a:solidFill>
              <a:latin typeface="Questrial"/>
              <a:ea typeface="Questrial"/>
              <a:cs typeface="Questrial"/>
              <a:sym typeface="Questrial"/>
            </a:endParaRPr>
          </a:p>
        </p:txBody>
      </p:sp>
      <p:sp>
        <p:nvSpPr>
          <p:cNvPr id="100" name="Google Shape;540;p21">
            <a:extLst>
              <a:ext uri="{FF2B5EF4-FFF2-40B4-BE49-F238E27FC236}">
                <a16:creationId xmlns:a16="http://schemas.microsoft.com/office/drawing/2014/main" id="{0FAACD2A-2377-6273-F2F2-CDAF18A538DD}"/>
              </a:ext>
            </a:extLst>
          </p:cNvPr>
          <p:cNvSpPr/>
          <p:nvPr/>
        </p:nvSpPr>
        <p:spPr>
          <a:xfrm>
            <a:off x="822960" y="5989320"/>
            <a:ext cx="8503920" cy="1627632"/>
          </a:xfrm>
          <a:prstGeom prst="rect">
            <a:avLst/>
          </a:prstGeom>
          <a:solidFill>
            <a:srgbClr val="FFFFFF">
              <a:alpha val="94902"/>
            </a:srgbClr>
          </a:solidFill>
          <a:ln w="12700" cap="flat" cmpd="sng">
            <a:solidFill>
              <a:srgbClr val="F1D6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2" name="Google Shape;541;p21">
            <a:extLst>
              <a:ext uri="{FF2B5EF4-FFF2-40B4-BE49-F238E27FC236}">
                <a16:creationId xmlns:a16="http://schemas.microsoft.com/office/drawing/2014/main" id="{3A0B124D-7CEC-8DB6-060E-6A06992B0793}"/>
              </a:ext>
            </a:extLst>
          </p:cNvPr>
          <p:cNvSpPr/>
          <p:nvPr/>
        </p:nvSpPr>
        <p:spPr>
          <a:xfrm>
            <a:off x="822960" y="5989320"/>
            <a:ext cx="109728" cy="1627632"/>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04" name="Google Shape;542;p21">
            <a:extLst>
              <a:ext uri="{FF2B5EF4-FFF2-40B4-BE49-F238E27FC236}">
                <a16:creationId xmlns:a16="http://schemas.microsoft.com/office/drawing/2014/main" id="{C663E68D-FD8B-EDB3-FCA8-A3A717867E56}"/>
              </a:ext>
            </a:extLst>
          </p:cNvPr>
          <p:cNvSpPr txBox="1"/>
          <p:nvPr/>
        </p:nvSpPr>
        <p:spPr>
          <a:xfrm>
            <a:off x="1097280" y="6044184"/>
            <a:ext cx="795528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400"/>
              <a:buFont typeface="Questrial"/>
              <a:buNone/>
            </a:pPr>
            <a:r>
              <a:rPr lang="en-US" sz="1800" b="1" i="0" u="none" strike="noStrike" cap="none">
                <a:solidFill>
                  <a:srgbClr val="6A5656"/>
                </a:solidFill>
                <a:latin typeface="Questrial"/>
                <a:ea typeface="Questrial"/>
                <a:cs typeface="Questrial"/>
                <a:sym typeface="Questrial"/>
              </a:rPr>
              <a:t>POINT 2   </a:t>
            </a:r>
            <a:r>
              <a:rPr lang="en-US" sz="1800" b="1" i="0" u="none" strike="noStrike" cap="none">
                <a:solidFill>
                  <a:srgbClr val="8B0707"/>
                </a:solidFill>
                <a:latin typeface="Questrial"/>
                <a:ea typeface="Questrial"/>
                <a:cs typeface="Questrial"/>
                <a:sym typeface="Questrial"/>
              </a:rPr>
              <a:t>Suitable hospital</a:t>
            </a:r>
            <a:endParaRPr sz="1800" b="0" i="0" u="none" strike="noStrike" cap="none">
              <a:solidFill>
                <a:schemeClr val="dk1"/>
              </a:solidFill>
              <a:latin typeface="Questrial"/>
              <a:ea typeface="Questrial"/>
              <a:cs typeface="Questrial"/>
              <a:sym typeface="Questrial"/>
            </a:endParaRPr>
          </a:p>
        </p:txBody>
      </p:sp>
      <p:pic>
        <p:nvPicPr>
          <p:cNvPr id="106" name="Google Shape;543;p21" descr="Suitable hospital">
            <a:extLst>
              <a:ext uri="{FF2B5EF4-FFF2-40B4-BE49-F238E27FC236}">
                <a16:creationId xmlns:a16="http://schemas.microsoft.com/office/drawing/2014/main" id="{94B551F6-749C-532D-DB46-4794C21EDC63}"/>
              </a:ext>
            </a:extLst>
          </p:cNvPr>
          <p:cNvPicPr preferRelativeResize="0"/>
          <p:nvPr/>
        </p:nvPicPr>
        <p:blipFill rotWithShape="1">
          <a:blip r:embed="rId6">
            <a:alphaModFix/>
          </a:blip>
          <a:srcRect/>
          <a:stretch/>
        </p:blipFill>
        <p:spPr>
          <a:xfrm>
            <a:off x="1143000" y="6557402"/>
            <a:ext cx="7863840" cy="345165"/>
          </a:xfrm>
          <a:prstGeom prst="rect">
            <a:avLst/>
          </a:prstGeom>
          <a:noFill/>
          <a:ln>
            <a:noFill/>
          </a:ln>
        </p:spPr>
      </p:pic>
      <p:sp>
        <p:nvSpPr>
          <p:cNvPr id="108" name="Google Shape;544;p21">
            <a:extLst>
              <a:ext uri="{FF2B5EF4-FFF2-40B4-BE49-F238E27FC236}">
                <a16:creationId xmlns:a16="http://schemas.microsoft.com/office/drawing/2014/main" id="{9659F7B4-6FA0-0194-493E-3526738DA133}"/>
              </a:ext>
            </a:extLst>
          </p:cNvPr>
          <p:cNvSpPr txBox="1"/>
          <p:nvPr/>
        </p:nvSpPr>
        <p:spPr>
          <a:xfrm>
            <a:off x="1097280" y="7031736"/>
            <a:ext cx="7955280" cy="548640"/>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6A5656"/>
              </a:buClr>
              <a:buSzPts val="1400"/>
              <a:buFont typeface="Questrial"/>
              <a:buNone/>
            </a:pPr>
            <a:r>
              <a:rPr lang="en-US" sz="1800" b="0" i="1" u="none" strike="noStrike" cap="none">
                <a:solidFill>
                  <a:srgbClr val="6A5656"/>
                </a:solidFill>
                <a:latin typeface="Questrial"/>
                <a:ea typeface="Questrial"/>
                <a:cs typeface="Questrial"/>
                <a:sym typeface="Questrial"/>
              </a:rPr>
              <a:t>A hospital suits the patient only if it has the needed level of care, an emergency room when needed, is not reported FULL, and fits the payment class. Cost is waived in an emergency.</a:t>
            </a:r>
            <a:endParaRPr sz="1800" b="0" i="0" u="none" strike="noStrike" cap="none">
              <a:solidFill>
                <a:schemeClr val="dk1"/>
              </a:solidFill>
              <a:latin typeface="Questrial"/>
              <a:ea typeface="Questrial"/>
              <a:cs typeface="Questrial"/>
              <a:sym typeface="Questrial"/>
            </a:endParaRPr>
          </a:p>
        </p:txBody>
      </p:sp>
      <p:sp>
        <p:nvSpPr>
          <p:cNvPr id="111" name="Google Shape;545;p21">
            <a:extLst>
              <a:ext uri="{FF2B5EF4-FFF2-40B4-BE49-F238E27FC236}">
                <a16:creationId xmlns:a16="http://schemas.microsoft.com/office/drawing/2014/main" id="{F85BE98B-38E8-46F7-BA09-6664DA35FCDF}"/>
              </a:ext>
            </a:extLst>
          </p:cNvPr>
          <p:cNvSpPr/>
          <p:nvPr/>
        </p:nvSpPr>
        <p:spPr>
          <a:xfrm>
            <a:off x="822960" y="7726680"/>
            <a:ext cx="8503920" cy="1627632"/>
          </a:xfrm>
          <a:prstGeom prst="rect">
            <a:avLst/>
          </a:prstGeom>
          <a:solidFill>
            <a:srgbClr val="FFFFFF">
              <a:alpha val="94902"/>
            </a:srgbClr>
          </a:solidFill>
          <a:ln w="12700" cap="flat" cmpd="sng">
            <a:solidFill>
              <a:srgbClr val="F1D6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3" name="Google Shape;546;p21">
            <a:extLst>
              <a:ext uri="{FF2B5EF4-FFF2-40B4-BE49-F238E27FC236}">
                <a16:creationId xmlns:a16="http://schemas.microsoft.com/office/drawing/2014/main" id="{B492E480-7566-B8EB-8DFC-13EA81E62B35}"/>
              </a:ext>
            </a:extLst>
          </p:cNvPr>
          <p:cNvSpPr/>
          <p:nvPr/>
        </p:nvSpPr>
        <p:spPr>
          <a:xfrm>
            <a:off x="822960" y="7726680"/>
            <a:ext cx="109728" cy="1627632"/>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15" name="Google Shape;547;p21">
            <a:extLst>
              <a:ext uri="{FF2B5EF4-FFF2-40B4-BE49-F238E27FC236}">
                <a16:creationId xmlns:a16="http://schemas.microsoft.com/office/drawing/2014/main" id="{67964EA7-AC13-C73D-8EBE-E98DBC4A021D}"/>
              </a:ext>
            </a:extLst>
          </p:cNvPr>
          <p:cNvSpPr txBox="1"/>
          <p:nvPr/>
        </p:nvSpPr>
        <p:spPr>
          <a:xfrm>
            <a:off x="1097280" y="7781544"/>
            <a:ext cx="795528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400"/>
              <a:buFont typeface="Questrial"/>
              <a:buNone/>
            </a:pPr>
            <a:r>
              <a:rPr lang="en-US" sz="1800" b="1" i="0" u="none" strike="noStrike" cap="none">
                <a:solidFill>
                  <a:srgbClr val="6A5656"/>
                </a:solidFill>
                <a:latin typeface="Questrial"/>
                <a:ea typeface="Questrial"/>
                <a:cs typeface="Questrial"/>
                <a:sym typeface="Questrial"/>
              </a:rPr>
              <a:t>POINT 3   </a:t>
            </a:r>
            <a:r>
              <a:rPr lang="en-US" sz="1800" b="1" i="0" u="none" strike="noStrike" cap="none">
                <a:solidFill>
                  <a:srgbClr val="8B0707"/>
                </a:solidFill>
                <a:latin typeface="Questrial"/>
                <a:ea typeface="Questrial"/>
                <a:cs typeface="Questrial"/>
                <a:sym typeface="Questrial"/>
              </a:rPr>
              <a:t>Free beds and report age</a:t>
            </a:r>
            <a:endParaRPr sz="1800" b="0" i="0" u="none" strike="noStrike" cap="none">
              <a:solidFill>
                <a:schemeClr val="dk1"/>
              </a:solidFill>
              <a:latin typeface="Questrial"/>
              <a:ea typeface="Questrial"/>
              <a:cs typeface="Questrial"/>
              <a:sym typeface="Questrial"/>
            </a:endParaRPr>
          </a:p>
        </p:txBody>
      </p:sp>
      <p:pic>
        <p:nvPicPr>
          <p:cNvPr id="117" name="Google Shape;548;p21" descr="Free beds and report age">
            <a:extLst>
              <a:ext uri="{FF2B5EF4-FFF2-40B4-BE49-F238E27FC236}">
                <a16:creationId xmlns:a16="http://schemas.microsoft.com/office/drawing/2014/main" id="{18C63201-B731-4C4A-D44E-BB83A3588915}"/>
              </a:ext>
            </a:extLst>
          </p:cNvPr>
          <p:cNvPicPr preferRelativeResize="0"/>
          <p:nvPr/>
        </p:nvPicPr>
        <p:blipFill rotWithShape="1">
          <a:blip r:embed="rId7">
            <a:alphaModFix/>
          </a:blip>
          <a:srcRect/>
          <a:stretch/>
        </p:blipFill>
        <p:spPr>
          <a:xfrm>
            <a:off x="1143000" y="8264347"/>
            <a:ext cx="6171103" cy="405994"/>
          </a:xfrm>
          <a:prstGeom prst="rect">
            <a:avLst/>
          </a:prstGeom>
          <a:noFill/>
          <a:ln>
            <a:noFill/>
          </a:ln>
        </p:spPr>
      </p:pic>
      <p:sp>
        <p:nvSpPr>
          <p:cNvPr id="119" name="Google Shape;549;p21">
            <a:extLst>
              <a:ext uri="{FF2B5EF4-FFF2-40B4-BE49-F238E27FC236}">
                <a16:creationId xmlns:a16="http://schemas.microsoft.com/office/drawing/2014/main" id="{5335D1E9-7064-A553-12D3-E63FE7CEBE69}"/>
              </a:ext>
            </a:extLst>
          </p:cNvPr>
          <p:cNvSpPr txBox="1"/>
          <p:nvPr/>
        </p:nvSpPr>
        <p:spPr>
          <a:xfrm>
            <a:off x="1097280" y="8769096"/>
            <a:ext cx="8503920" cy="548640"/>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6A5656"/>
              </a:buClr>
              <a:buSzPts val="1400"/>
              <a:buFont typeface="Questrial"/>
              <a:buNone/>
            </a:pPr>
            <a:r>
              <a:rPr lang="en-US" sz="1700" b="0" i="1" u="none" strike="noStrike" cap="none" dirty="0">
                <a:solidFill>
                  <a:srgbClr val="6A5656"/>
                </a:solidFill>
                <a:latin typeface="Questrial"/>
                <a:ea typeface="Questrial"/>
                <a:cs typeface="Questrial"/>
                <a:sym typeface="Questrial"/>
              </a:rPr>
              <a:t>From the latest validated report. Status is UNKNOWN with no report or one older than 12 hours, FULL with no free bed or a full emergency room, and AVAILABLE otherwise.</a:t>
            </a:r>
            <a:endParaRPr sz="1700" b="0" i="0" u="none" strike="noStrike" cap="none" dirty="0">
              <a:solidFill>
                <a:schemeClr val="dk1"/>
              </a:solidFill>
              <a:latin typeface="Questrial"/>
              <a:ea typeface="Questrial"/>
              <a:cs typeface="Questrial"/>
              <a:sym typeface="Questrial"/>
            </a:endParaRPr>
          </a:p>
        </p:txBody>
      </p:sp>
      <p:sp>
        <p:nvSpPr>
          <p:cNvPr id="121" name="Google Shape;550;p21">
            <a:extLst>
              <a:ext uri="{FF2B5EF4-FFF2-40B4-BE49-F238E27FC236}">
                <a16:creationId xmlns:a16="http://schemas.microsoft.com/office/drawing/2014/main" id="{D9C1E250-AB97-D4F1-70A1-A71282F08FC5}"/>
              </a:ext>
            </a:extLst>
          </p:cNvPr>
          <p:cNvSpPr txBox="1"/>
          <p:nvPr/>
        </p:nvSpPr>
        <p:spPr>
          <a:xfrm>
            <a:off x="9692640" y="1798320"/>
            <a:ext cx="777240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0707"/>
              </a:buClr>
              <a:buSzPts val="2100"/>
              <a:buFont typeface="Questrial"/>
              <a:buNone/>
            </a:pPr>
            <a:r>
              <a:rPr lang="en-US" sz="2800" b="1" i="0" u="none" strike="noStrike" cap="none" dirty="0">
                <a:solidFill>
                  <a:schemeClr val="bg1"/>
                </a:solidFill>
                <a:latin typeface="Questrial"/>
                <a:ea typeface="Questrial"/>
                <a:cs typeface="Questrial"/>
                <a:sym typeface="Questrial"/>
              </a:rPr>
              <a:t>Statistical treatment</a:t>
            </a:r>
            <a:endParaRPr sz="2800" b="0" i="0" u="none" strike="noStrike" cap="none" dirty="0">
              <a:solidFill>
                <a:schemeClr val="bg1"/>
              </a:solidFill>
              <a:latin typeface="Questrial"/>
              <a:ea typeface="Questrial"/>
              <a:cs typeface="Questrial"/>
              <a:sym typeface="Questrial"/>
            </a:endParaRPr>
          </a:p>
        </p:txBody>
      </p:sp>
      <p:graphicFrame>
        <p:nvGraphicFramePr>
          <p:cNvPr id="123" name="Google Shape;551;p21">
            <a:extLst>
              <a:ext uri="{FF2B5EF4-FFF2-40B4-BE49-F238E27FC236}">
                <a16:creationId xmlns:a16="http://schemas.microsoft.com/office/drawing/2014/main" id="{3D6DD6C2-78C7-E332-5003-CFFB9717F65B}"/>
              </a:ext>
            </a:extLst>
          </p:cNvPr>
          <p:cNvGraphicFramePr/>
          <p:nvPr>
            <p:extLst>
              <p:ext uri="{D42A27DB-BD31-4B8C-83A1-F6EECF244321}">
                <p14:modId xmlns:p14="http://schemas.microsoft.com/office/powerpoint/2010/main" val="952303394"/>
              </p:ext>
            </p:extLst>
          </p:nvPr>
        </p:nvGraphicFramePr>
        <p:xfrm>
          <a:off x="9692640" y="2255520"/>
          <a:ext cx="7772400" cy="6504120"/>
        </p:xfrm>
        <a:graphic>
          <a:graphicData uri="http://schemas.openxmlformats.org/drawingml/2006/table">
            <a:tbl>
              <a:tblPr>
                <a:noFill/>
                <a:tableStyleId>{34289B53-5545-4E02-A326-ACEF5BE87AE4}</a:tableStyleId>
              </a:tblPr>
              <a:tblGrid>
                <a:gridCol w="658375">
                  <a:extLst>
                    <a:ext uri="{9D8B030D-6E8A-4147-A177-3AD203B41FA5}">
                      <a16:colId xmlns:a16="http://schemas.microsoft.com/office/drawing/2014/main" val="20000"/>
                    </a:ext>
                  </a:extLst>
                </a:gridCol>
                <a:gridCol w="731525">
                  <a:extLst>
                    <a:ext uri="{9D8B030D-6E8A-4147-A177-3AD203B41FA5}">
                      <a16:colId xmlns:a16="http://schemas.microsoft.com/office/drawing/2014/main" val="20001"/>
                    </a:ext>
                  </a:extLst>
                </a:gridCol>
                <a:gridCol w="3154675">
                  <a:extLst>
                    <a:ext uri="{9D8B030D-6E8A-4147-A177-3AD203B41FA5}">
                      <a16:colId xmlns:a16="http://schemas.microsoft.com/office/drawing/2014/main" val="20002"/>
                    </a:ext>
                  </a:extLst>
                </a:gridCol>
                <a:gridCol w="3227825">
                  <a:extLst>
                    <a:ext uri="{9D8B030D-6E8A-4147-A177-3AD203B41FA5}">
                      <a16:colId xmlns:a16="http://schemas.microsoft.com/office/drawing/2014/main" val="20003"/>
                    </a:ext>
                  </a:extLst>
                </a:gridCol>
              </a:tblGrid>
              <a:tr h="475500">
                <a:tc>
                  <a:txBody>
                    <a:bodyPr/>
                    <a:lstStyle/>
                    <a:p>
                      <a:pPr marL="0" marR="0" lvl="0" indent="0" algn="l" rtl="0">
                        <a:lnSpc>
                          <a:spcPct val="97000"/>
                        </a:lnSpc>
                        <a:spcBef>
                          <a:spcPts val="0"/>
                        </a:spcBef>
                        <a:spcAft>
                          <a:spcPts val="0"/>
                        </a:spcAft>
                        <a:buClr>
                          <a:srgbClr val="FFFFFF"/>
                        </a:buClr>
                        <a:buSzPts val="1550"/>
                        <a:buFont typeface="Questrial"/>
                        <a:buNone/>
                      </a:pP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ctr" rtl="0">
                        <a:lnSpc>
                          <a:spcPct val="97000"/>
                        </a:lnSpc>
                        <a:spcBef>
                          <a:spcPts val="0"/>
                        </a:spcBef>
                        <a:spcAft>
                          <a:spcPts val="0"/>
                        </a:spcAft>
                        <a:buClr>
                          <a:srgbClr val="FFFFFF"/>
                        </a:buClr>
                        <a:buSzPts val="1550"/>
                        <a:buFont typeface="Questrial"/>
                        <a:buNone/>
                      </a:pPr>
                      <a:r>
                        <a:rPr lang="en-US" sz="1800" b="1" u="none" strike="noStrike" cap="none" dirty="0">
                          <a:solidFill>
                            <a:srgbClr val="FFFFFF"/>
                          </a:solidFill>
                          <a:latin typeface="Questrial"/>
                          <a:ea typeface="Questrial"/>
                          <a:cs typeface="Questrial"/>
                          <a:sym typeface="Questrial"/>
                        </a:rPr>
                        <a:t>Pt.</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550"/>
                        <a:buFont typeface="Questrial"/>
                        <a:buNone/>
                      </a:pPr>
                      <a:r>
                        <a:rPr lang="en-US" sz="1800" b="1" u="none" strike="noStrike" cap="none" dirty="0">
                          <a:solidFill>
                            <a:srgbClr val="FFFFFF"/>
                          </a:solidFill>
                          <a:latin typeface="Questrial"/>
                          <a:ea typeface="Questrial"/>
                          <a:cs typeface="Questrial"/>
                          <a:sym typeface="Questrial"/>
                        </a:rPr>
                        <a:t>Question</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tc>
                  <a:txBody>
                    <a:bodyPr/>
                    <a:lstStyle/>
                    <a:p>
                      <a:pPr marL="0" marR="0" lvl="0" indent="0" algn="l" rtl="0">
                        <a:lnSpc>
                          <a:spcPct val="97000"/>
                        </a:lnSpc>
                        <a:spcBef>
                          <a:spcPts val="0"/>
                        </a:spcBef>
                        <a:spcAft>
                          <a:spcPts val="0"/>
                        </a:spcAft>
                        <a:buClr>
                          <a:srgbClr val="FFFFFF"/>
                        </a:buClr>
                        <a:buSzPts val="1550"/>
                        <a:buFont typeface="Questrial"/>
                        <a:buNone/>
                      </a:pPr>
                      <a:r>
                        <a:rPr lang="en-US" sz="1800" b="1" u="none" strike="noStrike" cap="none">
                          <a:solidFill>
                            <a:srgbClr val="FFFFFF"/>
                          </a:solidFill>
                          <a:latin typeface="Questrial"/>
                          <a:ea typeface="Questrial"/>
                          <a:cs typeface="Questrial"/>
                          <a:sym typeface="Questrial"/>
                        </a:rPr>
                        <a:t>Test or estimator</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8B0707"/>
                    </a:solidFill>
                  </a:tcPr>
                </a:tc>
                <a:extLst>
                  <a:ext uri="{0D108BD9-81ED-4DB2-BD59-A6C34878D82A}">
                    <a16:rowId xmlns:a16="http://schemas.microsoft.com/office/drawing/2014/main" val="10000"/>
                  </a:ext>
                </a:extLst>
              </a:tr>
              <a:tr h="731525">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S1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500"/>
                        <a:buFont typeface="Questrial"/>
                        <a:buNone/>
                      </a:pPr>
                      <a:r>
                        <a:rPr lang="en-US" sz="1800" u="none" strike="noStrike" cap="none">
                          <a:solidFill>
                            <a:srgbClr val="2B2020"/>
                          </a:solidFill>
                          <a:latin typeface="Questrial"/>
                          <a:ea typeface="Questrial"/>
                          <a:cs typeface="Questrial"/>
                          <a:sym typeface="Questrial"/>
                        </a:rPr>
                        <a:t>Is access more unequal than resampling noise?</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00"/>
                        <a:buFont typeface="Questrial"/>
                        <a:buNone/>
                      </a:pPr>
                      <a:r>
                        <a:rPr lang="en-US" sz="1800" u="none" strike="noStrike" cap="none">
                          <a:solidFill>
                            <a:srgbClr val="8B0707"/>
                          </a:solidFill>
                          <a:latin typeface="Questrial"/>
                          <a:ea typeface="Questrial"/>
                          <a:cs typeface="Questrial"/>
                          <a:sym typeface="Questrial"/>
                        </a:rPr>
                        <a:t>Weighted Gini, 95% bootstrap interval (2,000 resamples)</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1"/>
                  </a:ext>
                </a:extLst>
              </a:tr>
              <a:tr h="731525">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S2</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500"/>
                        <a:buFont typeface="Questrial"/>
                        <a:buNone/>
                      </a:pPr>
                      <a:r>
                        <a:rPr lang="en-US" sz="1800" u="none" strike="noStrike" cap="none">
                          <a:solidFill>
                            <a:srgbClr val="2B2020"/>
                          </a:solidFill>
                          <a:latin typeface="Questrial"/>
                          <a:ea typeface="Questrial"/>
                          <a:cs typeface="Questrial"/>
                          <a:sym typeface="Questrial"/>
                        </a:rPr>
                        <a:t>Do urban and rural anchors differ in access?</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00"/>
                        <a:buFont typeface="Questrial"/>
                        <a:buNone/>
                      </a:pPr>
                      <a:r>
                        <a:rPr lang="en-US" sz="1800" u="none" strike="noStrike" cap="none">
                          <a:solidFill>
                            <a:srgbClr val="8B0707"/>
                          </a:solidFill>
                          <a:latin typeface="Questrial"/>
                          <a:ea typeface="Questrial"/>
                          <a:cs typeface="Questrial"/>
                          <a:sym typeface="Questrial"/>
                        </a:rPr>
                        <a:t>Mann–Whitney U, rank-biserial correlation</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2"/>
                  </a:ext>
                </a:extLst>
              </a:tr>
              <a:tr h="731525">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S3</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500"/>
                        <a:buFont typeface="Questrial"/>
                        <a:buNone/>
                      </a:pPr>
                      <a:r>
                        <a:rPr lang="en-US" sz="1800" u="none" strike="noStrike" cap="none">
                          <a:solidFill>
                            <a:srgbClr val="2B2020"/>
                          </a:solidFill>
                          <a:latin typeface="Questrial"/>
                          <a:ea typeface="Questrial"/>
                          <a:cs typeface="Questrial"/>
                          <a:sym typeface="Questrial"/>
                        </a:rPr>
                        <a:t>Is the inequality local or structural?</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00"/>
                        <a:buFont typeface="Questrial"/>
                        <a:buNone/>
                      </a:pPr>
                      <a:r>
                        <a:rPr lang="en-US" sz="1800" u="none" strike="noStrike" cap="none">
                          <a:solidFill>
                            <a:srgbClr val="8B0707"/>
                          </a:solidFill>
                          <a:latin typeface="Questrial"/>
                          <a:ea typeface="Questrial"/>
                          <a:cs typeface="Questrial"/>
                          <a:sym typeface="Questrial"/>
                        </a:rPr>
                        <a:t>Theil decomposition, bootstrap interval</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3"/>
                  </a:ext>
                </a:extLst>
              </a:tr>
              <a:tr h="731525">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S4</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500"/>
                        <a:buFont typeface="Questrial"/>
                        <a:buNone/>
                      </a:pPr>
                      <a:r>
                        <a:rPr lang="en-US" sz="1800" u="none" strike="noStrike" cap="none">
                          <a:solidFill>
                            <a:srgbClr val="2B2020"/>
                          </a:solidFill>
                          <a:latin typeface="Questrial"/>
                          <a:ea typeface="Questrial"/>
                          <a:cs typeface="Questrial"/>
                          <a:sym typeface="Questrial"/>
                        </a:rPr>
                        <a:t>Does access follow settlement density?</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00"/>
                        <a:buFont typeface="Questrial"/>
                        <a:buNone/>
                      </a:pPr>
                      <a:r>
                        <a:rPr lang="en-US" sz="1800" u="none" strike="noStrike" cap="none">
                          <a:solidFill>
                            <a:srgbClr val="8B0707"/>
                          </a:solidFill>
                          <a:latin typeface="Questrial"/>
                          <a:ea typeface="Questrial"/>
                          <a:cs typeface="Questrial"/>
                          <a:sym typeface="Questrial"/>
                        </a:rPr>
                        <a:t>Spearman rank correlation</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4"/>
                  </a:ext>
                </a:extLst>
              </a:tr>
              <a:tr h="731525">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S5</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500"/>
                        <a:buFont typeface="Questrial"/>
                        <a:buNone/>
                      </a:pPr>
                      <a:r>
                        <a:rPr lang="en-US" sz="1800" u="none" strike="noStrike" cap="none">
                          <a:solidFill>
                            <a:srgbClr val="2B2020"/>
                          </a:solidFill>
                          <a:latin typeface="Questrial"/>
                          <a:ea typeface="Questrial"/>
                          <a:cs typeface="Questrial"/>
                          <a:sym typeface="Questrial"/>
                        </a:rPr>
                        <a:t>How much does the anchor set matter?</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00"/>
                        <a:buFont typeface="Questrial"/>
                        <a:buNone/>
                      </a:pPr>
                      <a:r>
                        <a:rPr lang="en-US" sz="1800" u="none" strike="noStrike" cap="none">
                          <a:solidFill>
                            <a:srgbClr val="8B0707"/>
                          </a:solidFill>
                          <a:latin typeface="Questrial"/>
                          <a:ea typeface="Questrial"/>
                          <a:cs typeface="Questrial"/>
                          <a:sym typeface="Questrial"/>
                        </a:rPr>
                        <a:t>Discrete Fréchet distance between Lorenz curves</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5"/>
                  </a:ext>
                </a:extLst>
              </a:tr>
              <a:tr h="731525">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S6</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1</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500"/>
                        <a:buFont typeface="Questrial"/>
                        <a:buNone/>
                      </a:pPr>
                      <a:r>
                        <a:rPr lang="en-US" sz="1800" u="none" strike="noStrike" cap="none">
                          <a:solidFill>
                            <a:srgbClr val="2B2020"/>
                          </a:solidFill>
                          <a:latin typeface="Questrial"/>
                          <a:ea typeface="Questrial"/>
                          <a:cs typeface="Questrial"/>
                          <a:sym typeface="Questrial"/>
                        </a:rPr>
                        <a:t>How much do the headway assumptions matter?</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00"/>
                        <a:buFont typeface="Questrial"/>
                        <a:buNone/>
                      </a:pPr>
                      <a:r>
                        <a:rPr lang="en-US" sz="1800" u="none" strike="noStrike" cap="none">
                          <a:solidFill>
                            <a:srgbClr val="8B0707"/>
                          </a:solidFill>
                          <a:latin typeface="Questrial"/>
                          <a:ea typeface="Questrial"/>
                          <a:cs typeface="Questrial"/>
                          <a:sym typeface="Questrial"/>
                        </a:rPr>
                        <a:t>Headways changed by ±25% and ±50%</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6"/>
                  </a:ext>
                </a:extLst>
              </a:tr>
              <a:tr h="731525">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S7</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2</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2B2020"/>
                        </a:buClr>
                        <a:buSzPts val="1500"/>
                        <a:buFont typeface="Questrial"/>
                        <a:buNone/>
                      </a:pPr>
                      <a:r>
                        <a:rPr lang="en-US" sz="1800" u="none" strike="noStrike" cap="none">
                          <a:solidFill>
                            <a:srgbClr val="2B2020"/>
                          </a:solidFill>
                          <a:latin typeface="Questrial"/>
                          <a:ea typeface="Questrial"/>
                          <a:cs typeface="Questrial"/>
                          <a:sym typeface="Questrial"/>
                        </a:rPr>
                        <a:t>Do urban and rural anchors differ in payment gap?</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tc>
                  <a:txBody>
                    <a:bodyPr/>
                    <a:lstStyle/>
                    <a:p>
                      <a:pPr marL="0" marR="0" lvl="0" indent="0" algn="l" rtl="0">
                        <a:lnSpc>
                          <a:spcPct val="97000"/>
                        </a:lnSpc>
                        <a:spcBef>
                          <a:spcPts val="0"/>
                        </a:spcBef>
                        <a:spcAft>
                          <a:spcPts val="0"/>
                        </a:spcAft>
                        <a:buClr>
                          <a:srgbClr val="8B0707"/>
                        </a:buClr>
                        <a:buSzPts val="1500"/>
                        <a:buFont typeface="Questrial"/>
                        <a:buNone/>
                      </a:pPr>
                      <a:r>
                        <a:rPr lang="en-US" sz="1800" u="none" strike="noStrike" cap="none">
                          <a:solidFill>
                            <a:srgbClr val="8B0707"/>
                          </a:solidFill>
                          <a:latin typeface="Questrial"/>
                          <a:ea typeface="Questrial"/>
                          <a:cs typeface="Questrial"/>
                          <a:sym typeface="Questrial"/>
                        </a:rPr>
                        <a:t>Mann–Whitney U, rank-biserial correlation</a:t>
                      </a:r>
                      <a:endParaRPr sz="1800" u="none" strike="noStrike" cap="none">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FFFFF">
                        <a:alpha val="94902"/>
                      </a:srgbClr>
                    </a:solidFill>
                  </a:tcPr>
                </a:tc>
                <a:extLst>
                  <a:ext uri="{0D108BD9-81ED-4DB2-BD59-A6C34878D82A}">
                    <a16:rowId xmlns:a16="http://schemas.microsoft.com/office/drawing/2014/main" val="10007"/>
                  </a:ext>
                </a:extLst>
              </a:tr>
              <a:tr h="731525">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a:solidFill>
                            <a:srgbClr val="8B0707"/>
                          </a:solidFill>
                          <a:latin typeface="Questrial"/>
                          <a:ea typeface="Questrial"/>
                          <a:cs typeface="Questrial"/>
                          <a:sym typeface="Questrial"/>
                        </a:rPr>
                        <a:t>S8</a:t>
                      </a:r>
                      <a:endParaRPr sz="1800" u="none" strike="noStrike" cap="none">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ctr" rtl="0">
                        <a:lnSpc>
                          <a:spcPct val="97000"/>
                        </a:lnSpc>
                        <a:spcBef>
                          <a:spcPts val="0"/>
                        </a:spcBef>
                        <a:spcAft>
                          <a:spcPts val="0"/>
                        </a:spcAft>
                        <a:buClr>
                          <a:srgbClr val="8B0707"/>
                        </a:buClr>
                        <a:buSzPts val="1550"/>
                        <a:buFont typeface="Questrial"/>
                        <a:buNone/>
                      </a:pPr>
                      <a:r>
                        <a:rPr lang="en-US" sz="1800" b="1" u="none" strike="noStrike" cap="none" dirty="0">
                          <a:solidFill>
                            <a:srgbClr val="8B0707"/>
                          </a:solidFill>
                          <a:latin typeface="Questrial"/>
                          <a:ea typeface="Questrial"/>
                          <a:cs typeface="Questrial"/>
                          <a:sym typeface="Questrial"/>
                        </a:rPr>
                        <a:t>2</a:t>
                      </a:r>
                      <a:endParaRPr sz="1800" u="none" strike="noStrike" cap="none" dirty="0">
                        <a:latin typeface="Questrial"/>
                        <a:ea typeface="Questrial"/>
                        <a:cs typeface="Questrial"/>
                        <a:sym typeface="Questrial"/>
                      </a:endParaRPr>
                    </a:p>
                  </a:txBody>
                  <a:tcPr marL="27425" marR="27425" marT="27425" marB="2742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2B2020"/>
                        </a:buClr>
                        <a:buSzPts val="1500"/>
                        <a:buFont typeface="Questrial"/>
                        <a:buNone/>
                      </a:pPr>
                      <a:r>
                        <a:rPr lang="en-US" sz="1800" u="none" strike="noStrike" cap="none" dirty="0">
                          <a:solidFill>
                            <a:srgbClr val="2B2020"/>
                          </a:solidFill>
                          <a:latin typeface="Questrial"/>
                          <a:ea typeface="Questrial"/>
                          <a:cs typeface="Questrial"/>
                          <a:sym typeface="Questrial"/>
                        </a:rPr>
                        <a:t>How often is the plain-nearest hospital unsuitable?</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tc>
                  <a:txBody>
                    <a:bodyPr/>
                    <a:lstStyle/>
                    <a:p>
                      <a:pPr marL="0" marR="0" lvl="0" indent="0" algn="l" rtl="0">
                        <a:lnSpc>
                          <a:spcPct val="97000"/>
                        </a:lnSpc>
                        <a:spcBef>
                          <a:spcPts val="0"/>
                        </a:spcBef>
                        <a:spcAft>
                          <a:spcPts val="0"/>
                        </a:spcAft>
                        <a:buClr>
                          <a:srgbClr val="8B0707"/>
                        </a:buClr>
                        <a:buSzPts val="1500"/>
                        <a:buFont typeface="Questrial"/>
                        <a:buNone/>
                      </a:pPr>
                      <a:r>
                        <a:rPr lang="en-US" sz="1800" u="none" strike="noStrike" cap="none" dirty="0">
                          <a:solidFill>
                            <a:srgbClr val="8B0707"/>
                          </a:solidFill>
                          <a:latin typeface="Questrial"/>
                          <a:ea typeface="Questrial"/>
                          <a:cs typeface="Questrial"/>
                          <a:sym typeface="Questrial"/>
                        </a:rPr>
                        <a:t>Weighted share, 95% bootstrap interval</a:t>
                      </a:r>
                      <a:endParaRPr sz="1800" u="none" strike="noStrike" cap="none" dirty="0">
                        <a:latin typeface="Questrial"/>
                        <a:ea typeface="Questrial"/>
                        <a:cs typeface="Questrial"/>
                        <a:sym typeface="Questrial"/>
                      </a:endParaRPr>
                    </a:p>
                  </a:txBody>
                  <a:tcPr marL="109725" marR="109725" marT="54875" marB="54875" anchor="ctr">
                    <a:lnL w="12700" cap="flat" cmpd="sng">
                      <a:solidFill>
                        <a:srgbClr val="E9CFCF"/>
                      </a:solidFill>
                      <a:prstDash val="solid"/>
                      <a:round/>
                      <a:headEnd type="none" w="sm" len="sm"/>
                      <a:tailEnd type="none" w="sm" len="sm"/>
                    </a:lnL>
                    <a:lnR w="12700" cap="flat" cmpd="sng">
                      <a:solidFill>
                        <a:srgbClr val="E9CFCF"/>
                      </a:solidFill>
                      <a:prstDash val="solid"/>
                      <a:round/>
                      <a:headEnd type="none" w="sm" len="sm"/>
                      <a:tailEnd type="none" w="sm" len="sm"/>
                    </a:lnR>
                    <a:lnT w="12700" cap="flat" cmpd="sng">
                      <a:solidFill>
                        <a:srgbClr val="E9CFCF"/>
                      </a:solidFill>
                      <a:prstDash val="solid"/>
                      <a:round/>
                      <a:headEnd type="none" w="sm" len="sm"/>
                      <a:tailEnd type="none" w="sm" len="sm"/>
                    </a:lnT>
                    <a:lnB w="12700" cap="flat" cmpd="sng">
                      <a:solidFill>
                        <a:srgbClr val="E9CFCF"/>
                      </a:solidFill>
                      <a:prstDash val="solid"/>
                      <a:round/>
                      <a:headEnd type="none" w="sm" len="sm"/>
                      <a:tailEnd type="none" w="sm" len="sm"/>
                    </a:lnB>
                    <a:solidFill>
                      <a:srgbClr val="F8EAEA">
                        <a:alpha val="94902"/>
                      </a:srgbClr>
                    </a:solidFill>
                  </a:tcPr>
                </a:tc>
                <a:extLst>
                  <a:ext uri="{0D108BD9-81ED-4DB2-BD59-A6C34878D82A}">
                    <a16:rowId xmlns:a16="http://schemas.microsoft.com/office/drawing/2014/main" val="10008"/>
                  </a:ext>
                </a:extLst>
              </a:tr>
            </a:tbl>
          </a:graphicData>
        </a:graphic>
      </p:graphicFrame>
      <p:sp>
        <p:nvSpPr>
          <p:cNvPr id="125" name="Google Shape;552;p21">
            <a:extLst>
              <a:ext uri="{FF2B5EF4-FFF2-40B4-BE49-F238E27FC236}">
                <a16:creationId xmlns:a16="http://schemas.microsoft.com/office/drawing/2014/main" id="{BF9F92DA-36BD-DC3C-E44F-05F9F2359CC5}"/>
              </a:ext>
            </a:extLst>
          </p:cNvPr>
          <p:cNvSpPr txBox="1"/>
          <p:nvPr/>
        </p:nvSpPr>
        <p:spPr>
          <a:xfrm>
            <a:off x="9692640" y="8933688"/>
            <a:ext cx="7772400" cy="621792"/>
          </a:xfrm>
          <a:prstGeom prst="rect">
            <a:avLst/>
          </a:prstGeom>
          <a:noFill/>
          <a:ln>
            <a:noFill/>
          </a:ln>
        </p:spPr>
        <p:txBody>
          <a:bodyPr spcFirstLastPara="1" wrap="square" lIns="0" tIns="0" rIns="0" bIns="0" anchor="t" anchorCtr="0">
            <a:noAutofit/>
          </a:bodyPr>
          <a:lstStyle/>
          <a:p>
            <a:pPr marL="0" marR="0" lvl="0" indent="0" algn="l" rtl="0">
              <a:lnSpc>
                <a:spcPct val="98000"/>
              </a:lnSpc>
              <a:spcBef>
                <a:spcPts val="0"/>
              </a:spcBef>
              <a:spcAft>
                <a:spcPts val="0"/>
              </a:spcAft>
              <a:buClr>
                <a:srgbClr val="6A5656"/>
              </a:buClr>
              <a:buSzPts val="1450"/>
              <a:buFont typeface="Questrial"/>
              <a:buNone/>
            </a:pPr>
            <a:r>
              <a:rPr lang="en-US" sz="2400" b="0" i="1" u="none" strike="noStrike" cap="none" dirty="0">
                <a:solidFill>
                  <a:schemeClr val="bg1"/>
                </a:solidFill>
                <a:latin typeface="Questrial"/>
                <a:ea typeface="Questrial"/>
                <a:cs typeface="Questrial"/>
                <a:sym typeface="Questrial"/>
              </a:rPr>
              <a:t>All tests use alpha = 0.05 with Holm's correction, and effect sizes are reported. A result is called robust only if it holds in every sensitivity run.</a:t>
            </a:r>
            <a:endParaRPr sz="2400" b="0" i="0" u="none" strike="noStrike" cap="none" dirty="0">
              <a:solidFill>
                <a:schemeClr val="bg1"/>
              </a:solidFill>
              <a:latin typeface="Questrial"/>
              <a:ea typeface="Questrial"/>
              <a:cs typeface="Questrial"/>
              <a:sym typeface="Questrial"/>
            </a:endParaRPr>
          </a:p>
        </p:txBody>
      </p:sp>
    </p:spTree>
    <p:extLst>
      <p:ext uri="{BB962C8B-B14F-4D97-AF65-F5344CB8AC3E}">
        <p14:creationId xmlns:p14="http://schemas.microsoft.com/office/powerpoint/2010/main" val="15718098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0AD9A1BE-69FA-8531-E06D-1766F2CC8541}"/>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EC39C532-7245-60DF-BD0F-B94BCC5EC0AF}"/>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559;p22">
            <a:extLst>
              <a:ext uri="{FF2B5EF4-FFF2-40B4-BE49-F238E27FC236}">
                <a16:creationId xmlns:a16="http://schemas.microsoft.com/office/drawing/2014/main" id="{8EA74789-B8C8-ECBF-5CE0-86B5F7C99D70}"/>
              </a:ext>
            </a:extLst>
          </p:cNvPr>
          <p:cNvGrpSpPr/>
          <p:nvPr/>
        </p:nvGrpSpPr>
        <p:grpSpPr>
          <a:xfrm>
            <a:off x="-514350" y="-1248816"/>
            <a:ext cx="19524889" cy="2953915"/>
            <a:chOff x="0" y="-76200"/>
            <a:chExt cx="5142358" cy="777986"/>
          </a:xfrm>
        </p:grpSpPr>
        <p:sp>
          <p:nvSpPr>
            <p:cNvPr id="3" name="Google Shape;560;p22">
              <a:extLst>
                <a:ext uri="{FF2B5EF4-FFF2-40B4-BE49-F238E27FC236}">
                  <a16:creationId xmlns:a16="http://schemas.microsoft.com/office/drawing/2014/main" id="{F3AA0E05-6D08-6598-1B14-877D30CA8ECE}"/>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561;p22">
              <a:extLst>
                <a:ext uri="{FF2B5EF4-FFF2-40B4-BE49-F238E27FC236}">
                  <a16:creationId xmlns:a16="http://schemas.microsoft.com/office/drawing/2014/main" id="{3992C6B9-02C8-6092-30C9-ED17470A46FB}"/>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6" name="Google Shape;562;p22">
            <a:extLst>
              <a:ext uri="{FF2B5EF4-FFF2-40B4-BE49-F238E27FC236}">
                <a16:creationId xmlns:a16="http://schemas.microsoft.com/office/drawing/2014/main" id="{B197600D-A833-4856-D908-8215152740ED}"/>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METHODOLOGY</a:t>
            </a:r>
            <a:endParaRPr/>
          </a:p>
        </p:txBody>
      </p:sp>
      <p:sp>
        <p:nvSpPr>
          <p:cNvPr id="7" name="Google Shape;563;p22">
            <a:extLst>
              <a:ext uri="{FF2B5EF4-FFF2-40B4-BE49-F238E27FC236}">
                <a16:creationId xmlns:a16="http://schemas.microsoft.com/office/drawing/2014/main" id="{B121BB2F-DFEA-49FF-B346-41718BF9A1B6}"/>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600" b="0" i="0" u="none" strike="noStrike" cap="none">
                <a:solidFill>
                  <a:srgbClr val="FFFFFF"/>
                </a:solidFill>
                <a:latin typeface="Questrial"/>
                <a:ea typeface="Questrial"/>
                <a:cs typeface="Questrial"/>
                <a:sym typeface="Questrial"/>
              </a:rPr>
              <a:t>Ethical Considerations</a:t>
            </a:r>
            <a:endParaRPr sz="2600" b="0" i="0" u="none" strike="noStrike" cap="none">
              <a:solidFill>
                <a:schemeClr val="dk1"/>
              </a:solidFill>
              <a:latin typeface="Questrial"/>
              <a:ea typeface="Questrial"/>
              <a:cs typeface="Questrial"/>
              <a:sym typeface="Questrial"/>
            </a:endParaRPr>
          </a:p>
        </p:txBody>
      </p:sp>
      <p:sp>
        <p:nvSpPr>
          <p:cNvPr id="8" name="Google Shape;564;p22">
            <a:extLst>
              <a:ext uri="{FF2B5EF4-FFF2-40B4-BE49-F238E27FC236}">
                <a16:creationId xmlns:a16="http://schemas.microsoft.com/office/drawing/2014/main" id="{8F401640-4BF0-3E0B-B2BD-A369A202A60B}"/>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22</a:t>
            </a:r>
            <a:endParaRPr sz="1600" b="0" i="0" u="none" strike="noStrike" cap="none">
              <a:solidFill>
                <a:schemeClr val="dk1"/>
              </a:solidFill>
              <a:latin typeface="Questrial"/>
              <a:ea typeface="Questrial"/>
              <a:cs typeface="Questrial"/>
              <a:sym typeface="Questrial"/>
            </a:endParaRPr>
          </a:p>
        </p:txBody>
      </p:sp>
      <p:sp>
        <p:nvSpPr>
          <p:cNvPr id="9" name="Google Shape;565;p22">
            <a:extLst>
              <a:ext uri="{FF2B5EF4-FFF2-40B4-BE49-F238E27FC236}">
                <a16:creationId xmlns:a16="http://schemas.microsoft.com/office/drawing/2014/main" id="{D45C4FC4-A05C-DA36-7D68-B0E35244F7EF}"/>
              </a:ext>
            </a:extLst>
          </p:cNvPr>
          <p:cNvSpPr/>
          <p:nvPr/>
        </p:nvSpPr>
        <p:spPr>
          <a:xfrm>
            <a:off x="822960" y="2103120"/>
            <a:ext cx="16642080" cy="7452360"/>
          </a:xfrm>
          <a:prstGeom prst="roundRect">
            <a:avLst>
              <a:gd name="adj" fmla="val 1963"/>
            </a:avLst>
          </a:prstGeom>
          <a:solidFill>
            <a:srgbClr val="FFFFFF">
              <a:alpha val="94118"/>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66;p22">
            <a:extLst>
              <a:ext uri="{FF2B5EF4-FFF2-40B4-BE49-F238E27FC236}">
                <a16:creationId xmlns:a16="http://schemas.microsoft.com/office/drawing/2014/main" id="{707BE8BE-3398-819B-F3B7-351BB5D664EF}"/>
              </a:ext>
            </a:extLst>
          </p:cNvPr>
          <p:cNvSpPr txBox="1"/>
          <p:nvPr/>
        </p:nvSpPr>
        <p:spPr>
          <a:xfrm>
            <a:off x="1234440" y="2514600"/>
            <a:ext cx="7726680" cy="6812280"/>
          </a:xfrm>
          <a:prstGeom prst="rect">
            <a:avLst/>
          </a:prstGeom>
          <a:noFill/>
          <a:ln>
            <a:noFill/>
          </a:ln>
        </p:spPr>
        <p:txBody>
          <a:bodyPr spcFirstLastPara="1" wrap="square" lIns="0" tIns="0" rIns="0" bIns="0" anchor="t" anchorCtr="0">
            <a:noAutofit/>
          </a:bodyPr>
          <a:lstStyle/>
          <a:p>
            <a:pPr marL="292608" marR="0" lvl="0" indent="-292608" algn="l" rtl="0">
              <a:lnSpc>
                <a:spcPct val="104000"/>
              </a:lnSpc>
              <a:spcBef>
                <a:spcPts val="0"/>
              </a:spcBef>
              <a:spcAft>
                <a:spcPts val="0"/>
              </a:spcAft>
              <a:buClr>
                <a:srgbClr val="8B0707"/>
              </a:buClr>
              <a:buSzPts val="2200"/>
              <a:buFont typeface="Arial"/>
              <a:buChar char="•"/>
            </a:pPr>
            <a:r>
              <a:rPr lang="en-US" sz="2200" b="0" i="0" u="none" strike="noStrike" cap="none">
                <a:solidFill>
                  <a:srgbClr val="2B2020"/>
                </a:solidFill>
                <a:latin typeface="Questrial"/>
                <a:ea typeface="Questrial"/>
                <a:cs typeface="Questrial"/>
                <a:sym typeface="Questrial"/>
              </a:rPr>
              <a:t>The study is computational. There are no human participants, no survey or interview, and no fieldwork.</a:t>
            </a:r>
            <a:endParaRPr sz="2200" b="0" i="0" u="none" strike="noStrike" cap="none">
              <a:solidFill>
                <a:schemeClr val="dk1"/>
              </a:solidFill>
              <a:latin typeface="Questrial"/>
              <a:ea typeface="Questrial"/>
              <a:cs typeface="Questrial"/>
              <a:sym typeface="Questrial"/>
            </a:endParaRPr>
          </a:p>
          <a:p>
            <a:pPr marL="292608" marR="0" lvl="0" indent="-292608" algn="l" rtl="0">
              <a:lnSpc>
                <a:spcPct val="104000"/>
              </a:lnSpc>
              <a:spcBef>
                <a:spcPts val="2200"/>
              </a:spcBef>
              <a:spcAft>
                <a:spcPts val="0"/>
              </a:spcAft>
              <a:buClr>
                <a:srgbClr val="8B0707"/>
              </a:buClr>
              <a:buSzPts val="2200"/>
              <a:buFont typeface="Arial"/>
              <a:buChar char="•"/>
            </a:pPr>
            <a:r>
              <a:rPr lang="en-US" sz="2200" b="0" i="0" u="none" strike="noStrike" cap="none">
                <a:solidFill>
                  <a:srgbClr val="2B2020"/>
                </a:solidFill>
                <a:latin typeface="Questrial"/>
                <a:ea typeface="Questrial"/>
                <a:cs typeface="Questrial"/>
                <a:sym typeface="Questrial"/>
              </a:rPr>
              <a:t>No hospital was contacted. The e-mail agents were tested only on a mock mail server with made-up hospitals, and no message left the test computer.</a:t>
            </a:r>
            <a:endParaRPr sz="2200" b="0" i="0" u="none" strike="noStrike" cap="none">
              <a:solidFill>
                <a:schemeClr val="dk1"/>
              </a:solidFill>
              <a:latin typeface="Questrial"/>
              <a:ea typeface="Questrial"/>
              <a:cs typeface="Questrial"/>
              <a:sym typeface="Questrial"/>
            </a:endParaRPr>
          </a:p>
          <a:p>
            <a:pPr marL="292608" marR="0" lvl="0" indent="-292608" algn="l" rtl="0">
              <a:lnSpc>
                <a:spcPct val="104000"/>
              </a:lnSpc>
              <a:spcBef>
                <a:spcPts val="2200"/>
              </a:spcBef>
              <a:spcAft>
                <a:spcPts val="0"/>
              </a:spcAft>
              <a:buClr>
                <a:srgbClr val="8B0707"/>
              </a:buClr>
              <a:buSzPts val="2200"/>
              <a:buFont typeface="Arial"/>
              <a:buChar char="•"/>
            </a:pPr>
            <a:r>
              <a:rPr lang="en-US" sz="2200" b="0" i="0" u="none" strike="noStrike" cap="none">
                <a:solidFill>
                  <a:srgbClr val="2B2020"/>
                </a:solidFill>
                <a:latin typeface="Questrial"/>
                <a:ea typeface="Questrial"/>
                <a:cs typeface="Questrial"/>
                <a:sym typeface="Questrial"/>
              </a:rPr>
              <a:t>Before any real use, the Scientific Review Committee must approve the protocol and the inquiry message. The Provincial Health Office will be informed, and hospitals must opt in.</a:t>
            </a:r>
            <a:endParaRPr sz="2200" b="0" i="0" u="none" strike="noStrike" cap="none">
              <a:solidFill>
                <a:schemeClr val="dk1"/>
              </a:solidFill>
              <a:latin typeface="Questrial"/>
              <a:ea typeface="Questrial"/>
              <a:cs typeface="Questrial"/>
              <a:sym typeface="Questrial"/>
            </a:endParaRPr>
          </a:p>
          <a:p>
            <a:pPr marL="292608" marR="0" lvl="0" indent="-292608" algn="l" rtl="0">
              <a:lnSpc>
                <a:spcPct val="104000"/>
              </a:lnSpc>
              <a:spcBef>
                <a:spcPts val="2200"/>
              </a:spcBef>
              <a:spcAft>
                <a:spcPts val="0"/>
              </a:spcAft>
              <a:buClr>
                <a:srgbClr val="8B0707"/>
              </a:buClr>
              <a:buSzPts val="2200"/>
              <a:buFont typeface="Arial"/>
              <a:buChar char="•"/>
            </a:pPr>
            <a:r>
              <a:rPr lang="en-US" sz="2200" b="0" i="0" u="none" strike="noStrike" cap="none">
                <a:solidFill>
                  <a:srgbClr val="2B2020"/>
                </a:solidFill>
                <a:latin typeface="Questrial"/>
                <a:ea typeface="Questrial"/>
                <a:cs typeface="Questrial"/>
                <a:sym typeface="Questrial"/>
              </a:rPr>
              <a:t>Only total bed counts are asked for. No patient information is requested or stored, in line with the Data Privacy Act of 2012 (RA 10173).</a:t>
            </a:r>
            <a:endParaRPr sz="2200" b="0" i="0" u="none" strike="noStrike" cap="none">
              <a:solidFill>
                <a:schemeClr val="dk1"/>
              </a:solidFill>
              <a:latin typeface="Questrial"/>
              <a:ea typeface="Questrial"/>
              <a:cs typeface="Questrial"/>
              <a:sym typeface="Questrial"/>
            </a:endParaRPr>
          </a:p>
        </p:txBody>
      </p:sp>
      <p:cxnSp>
        <p:nvCxnSpPr>
          <p:cNvPr id="11" name="Google Shape;567;p22">
            <a:extLst>
              <a:ext uri="{FF2B5EF4-FFF2-40B4-BE49-F238E27FC236}">
                <a16:creationId xmlns:a16="http://schemas.microsoft.com/office/drawing/2014/main" id="{21B0DC0F-DC27-4815-9BA4-611EE161C31F}"/>
              </a:ext>
            </a:extLst>
          </p:cNvPr>
          <p:cNvCxnSpPr/>
          <p:nvPr/>
        </p:nvCxnSpPr>
        <p:spPr>
          <a:xfrm>
            <a:off x="9144000" y="2560320"/>
            <a:ext cx="0" cy="6537960"/>
          </a:xfrm>
          <a:prstGeom prst="straightConnector1">
            <a:avLst/>
          </a:prstGeom>
          <a:noFill/>
          <a:ln w="19050" cap="flat" cmpd="sng">
            <a:solidFill>
              <a:srgbClr val="F1D6D6"/>
            </a:solidFill>
            <a:prstDash val="solid"/>
            <a:round/>
            <a:headEnd type="none" w="sm" len="sm"/>
            <a:tailEnd type="none" w="sm" len="sm"/>
          </a:ln>
        </p:spPr>
      </p:cxnSp>
      <p:sp>
        <p:nvSpPr>
          <p:cNvPr id="12" name="Google Shape;568;p22">
            <a:extLst>
              <a:ext uri="{FF2B5EF4-FFF2-40B4-BE49-F238E27FC236}">
                <a16:creationId xmlns:a16="http://schemas.microsoft.com/office/drawing/2014/main" id="{9AFA4E60-D598-AE6D-EDF8-9553FC9EAB44}"/>
              </a:ext>
            </a:extLst>
          </p:cNvPr>
          <p:cNvSpPr txBox="1"/>
          <p:nvPr/>
        </p:nvSpPr>
        <p:spPr>
          <a:xfrm>
            <a:off x="9326880" y="2514600"/>
            <a:ext cx="7726680" cy="6812280"/>
          </a:xfrm>
          <a:prstGeom prst="rect">
            <a:avLst/>
          </a:prstGeom>
          <a:noFill/>
          <a:ln>
            <a:noFill/>
          </a:ln>
        </p:spPr>
        <p:txBody>
          <a:bodyPr spcFirstLastPara="1" wrap="square" lIns="0" tIns="0" rIns="0" bIns="0" anchor="t" anchorCtr="0">
            <a:noAutofit/>
          </a:bodyPr>
          <a:lstStyle/>
          <a:p>
            <a:pPr marL="292608" marR="0" lvl="0" indent="-292608" algn="l" rtl="0">
              <a:lnSpc>
                <a:spcPct val="104000"/>
              </a:lnSpc>
              <a:spcBef>
                <a:spcPts val="0"/>
              </a:spcBef>
              <a:spcAft>
                <a:spcPts val="0"/>
              </a:spcAft>
              <a:buClr>
                <a:srgbClr val="8B0707"/>
              </a:buClr>
              <a:buSzPts val="2200"/>
              <a:buFont typeface="Arial"/>
              <a:buChar char="•"/>
            </a:pPr>
            <a:r>
              <a:rPr lang="en-US" sz="2200" b="0" i="0" u="none" strike="noStrike" cap="none">
                <a:solidFill>
                  <a:srgbClr val="2B2020"/>
                </a:solidFill>
                <a:latin typeface="Questrial"/>
                <a:ea typeface="Questrial"/>
                <a:cs typeface="Questrial"/>
                <a:sym typeface="Questrial"/>
              </a:rPr>
              <a:t>All sources are used under their published terms. OpenStreetMap data are credited under the Open Database License.</a:t>
            </a:r>
            <a:endParaRPr sz="2200" b="0" i="0" u="none" strike="noStrike" cap="none">
              <a:solidFill>
                <a:schemeClr val="dk1"/>
              </a:solidFill>
              <a:latin typeface="Questrial"/>
              <a:ea typeface="Questrial"/>
              <a:cs typeface="Questrial"/>
              <a:sym typeface="Questrial"/>
            </a:endParaRPr>
          </a:p>
          <a:p>
            <a:pPr marL="292608" marR="0" lvl="0" indent="-292608" algn="l" rtl="0">
              <a:lnSpc>
                <a:spcPct val="104000"/>
              </a:lnSpc>
              <a:spcBef>
                <a:spcPts val="2200"/>
              </a:spcBef>
              <a:spcAft>
                <a:spcPts val="0"/>
              </a:spcAft>
              <a:buClr>
                <a:srgbClr val="8B0707"/>
              </a:buClr>
              <a:buSzPts val="2200"/>
              <a:buFont typeface="Arial"/>
              <a:buChar char="•"/>
            </a:pPr>
            <a:r>
              <a:rPr lang="en-US" sz="2200" b="0" i="0" u="none" strike="noStrike" cap="none">
                <a:solidFill>
                  <a:srgbClr val="2B2020"/>
                </a:solidFill>
                <a:latin typeface="Questrial"/>
                <a:ea typeface="Questrial"/>
                <a:cs typeface="Questrial"/>
                <a:sym typeface="Questrial"/>
              </a:rPr>
              <a:t>No data were fabricated. Every synthetic result is labeled as a model output and kept apart from real data.</a:t>
            </a:r>
            <a:endParaRPr sz="2200" b="0" i="0" u="none" strike="noStrike" cap="none">
              <a:solidFill>
                <a:schemeClr val="dk1"/>
              </a:solidFill>
              <a:latin typeface="Questrial"/>
              <a:ea typeface="Questrial"/>
              <a:cs typeface="Questrial"/>
              <a:sym typeface="Questrial"/>
            </a:endParaRPr>
          </a:p>
          <a:p>
            <a:pPr marL="292608" marR="0" lvl="0" indent="-292608" algn="l" rtl="0">
              <a:lnSpc>
                <a:spcPct val="104000"/>
              </a:lnSpc>
              <a:spcBef>
                <a:spcPts val="2200"/>
              </a:spcBef>
              <a:spcAft>
                <a:spcPts val="0"/>
              </a:spcAft>
              <a:buClr>
                <a:srgbClr val="8B0707"/>
              </a:buClr>
              <a:buSzPts val="2200"/>
              <a:buFont typeface="Arial"/>
              <a:buChar char="•"/>
            </a:pPr>
            <a:r>
              <a:rPr lang="en-US" sz="2200" b="0" i="0" u="none" strike="noStrike" cap="none">
                <a:solidFill>
                  <a:srgbClr val="2B2020"/>
                </a:solidFill>
                <a:latin typeface="Questrial"/>
                <a:ea typeface="Questrial"/>
                <a:cs typeface="Questrial"/>
                <a:sym typeface="Questrial"/>
              </a:rPr>
              <a:t>Hospital mode is a routing aid, not a medical device. It does not triage, it keeps a one-tap 911 button (EO 56, s. 2018), and it never filters by cost in an emergency (RA 10932).</a:t>
            </a:r>
            <a:endParaRPr sz="2200" b="0" i="0" u="none" strike="noStrike" cap="none">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643756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AEB61927-8D73-1A8D-C9A6-6FD6594FDC94}"/>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9507E25C-8DAB-A7CD-054C-39F929723D5A}"/>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48" name="Google Shape;575;p23">
            <a:extLst>
              <a:ext uri="{FF2B5EF4-FFF2-40B4-BE49-F238E27FC236}">
                <a16:creationId xmlns:a16="http://schemas.microsoft.com/office/drawing/2014/main" id="{27371988-270A-59C4-683E-5FAF68DD3448}"/>
              </a:ext>
            </a:extLst>
          </p:cNvPr>
          <p:cNvGrpSpPr/>
          <p:nvPr/>
        </p:nvGrpSpPr>
        <p:grpSpPr>
          <a:xfrm>
            <a:off x="-514350" y="-1248816"/>
            <a:ext cx="19524889" cy="2953915"/>
            <a:chOff x="0" y="-76200"/>
            <a:chExt cx="5142358" cy="777986"/>
          </a:xfrm>
        </p:grpSpPr>
        <p:sp>
          <p:nvSpPr>
            <p:cNvPr id="49" name="Google Shape;576;p23">
              <a:extLst>
                <a:ext uri="{FF2B5EF4-FFF2-40B4-BE49-F238E27FC236}">
                  <a16:creationId xmlns:a16="http://schemas.microsoft.com/office/drawing/2014/main" id="{659079CF-CC1E-C518-EA21-076A9E2B4619}"/>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50" name="Google Shape;577;p23">
              <a:extLst>
                <a:ext uri="{FF2B5EF4-FFF2-40B4-BE49-F238E27FC236}">
                  <a16:creationId xmlns:a16="http://schemas.microsoft.com/office/drawing/2014/main" id="{F7C871C3-3164-222F-6B20-D23829E432E5}"/>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54" name="Google Shape;578;p23">
            <a:extLst>
              <a:ext uri="{FF2B5EF4-FFF2-40B4-BE49-F238E27FC236}">
                <a16:creationId xmlns:a16="http://schemas.microsoft.com/office/drawing/2014/main" id="{2F6D9762-2608-01C4-C47C-7E19186CD892}"/>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CONCLUSION</a:t>
            </a:r>
            <a:endParaRPr/>
          </a:p>
        </p:txBody>
      </p:sp>
      <p:sp>
        <p:nvSpPr>
          <p:cNvPr id="56" name="Google Shape;579;p23">
            <a:extLst>
              <a:ext uri="{FF2B5EF4-FFF2-40B4-BE49-F238E27FC236}">
                <a16:creationId xmlns:a16="http://schemas.microsoft.com/office/drawing/2014/main" id="{48B1618F-9433-148E-A5BF-D6C5232CF0C1}"/>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600" b="0" i="0" u="none" strike="noStrike" cap="none">
                <a:solidFill>
                  <a:srgbClr val="8B0707"/>
                </a:solidFill>
                <a:latin typeface="Questrial"/>
                <a:ea typeface="Questrial"/>
                <a:cs typeface="Questrial"/>
                <a:sym typeface="Questrial"/>
              </a:rPr>
              <a:t>23</a:t>
            </a:r>
            <a:endParaRPr sz="1600" b="0" i="0" u="none" strike="noStrike" cap="none">
              <a:solidFill>
                <a:schemeClr val="dk1"/>
              </a:solidFill>
              <a:latin typeface="Questrial"/>
              <a:ea typeface="Questrial"/>
              <a:cs typeface="Questrial"/>
              <a:sym typeface="Questrial"/>
            </a:endParaRPr>
          </a:p>
        </p:txBody>
      </p:sp>
      <p:sp>
        <p:nvSpPr>
          <p:cNvPr id="58" name="Google Shape;580;p23">
            <a:extLst>
              <a:ext uri="{FF2B5EF4-FFF2-40B4-BE49-F238E27FC236}">
                <a16:creationId xmlns:a16="http://schemas.microsoft.com/office/drawing/2014/main" id="{3541935C-CAFE-41A0-EA96-F2052E7214C8}"/>
              </a:ext>
            </a:extLst>
          </p:cNvPr>
          <p:cNvSpPr/>
          <p:nvPr/>
        </p:nvSpPr>
        <p:spPr>
          <a:xfrm>
            <a:off x="822960" y="2103120"/>
            <a:ext cx="16642080" cy="868680"/>
          </a:xfrm>
          <a:prstGeom prst="roundRect">
            <a:avLst>
              <a:gd name="adj" fmla="val 16842"/>
            </a:avLst>
          </a:prstGeom>
          <a:solidFill>
            <a:srgbClr val="F8EA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581;p23">
            <a:extLst>
              <a:ext uri="{FF2B5EF4-FFF2-40B4-BE49-F238E27FC236}">
                <a16:creationId xmlns:a16="http://schemas.microsoft.com/office/drawing/2014/main" id="{5011D2CA-A87E-3733-95CA-0B52B72C0370}"/>
              </a:ext>
            </a:extLst>
          </p:cNvPr>
          <p:cNvSpPr txBox="1"/>
          <p:nvPr/>
        </p:nvSpPr>
        <p:spPr>
          <a:xfrm>
            <a:off x="1188720" y="2148840"/>
            <a:ext cx="1591056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2B2020"/>
              </a:buClr>
              <a:buSzPts val="2050"/>
              <a:buFont typeface="Questrial"/>
              <a:buNone/>
            </a:pPr>
            <a:r>
              <a:rPr lang="en-US" sz="2700" b="0" i="0" u="none" strike="noStrike" cap="none" dirty="0">
                <a:solidFill>
                  <a:srgbClr val="2B2020"/>
                </a:solidFill>
                <a:latin typeface="Questrial"/>
                <a:ea typeface="Questrial"/>
                <a:cs typeface="Questrial"/>
                <a:sym typeface="Questrial"/>
              </a:rPr>
              <a:t>Without a field survey, open data are enough to define, prove, and compute all three points of MAP - A.</a:t>
            </a:r>
            <a:endParaRPr sz="2700" b="0" i="0" u="none" strike="noStrike" cap="none" dirty="0">
              <a:solidFill>
                <a:schemeClr val="dk1"/>
              </a:solidFill>
              <a:latin typeface="Questrial"/>
              <a:ea typeface="Questrial"/>
              <a:cs typeface="Questrial"/>
              <a:sym typeface="Questrial"/>
            </a:endParaRPr>
          </a:p>
        </p:txBody>
      </p:sp>
      <p:sp>
        <p:nvSpPr>
          <p:cNvPr id="62" name="Google Shape;582;p23">
            <a:extLst>
              <a:ext uri="{FF2B5EF4-FFF2-40B4-BE49-F238E27FC236}">
                <a16:creationId xmlns:a16="http://schemas.microsoft.com/office/drawing/2014/main" id="{C7F1C737-283F-3993-2E72-3A09EFED5B9A}"/>
              </a:ext>
            </a:extLst>
          </p:cNvPr>
          <p:cNvSpPr/>
          <p:nvPr/>
        </p:nvSpPr>
        <p:spPr>
          <a:xfrm>
            <a:off x="822960" y="3200400"/>
            <a:ext cx="5334000" cy="533095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583;p23">
            <a:extLst>
              <a:ext uri="{FF2B5EF4-FFF2-40B4-BE49-F238E27FC236}">
                <a16:creationId xmlns:a16="http://schemas.microsoft.com/office/drawing/2014/main" id="{11BABA90-DC9D-8046-0660-D22C42F5F9F6}"/>
              </a:ext>
            </a:extLst>
          </p:cNvPr>
          <p:cNvSpPr/>
          <p:nvPr/>
        </p:nvSpPr>
        <p:spPr>
          <a:xfrm>
            <a:off x="822960" y="3200400"/>
            <a:ext cx="5334000" cy="914400"/>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584;p23">
            <a:extLst>
              <a:ext uri="{FF2B5EF4-FFF2-40B4-BE49-F238E27FC236}">
                <a16:creationId xmlns:a16="http://schemas.microsoft.com/office/drawing/2014/main" id="{5E011801-76E2-BAC5-E1A3-A9576A3E10CB}"/>
              </a:ext>
            </a:extLst>
          </p:cNvPr>
          <p:cNvSpPr/>
          <p:nvPr/>
        </p:nvSpPr>
        <p:spPr>
          <a:xfrm>
            <a:off x="1051560" y="3337560"/>
            <a:ext cx="640080" cy="640080"/>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2520"/>
              <a:buFont typeface="Questrial"/>
              <a:buNone/>
            </a:pPr>
            <a:r>
              <a:rPr lang="en-US" sz="2520" b="1" i="0" u="none" strike="noStrike" cap="none">
                <a:solidFill>
                  <a:srgbClr val="8B0707"/>
                </a:solidFill>
                <a:latin typeface="Questrial"/>
                <a:ea typeface="Questrial"/>
                <a:cs typeface="Questrial"/>
                <a:sym typeface="Questrial"/>
              </a:rPr>
              <a:t>1</a:t>
            </a:r>
            <a:endParaRPr sz="2520" b="0" i="0" u="none" strike="noStrike" cap="none">
              <a:solidFill>
                <a:schemeClr val="dk1"/>
              </a:solidFill>
              <a:latin typeface="Questrial"/>
              <a:ea typeface="Questrial"/>
              <a:cs typeface="Questrial"/>
              <a:sym typeface="Questrial"/>
            </a:endParaRPr>
          </a:p>
        </p:txBody>
      </p:sp>
      <p:sp>
        <p:nvSpPr>
          <p:cNvPr id="68" name="Google Shape;585;p23">
            <a:extLst>
              <a:ext uri="{FF2B5EF4-FFF2-40B4-BE49-F238E27FC236}">
                <a16:creationId xmlns:a16="http://schemas.microsoft.com/office/drawing/2014/main" id="{C601123C-13AE-061F-816D-C049D905B826}"/>
              </a:ext>
            </a:extLst>
          </p:cNvPr>
          <p:cNvSpPr txBox="1"/>
          <p:nvPr/>
        </p:nvSpPr>
        <p:spPr>
          <a:xfrm>
            <a:off x="1920240" y="3246120"/>
            <a:ext cx="4053840" cy="822960"/>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1900"/>
              <a:buFont typeface="Questrial"/>
              <a:buNone/>
            </a:pPr>
            <a:r>
              <a:rPr lang="en-US" sz="3200" b="1" i="0" u="none" strike="noStrike" cap="none" dirty="0">
                <a:solidFill>
                  <a:srgbClr val="FFFFFF"/>
                </a:solidFill>
                <a:latin typeface="Questrial"/>
                <a:ea typeface="Questrial"/>
                <a:cs typeface="Questrial"/>
                <a:sym typeface="Questrial"/>
              </a:rPr>
              <a:t>Transit Map and Fare Forecast</a:t>
            </a:r>
            <a:endParaRPr sz="3200" b="0" i="0" u="none" strike="noStrike" cap="none" dirty="0">
              <a:solidFill>
                <a:schemeClr val="dk1"/>
              </a:solidFill>
              <a:latin typeface="Questrial"/>
              <a:ea typeface="Questrial"/>
              <a:cs typeface="Questrial"/>
              <a:sym typeface="Questrial"/>
            </a:endParaRPr>
          </a:p>
        </p:txBody>
      </p:sp>
      <p:sp>
        <p:nvSpPr>
          <p:cNvPr id="70" name="Google Shape;586;p23">
            <a:extLst>
              <a:ext uri="{FF2B5EF4-FFF2-40B4-BE49-F238E27FC236}">
                <a16:creationId xmlns:a16="http://schemas.microsoft.com/office/drawing/2014/main" id="{1ED70454-C5B4-3F6B-FBBF-262108A8C9C0}"/>
              </a:ext>
            </a:extLst>
          </p:cNvPr>
          <p:cNvSpPr txBox="1"/>
          <p:nvPr/>
        </p:nvSpPr>
        <p:spPr>
          <a:xfrm>
            <a:off x="1097280" y="4297680"/>
            <a:ext cx="4876800" cy="4142232"/>
          </a:xfrm>
          <a:prstGeom prst="rect">
            <a:avLst/>
          </a:prstGeom>
          <a:noFill/>
          <a:ln>
            <a:noFill/>
          </a:ln>
        </p:spPr>
        <p:txBody>
          <a:bodyPr spcFirstLastPara="1" wrap="square" lIns="0" tIns="0" rIns="0" bIns="0" anchor="t" anchorCtr="0">
            <a:noAutofit/>
          </a:bodyPr>
          <a:lstStyle/>
          <a:p>
            <a:pPr marL="292608" marR="0" lvl="0" indent="-292608" algn="l" rtl="0">
              <a:lnSpc>
                <a:spcPct val="100000"/>
              </a:lnSpc>
              <a:spcBef>
                <a:spcPts val="0"/>
              </a:spcBef>
              <a:spcAft>
                <a:spcPts val="0"/>
              </a:spcAft>
              <a:buClr>
                <a:srgbClr val="8B0707"/>
              </a:buClr>
              <a:buSzPts val="2050"/>
              <a:buFont typeface="Arial"/>
              <a:buChar char="•"/>
            </a:pPr>
            <a:r>
              <a:rPr lang="en-US" sz="2200" b="1" i="0" u="none" strike="noStrike" cap="none" dirty="0">
                <a:solidFill>
                  <a:srgbClr val="8B0707"/>
                </a:solidFill>
                <a:latin typeface="Questrial"/>
                <a:ea typeface="Questrial"/>
                <a:cs typeface="Questrial"/>
                <a:sym typeface="Questrial"/>
              </a:rPr>
              <a:t>1,018 of 1,018</a:t>
            </a:r>
            <a:r>
              <a:rPr lang="en-US" sz="2200" b="0" i="0" u="none" strike="noStrike" cap="none" dirty="0">
                <a:solidFill>
                  <a:srgbClr val="2B2020"/>
                </a:solidFill>
                <a:latin typeface="Questrial"/>
                <a:ea typeface="Questrial"/>
                <a:cs typeface="Questrial"/>
                <a:sym typeface="Questrial"/>
              </a:rPr>
              <a:t> test queries matched exhaustive enumeration. Arrival times are exact (Proposition 1).</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400"/>
              </a:spcBef>
              <a:spcAft>
                <a:spcPts val="0"/>
              </a:spcAft>
              <a:buClr>
                <a:srgbClr val="8B0707"/>
              </a:buClr>
              <a:buSzPts val="2050"/>
              <a:buFont typeface="Arial"/>
              <a:buChar char="•"/>
            </a:pPr>
            <a:r>
              <a:rPr lang="en-US" sz="2200" b="1" i="0" u="none" strike="noStrike" cap="none" dirty="0">
                <a:solidFill>
                  <a:srgbClr val="8B0707"/>
                </a:solidFill>
                <a:latin typeface="Questrial"/>
                <a:ea typeface="Questrial"/>
                <a:cs typeface="Questrial"/>
                <a:sym typeface="Questrial"/>
              </a:rPr>
              <a:t>All 1,000</a:t>
            </a:r>
            <a:r>
              <a:rPr lang="en-US" sz="2200" b="0" i="0" u="none" strike="noStrike" cap="none" dirty="0">
                <a:solidFill>
                  <a:srgbClr val="2B2020"/>
                </a:solidFill>
                <a:latin typeface="Questrial"/>
                <a:ea typeface="Questrial"/>
                <a:cs typeface="Questrial"/>
                <a:sym typeface="Questrial"/>
              </a:rPr>
              <a:t> fare splits were </a:t>
            </a:r>
            <a:r>
              <a:rPr lang="en-US" sz="2200" b="0" i="0" u="none" strike="noStrike" cap="none" dirty="0" err="1">
                <a:solidFill>
                  <a:srgbClr val="2B2020"/>
                </a:solidFill>
                <a:latin typeface="Questrial"/>
                <a:ea typeface="Questrial"/>
                <a:cs typeface="Questrial"/>
                <a:sym typeface="Questrial"/>
              </a:rPr>
              <a:t>subadditive</a:t>
            </a:r>
            <a:r>
              <a:rPr lang="en-US" sz="2200" b="0" i="0" u="none" strike="noStrike" cap="none" dirty="0">
                <a:solidFill>
                  <a:srgbClr val="2B2020"/>
                </a:solidFill>
                <a:latin typeface="Questrial"/>
                <a:ea typeface="Questrial"/>
                <a:cs typeface="Questrial"/>
                <a:sym typeface="Questrial"/>
              </a:rPr>
              <a:t>, so the router offers a set of best trips by time, fare, and transfers.</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400"/>
              </a:spcBef>
              <a:spcAft>
                <a:spcPts val="0"/>
              </a:spcAft>
              <a:buClr>
                <a:srgbClr val="8B0707"/>
              </a:buClr>
              <a:buSzPts val="2050"/>
              <a:buFont typeface="Arial"/>
              <a:buChar char="•"/>
            </a:pPr>
            <a:r>
              <a:rPr lang="en-US" sz="2200" b="1" i="0" u="none" strike="noStrike" cap="none" dirty="0">
                <a:solidFill>
                  <a:srgbClr val="8B0707"/>
                </a:solidFill>
                <a:latin typeface="Questrial"/>
                <a:ea typeface="Questrial"/>
                <a:cs typeface="Questrial"/>
                <a:sym typeface="Questrial"/>
              </a:rPr>
              <a:t>47.5%</a:t>
            </a:r>
            <a:r>
              <a:rPr lang="en-US" sz="2200" b="0" i="0" u="none" strike="noStrike" cap="none" dirty="0">
                <a:solidFill>
                  <a:srgbClr val="2B2020"/>
                </a:solidFill>
                <a:latin typeface="Questrial"/>
                <a:ea typeface="Questrial"/>
                <a:cs typeface="Questrial"/>
                <a:sym typeface="Questrial"/>
              </a:rPr>
              <a:t> of reachable queries ran late, by 32.5 min on average, under a single-pass shortcut. Only verification catches it.</a:t>
            </a:r>
            <a:endParaRPr sz="2200" b="0" i="0" u="none" strike="noStrike" cap="none" dirty="0">
              <a:solidFill>
                <a:schemeClr val="dk1"/>
              </a:solidFill>
              <a:latin typeface="Questrial"/>
              <a:ea typeface="Questrial"/>
              <a:cs typeface="Questrial"/>
              <a:sym typeface="Questrial"/>
            </a:endParaRPr>
          </a:p>
        </p:txBody>
      </p:sp>
      <p:sp>
        <p:nvSpPr>
          <p:cNvPr id="72" name="Google Shape;587;p23">
            <a:extLst>
              <a:ext uri="{FF2B5EF4-FFF2-40B4-BE49-F238E27FC236}">
                <a16:creationId xmlns:a16="http://schemas.microsoft.com/office/drawing/2014/main" id="{EA79D7F9-DBE6-B999-EC9C-E0F95AAC8D32}"/>
              </a:ext>
            </a:extLst>
          </p:cNvPr>
          <p:cNvSpPr/>
          <p:nvPr/>
        </p:nvSpPr>
        <p:spPr>
          <a:xfrm>
            <a:off x="6477000" y="3200400"/>
            <a:ext cx="5334000" cy="533095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588;p23">
            <a:extLst>
              <a:ext uri="{FF2B5EF4-FFF2-40B4-BE49-F238E27FC236}">
                <a16:creationId xmlns:a16="http://schemas.microsoft.com/office/drawing/2014/main" id="{B3568CEF-EB9E-8F4D-4BCB-CDB9B5E0B14E}"/>
              </a:ext>
            </a:extLst>
          </p:cNvPr>
          <p:cNvSpPr/>
          <p:nvPr/>
        </p:nvSpPr>
        <p:spPr>
          <a:xfrm>
            <a:off x="6477000" y="3200400"/>
            <a:ext cx="5334000" cy="914400"/>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589;p23">
            <a:extLst>
              <a:ext uri="{FF2B5EF4-FFF2-40B4-BE49-F238E27FC236}">
                <a16:creationId xmlns:a16="http://schemas.microsoft.com/office/drawing/2014/main" id="{06C19CA9-9BE2-3167-83C4-A81EC1786685}"/>
              </a:ext>
            </a:extLst>
          </p:cNvPr>
          <p:cNvSpPr/>
          <p:nvPr/>
        </p:nvSpPr>
        <p:spPr>
          <a:xfrm>
            <a:off x="6705600" y="3337560"/>
            <a:ext cx="640080" cy="640080"/>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2520"/>
              <a:buFont typeface="Questrial"/>
              <a:buNone/>
            </a:pPr>
            <a:r>
              <a:rPr lang="en-US" sz="2520" b="1" i="0" u="none" strike="noStrike" cap="none">
                <a:solidFill>
                  <a:srgbClr val="8B0707"/>
                </a:solidFill>
                <a:latin typeface="Questrial"/>
                <a:ea typeface="Questrial"/>
                <a:cs typeface="Questrial"/>
                <a:sym typeface="Questrial"/>
              </a:rPr>
              <a:t>2</a:t>
            </a:r>
            <a:endParaRPr sz="2520" b="0" i="0" u="none" strike="noStrike" cap="none">
              <a:solidFill>
                <a:schemeClr val="dk1"/>
              </a:solidFill>
              <a:latin typeface="Questrial"/>
              <a:ea typeface="Questrial"/>
              <a:cs typeface="Questrial"/>
              <a:sym typeface="Questrial"/>
            </a:endParaRPr>
          </a:p>
        </p:txBody>
      </p:sp>
      <p:sp>
        <p:nvSpPr>
          <p:cNvPr id="78" name="Google Shape;590;p23">
            <a:extLst>
              <a:ext uri="{FF2B5EF4-FFF2-40B4-BE49-F238E27FC236}">
                <a16:creationId xmlns:a16="http://schemas.microsoft.com/office/drawing/2014/main" id="{AAFF7CE6-A458-D09B-ABCE-A5667AED47A2}"/>
              </a:ext>
            </a:extLst>
          </p:cNvPr>
          <p:cNvSpPr txBox="1"/>
          <p:nvPr/>
        </p:nvSpPr>
        <p:spPr>
          <a:xfrm>
            <a:off x="7574280" y="3246120"/>
            <a:ext cx="4053840" cy="822960"/>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1900"/>
              <a:buFont typeface="Questrial"/>
              <a:buNone/>
            </a:pPr>
            <a:r>
              <a:rPr lang="en-US" sz="3200" b="1" i="0" u="none" strike="noStrike" cap="none" dirty="0">
                <a:solidFill>
                  <a:srgbClr val="FFFFFF"/>
                </a:solidFill>
                <a:latin typeface="Questrial"/>
                <a:ea typeface="Questrial"/>
                <a:cs typeface="Questrial"/>
                <a:sym typeface="Questrial"/>
              </a:rPr>
              <a:t>Patient Transport Map</a:t>
            </a:r>
            <a:endParaRPr sz="3200" b="0" i="0" u="none" strike="noStrike" cap="none" dirty="0">
              <a:solidFill>
                <a:schemeClr val="dk1"/>
              </a:solidFill>
              <a:latin typeface="Questrial"/>
              <a:ea typeface="Questrial"/>
              <a:cs typeface="Questrial"/>
              <a:sym typeface="Questrial"/>
            </a:endParaRPr>
          </a:p>
        </p:txBody>
      </p:sp>
      <p:sp>
        <p:nvSpPr>
          <p:cNvPr id="80" name="Google Shape;591;p23">
            <a:extLst>
              <a:ext uri="{FF2B5EF4-FFF2-40B4-BE49-F238E27FC236}">
                <a16:creationId xmlns:a16="http://schemas.microsoft.com/office/drawing/2014/main" id="{AABB2655-F58F-A2D3-51B6-9DFA836DAA5E}"/>
              </a:ext>
            </a:extLst>
          </p:cNvPr>
          <p:cNvSpPr txBox="1"/>
          <p:nvPr/>
        </p:nvSpPr>
        <p:spPr>
          <a:xfrm>
            <a:off x="6545579" y="4297680"/>
            <a:ext cx="5196840" cy="4142232"/>
          </a:xfrm>
          <a:prstGeom prst="rect">
            <a:avLst/>
          </a:prstGeom>
          <a:noFill/>
          <a:ln>
            <a:noFill/>
          </a:ln>
        </p:spPr>
        <p:txBody>
          <a:bodyPr spcFirstLastPara="1" wrap="square" lIns="0" tIns="0" rIns="0" bIns="0" anchor="t" anchorCtr="0">
            <a:noAutofit/>
          </a:bodyPr>
          <a:lstStyle/>
          <a:p>
            <a:pPr marL="292608" marR="0" lvl="0" indent="-292608" algn="l" rtl="0">
              <a:lnSpc>
                <a:spcPct val="100000"/>
              </a:lnSpc>
              <a:spcBef>
                <a:spcPts val="0"/>
              </a:spcBef>
              <a:spcAft>
                <a:spcPts val="0"/>
              </a:spcAft>
              <a:buClr>
                <a:srgbClr val="8B0707"/>
              </a:buClr>
              <a:buSzPts val="2050"/>
              <a:buFont typeface="Arial"/>
              <a:buChar char="•"/>
            </a:pPr>
            <a:r>
              <a:rPr lang="en-US" sz="2200" b="1" i="0" u="none" strike="noStrike" cap="none" dirty="0">
                <a:solidFill>
                  <a:srgbClr val="8B0707"/>
                </a:solidFill>
                <a:latin typeface="Questrial"/>
                <a:ea typeface="Questrial"/>
                <a:cs typeface="Questrial"/>
                <a:sym typeface="Questrial"/>
              </a:rPr>
              <a:t>5,200 of 5,200</a:t>
            </a:r>
            <a:r>
              <a:rPr lang="en-US" sz="2200" b="0" i="0" u="none" strike="noStrike" cap="none" dirty="0">
                <a:solidFill>
                  <a:srgbClr val="2B2020"/>
                </a:solidFill>
                <a:latin typeface="Questrial"/>
                <a:ea typeface="Questrial"/>
                <a:cs typeface="Questrial"/>
                <a:sym typeface="Questrial"/>
              </a:rPr>
              <a:t> hospital queries matched the reference, settling about 1 in 20 vertices of a 16,000-vertex graph (Proposition 9).</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400"/>
              </a:spcBef>
              <a:spcAft>
                <a:spcPts val="0"/>
              </a:spcAft>
              <a:buClr>
                <a:srgbClr val="8B0707"/>
              </a:buClr>
              <a:buSzPts val="2050"/>
              <a:buFont typeface="Arial"/>
              <a:buChar char="•"/>
            </a:pPr>
            <a:r>
              <a:rPr lang="en-US" sz="2200" b="1" i="0" u="none" strike="noStrike" cap="none" dirty="0">
                <a:solidFill>
                  <a:srgbClr val="8B0707"/>
                </a:solidFill>
                <a:latin typeface="Questrial"/>
                <a:ea typeface="Questrial"/>
                <a:cs typeface="Questrial"/>
                <a:sym typeface="Questrial"/>
              </a:rPr>
              <a:t>Zero</a:t>
            </a:r>
            <a:r>
              <a:rPr lang="en-US" sz="2200" b="0" i="0" u="none" strike="noStrike" cap="none" dirty="0">
                <a:solidFill>
                  <a:srgbClr val="2B2020"/>
                </a:solidFill>
                <a:latin typeface="Questrial"/>
                <a:ea typeface="Questrial"/>
                <a:cs typeface="Questrial"/>
                <a:sym typeface="Questrial"/>
              </a:rPr>
              <a:t> payment gap in every emergency, and never a negative one (Proposition 10, Corollary 11; RA 10932).</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400"/>
              </a:spcBef>
              <a:spcAft>
                <a:spcPts val="0"/>
              </a:spcAft>
              <a:buClr>
                <a:srgbClr val="8B0707"/>
              </a:buClr>
              <a:buSzPts val="2050"/>
              <a:buFont typeface="Arial"/>
              <a:buChar char="•"/>
            </a:pPr>
            <a:r>
              <a:rPr lang="en-US" sz="2200" b="1" i="0" u="none" strike="noStrike" cap="none" dirty="0">
                <a:solidFill>
                  <a:srgbClr val="8B0707"/>
                </a:solidFill>
                <a:latin typeface="Questrial"/>
                <a:ea typeface="Questrial"/>
                <a:cs typeface="Questrial"/>
                <a:sym typeface="Questrial"/>
              </a:rPr>
              <a:t>5 of 6</a:t>
            </a:r>
            <a:r>
              <a:rPr lang="en-US" sz="2200" b="0" i="0" u="none" strike="noStrike" cap="none" dirty="0">
                <a:solidFill>
                  <a:srgbClr val="2B2020"/>
                </a:solidFill>
                <a:latin typeface="Questrial"/>
                <a:ea typeface="Questrial"/>
                <a:cs typeface="Questrial"/>
                <a:sym typeface="Questrial"/>
              </a:rPr>
              <a:t> anchors in test network S1 had a full nearest hospital, where a distance-only router would have sent the patient.</a:t>
            </a:r>
            <a:endParaRPr sz="2200" b="0" i="0" u="none" strike="noStrike" cap="none" dirty="0">
              <a:solidFill>
                <a:schemeClr val="dk1"/>
              </a:solidFill>
              <a:latin typeface="Questrial"/>
              <a:ea typeface="Questrial"/>
              <a:cs typeface="Questrial"/>
              <a:sym typeface="Questrial"/>
            </a:endParaRPr>
          </a:p>
        </p:txBody>
      </p:sp>
      <p:sp>
        <p:nvSpPr>
          <p:cNvPr id="82" name="Google Shape;592;p23">
            <a:extLst>
              <a:ext uri="{FF2B5EF4-FFF2-40B4-BE49-F238E27FC236}">
                <a16:creationId xmlns:a16="http://schemas.microsoft.com/office/drawing/2014/main" id="{BFDC78B7-339F-30B8-D48B-B9A4303D8597}"/>
              </a:ext>
            </a:extLst>
          </p:cNvPr>
          <p:cNvSpPr/>
          <p:nvPr/>
        </p:nvSpPr>
        <p:spPr>
          <a:xfrm>
            <a:off x="12131040" y="3200400"/>
            <a:ext cx="5334000" cy="5330952"/>
          </a:xfrm>
          <a:prstGeom prst="rect">
            <a:avLst/>
          </a:prstGeom>
          <a:solidFill>
            <a:srgbClr val="FFFFFF">
              <a:alpha val="94902"/>
            </a:srgbClr>
          </a:solidFill>
          <a:ln w="15875" cap="flat" cmpd="sng">
            <a:solidFill>
              <a:srgbClr val="8B070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593;p23">
            <a:extLst>
              <a:ext uri="{FF2B5EF4-FFF2-40B4-BE49-F238E27FC236}">
                <a16:creationId xmlns:a16="http://schemas.microsoft.com/office/drawing/2014/main" id="{7D11524C-A614-B1F8-9FE4-6DF451351013}"/>
              </a:ext>
            </a:extLst>
          </p:cNvPr>
          <p:cNvSpPr/>
          <p:nvPr/>
        </p:nvSpPr>
        <p:spPr>
          <a:xfrm>
            <a:off x="12131040" y="3200400"/>
            <a:ext cx="5334000" cy="914400"/>
          </a:xfrm>
          <a:prstGeom prst="rect">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594;p23">
            <a:extLst>
              <a:ext uri="{FF2B5EF4-FFF2-40B4-BE49-F238E27FC236}">
                <a16:creationId xmlns:a16="http://schemas.microsoft.com/office/drawing/2014/main" id="{CF314A80-BBAF-3D59-0E81-A64EEFA80F9F}"/>
              </a:ext>
            </a:extLst>
          </p:cNvPr>
          <p:cNvSpPr/>
          <p:nvPr/>
        </p:nvSpPr>
        <p:spPr>
          <a:xfrm>
            <a:off x="12359640" y="3337560"/>
            <a:ext cx="640080" cy="640080"/>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B0707"/>
              </a:buClr>
              <a:buSzPts val="2520"/>
              <a:buFont typeface="Questrial"/>
              <a:buNone/>
            </a:pPr>
            <a:r>
              <a:rPr lang="en-US" sz="2520" b="1" i="0" u="none" strike="noStrike" cap="none">
                <a:solidFill>
                  <a:srgbClr val="8B0707"/>
                </a:solidFill>
                <a:latin typeface="Questrial"/>
                <a:ea typeface="Questrial"/>
                <a:cs typeface="Questrial"/>
                <a:sym typeface="Questrial"/>
              </a:rPr>
              <a:t>3</a:t>
            </a:r>
            <a:endParaRPr sz="2520" b="0" i="0" u="none" strike="noStrike" cap="none">
              <a:solidFill>
                <a:schemeClr val="dk1"/>
              </a:solidFill>
              <a:latin typeface="Questrial"/>
              <a:ea typeface="Questrial"/>
              <a:cs typeface="Questrial"/>
              <a:sym typeface="Questrial"/>
            </a:endParaRPr>
          </a:p>
        </p:txBody>
      </p:sp>
      <p:sp>
        <p:nvSpPr>
          <p:cNvPr id="88" name="Google Shape;595;p23">
            <a:extLst>
              <a:ext uri="{FF2B5EF4-FFF2-40B4-BE49-F238E27FC236}">
                <a16:creationId xmlns:a16="http://schemas.microsoft.com/office/drawing/2014/main" id="{E3BADFAD-9985-CAF6-098C-0601D36C33D8}"/>
              </a:ext>
            </a:extLst>
          </p:cNvPr>
          <p:cNvSpPr txBox="1"/>
          <p:nvPr/>
        </p:nvSpPr>
        <p:spPr>
          <a:xfrm>
            <a:off x="13228320" y="3246120"/>
            <a:ext cx="4053840" cy="822960"/>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1900"/>
              <a:buFont typeface="Questrial"/>
              <a:buNone/>
            </a:pPr>
            <a:r>
              <a:rPr lang="en-US" sz="3200" b="1" i="0" u="none" strike="noStrike" cap="none" dirty="0">
                <a:solidFill>
                  <a:srgbClr val="FFFFFF"/>
                </a:solidFill>
                <a:latin typeface="Questrial"/>
                <a:ea typeface="Questrial"/>
                <a:cs typeface="Questrial"/>
                <a:sym typeface="Questrial"/>
              </a:rPr>
              <a:t>Hospital Bed Capacity</a:t>
            </a:r>
            <a:endParaRPr sz="3200" b="0" i="0" u="none" strike="noStrike" cap="none" dirty="0">
              <a:solidFill>
                <a:schemeClr val="dk1"/>
              </a:solidFill>
              <a:latin typeface="Questrial"/>
              <a:ea typeface="Questrial"/>
              <a:cs typeface="Questrial"/>
              <a:sym typeface="Questrial"/>
            </a:endParaRPr>
          </a:p>
        </p:txBody>
      </p:sp>
      <p:sp>
        <p:nvSpPr>
          <p:cNvPr id="90" name="Google Shape;596;p23">
            <a:extLst>
              <a:ext uri="{FF2B5EF4-FFF2-40B4-BE49-F238E27FC236}">
                <a16:creationId xmlns:a16="http://schemas.microsoft.com/office/drawing/2014/main" id="{9E0EC5D4-DCE8-2553-8050-D9D5C46FBAE3}"/>
              </a:ext>
            </a:extLst>
          </p:cNvPr>
          <p:cNvSpPr txBox="1"/>
          <p:nvPr/>
        </p:nvSpPr>
        <p:spPr>
          <a:xfrm>
            <a:off x="12405360" y="4297680"/>
            <a:ext cx="5059680" cy="4142232"/>
          </a:xfrm>
          <a:prstGeom prst="rect">
            <a:avLst/>
          </a:prstGeom>
          <a:noFill/>
          <a:ln>
            <a:noFill/>
          </a:ln>
        </p:spPr>
        <p:txBody>
          <a:bodyPr spcFirstLastPara="1" wrap="square" lIns="0" tIns="0" rIns="0" bIns="0" anchor="t" anchorCtr="0">
            <a:noAutofit/>
          </a:bodyPr>
          <a:lstStyle/>
          <a:p>
            <a:pPr marL="292608" marR="0" lvl="0" indent="-292608" algn="l" rtl="0">
              <a:lnSpc>
                <a:spcPct val="100000"/>
              </a:lnSpc>
              <a:spcBef>
                <a:spcPts val="0"/>
              </a:spcBef>
              <a:spcAft>
                <a:spcPts val="0"/>
              </a:spcAft>
              <a:buClr>
                <a:srgbClr val="8B0707"/>
              </a:buClr>
              <a:buSzPts val="2050"/>
              <a:buFont typeface="Arial"/>
              <a:buChar char="•"/>
            </a:pPr>
            <a:r>
              <a:rPr lang="en-US" sz="2200" b="1" i="0" u="none" strike="noStrike" cap="none" dirty="0">
                <a:solidFill>
                  <a:srgbClr val="8B0707"/>
                </a:solidFill>
                <a:latin typeface="Questrial"/>
                <a:ea typeface="Questrial"/>
                <a:cs typeface="Questrial"/>
                <a:sym typeface="Questrial"/>
              </a:rPr>
              <a:t>At most 2</a:t>
            </a:r>
            <a:r>
              <a:rPr lang="en-US" sz="2200" b="0" i="0" u="none" strike="noStrike" cap="none" dirty="0">
                <a:solidFill>
                  <a:srgbClr val="2B2020"/>
                </a:solidFill>
                <a:latin typeface="Questrial"/>
                <a:ea typeface="Questrial"/>
                <a:cs typeface="Questrial"/>
                <a:sym typeface="Questrial"/>
              </a:rPr>
              <a:t> messages per cycle, an immediate stop on opt-out, and reports no older than 10 hours, held over a 30-day simulation (Proposition 12).</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400"/>
              </a:spcBef>
              <a:spcAft>
                <a:spcPts val="0"/>
              </a:spcAft>
              <a:buClr>
                <a:srgbClr val="8B0707"/>
              </a:buClr>
              <a:buSzPts val="2050"/>
              <a:buFont typeface="Arial"/>
              <a:buChar char="•"/>
            </a:pPr>
            <a:r>
              <a:rPr lang="en-US" sz="2200" b="1" i="0" u="none" strike="noStrike" cap="none" dirty="0">
                <a:solidFill>
                  <a:srgbClr val="8B0707"/>
                </a:solidFill>
                <a:latin typeface="Questrial"/>
                <a:ea typeface="Questrial"/>
                <a:cs typeface="Questrial"/>
                <a:sym typeface="Questrial"/>
              </a:rPr>
              <a:t>0 of 200</a:t>
            </a:r>
            <a:r>
              <a:rPr lang="en-US" sz="2200" b="0" i="0" u="none" strike="noStrike" cap="none" dirty="0">
                <a:solidFill>
                  <a:srgbClr val="2B2020"/>
                </a:solidFill>
                <a:latin typeface="Questrial"/>
                <a:ea typeface="Questrial"/>
                <a:cs typeface="Questrial"/>
                <a:sym typeface="Questrial"/>
              </a:rPr>
              <a:t> forged replies passed the validator.</a:t>
            </a:r>
            <a:endParaRPr sz="2200" b="0" i="0" u="none" strike="noStrike" cap="none" dirty="0">
              <a:solidFill>
                <a:schemeClr val="dk1"/>
              </a:solidFill>
              <a:latin typeface="Questrial"/>
              <a:ea typeface="Questrial"/>
              <a:cs typeface="Questrial"/>
              <a:sym typeface="Questrial"/>
            </a:endParaRPr>
          </a:p>
          <a:p>
            <a:pPr marL="292608" marR="0" lvl="0" indent="-292608" algn="l" rtl="0">
              <a:lnSpc>
                <a:spcPct val="100000"/>
              </a:lnSpc>
              <a:spcBef>
                <a:spcPts val="1400"/>
              </a:spcBef>
              <a:spcAft>
                <a:spcPts val="0"/>
              </a:spcAft>
              <a:buClr>
                <a:srgbClr val="8B0707"/>
              </a:buClr>
              <a:buSzPts val="2050"/>
              <a:buFont typeface="Arial"/>
              <a:buChar char="•"/>
            </a:pPr>
            <a:r>
              <a:rPr lang="en-US" sz="2200" b="1" i="0" u="none" strike="noStrike" cap="none" dirty="0">
                <a:solidFill>
                  <a:srgbClr val="8B0707"/>
                </a:solidFill>
                <a:latin typeface="Questrial"/>
                <a:ea typeface="Questrial"/>
                <a:cs typeface="Questrial"/>
                <a:sym typeface="Questrial"/>
              </a:rPr>
              <a:t>Ready.</a:t>
            </a:r>
            <a:r>
              <a:rPr lang="en-US" sz="2200" b="0" i="0" u="none" strike="noStrike" cap="none" dirty="0">
                <a:solidFill>
                  <a:srgbClr val="2B2020"/>
                </a:solidFill>
                <a:latin typeface="Questrial"/>
                <a:ea typeface="Questrial"/>
                <a:cs typeface="Questrial"/>
                <a:sym typeface="Questrial"/>
              </a:rPr>
              <a:t> The bed dashboard lists every licensed facility in Albay. Live reports begin after review-committee approval and hospital opt-in.</a:t>
            </a:r>
            <a:endParaRPr sz="2200" b="0" i="0" u="none" strike="noStrike" cap="none" dirty="0">
              <a:solidFill>
                <a:schemeClr val="dk1"/>
              </a:solidFill>
              <a:latin typeface="Questrial"/>
              <a:ea typeface="Questrial"/>
              <a:cs typeface="Questrial"/>
              <a:sym typeface="Questrial"/>
            </a:endParaRPr>
          </a:p>
        </p:txBody>
      </p:sp>
      <p:sp>
        <p:nvSpPr>
          <p:cNvPr id="92" name="Google Shape;597;p23">
            <a:extLst>
              <a:ext uri="{FF2B5EF4-FFF2-40B4-BE49-F238E27FC236}">
                <a16:creationId xmlns:a16="http://schemas.microsoft.com/office/drawing/2014/main" id="{B8241938-13D8-197B-E649-24165A8CD90D}"/>
              </a:ext>
            </a:extLst>
          </p:cNvPr>
          <p:cNvSpPr/>
          <p:nvPr/>
        </p:nvSpPr>
        <p:spPr>
          <a:xfrm>
            <a:off x="822960" y="8732520"/>
            <a:ext cx="16642080" cy="822960"/>
          </a:xfrm>
          <a:prstGeom prst="roundRect">
            <a:avLst>
              <a:gd name="adj" fmla="val 17777"/>
            </a:avLst>
          </a:prstGeom>
          <a:solidFill>
            <a:srgbClr val="8B070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598;p23">
            <a:extLst>
              <a:ext uri="{FF2B5EF4-FFF2-40B4-BE49-F238E27FC236}">
                <a16:creationId xmlns:a16="http://schemas.microsoft.com/office/drawing/2014/main" id="{C21BA0B8-4A18-BE00-971C-FC6FB748D1A9}"/>
              </a:ext>
            </a:extLst>
          </p:cNvPr>
          <p:cNvSpPr txBox="1"/>
          <p:nvPr/>
        </p:nvSpPr>
        <p:spPr>
          <a:xfrm>
            <a:off x="1188720" y="8778240"/>
            <a:ext cx="15910560" cy="7315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700"/>
              <a:buFont typeface="Questrial"/>
              <a:buNone/>
            </a:pPr>
            <a:r>
              <a:rPr lang="en-US" sz="2800" b="1" i="0" u="none" strike="noStrike" cap="none" dirty="0">
                <a:solidFill>
                  <a:srgbClr val="FFFFFF"/>
                </a:solidFill>
                <a:latin typeface="Questrial"/>
                <a:ea typeface="Questrial"/>
                <a:cs typeface="Questrial"/>
                <a:sym typeface="Questrial"/>
              </a:rPr>
              <a:t>For Albay, open data now support SDG targets 11.2, 3.8, and 10.2. </a:t>
            </a:r>
            <a:r>
              <a:rPr lang="en-US" sz="2800" b="0" i="0" u="none" strike="noStrike" cap="none" dirty="0">
                <a:solidFill>
                  <a:srgbClr val="FFFFFF"/>
                </a:solidFill>
                <a:latin typeface="Questrial"/>
                <a:ea typeface="Questrial"/>
                <a:cs typeface="Questrial"/>
                <a:sym typeface="Questrial"/>
              </a:rPr>
              <a:t>Field validation is the next step.</a:t>
            </a:r>
            <a:endParaRPr sz="2800" b="0" i="0" u="none" strike="noStrike" cap="none" dirty="0">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1160299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2678E138-6BCA-853C-77FE-0C62F78B46BF}"/>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86C5590D-46D8-7805-B9D9-159533084D0C}"/>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605;p24">
            <a:extLst>
              <a:ext uri="{FF2B5EF4-FFF2-40B4-BE49-F238E27FC236}">
                <a16:creationId xmlns:a16="http://schemas.microsoft.com/office/drawing/2014/main" id="{3001D795-81DD-FC36-1780-B4211D8D852B}"/>
              </a:ext>
            </a:extLst>
          </p:cNvPr>
          <p:cNvGrpSpPr/>
          <p:nvPr/>
        </p:nvGrpSpPr>
        <p:grpSpPr>
          <a:xfrm>
            <a:off x="-514350" y="-1248816"/>
            <a:ext cx="19524889" cy="2953915"/>
            <a:chOff x="0" y="-76200"/>
            <a:chExt cx="5142358" cy="777986"/>
          </a:xfrm>
        </p:grpSpPr>
        <p:sp>
          <p:nvSpPr>
            <p:cNvPr id="3" name="Google Shape;606;p24">
              <a:extLst>
                <a:ext uri="{FF2B5EF4-FFF2-40B4-BE49-F238E27FC236}">
                  <a16:creationId xmlns:a16="http://schemas.microsoft.com/office/drawing/2014/main" id="{D795D186-4115-5180-E56E-0434F7451801}"/>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607;p24">
              <a:extLst>
                <a:ext uri="{FF2B5EF4-FFF2-40B4-BE49-F238E27FC236}">
                  <a16:creationId xmlns:a16="http://schemas.microsoft.com/office/drawing/2014/main" id="{EC81D547-7124-A180-00AF-B5F3ACDCDDA8}"/>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 name="Google Shape;608;p24">
            <a:extLst>
              <a:ext uri="{FF2B5EF4-FFF2-40B4-BE49-F238E27FC236}">
                <a16:creationId xmlns:a16="http://schemas.microsoft.com/office/drawing/2014/main" id="{2DB4516D-25C7-7B12-D373-1A61B21B13C7}"/>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PROTOTYPE</a:t>
            </a:r>
            <a:endParaRPr/>
          </a:p>
        </p:txBody>
      </p:sp>
      <p:sp>
        <p:nvSpPr>
          <p:cNvPr id="10" name="Google Shape;609;p24">
            <a:extLst>
              <a:ext uri="{FF2B5EF4-FFF2-40B4-BE49-F238E27FC236}">
                <a16:creationId xmlns:a16="http://schemas.microsoft.com/office/drawing/2014/main" id="{F8357613-265E-7853-7709-466930AA6B9E}"/>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600" b="0" i="0" u="none" strike="noStrike" cap="none">
                <a:solidFill>
                  <a:srgbClr val="FFFFFF"/>
                </a:solidFill>
                <a:latin typeface="Questrial"/>
                <a:ea typeface="Questrial"/>
                <a:cs typeface="Questrial"/>
                <a:sym typeface="Questrial"/>
              </a:rPr>
              <a:t>Point 1: Transit Map and Fare Forecast</a:t>
            </a:r>
            <a:endParaRPr sz="2600" b="0" i="0" u="none" strike="noStrike" cap="none">
              <a:solidFill>
                <a:schemeClr val="dk1"/>
              </a:solidFill>
              <a:latin typeface="Questrial"/>
              <a:ea typeface="Questrial"/>
              <a:cs typeface="Questrial"/>
              <a:sym typeface="Questrial"/>
            </a:endParaRPr>
          </a:p>
        </p:txBody>
      </p:sp>
      <p:sp>
        <p:nvSpPr>
          <p:cNvPr id="12" name="Google Shape;610;p24">
            <a:extLst>
              <a:ext uri="{FF2B5EF4-FFF2-40B4-BE49-F238E27FC236}">
                <a16:creationId xmlns:a16="http://schemas.microsoft.com/office/drawing/2014/main" id="{0E190741-21C2-36EA-C8D0-DFAAB73951D0}"/>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800" b="0" i="0" u="none" strike="noStrike" cap="none">
                <a:solidFill>
                  <a:srgbClr val="8B0707"/>
                </a:solidFill>
                <a:latin typeface="Questrial"/>
                <a:ea typeface="Questrial"/>
                <a:cs typeface="Questrial"/>
                <a:sym typeface="Questrial"/>
              </a:rPr>
              <a:t>24</a:t>
            </a:r>
            <a:endParaRPr sz="1800" b="0" i="0" u="none" strike="noStrike" cap="none">
              <a:solidFill>
                <a:schemeClr val="dk1"/>
              </a:solidFill>
              <a:latin typeface="Questrial"/>
              <a:ea typeface="Questrial"/>
              <a:cs typeface="Questrial"/>
              <a:sym typeface="Questrial"/>
            </a:endParaRPr>
          </a:p>
        </p:txBody>
      </p:sp>
      <p:sp>
        <p:nvSpPr>
          <p:cNvPr id="14" name="Google Shape;611;p24">
            <a:extLst>
              <a:ext uri="{FF2B5EF4-FFF2-40B4-BE49-F238E27FC236}">
                <a16:creationId xmlns:a16="http://schemas.microsoft.com/office/drawing/2014/main" id="{5265A05B-03CF-23EB-E638-09DBC70937E8}"/>
              </a:ext>
            </a:extLst>
          </p:cNvPr>
          <p:cNvSpPr/>
          <p:nvPr/>
        </p:nvSpPr>
        <p:spPr>
          <a:xfrm>
            <a:off x="822960" y="2130552"/>
            <a:ext cx="3100933" cy="6519672"/>
          </a:xfrm>
          <a:prstGeom prst="roundRect">
            <a:avLst>
              <a:gd name="adj" fmla="val 7077"/>
            </a:avLst>
          </a:prstGeom>
          <a:solidFill>
            <a:srgbClr val="2B2020"/>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pic>
        <p:nvPicPr>
          <p:cNvPr id="16" name="Google Shape;612;p24" descr="MAP - A home screen: map of Albay with the modelled public transport lines">
            <a:extLst>
              <a:ext uri="{FF2B5EF4-FFF2-40B4-BE49-F238E27FC236}">
                <a16:creationId xmlns:a16="http://schemas.microsoft.com/office/drawing/2014/main" id="{F6D94E1B-4AA8-421C-03DD-B3CE84758CD6}"/>
              </a:ext>
            </a:extLst>
          </p:cNvPr>
          <p:cNvPicPr preferRelativeResize="0"/>
          <p:nvPr/>
        </p:nvPicPr>
        <p:blipFill rotWithShape="1">
          <a:blip r:embed="rId4">
            <a:alphaModFix/>
          </a:blip>
          <a:srcRect/>
          <a:stretch/>
        </p:blipFill>
        <p:spPr>
          <a:xfrm>
            <a:off x="905256" y="2212848"/>
            <a:ext cx="2936341" cy="6355080"/>
          </a:xfrm>
          <a:prstGeom prst="rect">
            <a:avLst/>
          </a:prstGeom>
          <a:noFill/>
          <a:ln>
            <a:noFill/>
          </a:ln>
        </p:spPr>
      </p:pic>
      <p:sp>
        <p:nvSpPr>
          <p:cNvPr id="18" name="Google Shape;613;p24">
            <a:extLst>
              <a:ext uri="{FF2B5EF4-FFF2-40B4-BE49-F238E27FC236}">
                <a16:creationId xmlns:a16="http://schemas.microsoft.com/office/drawing/2014/main" id="{5E642CA9-1C23-2AB4-1769-F49CD1C2814C}"/>
              </a:ext>
            </a:extLst>
          </p:cNvPr>
          <p:cNvSpPr/>
          <p:nvPr/>
        </p:nvSpPr>
        <p:spPr>
          <a:xfrm>
            <a:off x="4115917" y="4202735"/>
            <a:ext cx="2071523" cy="2375306"/>
          </a:xfrm>
          <a:prstGeom prst="roundRect">
            <a:avLst>
              <a:gd name="adj" fmla="val 7062"/>
            </a:avLst>
          </a:prstGeom>
          <a:solidFill>
            <a:srgbClr val="FFFFFF">
              <a:alpha val="92941"/>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 name="Google Shape;614;p24">
            <a:extLst>
              <a:ext uri="{FF2B5EF4-FFF2-40B4-BE49-F238E27FC236}">
                <a16:creationId xmlns:a16="http://schemas.microsoft.com/office/drawing/2014/main" id="{484E34DF-AF13-87EC-2AF6-A39379ED67A5}"/>
              </a:ext>
            </a:extLst>
          </p:cNvPr>
          <p:cNvSpPr txBox="1"/>
          <p:nvPr/>
        </p:nvSpPr>
        <p:spPr>
          <a:xfrm>
            <a:off x="4280509" y="4403903"/>
            <a:ext cx="1742339" cy="197297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350"/>
              <a:buFont typeface="Questrial"/>
              <a:buNone/>
            </a:pPr>
            <a:r>
              <a:rPr lang="en-US" sz="1800" b="1" i="0" u="none" strike="noStrike" cap="none">
                <a:solidFill>
                  <a:srgbClr val="6A5656"/>
                </a:solidFill>
                <a:latin typeface="Questrial"/>
                <a:ea typeface="Questrial"/>
                <a:cs typeface="Questrial"/>
                <a:sym typeface="Questrial"/>
              </a:rPr>
              <a:t>POINT 1</a:t>
            </a:r>
            <a:endParaRPr sz="1800" b="0" i="0" u="none" strike="noStrike" cap="none">
              <a:solidFill>
                <a:schemeClr val="dk1"/>
              </a:solidFill>
              <a:latin typeface="Questrial"/>
              <a:ea typeface="Questrial"/>
              <a:cs typeface="Questrial"/>
              <a:sym typeface="Questrial"/>
            </a:endParaRPr>
          </a:p>
          <a:p>
            <a:pPr marL="0" marR="0" lvl="0" indent="0" algn="l" rtl="0">
              <a:lnSpc>
                <a:spcPct val="96000"/>
              </a:lnSpc>
              <a:spcBef>
                <a:spcPts val="400"/>
              </a:spcBef>
              <a:spcAft>
                <a:spcPts val="0"/>
              </a:spcAft>
              <a:buClr>
                <a:srgbClr val="8B0707"/>
              </a:buClr>
              <a:buSzPts val="1850"/>
              <a:buFont typeface="Questrial"/>
              <a:buNone/>
            </a:pPr>
            <a:r>
              <a:rPr lang="en-US" sz="1800" b="1" i="0" u="none" strike="noStrike" cap="none">
                <a:solidFill>
                  <a:srgbClr val="8B0707"/>
                </a:solidFill>
                <a:latin typeface="Questrial"/>
                <a:ea typeface="Questrial"/>
                <a:cs typeface="Questrial"/>
                <a:sym typeface="Questrial"/>
              </a:rPr>
              <a:t>The network</a:t>
            </a:r>
            <a:endParaRPr sz="1800" b="0" i="0" u="none" strike="noStrike" cap="none">
              <a:solidFill>
                <a:schemeClr val="dk1"/>
              </a:solidFill>
              <a:latin typeface="Questrial"/>
              <a:ea typeface="Questrial"/>
              <a:cs typeface="Questrial"/>
              <a:sym typeface="Questrial"/>
            </a:endParaRPr>
          </a:p>
          <a:p>
            <a:pPr marL="0" marR="0" lvl="0" indent="0" algn="l" rtl="0">
              <a:lnSpc>
                <a:spcPct val="102000"/>
              </a:lnSpc>
              <a:spcBef>
                <a:spcPts val="800"/>
              </a:spcBef>
              <a:spcAft>
                <a:spcPts val="0"/>
              </a:spcAft>
              <a:buClr>
                <a:srgbClr val="2B2020"/>
              </a:buClr>
              <a:buSzPts val="1600"/>
              <a:buFont typeface="Questrial"/>
              <a:buNone/>
            </a:pPr>
            <a:r>
              <a:rPr lang="en-US" sz="1800" b="0" i="0" u="none" strike="noStrike" cap="none">
                <a:solidFill>
                  <a:srgbClr val="2B2020"/>
                </a:solidFill>
                <a:latin typeface="Questrial"/>
                <a:ea typeface="Questrial"/>
                <a:cs typeface="Questrial"/>
                <a:sym typeface="Questrial"/>
              </a:rPr>
              <a:t>The modelled jeepney, van, and bus lines of Albay on one map.</a:t>
            </a:r>
            <a:endParaRPr sz="1800" b="0" i="0" u="none" strike="noStrike" cap="none">
              <a:solidFill>
                <a:schemeClr val="dk1"/>
              </a:solidFill>
              <a:latin typeface="Questrial"/>
              <a:ea typeface="Questrial"/>
              <a:cs typeface="Questrial"/>
              <a:sym typeface="Questrial"/>
            </a:endParaRPr>
          </a:p>
        </p:txBody>
      </p:sp>
      <p:sp>
        <p:nvSpPr>
          <p:cNvPr id="22" name="Google Shape;615;p24">
            <a:extLst>
              <a:ext uri="{FF2B5EF4-FFF2-40B4-BE49-F238E27FC236}">
                <a16:creationId xmlns:a16="http://schemas.microsoft.com/office/drawing/2014/main" id="{FB11F3B2-16EF-D92B-F584-93FE61BEDF53}"/>
              </a:ext>
            </a:extLst>
          </p:cNvPr>
          <p:cNvSpPr/>
          <p:nvPr/>
        </p:nvSpPr>
        <p:spPr>
          <a:xfrm>
            <a:off x="6461760" y="2130552"/>
            <a:ext cx="3100933" cy="6519672"/>
          </a:xfrm>
          <a:prstGeom prst="roundRect">
            <a:avLst>
              <a:gd name="adj" fmla="val 7077"/>
            </a:avLst>
          </a:prstGeom>
          <a:solidFill>
            <a:srgbClr val="2B2020"/>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pic>
        <p:nvPicPr>
          <p:cNvPr id="24" name="Google Shape;616;p24" descr="Directions screen with transit time and fare">
            <a:extLst>
              <a:ext uri="{FF2B5EF4-FFF2-40B4-BE49-F238E27FC236}">
                <a16:creationId xmlns:a16="http://schemas.microsoft.com/office/drawing/2014/main" id="{2584E901-BA08-608F-6D05-28EC4946495D}"/>
              </a:ext>
            </a:extLst>
          </p:cNvPr>
          <p:cNvPicPr preferRelativeResize="0"/>
          <p:nvPr/>
        </p:nvPicPr>
        <p:blipFill rotWithShape="1">
          <a:blip r:embed="rId5">
            <a:alphaModFix/>
          </a:blip>
          <a:srcRect/>
          <a:stretch/>
        </p:blipFill>
        <p:spPr>
          <a:xfrm>
            <a:off x="6544056" y="2212848"/>
            <a:ext cx="2936341" cy="6355080"/>
          </a:xfrm>
          <a:prstGeom prst="rect">
            <a:avLst/>
          </a:prstGeom>
          <a:noFill/>
          <a:ln>
            <a:noFill/>
          </a:ln>
        </p:spPr>
      </p:pic>
      <p:sp>
        <p:nvSpPr>
          <p:cNvPr id="26" name="Google Shape;617;p24">
            <a:extLst>
              <a:ext uri="{FF2B5EF4-FFF2-40B4-BE49-F238E27FC236}">
                <a16:creationId xmlns:a16="http://schemas.microsoft.com/office/drawing/2014/main" id="{317BFC6C-A439-D0D7-EEBF-1F3039CB9928}"/>
              </a:ext>
            </a:extLst>
          </p:cNvPr>
          <p:cNvSpPr/>
          <p:nvPr/>
        </p:nvSpPr>
        <p:spPr>
          <a:xfrm>
            <a:off x="9754717" y="3818687"/>
            <a:ext cx="2071523" cy="3143402"/>
          </a:xfrm>
          <a:prstGeom prst="roundRect">
            <a:avLst>
              <a:gd name="adj" fmla="val 7062"/>
            </a:avLst>
          </a:prstGeom>
          <a:solidFill>
            <a:srgbClr val="FFFFFF">
              <a:alpha val="92941"/>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8" name="Google Shape;618;p24">
            <a:extLst>
              <a:ext uri="{FF2B5EF4-FFF2-40B4-BE49-F238E27FC236}">
                <a16:creationId xmlns:a16="http://schemas.microsoft.com/office/drawing/2014/main" id="{ECF5286B-7F5B-A908-6F94-0BDDEEF6946B}"/>
              </a:ext>
            </a:extLst>
          </p:cNvPr>
          <p:cNvSpPr txBox="1"/>
          <p:nvPr/>
        </p:nvSpPr>
        <p:spPr>
          <a:xfrm>
            <a:off x="9919309" y="4019855"/>
            <a:ext cx="1742339" cy="274106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350"/>
              <a:buFont typeface="Questrial"/>
              <a:buNone/>
            </a:pPr>
            <a:r>
              <a:rPr lang="en-US" sz="1800" b="1" i="0" u="none" strike="noStrike" cap="none">
                <a:solidFill>
                  <a:srgbClr val="6A5656"/>
                </a:solidFill>
                <a:latin typeface="Questrial"/>
                <a:ea typeface="Questrial"/>
                <a:cs typeface="Questrial"/>
                <a:sym typeface="Questrial"/>
              </a:rPr>
              <a:t>POINT 1</a:t>
            </a:r>
            <a:endParaRPr sz="1800" b="0" i="0" u="none" strike="noStrike" cap="none">
              <a:solidFill>
                <a:schemeClr val="dk1"/>
              </a:solidFill>
              <a:latin typeface="Questrial"/>
              <a:ea typeface="Questrial"/>
              <a:cs typeface="Questrial"/>
              <a:sym typeface="Questrial"/>
            </a:endParaRPr>
          </a:p>
          <a:p>
            <a:pPr marL="0" marR="0" lvl="0" indent="0" algn="l" rtl="0">
              <a:lnSpc>
                <a:spcPct val="96000"/>
              </a:lnSpc>
              <a:spcBef>
                <a:spcPts val="400"/>
              </a:spcBef>
              <a:spcAft>
                <a:spcPts val="0"/>
              </a:spcAft>
              <a:buClr>
                <a:srgbClr val="8B0707"/>
              </a:buClr>
              <a:buSzPts val="1850"/>
              <a:buFont typeface="Questrial"/>
              <a:buNone/>
            </a:pPr>
            <a:r>
              <a:rPr lang="en-US" sz="1800" b="1" i="0" u="none" strike="noStrike" cap="none">
                <a:solidFill>
                  <a:srgbClr val="8B0707"/>
                </a:solidFill>
                <a:latin typeface="Questrial"/>
                <a:ea typeface="Questrial"/>
                <a:cs typeface="Questrial"/>
                <a:sym typeface="Questrial"/>
              </a:rPr>
              <a:t>A trip and its fare</a:t>
            </a:r>
            <a:endParaRPr sz="1800" b="0" i="0" u="none" strike="noStrike" cap="none">
              <a:solidFill>
                <a:schemeClr val="dk1"/>
              </a:solidFill>
              <a:latin typeface="Questrial"/>
              <a:ea typeface="Questrial"/>
              <a:cs typeface="Questrial"/>
              <a:sym typeface="Questrial"/>
            </a:endParaRPr>
          </a:p>
          <a:p>
            <a:pPr marL="0" marR="0" lvl="0" indent="0" algn="l" rtl="0">
              <a:lnSpc>
                <a:spcPct val="102000"/>
              </a:lnSpc>
              <a:spcBef>
                <a:spcPts val="800"/>
              </a:spcBef>
              <a:spcAft>
                <a:spcPts val="0"/>
              </a:spcAft>
              <a:buClr>
                <a:srgbClr val="2B2020"/>
              </a:buClr>
              <a:buSzPts val="1600"/>
              <a:buFont typeface="Questrial"/>
              <a:buNone/>
            </a:pPr>
            <a:r>
              <a:rPr lang="en-US" sz="1800" b="0" i="0" u="none" strike="noStrike" cap="none">
                <a:solidFill>
                  <a:srgbClr val="2B2020"/>
                </a:solidFill>
                <a:latin typeface="Questrial"/>
                <a:ea typeface="Questrial"/>
                <a:cs typeface="Questrial"/>
                <a:sym typeface="Questrial"/>
              </a:rPr>
              <a:t>Bicol University to Sumlang Lake: travel time, walking, and the fare, here with the 20% student discount.</a:t>
            </a:r>
            <a:endParaRPr sz="1800" b="0" i="0" u="none" strike="noStrike" cap="none">
              <a:solidFill>
                <a:schemeClr val="dk1"/>
              </a:solidFill>
              <a:latin typeface="Questrial"/>
              <a:ea typeface="Questrial"/>
              <a:cs typeface="Questrial"/>
              <a:sym typeface="Questrial"/>
            </a:endParaRPr>
          </a:p>
        </p:txBody>
      </p:sp>
      <p:sp>
        <p:nvSpPr>
          <p:cNvPr id="30" name="Google Shape;619;p24">
            <a:extLst>
              <a:ext uri="{FF2B5EF4-FFF2-40B4-BE49-F238E27FC236}">
                <a16:creationId xmlns:a16="http://schemas.microsoft.com/office/drawing/2014/main" id="{92705294-CF26-AD49-761F-0EE2180D1449}"/>
              </a:ext>
            </a:extLst>
          </p:cNvPr>
          <p:cNvSpPr/>
          <p:nvPr/>
        </p:nvSpPr>
        <p:spPr>
          <a:xfrm>
            <a:off x="12100560" y="2130552"/>
            <a:ext cx="3100933" cy="6519672"/>
          </a:xfrm>
          <a:prstGeom prst="roundRect">
            <a:avLst>
              <a:gd name="adj" fmla="val 7077"/>
            </a:avLst>
          </a:prstGeom>
          <a:solidFill>
            <a:srgbClr val="2B2020"/>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pic>
        <p:nvPicPr>
          <p:cNvPr id="32" name="Google Shape;620;p24" descr="Active routes list with headways and fares">
            <a:extLst>
              <a:ext uri="{FF2B5EF4-FFF2-40B4-BE49-F238E27FC236}">
                <a16:creationId xmlns:a16="http://schemas.microsoft.com/office/drawing/2014/main" id="{8E02DE31-16B4-2F85-3DE6-EB4BDC5B54F0}"/>
              </a:ext>
            </a:extLst>
          </p:cNvPr>
          <p:cNvPicPr preferRelativeResize="0"/>
          <p:nvPr/>
        </p:nvPicPr>
        <p:blipFill rotWithShape="1">
          <a:blip r:embed="rId6">
            <a:alphaModFix/>
          </a:blip>
          <a:srcRect/>
          <a:stretch/>
        </p:blipFill>
        <p:spPr>
          <a:xfrm>
            <a:off x="12182856" y="2212848"/>
            <a:ext cx="2936341" cy="6355080"/>
          </a:xfrm>
          <a:prstGeom prst="rect">
            <a:avLst/>
          </a:prstGeom>
          <a:noFill/>
          <a:ln>
            <a:noFill/>
          </a:ln>
        </p:spPr>
      </p:pic>
      <p:sp>
        <p:nvSpPr>
          <p:cNvPr id="34" name="Google Shape;621;p24">
            <a:extLst>
              <a:ext uri="{FF2B5EF4-FFF2-40B4-BE49-F238E27FC236}">
                <a16:creationId xmlns:a16="http://schemas.microsoft.com/office/drawing/2014/main" id="{79E0352A-FB9B-391B-09CF-80AFFA0354F4}"/>
              </a:ext>
            </a:extLst>
          </p:cNvPr>
          <p:cNvSpPr/>
          <p:nvPr/>
        </p:nvSpPr>
        <p:spPr>
          <a:xfrm>
            <a:off x="15393517" y="4327093"/>
            <a:ext cx="2071523" cy="2126590"/>
          </a:xfrm>
          <a:prstGeom prst="roundRect">
            <a:avLst>
              <a:gd name="adj" fmla="val 7062"/>
            </a:avLst>
          </a:prstGeom>
          <a:solidFill>
            <a:srgbClr val="FFFFFF">
              <a:alpha val="92941"/>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 name="Google Shape;622;p24">
            <a:extLst>
              <a:ext uri="{FF2B5EF4-FFF2-40B4-BE49-F238E27FC236}">
                <a16:creationId xmlns:a16="http://schemas.microsoft.com/office/drawing/2014/main" id="{248303AA-B9CD-EF86-18C3-CD5544E7E4BA}"/>
              </a:ext>
            </a:extLst>
          </p:cNvPr>
          <p:cNvSpPr txBox="1"/>
          <p:nvPr/>
        </p:nvSpPr>
        <p:spPr>
          <a:xfrm>
            <a:off x="15558109" y="4528261"/>
            <a:ext cx="1742339" cy="172425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350"/>
              <a:buFont typeface="Questrial"/>
              <a:buNone/>
            </a:pPr>
            <a:r>
              <a:rPr lang="en-US" sz="1800" b="1" i="0" u="none" strike="noStrike" cap="none">
                <a:solidFill>
                  <a:srgbClr val="6A5656"/>
                </a:solidFill>
                <a:latin typeface="Questrial"/>
                <a:ea typeface="Questrial"/>
                <a:cs typeface="Questrial"/>
                <a:sym typeface="Questrial"/>
              </a:rPr>
              <a:t>POINT 1</a:t>
            </a:r>
            <a:endParaRPr sz="1800" b="0" i="0" u="none" strike="noStrike" cap="none">
              <a:solidFill>
                <a:schemeClr val="dk1"/>
              </a:solidFill>
              <a:latin typeface="Questrial"/>
              <a:ea typeface="Questrial"/>
              <a:cs typeface="Questrial"/>
              <a:sym typeface="Questrial"/>
            </a:endParaRPr>
          </a:p>
          <a:p>
            <a:pPr marL="0" marR="0" lvl="0" indent="0" algn="l" rtl="0">
              <a:lnSpc>
                <a:spcPct val="96000"/>
              </a:lnSpc>
              <a:spcBef>
                <a:spcPts val="400"/>
              </a:spcBef>
              <a:spcAft>
                <a:spcPts val="0"/>
              </a:spcAft>
              <a:buClr>
                <a:srgbClr val="8B0707"/>
              </a:buClr>
              <a:buSzPts val="1850"/>
              <a:buFont typeface="Questrial"/>
              <a:buNone/>
            </a:pPr>
            <a:r>
              <a:rPr lang="en-US" sz="1800" b="1" i="0" u="none" strike="noStrike" cap="none">
                <a:solidFill>
                  <a:srgbClr val="8B0707"/>
                </a:solidFill>
                <a:latin typeface="Questrial"/>
                <a:ea typeface="Questrial"/>
                <a:cs typeface="Questrial"/>
                <a:sym typeface="Questrial"/>
              </a:rPr>
              <a:t>Every service</a:t>
            </a:r>
            <a:endParaRPr sz="1800" b="0" i="0" u="none" strike="noStrike" cap="none">
              <a:solidFill>
                <a:schemeClr val="dk1"/>
              </a:solidFill>
              <a:latin typeface="Questrial"/>
              <a:ea typeface="Questrial"/>
              <a:cs typeface="Questrial"/>
              <a:sym typeface="Questrial"/>
            </a:endParaRPr>
          </a:p>
          <a:p>
            <a:pPr marL="0" marR="0" lvl="0" indent="0" algn="l" rtl="0">
              <a:lnSpc>
                <a:spcPct val="102000"/>
              </a:lnSpc>
              <a:spcBef>
                <a:spcPts val="800"/>
              </a:spcBef>
              <a:spcAft>
                <a:spcPts val="0"/>
              </a:spcAft>
              <a:buClr>
                <a:srgbClr val="2B2020"/>
              </a:buClr>
              <a:buSzPts val="1600"/>
              <a:buFont typeface="Questrial"/>
              <a:buNone/>
            </a:pPr>
            <a:r>
              <a:rPr lang="en-US" sz="1800" b="0" i="0" u="none" strike="noStrike" cap="none">
                <a:solidFill>
                  <a:srgbClr val="2B2020"/>
                </a:solidFill>
                <a:latin typeface="Questrial"/>
                <a:ea typeface="Questrial"/>
                <a:cs typeface="Questrial"/>
                <a:sym typeface="Questrial"/>
              </a:rPr>
              <a:t>Each modelled service with its headway, hours, and fare.</a:t>
            </a:r>
            <a:endParaRPr sz="1800" b="0" i="0" u="none" strike="noStrike" cap="none">
              <a:solidFill>
                <a:schemeClr val="dk1"/>
              </a:solidFill>
              <a:latin typeface="Questrial"/>
              <a:ea typeface="Questrial"/>
              <a:cs typeface="Questrial"/>
              <a:sym typeface="Questrial"/>
            </a:endParaRPr>
          </a:p>
        </p:txBody>
      </p:sp>
      <p:sp>
        <p:nvSpPr>
          <p:cNvPr id="38" name="Google Shape;623;p24">
            <a:extLst>
              <a:ext uri="{FF2B5EF4-FFF2-40B4-BE49-F238E27FC236}">
                <a16:creationId xmlns:a16="http://schemas.microsoft.com/office/drawing/2014/main" id="{F0A82E92-7727-A8DB-ED6C-029623895763}"/>
              </a:ext>
            </a:extLst>
          </p:cNvPr>
          <p:cNvSpPr txBox="1"/>
          <p:nvPr/>
        </p:nvSpPr>
        <p:spPr>
          <a:xfrm>
            <a:off x="822960" y="8769096"/>
            <a:ext cx="16642080" cy="8321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A5656"/>
              </a:buClr>
              <a:buSzPts val="1450"/>
              <a:buFont typeface="Questrial"/>
              <a:buNone/>
            </a:pPr>
            <a:r>
              <a:rPr lang="en-US" sz="2400" b="0" i="1" u="none" strike="noStrike" cap="none" dirty="0">
                <a:solidFill>
                  <a:schemeClr val="bg1"/>
                </a:solidFill>
                <a:latin typeface="Questrial"/>
                <a:ea typeface="Questrial"/>
                <a:cs typeface="Questrial"/>
                <a:sym typeface="Questrial"/>
              </a:rPr>
              <a:t>Screens from the MAP - A prototype. Routes and headways are modelled from open data and await field verification.</a:t>
            </a:r>
            <a:endParaRPr sz="2400" b="0" i="0" u="none" strike="noStrike" cap="none" dirty="0">
              <a:solidFill>
                <a:schemeClr val="bg1"/>
              </a:solidFill>
              <a:latin typeface="Questrial"/>
              <a:ea typeface="Questrial"/>
              <a:cs typeface="Questrial"/>
              <a:sym typeface="Questrial"/>
            </a:endParaRPr>
          </a:p>
        </p:txBody>
      </p:sp>
    </p:spTree>
    <p:extLst>
      <p:ext uri="{BB962C8B-B14F-4D97-AF65-F5344CB8AC3E}">
        <p14:creationId xmlns:p14="http://schemas.microsoft.com/office/powerpoint/2010/main" val="576882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106">
          <a:extLst>
            <a:ext uri="{FF2B5EF4-FFF2-40B4-BE49-F238E27FC236}">
              <a16:creationId xmlns:a16="http://schemas.microsoft.com/office/drawing/2014/main" id="{CC9F453B-7F9D-8EE8-9EAA-8FD9AB24C1F7}"/>
            </a:ext>
          </a:extLst>
        </p:cNvPr>
        <p:cNvGrpSpPr/>
        <p:nvPr/>
      </p:nvGrpSpPr>
      <p:grpSpPr>
        <a:xfrm>
          <a:off x="0" y="0"/>
          <a:ext cx="0" cy="0"/>
          <a:chOff x="0" y="0"/>
          <a:chExt cx="0" cy="0"/>
        </a:xfrm>
      </p:grpSpPr>
      <p:sp>
        <p:nvSpPr>
          <p:cNvPr id="109" name="Google Shape;109;g600db3a426f8adcd_1">
            <a:extLst>
              <a:ext uri="{FF2B5EF4-FFF2-40B4-BE49-F238E27FC236}">
                <a16:creationId xmlns:a16="http://schemas.microsoft.com/office/drawing/2014/main" id="{A29A51EA-679F-6D92-D98E-4CFAE5B54254}"/>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3">
              <a:alphaModFix amt="26000"/>
            </a:blip>
            <a:stretch>
              <a:fillRect/>
            </a:stretch>
          </a:blipFill>
          <a:ln>
            <a:noFill/>
          </a:ln>
        </p:spPr>
        <p:txBody>
          <a:bodyPr/>
          <a:lstStyle/>
          <a:p>
            <a:endParaRPr lang="en-PH"/>
          </a:p>
        </p:txBody>
      </p:sp>
      <p:grpSp>
        <p:nvGrpSpPr>
          <p:cNvPr id="2" name="Google Shape;630;p25">
            <a:extLst>
              <a:ext uri="{FF2B5EF4-FFF2-40B4-BE49-F238E27FC236}">
                <a16:creationId xmlns:a16="http://schemas.microsoft.com/office/drawing/2014/main" id="{9871649A-CD1C-2313-947F-0E399A7AE6E7}"/>
              </a:ext>
            </a:extLst>
          </p:cNvPr>
          <p:cNvGrpSpPr/>
          <p:nvPr/>
        </p:nvGrpSpPr>
        <p:grpSpPr>
          <a:xfrm>
            <a:off x="-514350" y="-1248816"/>
            <a:ext cx="19524889" cy="2953915"/>
            <a:chOff x="0" y="-76200"/>
            <a:chExt cx="5142358" cy="777986"/>
          </a:xfrm>
        </p:grpSpPr>
        <p:sp>
          <p:nvSpPr>
            <p:cNvPr id="3" name="Google Shape;631;p25">
              <a:extLst>
                <a:ext uri="{FF2B5EF4-FFF2-40B4-BE49-F238E27FC236}">
                  <a16:creationId xmlns:a16="http://schemas.microsoft.com/office/drawing/2014/main" id="{B0520553-345A-F28A-AFA6-D234EA429101}"/>
                </a:ext>
              </a:extLst>
            </p:cNvPr>
            <p:cNvSpPr/>
            <p:nvPr/>
          </p:nvSpPr>
          <p:spPr>
            <a:xfrm>
              <a:off x="0" y="0"/>
              <a:ext cx="5142357" cy="701786"/>
            </a:xfrm>
            <a:custGeom>
              <a:avLst/>
              <a:gdLst/>
              <a:ahLst/>
              <a:cxnLst/>
              <a:rect l="l" t="t" r="r" b="b"/>
              <a:pathLst>
                <a:path w="5142357" h="701786" extrusionOk="0">
                  <a:moveTo>
                    <a:pt x="0" y="0"/>
                  </a:moveTo>
                  <a:lnTo>
                    <a:pt x="5142357" y="0"/>
                  </a:lnTo>
                  <a:lnTo>
                    <a:pt x="5142357" y="701786"/>
                  </a:lnTo>
                  <a:lnTo>
                    <a:pt x="0" y="701786"/>
                  </a:lnTo>
                  <a:close/>
                </a:path>
              </a:pathLst>
            </a:custGeom>
            <a:solidFill>
              <a:srgbClr val="8B0707"/>
            </a:solidFill>
            <a:ln>
              <a:noFill/>
            </a:ln>
          </p:spPr>
          <p:txBody>
            <a:bodyPr/>
            <a:lstStyle/>
            <a:p>
              <a:endParaRPr lang="en-PH"/>
            </a:p>
          </p:txBody>
        </p:sp>
        <p:sp>
          <p:nvSpPr>
            <p:cNvPr id="4" name="Google Shape;632;p25">
              <a:extLst>
                <a:ext uri="{FF2B5EF4-FFF2-40B4-BE49-F238E27FC236}">
                  <a16:creationId xmlns:a16="http://schemas.microsoft.com/office/drawing/2014/main" id="{51EBEBB0-9D96-A803-A916-07B13FFEABAA}"/>
                </a:ext>
              </a:extLst>
            </p:cNvPr>
            <p:cNvSpPr txBox="1"/>
            <p:nvPr/>
          </p:nvSpPr>
          <p:spPr>
            <a:xfrm>
              <a:off x="0" y="-76200"/>
              <a:ext cx="5142358" cy="777986"/>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8" name="Google Shape;633;p25">
            <a:extLst>
              <a:ext uri="{FF2B5EF4-FFF2-40B4-BE49-F238E27FC236}">
                <a16:creationId xmlns:a16="http://schemas.microsoft.com/office/drawing/2014/main" id="{08A520F6-B237-3C4A-3689-B564A8994492}"/>
              </a:ext>
            </a:extLst>
          </p:cNvPr>
          <p:cNvSpPr txBox="1"/>
          <p:nvPr/>
        </p:nvSpPr>
        <p:spPr>
          <a:xfrm>
            <a:off x="213886" y="324392"/>
            <a:ext cx="17376398" cy="1229762"/>
          </a:xfrm>
          <a:prstGeom prst="rect">
            <a:avLst/>
          </a:prstGeom>
          <a:noFill/>
          <a:ln>
            <a:noFill/>
          </a:ln>
        </p:spPr>
        <p:txBody>
          <a:bodyPr spcFirstLastPara="1" wrap="square" lIns="0" tIns="0" rIns="0" bIns="0" anchor="t" anchorCtr="0">
            <a:spAutoFit/>
          </a:bodyPr>
          <a:lstStyle/>
          <a:p>
            <a:pPr marL="0" marR="0" lvl="0" indent="0" algn="l" rtl="0">
              <a:lnSpc>
                <a:spcPct val="89987"/>
              </a:lnSpc>
              <a:spcBef>
                <a:spcPts val="0"/>
              </a:spcBef>
              <a:spcAft>
                <a:spcPts val="0"/>
              </a:spcAft>
              <a:buNone/>
            </a:pPr>
            <a:r>
              <a:rPr lang="en-US" sz="8579" b="0" i="0" u="none" strike="noStrike" cap="none">
                <a:solidFill>
                  <a:srgbClr val="FFFFFF"/>
                </a:solidFill>
                <a:latin typeface="Questrial"/>
                <a:ea typeface="Questrial"/>
                <a:cs typeface="Questrial"/>
                <a:sym typeface="Questrial"/>
              </a:rPr>
              <a:t>PROTOTYPE</a:t>
            </a:r>
            <a:endParaRPr/>
          </a:p>
        </p:txBody>
      </p:sp>
      <p:sp>
        <p:nvSpPr>
          <p:cNvPr id="10" name="Google Shape;634;p25">
            <a:extLst>
              <a:ext uri="{FF2B5EF4-FFF2-40B4-BE49-F238E27FC236}">
                <a16:creationId xmlns:a16="http://schemas.microsoft.com/office/drawing/2014/main" id="{7BEE2338-7701-EC1E-6D21-B57533ABD22D}"/>
              </a:ext>
            </a:extLst>
          </p:cNvPr>
          <p:cNvSpPr txBox="1"/>
          <p:nvPr/>
        </p:nvSpPr>
        <p:spPr>
          <a:xfrm>
            <a:off x="9509760" y="475488"/>
            <a:ext cx="8366760" cy="7315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FFFFFF"/>
              </a:buClr>
              <a:buSzPts val="2600"/>
              <a:buFont typeface="Questrial"/>
              <a:buNone/>
            </a:pPr>
            <a:r>
              <a:rPr lang="en-US" sz="2600" b="0" i="0" u="none" strike="noStrike" cap="none">
                <a:solidFill>
                  <a:srgbClr val="FFFFFF"/>
                </a:solidFill>
                <a:latin typeface="Questrial"/>
                <a:ea typeface="Questrial"/>
                <a:cs typeface="Questrial"/>
                <a:sym typeface="Questrial"/>
              </a:rPr>
              <a:t>Points 2 and 3: Patient Map and Beds</a:t>
            </a:r>
            <a:endParaRPr sz="2600" b="0" i="0" u="none" strike="noStrike" cap="none">
              <a:solidFill>
                <a:schemeClr val="dk1"/>
              </a:solidFill>
              <a:latin typeface="Questrial"/>
              <a:ea typeface="Questrial"/>
              <a:cs typeface="Questrial"/>
              <a:sym typeface="Questrial"/>
            </a:endParaRPr>
          </a:p>
        </p:txBody>
      </p:sp>
      <p:sp>
        <p:nvSpPr>
          <p:cNvPr id="12" name="Google Shape;635;p25">
            <a:extLst>
              <a:ext uri="{FF2B5EF4-FFF2-40B4-BE49-F238E27FC236}">
                <a16:creationId xmlns:a16="http://schemas.microsoft.com/office/drawing/2014/main" id="{C0A7CCEF-7BDF-D0B9-E08B-C7A8FB699075}"/>
              </a:ext>
            </a:extLst>
          </p:cNvPr>
          <p:cNvSpPr txBox="1"/>
          <p:nvPr/>
        </p:nvSpPr>
        <p:spPr>
          <a:xfrm>
            <a:off x="17007840" y="9710928"/>
            <a:ext cx="914400" cy="384048"/>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8B0707"/>
              </a:buClr>
              <a:buSzPts val="1600"/>
              <a:buFont typeface="Questrial"/>
              <a:buNone/>
            </a:pPr>
            <a:r>
              <a:rPr lang="en-US" sz="1800" b="0" i="0" u="none" strike="noStrike" cap="none">
                <a:solidFill>
                  <a:srgbClr val="8B0707"/>
                </a:solidFill>
                <a:latin typeface="Questrial"/>
                <a:ea typeface="Questrial"/>
                <a:cs typeface="Questrial"/>
                <a:sym typeface="Questrial"/>
              </a:rPr>
              <a:t>25</a:t>
            </a:r>
            <a:endParaRPr sz="1800" b="0" i="0" u="none" strike="noStrike" cap="none">
              <a:solidFill>
                <a:schemeClr val="dk1"/>
              </a:solidFill>
              <a:latin typeface="Questrial"/>
              <a:ea typeface="Questrial"/>
              <a:cs typeface="Questrial"/>
              <a:sym typeface="Questrial"/>
            </a:endParaRPr>
          </a:p>
        </p:txBody>
      </p:sp>
      <p:sp>
        <p:nvSpPr>
          <p:cNvPr id="14" name="Google Shape;636;p25">
            <a:extLst>
              <a:ext uri="{FF2B5EF4-FFF2-40B4-BE49-F238E27FC236}">
                <a16:creationId xmlns:a16="http://schemas.microsoft.com/office/drawing/2014/main" id="{13635D07-C3B1-B02C-4307-65B8AD41E1A1}"/>
              </a:ext>
            </a:extLst>
          </p:cNvPr>
          <p:cNvSpPr/>
          <p:nvPr/>
        </p:nvSpPr>
        <p:spPr>
          <a:xfrm>
            <a:off x="822960" y="2130552"/>
            <a:ext cx="3100933" cy="6519672"/>
          </a:xfrm>
          <a:prstGeom prst="roundRect">
            <a:avLst>
              <a:gd name="adj" fmla="val 7077"/>
            </a:avLst>
          </a:prstGeom>
          <a:solidFill>
            <a:srgbClr val="2B2020"/>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pic>
        <p:nvPicPr>
          <p:cNvPr id="16" name="Google Shape;637;p25" descr="Hospital mode screen with patient status and travel mode">
            <a:extLst>
              <a:ext uri="{FF2B5EF4-FFF2-40B4-BE49-F238E27FC236}">
                <a16:creationId xmlns:a16="http://schemas.microsoft.com/office/drawing/2014/main" id="{BB8C7852-EF30-FCA1-B976-51DCB075DB7A}"/>
              </a:ext>
            </a:extLst>
          </p:cNvPr>
          <p:cNvPicPr preferRelativeResize="0"/>
          <p:nvPr/>
        </p:nvPicPr>
        <p:blipFill rotWithShape="1">
          <a:blip r:embed="rId4">
            <a:alphaModFix/>
          </a:blip>
          <a:srcRect/>
          <a:stretch/>
        </p:blipFill>
        <p:spPr>
          <a:xfrm>
            <a:off x="905256" y="2212848"/>
            <a:ext cx="2936341" cy="6355080"/>
          </a:xfrm>
          <a:prstGeom prst="rect">
            <a:avLst/>
          </a:prstGeom>
          <a:noFill/>
          <a:ln>
            <a:noFill/>
          </a:ln>
        </p:spPr>
      </p:pic>
      <p:sp>
        <p:nvSpPr>
          <p:cNvPr id="18" name="Google Shape;638;p25">
            <a:extLst>
              <a:ext uri="{FF2B5EF4-FFF2-40B4-BE49-F238E27FC236}">
                <a16:creationId xmlns:a16="http://schemas.microsoft.com/office/drawing/2014/main" id="{4EA69885-5B7E-1561-28D0-9340B41F8707}"/>
              </a:ext>
            </a:extLst>
          </p:cNvPr>
          <p:cNvSpPr/>
          <p:nvPr/>
        </p:nvSpPr>
        <p:spPr>
          <a:xfrm>
            <a:off x="4115917" y="3954018"/>
            <a:ext cx="2071523" cy="2872740"/>
          </a:xfrm>
          <a:prstGeom prst="roundRect">
            <a:avLst>
              <a:gd name="adj" fmla="val 7062"/>
            </a:avLst>
          </a:prstGeom>
          <a:solidFill>
            <a:srgbClr val="FFFFFF">
              <a:alpha val="92941"/>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0" name="Google Shape;639;p25">
            <a:extLst>
              <a:ext uri="{FF2B5EF4-FFF2-40B4-BE49-F238E27FC236}">
                <a16:creationId xmlns:a16="http://schemas.microsoft.com/office/drawing/2014/main" id="{93AFAAB4-809F-7DBB-E126-C9A3EB005091}"/>
              </a:ext>
            </a:extLst>
          </p:cNvPr>
          <p:cNvSpPr txBox="1"/>
          <p:nvPr/>
        </p:nvSpPr>
        <p:spPr>
          <a:xfrm>
            <a:off x="4280509" y="4155186"/>
            <a:ext cx="1742339" cy="2470404"/>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350"/>
              <a:buFont typeface="Questrial"/>
              <a:buNone/>
            </a:pPr>
            <a:r>
              <a:rPr lang="en-US" sz="1800" b="1" i="0" u="none" strike="noStrike" cap="none">
                <a:solidFill>
                  <a:srgbClr val="6A5656"/>
                </a:solidFill>
                <a:latin typeface="Questrial"/>
                <a:ea typeface="Questrial"/>
                <a:cs typeface="Questrial"/>
                <a:sym typeface="Questrial"/>
              </a:rPr>
              <a:t>POINT 2</a:t>
            </a:r>
            <a:endParaRPr sz="1800" b="0" i="0" u="none" strike="noStrike" cap="none">
              <a:solidFill>
                <a:schemeClr val="dk1"/>
              </a:solidFill>
              <a:latin typeface="Questrial"/>
              <a:ea typeface="Questrial"/>
              <a:cs typeface="Questrial"/>
              <a:sym typeface="Questrial"/>
            </a:endParaRPr>
          </a:p>
          <a:p>
            <a:pPr marL="0" marR="0" lvl="0" indent="0" algn="l" rtl="0">
              <a:lnSpc>
                <a:spcPct val="96000"/>
              </a:lnSpc>
              <a:spcBef>
                <a:spcPts val="400"/>
              </a:spcBef>
              <a:spcAft>
                <a:spcPts val="0"/>
              </a:spcAft>
              <a:buClr>
                <a:srgbClr val="8B0707"/>
              </a:buClr>
              <a:buSzPts val="1850"/>
              <a:buFont typeface="Questrial"/>
              <a:buNone/>
            </a:pPr>
            <a:r>
              <a:rPr lang="en-US" sz="1800" b="1" i="0" u="none" strike="noStrike" cap="none">
                <a:solidFill>
                  <a:srgbClr val="8B0707"/>
                </a:solidFill>
                <a:latin typeface="Questrial"/>
                <a:ea typeface="Questrial"/>
                <a:cs typeface="Questrial"/>
                <a:sym typeface="Questrial"/>
              </a:rPr>
              <a:t>Hospital mode</a:t>
            </a:r>
            <a:endParaRPr sz="1800" b="0" i="0" u="none" strike="noStrike" cap="none">
              <a:solidFill>
                <a:schemeClr val="dk1"/>
              </a:solidFill>
              <a:latin typeface="Questrial"/>
              <a:ea typeface="Questrial"/>
              <a:cs typeface="Questrial"/>
              <a:sym typeface="Questrial"/>
            </a:endParaRPr>
          </a:p>
          <a:p>
            <a:pPr marL="0" marR="0" lvl="0" indent="0" algn="l" rtl="0">
              <a:lnSpc>
                <a:spcPct val="102000"/>
              </a:lnSpc>
              <a:spcBef>
                <a:spcPts val="800"/>
              </a:spcBef>
              <a:spcAft>
                <a:spcPts val="0"/>
              </a:spcAft>
              <a:buClr>
                <a:srgbClr val="2B2020"/>
              </a:buClr>
              <a:buSzPts val="1600"/>
              <a:buFont typeface="Questrial"/>
              <a:buNone/>
            </a:pPr>
            <a:r>
              <a:rPr lang="en-US" sz="1800" b="0" i="0" u="none" strike="noStrike" cap="none">
                <a:solidFill>
                  <a:srgbClr val="2B2020"/>
                </a:solidFill>
                <a:latin typeface="Questrial"/>
                <a:ea typeface="Questrial"/>
                <a:cs typeface="Questrial"/>
                <a:sym typeface="Questrial"/>
              </a:rPr>
              <a:t>The crew or user sets the patient's status and the travel mode. The app does not triage, and Call 911 stays on top.</a:t>
            </a:r>
            <a:endParaRPr sz="1800" b="0" i="0" u="none" strike="noStrike" cap="none">
              <a:solidFill>
                <a:schemeClr val="dk1"/>
              </a:solidFill>
              <a:latin typeface="Questrial"/>
              <a:ea typeface="Questrial"/>
              <a:cs typeface="Questrial"/>
              <a:sym typeface="Questrial"/>
            </a:endParaRPr>
          </a:p>
        </p:txBody>
      </p:sp>
      <p:sp>
        <p:nvSpPr>
          <p:cNvPr id="22" name="Google Shape;640;p25">
            <a:extLst>
              <a:ext uri="{FF2B5EF4-FFF2-40B4-BE49-F238E27FC236}">
                <a16:creationId xmlns:a16="http://schemas.microsoft.com/office/drawing/2014/main" id="{1940F9E3-1825-B3ED-6392-5611D3FF6F8D}"/>
              </a:ext>
            </a:extLst>
          </p:cNvPr>
          <p:cNvSpPr/>
          <p:nvPr/>
        </p:nvSpPr>
        <p:spPr>
          <a:xfrm>
            <a:off x="6461760" y="2130552"/>
            <a:ext cx="3100933" cy="6519672"/>
          </a:xfrm>
          <a:prstGeom prst="roundRect">
            <a:avLst>
              <a:gd name="adj" fmla="val 7077"/>
            </a:avLst>
          </a:prstGeom>
          <a:solidFill>
            <a:srgbClr val="2B2020"/>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pic>
        <p:nvPicPr>
          <p:cNvPr id="24" name="Google Shape;641;p25" descr="Hospital mode result with a stabilise-first stop and the receiving hospital">
            <a:extLst>
              <a:ext uri="{FF2B5EF4-FFF2-40B4-BE49-F238E27FC236}">
                <a16:creationId xmlns:a16="http://schemas.microsoft.com/office/drawing/2014/main" id="{98474F62-B9D2-2831-DAD1-E581B56FF9BB}"/>
              </a:ext>
            </a:extLst>
          </p:cNvPr>
          <p:cNvPicPr preferRelativeResize="0"/>
          <p:nvPr/>
        </p:nvPicPr>
        <p:blipFill rotWithShape="1">
          <a:blip r:embed="rId5">
            <a:alphaModFix/>
          </a:blip>
          <a:srcRect/>
          <a:stretch/>
        </p:blipFill>
        <p:spPr>
          <a:xfrm>
            <a:off x="6544056" y="2212848"/>
            <a:ext cx="2936341" cy="6355080"/>
          </a:xfrm>
          <a:prstGeom prst="rect">
            <a:avLst/>
          </a:prstGeom>
          <a:noFill/>
          <a:ln>
            <a:noFill/>
          </a:ln>
        </p:spPr>
      </p:pic>
      <p:sp>
        <p:nvSpPr>
          <p:cNvPr id="26" name="Google Shape;642;p25">
            <a:extLst>
              <a:ext uri="{FF2B5EF4-FFF2-40B4-BE49-F238E27FC236}">
                <a16:creationId xmlns:a16="http://schemas.microsoft.com/office/drawing/2014/main" id="{B34F4E84-5EC4-AB11-0FA5-0DA9220DA2A2}"/>
              </a:ext>
            </a:extLst>
          </p:cNvPr>
          <p:cNvSpPr/>
          <p:nvPr/>
        </p:nvSpPr>
        <p:spPr>
          <a:xfrm>
            <a:off x="9754717" y="3558997"/>
            <a:ext cx="2071523" cy="3662782"/>
          </a:xfrm>
          <a:prstGeom prst="roundRect">
            <a:avLst>
              <a:gd name="adj" fmla="val 7062"/>
            </a:avLst>
          </a:prstGeom>
          <a:solidFill>
            <a:srgbClr val="FFFFFF">
              <a:alpha val="92941"/>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28" name="Google Shape;643;p25">
            <a:extLst>
              <a:ext uri="{FF2B5EF4-FFF2-40B4-BE49-F238E27FC236}">
                <a16:creationId xmlns:a16="http://schemas.microsoft.com/office/drawing/2014/main" id="{C6604C55-34C3-8498-5FE1-9B208DD0D480}"/>
              </a:ext>
            </a:extLst>
          </p:cNvPr>
          <p:cNvSpPr txBox="1"/>
          <p:nvPr/>
        </p:nvSpPr>
        <p:spPr>
          <a:xfrm>
            <a:off x="9919309" y="3760165"/>
            <a:ext cx="1906931" cy="326044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350"/>
              <a:buFont typeface="Questrial"/>
              <a:buNone/>
            </a:pPr>
            <a:r>
              <a:rPr lang="en-US" sz="1800" b="1" i="0" u="none" strike="noStrike" cap="none" dirty="0">
                <a:solidFill>
                  <a:srgbClr val="6A5656"/>
                </a:solidFill>
                <a:latin typeface="Questrial"/>
                <a:ea typeface="Questrial"/>
                <a:cs typeface="Questrial"/>
                <a:sym typeface="Questrial"/>
              </a:rPr>
              <a:t>POINT 2</a:t>
            </a:r>
            <a:endParaRPr sz="1800" b="0" i="0" u="none" strike="noStrike" cap="none" dirty="0">
              <a:solidFill>
                <a:schemeClr val="dk1"/>
              </a:solidFill>
              <a:latin typeface="Questrial"/>
              <a:ea typeface="Questrial"/>
              <a:cs typeface="Questrial"/>
              <a:sym typeface="Questrial"/>
            </a:endParaRPr>
          </a:p>
          <a:p>
            <a:pPr marL="0" marR="0" lvl="0" indent="0" algn="l" rtl="0">
              <a:lnSpc>
                <a:spcPct val="96000"/>
              </a:lnSpc>
              <a:spcBef>
                <a:spcPts val="400"/>
              </a:spcBef>
              <a:spcAft>
                <a:spcPts val="0"/>
              </a:spcAft>
              <a:buClr>
                <a:srgbClr val="8B0707"/>
              </a:buClr>
              <a:buSzPts val="1850"/>
              <a:buFont typeface="Questrial"/>
              <a:buNone/>
            </a:pPr>
            <a:r>
              <a:rPr lang="en-US" sz="1800" b="1" i="0" u="none" strike="noStrike" cap="none" dirty="0">
                <a:solidFill>
                  <a:srgbClr val="8B0707"/>
                </a:solidFill>
                <a:latin typeface="Questrial"/>
                <a:ea typeface="Questrial"/>
                <a:cs typeface="Questrial"/>
                <a:sym typeface="Questrial"/>
              </a:rPr>
              <a:t>The hospital that can take the patient</a:t>
            </a:r>
            <a:endParaRPr sz="1800" b="0" i="0" u="none" strike="noStrike" cap="none" dirty="0">
              <a:solidFill>
                <a:schemeClr val="dk1"/>
              </a:solidFill>
              <a:latin typeface="Questrial"/>
              <a:ea typeface="Questrial"/>
              <a:cs typeface="Questrial"/>
              <a:sym typeface="Questrial"/>
            </a:endParaRPr>
          </a:p>
          <a:p>
            <a:pPr marL="0" marR="0" lvl="0" indent="0" algn="l" rtl="0">
              <a:lnSpc>
                <a:spcPct val="102000"/>
              </a:lnSpc>
              <a:spcBef>
                <a:spcPts val="800"/>
              </a:spcBef>
              <a:spcAft>
                <a:spcPts val="0"/>
              </a:spcAft>
              <a:buClr>
                <a:srgbClr val="2B2020"/>
              </a:buClr>
              <a:buSzPts val="1600"/>
              <a:buFont typeface="Questrial"/>
              <a:buNone/>
            </a:pPr>
            <a:r>
              <a:rPr lang="en-US" sz="1800" b="0" i="0" u="none" strike="noStrike" cap="none" dirty="0">
                <a:solidFill>
                  <a:srgbClr val="2B2020"/>
                </a:solidFill>
                <a:latin typeface="Questrial"/>
                <a:ea typeface="Questrial"/>
                <a:cs typeface="Questrial"/>
                <a:sym typeface="Questrial"/>
              </a:rPr>
              <a:t>A life-saving case is first sent to a nearer open emergency room, then to a Level 3 hospital, with its cost class and bed status.</a:t>
            </a:r>
            <a:endParaRPr sz="1800" b="0" i="0" u="none" strike="noStrike" cap="none" dirty="0">
              <a:solidFill>
                <a:schemeClr val="dk1"/>
              </a:solidFill>
              <a:latin typeface="Questrial"/>
              <a:ea typeface="Questrial"/>
              <a:cs typeface="Questrial"/>
              <a:sym typeface="Questrial"/>
            </a:endParaRPr>
          </a:p>
        </p:txBody>
      </p:sp>
      <p:sp>
        <p:nvSpPr>
          <p:cNvPr id="30" name="Google Shape;644;p25">
            <a:extLst>
              <a:ext uri="{FF2B5EF4-FFF2-40B4-BE49-F238E27FC236}">
                <a16:creationId xmlns:a16="http://schemas.microsoft.com/office/drawing/2014/main" id="{2A372EC7-2A2B-9A17-47A0-5FE771E85BD2}"/>
              </a:ext>
            </a:extLst>
          </p:cNvPr>
          <p:cNvSpPr/>
          <p:nvPr/>
        </p:nvSpPr>
        <p:spPr>
          <a:xfrm>
            <a:off x="12100560" y="2130552"/>
            <a:ext cx="3100933" cy="6519672"/>
          </a:xfrm>
          <a:prstGeom prst="roundRect">
            <a:avLst>
              <a:gd name="adj" fmla="val 7077"/>
            </a:avLst>
          </a:prstGeom>
          <a:solidFill>
            <a:srgbClr val="2B2020"/>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pic>
        <p:nvPicPr>
          <p:cNvPr id="32" name="Google Shape;645;p25" descr="Bed dashboard for the provincial health office">
            <a:extLst>
              <a:ext uri="{FF2B5EF4-FFF2-40B4-BE49-F238E27FC236}">
                <a16:creationId xmlns:a16="http://schemas.microsoft.com/office/drawing/2014/main" id="{78D3AD96-062A-6850-61E5-87A8A04E68FB}"/>
              </a:ext>
            </a:extLst>
          </p:cNvPr>
          <p:cNvPicPr preferRelativeResize="0"/>
          <p:nvPr/>
        </p:nvPicPr>
        <p:blipFill rotWithShape="1">
          <a:blip r:embed="rId6">
            <a:alphaModFix/>
          </a:blip>
          <a:srcRect/>
          <a:stretch/>
        </p:blipFill>
        <p:spPr>
          <a:xfrm>
            <a:off x="12182856" y="2212848"/>
            <a:ext cx="2936341" cy="6355080"/>
          </a:xfrm>
          <a:prstGeom prst="rect">
            <a:avLst/>
          </a:prstGeom>
          <a:noFill/>
          <a:ln>
            <a:noFill/>
          </a:ln>
        </p:spPr>
      </p:pic>
      <p:sp>
        <p:nvSpPr>
          <p:cNvPr id="34" name="Google Shape;646;p25">
            <a:extLst>
              <a:ext uri="{FF2B5EF4-FFF2-40B4-BE49-F238E27FC236}">
                <a16:creationId xmlns:a16="http://schemas.microsoft.com/office/drawing/2014/main" id="{F32C6F36-A829-B331-668B-4BFD2143306A}"/>
              </a:ext>
            </a:extLst>
          </p:cNvPr>
          <p:cNvSpPr/>
          <p:nvPr/>
        </p:nvSpPr>
        <p:spPr>
          <a:xfrm>
            <a:off x="15393517" y="3694328"/>
            <a:ext cx="2071523" cy="3392119"/>
          </a:xfrm>
          <a:prstGeom prst="roundRect">
            <a:avLst>
              <a:gd name="adj" fmla="val 7062"/>
            </a:avLst>
          </a:prstGeom>
          <a:solidFill>
            <a:srgbClr val="FFFFFF">
              <a:alpha val="92941"/>
            </a:srgbClr>
          </a:solidFill>
          <a:ln>
            <a:noFill/>
          </a:ln>
          <a:effectLst>
            <a:outerShdw blurRad="190500" dist="38100" dir="5400000" algn="t" rotWithShape="0">
              <a:srgbClr val="3A0000">
                <a:alpha val="16078"/>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36" name="Google Shape;647;p25">
            <a:extLst>
              <a:ext uri="{FF2B5EF4-FFF2-40B4-BE49-F238E27FC236}">
                <a16:creationId xmlns:a16="http://schemas.microsoft.com/office/drawing/2014/main" id="{6E3ADBA7-B758-B6FE-EE36-62E3BEBC708E}"/>
              </a:ext>
            </a:extLst>
          </p:cNvPr>
          <p:cNvSpPr txBox="1"/>
          <p:nvPr/>
        </p:nvSpPr>
        <p:spPr>
          <a:xfrm>
            <a:off x="15558109" y="3895496"/>
            <a:ext cx="1742339" cy="2989783"/>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A5656"/>
              </a:buClr>
              <a:buSzPts val="1350"/>
              <a:buFont typeface="Questrial"/>
              <a:buNone/>
            </a:pPr>
            <a:r>
              <a:rPr lang="en-US" sz="1800" b="1" i="0" u="none" strike="noStrike" cap="none">
                <a:solidFill>
                  <a:srgbClr val="6A5656"/>
                </a:solidFill>
                <a:latin typeface="Questrial"/>
                <a:ea typeface="Questrial"/>
                <a:cs typeface="Questrial"/>
                <a:sym typeface="Questrial"/>
              </a:rPr>
              <a:t>POINT 3</a:t>
            </a:r>
            <a:endParaRPr sz="1800" b="0" i="0" u="none" strike="noStrike" cap="none">
              <a:solidFill>
                <a:schemeClr val="dk1"/>
              </a:solidFill>
              <a:latin typeface="Questrial"/>
              <a:ea typeface="Questrial"/>
              <a:cs typeface="Questrial"/>
              <a:sym typeface="Questrial"/>
            </a:endParaRPr>
          </a:p>
          <a:p>
            <a:pPr marL="0" marR="0" lvl="0" indent="0" algn="l" rtl="0">
              <a:lnSpc>
                <a:spcPct val="96000"/>
              </a:lnSpc>
              <a:spcBef>
                <a:spcPts val="400"/>
              </a:spcBef>
              <a:spcAft>
                <a:spcPts val="0"/>
              </a:spcAft>
              <a:buClr>
                <a:srgbClr val="8B0707"/>
              </a:buClr>
              <a:buSzPts val="1850"/>
              <a:buFont typeface="Questrial"/>
              <a:buNone/>
            </a:pPr>
            <a:r>
              <a:rPr lang="en-US" sz="1800" b="1" i="0" u="none" strike="noStrike" cap="none">
                <a:solidFill>
                  <a:srgbClr val="8B0707"/>
                </a:solidFill>
                <a:latin typeface="Questrial"/>
                <a:ea typeface="Questrial"/>
                <a:cs typeface="Questrial"/>
                <a:sym typeface="Questrial"/>
              </a:rPr>
              <a:t>Bed dashboard</a:t>
            </a:r>
            <a:endParaRPr sz="1800" b="0" i="0" u="none" strike="noStrike" cap="none">
              <a:solidFill>
                <a:schemeClr val="dk1"/>
              </a:solidFill>
              <a:latin typeface="Questrial"/>
              <a:ea typeface="Questrial"/>
              <a:cs typeface="Questrial"/>
              <a:sym typeface="Questrial"/>
            </a:endParaRPr>
          </a:p>
          <a:p>
            <a:pPr marL="0" marR="0" lvl="0" indent="0" algn="l" rtl="0">
              <a:lnSpc>
                <a:spcPct val="102000"/>
              </a:lnSpc>
              <a:spcBef>
                <a:spcPts val="800"/>
              </a:spcBef>
              <a:spcAft>
                <a:spcPts val="0"/>
              </a:spcAft>
              <a:buClr>
                <a:srgbClr val="2B2020"/>
              </a:buClr>
              <a:buSzPts val="1600"/>
              <a:buFont typeface="Questrial"/>
              <a:buNone/>
            </a:pPr>
            <a:r>
              <a:rPr lang="en-US" sz="1800" b="0" i="0" u="none" strike="noStrike" cap="none">
                <a:solidFill>
                  <a:srgbClr val="2B2020"/>
                </a:solidFill>
                <a:latin typeface="Questrial"/>
                <a:ea typeface="Questrial"/>
                <a:cs typeface="Questrial"/>
                <a:sym typeface="Questrial"/>
              </a:rPr>
              <a:t>Every licensed facility in Albay with its licensed beds. Free beds read “not reported” until hospitals answer the agents.</a:t>
            </a:r>
            <a:endParaRPr sz="1800" b="0" i="0" u="none" strike="noStrike" cap="none">
              <a:solidFill>
                <a:schemeClr val="dk1"/>
              </a:solidFill>
              <a:latin typeface="Questrial"/>
              <a:ea typeface="Questrial"/>
              <a:cs typeface="Questrial"/>
              <a:sym typeface="Questrial"/>
            </a:endParaRPr>
          </a:p>
        </p:txBody>
      </p:sp>
      <p:sp>
        <p:nvSpPr>
          <p:cNvPr id="38" name="Google Shape;648;p25">
            <a:extLst>
              <a:ext uri="{FF2B5EF4-FFF2-40B4-BE49-F238E27FC236}">
                <a16:creationId xmlns:a16="http://schemas.microsoft.com/office/drawing/2014/main" id="{B817AD95-376B-2DC7-2ABD-B524D812CD1B}"/>
              </a:ext>
            </a:extLst>
          </p:cNvPr>
          <p:cNvSpPr txBox="1"/>
          <p:nvPr/>
        </p:nvSpPr>
        <p:spPr>
          <a:xfrm>
            <a:off x="822960" y="8769096"/>
            <a:ext cx="16642080" cy="8321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A5656"/>
              </a:buClr>
              <a:buSzPts val="1450"/>
              <a:buFont typeface="Questrial"/>
              <a:buNone/>
            </a:pPr>
            <a:r>
              <a:rPr lang="en-US" sz="2800" b="0" i="1" u="none" strike="noStrike" cap="none" dirty="0">
                <a:solidFill>
                  <a:schemeClr val="bg1"/>
                </a:solidFill>
                <a:latin typeface="Questrial"/>
                <a:ea typeface="Questrial"/>
                <a:cs typeface="Questrial"/>
                <a:sym typeface="Questrial"/>
              </a:rPr>
              <a:t>Screens from the MAP - A prototype. No hospital has been contacted yet, so no free-bed figure is shown.</a:t>
            </a:r>
            <a:endParaRPr sz="2800" b="0" i="0" u="none" strike="noStrike" cap="none" dirty="0">
              <a:solidFill>
                <a:schemeClr val="bg1"/>
              </a:solidFill>
              <a:latin typeface="Questrial"/>
              <a:ea typeface="Questrial"/>
              <a:cs typeface="Questrial"/>
              <a:sym typeface="Questrial"/>
            </a:endParaRPr>
          </a:p>
        </p:txBody>
      </p:sp>
    </p:spTree>
    <p:extLst>
      <p:ext uri="{BB962C8B-B14F-4D97-AF65-F5344CB8AC3E}">
        <p14:creationId xmlns:p14="http://schemas.microsoft.com/office/powerpoint/2010/main" val="2646915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84">
          <a:extLst>
            <a:ext uri="{FF2B5EF4-FFF2-40B4-BE49-F238E27FC236}">
              <a16:creationId xmlns:a16="http://schemas.microsoft.com/office/drawing/2014/main" id="{70E41754-5AEF-FB5C-F9BB-09DCE046387A}"/>
            </a:ext>
          </a:extLst>
        </p:cNvPr>
        <p:cNvGrpSpPr/>
        <p:nvPr/>
      </p:nvGrpSpPr>
      <p:grpSpPr>
        <a:xfrm>
          <a:off x="0" y="0"/>
          <a:ext cx="0" cy="0"/>
          <a:chOff x="0" y="0"/>
          <a:chExt cx="0" cy="0"/>
        </a:xfrm>
      </p:grpSpPr>
      <p:sp>
        <p:nvSpPr>
          <p:cNvPr id="85" name="Google Shape;85;p2">
            <a:extLst>
              <a:ext uri="{FF2B5EF4-FFF2-40B4-BE49-F238E27FC236}">
                <a16:creationId xmlns:a16="http://schemas.microsoft.com/office/drawing/2014/main" id="{96B589D6-3341-7CC3-8C56-4C8CF8F2BE55}"/>
              </a:ext>
            </a:extLst>
          </p:cNvPr>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3">
              <a:alphaModFix/>
            </a:blip>
            <a:stretch>
              <a:fillRect/>
            </a:stretch>
          </a:blipFill>
          <a:ln>
            <a:noFill/>
          </a:ln>
        </p:spPr>
        <p:txBody>
          <a:bodyPr/>
          <a:lstStyle/>
          <a:p>
            <a:endParaRPr lang="en-PH"/>
          </a:p>
        </p:txBody>
      </p:sp>
      <p:sp>
        <p:nvSpPr>
          <p:cNvPr id="86" name="Google Shape;86;p2">
            <a:extLst>
              <a:ext uri="{FF2B5EF4-FFF2-40B4-BE49-F238E27FC236}">
                <a16:creationId xmlns:a16="http://schemas.microsoft.com/office/drawing/2014/main" id="{846670E1-4035-748B-EA56-09E2809687AA}"/>
              </a:ext>
            </a:extLst>
          </p:cNvPr>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3">
              <a:alphaModFix/>
            </a:blip>
            <a:stretch>
              <a:fillRect/>
            </a:stretch>
          </a:blipFill>
          <a:ln>
            <a:noFill/>
          </a:ln>
        </p:spPr>
        <p:txBody>
          <a:bodyPr/>
          <a:lstStyle/>
          <a:p>
            <a:endParaRPr lang="en-PH"/>
          </a:p>
        </p:txBody>
      </p:sp>
      <p:sp>
        <p:nvSpPr>
          <p:cNvPr id="87" name="Google Shape;87;p2">
            <a:extLst>
              <a:ext uri="{FF2B5EF4-FFF2-40B4-BE49-F238E27FC236}">
                <a16:creationId xmlns:a16="http://schemas.microsoft.com/office/drawing/2014/main" id="{3779AE40-DDDC-FB40-700F-6531F5A5C55D}"/>
              </a:ext>
            </a:extLst>
          </p:cNvPr>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4">
              <a:alphaModFix amt="26000"/>
            </a:blip>
            <a:stretch>
              <a:fillRect/>
            </a:stretch>
          </a:blipFill>
          <a:ln>
            <a:noFill/>
          </a:ln>
        </p:spPr>
        <p:txBody>
          <a:bodyPr/>
          <a:lstStyle/>
          <a:p>
            <a:endParaRPr lang="en-PH"/>
          </a:p>
        </p:txBody>
      </p:sp>
      <p:sp>
        <p:nvSpPr>
          <p:cNvPr id="88" name="Google Shape;88;p2">
            <a:extLst>
              <a:ext uri="{FF2B5EF4-FFF2-40B4-BE49-F238E27FC236}">
                <a16:creationId xmlns:a16="http://schemas.microsoft.com/office/drawing/2014/main" id="{A4CD52C2-63ED-C2C9-4BE4-5D17A92ABDB3}"/>
              </a:ext>
            </a:extLst>
          </p:cNvPr>
          <p:cNvSpPr/>
          <p:nvPr/>
        </p:nvSpPr>
        <p:spPr>
          <a:xfrm>
            <a:off x="699585" y="546888"/>
            <a:ext cx="2392319" cy="2426082"/>
          </a:xfrm>
          <a:custGeom>
            <a:avLst/>
            <a:gdLst/>
            <a:ahLst/>
            <a:cxnLst/>
            <a:rect l="l" t="t" r="r" b="b"/>
            <a:pathLst>
              <a:path w="2392319" h="2426082" extrusionOk="0">
                <a:moveTo>
                  <a:pt x="0" y="0"/>
                </a:moveTo>
                <a:lnTo>
                  <a:pt x="2392319" y="0"/>
                </a:lnTo>
                <a:lnTo>
                  <a:pt x="2392319" y="2426082"/>
                </a:lnTo>
                <a:lnTo>
                  <a:pt x="0" y="2426082"/>
                </a:lnTo>
                <a:lnTo>
                  <a:pt x="0" y="0"/>
                </a:lnTo>
                <a:close/>
              </a:path>
            </a:pathLst>
          </a:custGeom>
          <a:blipFill rotWithShape="1">
            <a:blip r:embed="rId5">
              <a:alphaModFix/>
            </a:blip>
            <a:stretch>
              <a:fillRect/>
            </a:stretch>
          </a:blipFill>
          <a:ln>
            <a:noFill/>
          </a:ln>
        </p:spPr>
        <p:txBody>
          <a:bodyPr/>
          <a:lstStyle/>
          <a:p>
            <a:endParaRPr lang="en-PH"/>
          </a:p>
        </p:txBody>
      </p:sp>
      <p:cxnSp>
        <p:nvCxnSpPr>
          <p:cNvPr id="89" name="Google Shape;89;p2">
            <a:extLst>
              <a:ext uri="{FF2B5EF4-FFF2-40B4-BE49-F238E27FC236}">
                <a16:creationId xmlns:a16="http://schemas.microsoft.com/office/drawing/2014/main" id="{FAB5515E-9D4C-95DD-B2F0-4C3144D8D8E6}"/>
              </a:ext>
            </a:extLst>
          </p:cNvPr>
          <p:cNvCxnSpPr/>
          <p:nvPr/>
        </p:nvCxnSpPr>
        <p:spPr>
          <a:xfrm>
            <a:off x="4572000" y="8339328"/>
            <a:ext cx="9144000" cy="0"/>
          </a:xfrm>
          <a:prstGeom prst="straightConnector1">
            <a:avLst/>
          </a:prstGeom>
          <a:noFill/>
          <a:ln w="38100" cap="flat" cmpd="sng">
            <a:solidFill>
              <a:srgbClr val="FFFFFF"/>
            </a:solidFill>
            <a:prstDash val="solid"/>
            <a:round/>
            <a:headEnd type="none" w="sm" len="sm"/>
            <a:tailEnd type="none" w="sm" len="sm"/>
          </a:ln>
        </p:spPr>
      </p:cxnSp>
      <p:cxnSp>
        <p:nvCxnSpPr>
          <p:cNvPr id="90" name="Google Shape;90;p2">
            <a:extLst>
              <a:ext uri="{FF2B5EF4-FFF2-40B4-BE49-F238E27FC236}">
                <a16:creationId xmlns:a16="http://schemas.microsoft.com/office/drawing/2014/main" id="{640B7E85-E33B-96C7-58E0-9ED55FEFE12A}"/>
              </a:ext>
            </a:extLst>
          </p:cNvPr>
          <p:cNvCxnSpPr/>
          <p:nvPr/>
        </p:nvCxnSpPr>
        <p:spPr>
          <a:xfrm>
            <a:off x="4572000" y="9436608"/>
            <a:ext cx="9144000" cy="0"/>
          </a:xfrm>
          <a:prstGeom prst="straightConnector1">
            <a:avLst/>
          </a:prstGeom>
          <a:noFill/>
          <a:ln w="38100" cap="flat" cmpd="sng">
            <a:solidFill>
              <a:srgbClr val="FFFFFF"/>
            </a:solidFill>
            <a:prstDash val="solid"/>
            <a:round/>
            <a:headEnd type="none" w="sm" len="sm"/>
            <a:tailEnd type="none" w="sm" len="sm"/>
          </a:ln>
        </p:spPr>
      </p:cxnSp>
      <p:sp>
        <p:nvSpPr>
          <p:cNvPr id="91" name="Google Shape;91;p2">
            <a:extLst>
              <a:ext uri="{FF2B5EF4-FFF2-40B4-BE49-F238E27FC236}">
                <a16:creationId xmlns:a16="http://schemas.microsoft.com/office/drawing/2014/main" id="{D10B76D5-AA9E-504F-B4FF-FA98F3A639C8}"/>
              </a:ext>
            </a:extLst>
          </p:cNvPr>
          <p:cNvSpPr txBox="1"/>
          <p:nvPr/>
        </p:nvSpPr>
        <p:spPr>
          <a:xfrm>
            <a:off x="2754425" y="2715578"/>
            <a:ext cx="12801600" cy="2148900"/>
          </a:xfrm>
          <a:prstGeom prst="rect">
            <a:avLst/>
          </a:prstGeom>
          <a:noFill/>
          <a:ln>
            <a:noFill/>
          </a:ln>
        </p:spPr>
        <p:txBody>
          <a:bodyPr spcFirstLastPara="1" wrap="square" lIns="0" tIns="0" rIns="0" bIns="0" anchor="b" anchorCtr="0">
            <a:noAutofit/>
          </a:bodyPr>
          <a:lstStyle/>
          <a:p>
            <a:pPr marL="0" marR="0" lvl="0" indent="0" algn="ctr" rtl="0">
              <a:lnSpc>
                <a:spcPct val="100000"/>
              </a:lnSpc>
              <a:spcBef>
                <a:spcPts val="0"/>
              </a:spcBef>
              <a:spcAft>
                <a:spcPts val="0"/>
              </a:spcAft>
              <a:buClr>
                <a:srgbClr val="F0C04A"/>
              </a:buClr>
              <a:buSzPts val="12000"/>
              <a:buFont typeface="Times New Roman"/>
              <a:buNone/>
            </a:pPr>
            <a:r>
              <a:rPr lang="en-US" sz="19000" b="1" i="0" u="none" strike="noStrike" cap="none">
                <a:solidFill>
                  <a:srgbClr val="F0C04A"/>
                </a:solidFill>
                <a:latin typeface="Times New Roman"/>
                <a:ea typeface="Times New Roman"/>
                <a:cs typeface="Times New Roman"/>
                <a:sym typeface="Times New Roman"/>
              </a:rPr>
              <a:t>MAP - A</a:t>
            </a:r>
            <a:endParaRPr sz="19000" b="0" i="0" u="none" strike="noStrike" cap="none">
              <a:solidFill>
                <a:schemeClr val="dk1"/>
              </a:solidFill>
              <a:latin typeface="Questrial"/>
              <a:ea typeface="Questrial"/>
              <a:cs typeface="Questrial"/>
              <a:sym typeface="Questrial"/>
            </a:endParaRPr>
          </a:p>
        </p:txBody>
      </p:sp>
      <p:sp>
        <p:nvSpPr>
          <p:cNvPr id="92" name="Google Shape;92;p2">
            <a:extLst>
              <a:ext uri="{FF2B5EF4-FFF2-40B4-BE49-F238E27FC236}">
                <a16:creationId xmlns:a16="http://schemas.microsoft.com/office/drawing/2014/main" id="{CED51E0F-6DAE-2533-BECB-EE0B224DB763}"/>
              </a:ext>
            </a:extLst>
          </p:cNvPr>
          <p:cNvSpPr txBox="1"/>
          <p:nvPr/>
        </p:nvSpPr>
        <p:spPr>
          <a:xfrm>
            <a:off x="361625" y="5321800"/>
            <a:ext cx="17587200" cy="2560200"/>
          </a:xfrm>
          <a:prstGeom prst="rect">
            <a:avLst/>
          </a:prstGeom>
          <a:noFill/>
          <a:ln>
            <a:noFill/>
          </a:ln>
        </p:spPr>
        <p:txBody>
          <a:bodyPr spcFirstLastPara="1" wrap="square" lIns="0" tIns="0" rIns="0" bIns="0" anchor="b" anchorCtr="0">
            <a:noAutofit/>
          </a:bodyPr>
          <a:lstStyle/>
          <a:p>
            <a:pPr marL="0" marR="0" lvl="0" indent="0" algn="ctr" rtl="0">
              <a:lnSpc>
                <a:spcPct val="102000"/>
              </a:lnSpc>
              <a:spcBef>
                <a:spcPts val="0"/>
              </a:spcBef>
              <a:spcAft>
                <a:spcPts val="0"/>
              </a:spcAft>
              <a:buClr>
                <a:srgbClr val="FFFFFF"/>
              </a:buClr>
              <a:buSzPts val="4200"/>
              <a:buFont typeface="Times New Roman"/>
              <a:buNone/>
            </a:pPr>
            <a:r>
              <a:rPr lang="en-US" sz="4900" b="1" i="0" u="none" strike="noStrike" cap="none">
                <a:solidFill>
                  <a:srgbClr val="FFFFFF"/>
                </a:solidFill>
                <a:latin typeface="Times New Roman"/>
                <a:ea typeface="Times New Roman"/>
                <a:cs typeface="Times New Roman"/>
                <a:sym typeface="Times New Roman"/>
              </a:rPr>
              <a:t>A Landmark-Anchored Timetable-Graph Model of Public Transport: Verified Computation of Accessibility, Its Inequality, and the Fare Matrix from Open Data, with Agent-Reported Hospital Bed Capacity for Ambulance and Patient Routing</a:t>
            </a:r>
            <a:endParaRPr sz="4900" b="0" i="0" u="none" strike="noStrike" cap="none">
              <a:solidFill>
                <a:schemeClr val="dk1"/>
              </a:solidFill>
              <a:latin typeface="Questrial"/>
              <a:ea typeface="Questrial"/>
              <a:cs typeface="Questrial"/>
              <a:sym typeface="Questrial"/>
            </a:endParaRPr>
          </a:p>
        </p:txBody>
      </p:sp>
      <p:sp>
        <p:nvSpPr>
          <p:cNvPr id="93" name="Google Shape;93;p2">
            <a:extLst>
              <a:ext uri="{FF2B5EF4-FFF2-40B4-BE49-F238E27FC236}">
                <a16:creationId xmlns:a16="http://schemas.microsoft.com/office/drawing/2014/main" id="{76C11241-8892-4729-53A6-5DC5412306F4}"/>
              </a:ext>
            </a:extLst>
          </p:cNvPr>
          <p:cNvSpPr txBox="1"/>
          <p:nvPr/>
        </p:nvSpPr>
        <p:spPr>
          <a:xfrm>
            <a:off x="4572000" y="8385048"/>
            <a:ext cx="9144000" cy="100584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Times New Roman"/>
              <a:buNone/>
            </a:pPr>
            <a:r>
              <a:rPr lang="en-US" sz="3600" b="0" i="0" u="none" strike="noStrike" cap="none">
                <a:solidFill>
                  <a:srgbClr val="FFFFFF"/>
                </a:solidFill>
                <a:latin typeface="Times New Roman"/>
                <a:ea typeface="Times New Roman"/>
                <a:cs typeface="Times New Roman"/>
                <a:sym typeface="Times New Roman"/>
              </a:rPr>
              <a:t>De Asis, Dave Justin Ll.</a:t>
            </a:r>
            <a:endParaRPr sz="3600" b="0" i="0" u="none" strike="noStrike" cap="none">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3331252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653"/>
        <p:cNvGrpSpPr/>
        <p:nvPr/>
      </p:nvGrpSpPr>
      <p:grpSpPr>
        <a:xfrm>
          <a:off x="0" y="0"/>
          <a:ext cx="0" cy="0"/>
          <a:chOff x="0" y="0"/>
          <a:chExt cx="0" cy="0"/>
        </a:xfrm>
      </p:grpSpPr>
      <p:sp>
        <p:nvSpPr>
          <p:cNvPr id="654" name="Google Shape;654;p26"/>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3">
              <a:alphaModFix/>
            </a:blip>
            <a:stretch>
              <a:fillRect/>
            </a:stretch>
          </a:blipFill>
          <a:ln>
            <a:noFill/>
          </a:ln>
        </p:spPr>
        <p:txBody>
          <a:bodyPr/>
          <a:lstStyle/>
          <a:p>
            <a:endParaRPr lang="en-PH"/>
          </a:p>
        </p:txBody>
      </p:sp>
      <p:sp>
        <p:nvSpPr>
          <p:cNvPr id="655" name="Google Shape;655;p26"/>
          <p:cNvSpPr txBox="1"/>
          <p:nvPr/>
        </p:nvSpPr>
        <p:spPr>
          <a:xfrm>
            <a:off x="1371600" y="3089694"/>
            <a:ext cx="15544800" cy="4250486"/>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6481" b="0" i="0" u="none" strike="noStrike" cap="none">
                <a:solidFill>
                  <a:srgbClr val="FFFFFF"/>
                </a:solidFill>
                <a:latin typeface="Questrial"/>
                <a:ea typeface="Questrial"/>
                <a:cs typeface="Questrial"/>
                <a:sym typeface="Questrial"/>
              </a:rPr>
              <a:t>QUESTIONS</a:t>
            </a:r>
            <a:endParaRPr/>
          </a:p>
          <a:p>
            <a:pPr marL="0" marR="0" lvl="0" indent="0" algn="ctr" rtl="0">
              <a:lnSpc>
                <a:spcPct val="90000"/>
              </a:lnSpc>
              <a:spcBef>
                <a:spcPts val="0"/>
              </a:spcBef>
              <a:spcAft>
                <a:spcPts val="0"/>
              </a:spcAft>
              <a:buNone/>
            </a:pPr>
            <a:r>
              <a:rPr lang="en-US" sz="16481" b="0" i="0" u="none" strike="noStrike" cap="none">
                <a:solidFill>
                  <a:srgbClr val="FFFFFF"/>
                </a:solidFill>
                <a:latin typeface="Questrial"/>
                <a:ea typeface="Questrial"/>
                <a:cs typeface="Questrial"/>
                <a:sym typeface="Questrial"/>
              </a:rPr>
              <a:t>&amp; ANSWERS</a:t>
            </a:r>
            <a:endParaRPr/>
          </a:p>
        </p:txBody>
      </p:sp>
      <p:sp>
        <p:nvSpPr>
          <p:cNvPr id="656" name="Google Shape;656;p26"/>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3">
              <a:alphaModFix/>
            </a:blip>
            <a:stretch>
              <a:fillRect/>
            </a:stretch>
          </a:blipFill>
          <a:ln>
            <a:noFill/>
          </a:ln>
        </p:spPr>
        <p:txBody>
          <a:bodyPr/>
          <a:lstStyle/>
          <a:p>
            <a:endParaRPr lang="en-PH"/>
          </a:p>
        </p:txBody>
      </p:sp>
      <p:sp>
        <p:nvSpPr>
          <p:cNvPr id="657" name="Google Shape;657;p26"/>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4">
              <a:alphaModFix amt="26000"/>
            </a:blip>
            <a:stretch>
              <a:fillRect/>
            </a:stretch>
          </a:blipFill>
          <a:ln>
            <a:noFill/>
          </a:ln>
        </p:spPr>
        <p:txBody>
          <a:bodyPr/>
          <a:lstStyle/>
          <a:p>
            <a:endParaRPr lang="en-PH"/>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8B0707"/>
        </a:solidFill>
        <a:effectLst/>
      </p:bgPr>
    </p:bg>
    <p:spTree>
      <p:nvGrpSpPr>
        <p:cNvPr id="1" name="Shape 662"/>
        <p:cNvGrpSpPr/>
        <p:nvPr/>
      </p:nvGrpSpPr>
      <p:grpSpPr>
        <a:xfrm>
          <a:off x="0" y="0"/>
          <a:ext cx="0" cy="0"/>
          <a:chOff x="0" y="0"/>
          <a:chExt cx="0" cy="0"/>
        </a:xfrm>
      </p:grpSpPr>
      <p:sp>
        <p:nvSpPr>
          <p:cNvPr id="663" name="Google Shape;663;p27"/>
          <p:cNvSpPr/>
          <p:nvPr/>
        </p:nvSpPr>
        <p:spPr>
          <a:xfrm rot="10800000" flipH="1">
            <a:off x="-308939" y="-440152"/>
            <a:ext cx="3942365" cy="3942365"/>
          </a:xfrm>
          <a:custGeom>
            <a:avLst/>
            <a:gdLst/>
            <a:ahLst/>
            <a:cxnLst/>
            <a:rect l="l" t="t" r="r" b="b"/>
            <a:pathLst>
              <a:path w="3942365" h="3942365" extrusionOk="0">
                <a:moveTo>
                  <a:pt x="0" y="3942365"/>
                </a:moveTo>
                <a:lnTo>
                  <a:pt x="3942365" y="3942365"/>
                </a:lnTo>
                <a:lnTo>
                  <a:pt x="3942365" y="0"/>
                </a:lnTo>
                <a:lnTo>
                  <a:pt x="0" y="0"/>
                </a:lnTo>
                <a:lnTo>
                  <a:pt x="0" y="3942365"/>
                </a:lnTo>
                <a:close/>
              </a:path>
            </a:pathLst>
          </a:custGeom>
          <a:blipFill rotWithShape="1">
            <a:blip r:embed="rId3">
              <a:alphaModFix/>
            </a:blip>
            <a:stretch>
              <a:fillRect/>
            </a:stretch>
          </a:blipFill>
          <a:ln>
            <a:noFill/>
          </a:ln>
        </p:spPr>
        <p:txBody>
          <a:bodyPr/>
          <a:lstStyle/>
          <a:p>
            <a:endParaRPr lang="en-PH"/>
          </a:p>
        </p:txBody>
      </p:sp>
      <p:sp>
        <p:nvSpPr>
          <p:cNvPr id="664" name="Google Shape;664;p27"/>
          <p:cNvSpPr txBox="1"/>
          <p:nvPr/>
        </p:nvSpPr>
        <p:spPr>
          <a:xfrm>
            <a:off x="2691817" y="4031050"/>
            <a:ext cx="12904366" cy="2367775"/>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n-US" sz="16481" b="0" i="0" u="none" strike="noStrike" cap="none">
                <a:solidFill>
                  <a:srgbClr val="FFFFFF"/>
                </a:solidFill>
                <a:latin typeface="Questrial"/>
                <a:ea typeface="Questrial"/>
                <a:cs typeface="Questrial"/>
                <a:sym typeface="Questrial"/>
              </a:rPr>
              <a:t>THANK YOU</a:t>
            </a:r>
            <a:endParaRPr/>
          </a:p>
        </p:txBody>
      </p:sp>
      <p:sp>
        <p:nvSpPr>
          <p:cNvPr id="665" name="Google Shape;665;p27"/>
          <p:cNvSpPr/>
          <p:nvPr/>
        </p:nvSpPr>
        <p:spPr>
          <a:xfrm flipH="1">
            <a:off x="15910979" y="7909979"/>
            <a:ext cx="2696641" cy="2696641"/>
          </a:xfrm>
          <a:custGeom>
            <a:avLst/>
            <a:gdLst/>
            <a:ahLst/>
            <a:cxnLst/>
            <a:rect l="l" t="t" r="r" b="b"/>
            <a:pathLst>
              <a:path w="2696641" h="2696641" extrusionOk="0">
                <a:moveTo>
                  <a:pt x="2696642" y="0"/>
                </a:moveTo>
                <a:lnTo>
                  <a:pt x="0" y="0"/>
                </a:lnTo>
                <a:lnTo>
                  <a:pt x="0" y="2696642"/>
                </a:lnTo>
                <a:lnTo>
                  <a:pt x="2696642" y="2696642"/>
                </a:lnTo>
                <a:lnTo>
                  <a:pt x="2696642" y="0"/>
                </a:lnTo>
                <a:close/>
              </a:path>
            </a:pathLst>
          </a:custGeom>
          <a:blipFill rotWithShape="1">
            <a:blip r:embed="rId3">
              <a:alphaModFix/>
            </a:blip>
            <a:stretch>
              <a:fillRect/>
            </a:stretch>
          </a:blipFill>
          <a:ln>
            <a:noFill/>
          </a:ln>
        </p:spPr>
        <p:txBody>
          <a:bodyPr/>
          <a:lstStyle/>
          <a:p>
            <a:endParaRPr lang="en-PH"/>
          </a:p>
        </p:txBody>
      </p:sp>
      <p:sp>
        <p:nvSpPr>
          <p:cNvPr id="666" name="Google Shape;666;p27"/>
          <p:cNvSpPr/>
          <p:nvPr/>
        </p:nvSpPr>
        <p:spPr>
          <a:xfrm>
            <a:off x="5486400" y="7677223"/>
            <a:ext cx="7315200" cy="465513"/>
          </a:xfrm>
          <a:custGeom>
            <a:avLst/>
            <a:gdLst/>
            <a:ahLst/>
            <a:cxnLst/>
            <a:rect l="l" t="t" r="r" b="b"/>
            <a:pathLst>
              <a:path w="7315200" h="465513" extrusionOk="0">
                <a:moveTo>
                  <a:pt x="0" y="0"/>
                </a:moveTo>
                <a:lnTo>
                  <a:pt x="7315200" y="0"/>
                </a:lnTo>
                <a:lnTo>
                  <a:pt x="7315200" y="465513"/>
                </a:lnTo>
                <a:lnTo>
                  <a:pt x="0" y="465513"/>
                </a:lnTo>
                <a:lnTo>
                  <a:pt x="0" y="0"/>
                </a:lnTo>
                <a:close/>
              </a:path>
            </a:pathLst>
          </a:custGeom>
          <a:blipFill rotWithShape="1">
            <a:blip r:embed="rId4">
              <a:alphaModFix/>
            </a:blip>
            <a:stretch>
              <a:fillRect/>
            </a:stretch>
          </a:blipFill>
          <a:ln>
            <a:noFill/>
          </a:ln>
        </p:spPr>
        <p:txBody>
          <a:bodyPr/>
          <a:lstStyle/>
          <a:p>
            <a:endParaRPr lang="en-PH"/>
          </a:p>
        </p:txBody>
      </p:sp>
      <p:sp>
        <p:nvSpPr>
          <p:cNvPr id="667" name="Google Shape;667;p27"/>
          <p:cNvSpPr/>
          <p:nvPr/>
        </p:nvSpPr>
        <p:spPr>
          <a:xfrm>
            <a:off x="7534466" y="-2049686"/>
            <a:ext cx="3219068" cy="3219068"/>
          </a:xfrm>
          <a:custGeom>
            <a:avLst/>
            <a:gdLst/>
            <a:ahLst/>
            <a:cxnLst/>
            <a:rect l="l" t="t" r="r" b="b"/>
            <a:pathLst>
              <a:path w="3219068" h="3219068" extrusionOk="0">
                <a:moveTo>
                  <a:pt x="0" y="0"/>
                </a:moveTo>
                <a:lnTo>
                  <a:pt x="3219068" y="0"/>
                </a:lnTo>
                <a:lnTo>
                  <a:pt x="3219068" y="3219068"/>
                </a:lnTo>
                <a:lnTo>
                  <a:pt x="0" y="3219068"/>
                </a:lnTo>
                <a:lnTo>
                  <a:pt x="0" y="0"/>
                </a:lnTo>
                <a:close/>
              </a:path>
            </a:pathLst>
          </a:custGeom>
          <a:blipFill rotWithShape="1">
            <a:blip r:embed="rId5">
              <a:alphaModFix amt="24000"/>
            </a:blip>
            <a:stretch>
              <a:fillRect/>
            </a:stretch>
          </a:blipFill>
          <a:ln>
            <a:noFill/>
          </a:ln>
        </p:spPr>
        <p:txBody>
          <a:bodyPr/>
          <a:lstStyle/>
          <a:p>
            <a:endParaRPr lang="en-PH"/>
          </a:p>
        </p:txBody>
      </p:sp>
      <p:sp>
        <p:nvSpPr>
          <p:cNvPr id="668" name="Google Shape;668;p27"/>
          <p:cNvSpPr/>
          <p:nvPr/>
        </p:nvSpPr>
        <p:spPr>
          <a:xfrm>
            <a:off x="-837818" y="7909979"/>
            <a:ext cx="3219068" cy="3219068"/>
          </a:xfrm>
          <a:custGeom>
            <a:avLst/>
            <a:gdLst/>
            <a:ahLst/>
            <a:cxnLst/>
            <a:rect l="l" t="t" r="r" b="b"/>
            <a:pathLst>
              <a:path w="3219068" h="3219068" extrusionOk="0">
                <a:moveTo>
                  <a:pt x="0" y="0"/>
                </a:moveTo>
                <a:lnTo>
                  <a:pt x="3219068" y="0"/>
                </a:lnTo>
                <a:lnTo>
                  <a:pt x="3219068" y="3219069"/>
                </a:lnTo>
                <a:lnTo>
                  <a:pt x="0" y="3219069"/>
                </a:lnTo>
                <a:lnTo>
                  <a:pt x="0" y="0"/>
                </a:lnTo>
                <a:close/>
              </a:path>
            </a:pathLst>
          </a:custGeom>
          <a:blipFill rotWithShape="1">
            <a:blip r:embed="rId5">
              <a:alphaModFix amt="24000"/>
            </a:blip>
            <a:stretch>
              <a:fillRect/>
            </a:stretch>
          </a:blipFill>
          <a:ln>
            <a:noFill/>
          </a:ln>
        </p:spPr>
        <p:txBody>
          <a:bodyPr/>
          <a:lstStyle/>
          <a:p>
            <a:endParaRPr lang="en-PH"/>
          </a:p>
        </p:txBody>
      </p:sp>
      <p:sp>
        <p:nvSpPr>
          <p:cNvPr id="669" name="Google Shape;669;p27"/>
          <p:cNvSpPr/>
          <p:nvPr/>
        </p:nvSpPr>
        <p:spPr>
          <a:xfrm>
            <a:off x="-104983" y="0"/>
            <a:ext cx="18497965" cy="10416667"/>
          </a:xfrm>
          <a:custGeom>
            <a:avLst/>
            <a:gdLst/>
            <a:ahLst/>
            <a:cxnLst/>
            <a:rect l="l" t="t" r="r" b="b"/>
            <a:pathLst>
              <a:path w="18497965" h="10416667" extrusionOk="0">
                <a:moveTo>
                  <a:pt x="0" y="0"/>
                </a:moveTo>
                <a:lnTo>
                  <a:pt x="18497966" y="0"/>
                </a:lnTo>
                <a:lnTo>
                  <a:pt x="18497966" y="10416667"/>
                </a:lnTo>
                <a:lnTo>
                  <a:pt x="0" y="10416667"/>
                </a:lnTo>
                <a:lnTo>
                  <a:pt x="0" y="0"/>
                </a:lnTo>
                <a:close/>
              </a:path>
            </a:pathLst>
          </a:custGeom>
          <a:blipFill rotWithShape="1">
            <a:blip r:embed="rId6">
              <a:alphaModFix amt="26000"/>
            </a:blip>
            <a:stretch>
              <a:fillRect/>
            </a:stretch>
          </a:blipFill>
          <a:ln>
            <a:noFill/>
          </a:ln>
        </p:spPr>
        <p:txBody>
          <a:bodyPr/>
          <a:lstStyle/>
          <a:p>
            <a:endParaRPr lang="en-PH"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A4385A-C122-43AF-B624-B1FC1256A991}">
  <we:reference id="wa200010001" version="1.0.0.1" store="en-US" storeType="OMEX"/>
  <we:alternateReferences>
    <we:reference id="wa200010001" version="1.0.0.1" store="en-US" storeType="OMEX"/>
  </we:alternateReferences>
  <we:properties>
    <we:property name="claude.fileId" value="&quot;84ba5293-9f41-4c26-9fbd-2f798db0bbc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TotalTime>
  <Words>6098</Words>
  <Application>Microsoft Office PowerPoint</Application>
  <PresentationFormat>Custom</PresentationFormat>
  <Paragraphs>600</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Times New Roman</vt:lpstr>
      <vt:lpstr>Calibri</vt:lpstr>
      <vt:lpstr>Questrial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De Asis, Dave Justin Ll.</dc:creator>
  <cp:lastModifiedBy>Dave Justin De Asis</cp:lastModifiedBy>
  <cp:revision>5</cp:revision>
  <dcterms:created xsi:type="dcterms:W3CDTF">2006-08-16T00:00:00Z</dcterms:created>
  <dcterms:modified xsi:type="dcterms:W3CDTF">2026-10-12T18:05:18Z</dcterms:modified>
</cp:coreProperties>
</file>