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64" r:id="rId14"/>
    <p:sldId id="265" r:id="rId15"/>
  </p:sldIdLst>
  <p:sldSz cx="18288000" cy="10287000"/>
  <p:notesSz cx="6858000" cy="9144000"/>
  <p:embeddedFontLst>
    <p:embeddedFont>
      <p:font typeface="ITC Avant Garde Gothic" charset="1" panose="020B050202020202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font" Target="fonts/font16.fntdata"/><Relationship Id="rId25" Type="http://schemas.openxmlformats.org/officeDocument/2006/relationships/notesMaster" Target="notesMasters/notesMaster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0:00 to 0:15</a:t>
            </a:r>
          </a:p>
          <a:p/>
          <a:p>
            <a:r>
              <a:t>Good morning to the panel. We are [names], with our adviser, [adviser]. Our study is titled ALAGA, a low-cost wheeled soft companion robot for older adults who stay home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4:35 to 4:42</a:t>
            </a:r>
          </a:p>
          <a:p/>
          <a:p>
            <a:r>
              <a:t>That ends our presentation. We are now ready for your questions. Thank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after the closing line of slide 17.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0:15 to 0:40</a:t>
            </a:r>
          </a:p>
          <a:p/>
          <a:p>
            <a:r>
              <a:t>Many older adults stay home alone while their children work. A missed medicine, a fever, or a fall can go unnoticed until evening. Adults over 60 suffer the most fatal falls, and about half of patients on long-term medicines miss doses. Paid caregivers and companion robots cost too much. Our purpose: to find out whether a low-cost wheeled soft robot, inspired by Big Hero 6, can watch over an older adult and keep the family informed.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0:40 to 0:58</a:t>
            </a:r>
          </a:p>
          <a:p/>
          <a:p>
            <a:r>
              <a:t>From the literature: soft robots are safer to bump into; companion robots improve the mood of older adults; falls can be detected with an accelerometer; and new health sensors must be checked with Bland–Altman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0:58 to 1:15</a:t>
            </a:r>
          </a:p>
          <a:p/>
          <a:p>
            <a:r>
              <a:t>Related studies placed a seal robot with older adults, detected falls with accelerometer thresholds, and gave us the agreement method. None joins all of these in one low-cost mobile robot.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1:15 to 1:35</a:t>
            </a:r>
          </a:p>
          <a:p/>
          <a:p>
            <a:r>
              <a:t>Our framework answers four gaps. Alone at home: a companion robot that reports to the family. Falls unnoticed: a pendant that alerts in seconds. Robots can scare: a soft, slow body with a plain face. Cheap sensors vary: we calibrate and test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1:35 to 1:58</a:t>
            </a:r>
          </a:p>
          <a:p/>
          <a:p>
            <a:r>
              <a:t>Inputs are the soft body, the wheeled base, the sensors, the pendant, Wi-Fi, and reference instruments. We build, program, tape the route, calibrate, and test. Outputs answer each objective, and results tune the calibration, fall thresholds, and speed.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1:58 to 2:15</a:t>
            </a:r>
          </a:p>
          <a:p/>
          <a:p>
            <a:r>
              <a:t>Older adults get reminders, checks, company, and help. Working families and OFWs get reports and alerts on their phones. Health workers get a low-cost aid. The study supports SDGs 3, 9, and 10.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2]  |  2:15 to 2:35</a:t>
            </a:r>
          </a:p>
          <a:p/>
          <a:p>
            <a:r>
              <a:t>Our general objective: to design, build, and evaluate ALAGA. Specifically: navigation, health-check agreement, fall detection and alert time, reminders and messages, usability and approachability, and cost.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2:35 to 2:50</a:t>
            </a:r>
          </a:p>
          <a:p/>
          <a:p>
            <a:r>
              <a:t>H₀1: no difference between ALAGA's readings and the reference; paired t-test. H₀2: the pendant's decision is not associated with the true event; chi-square. H₀3: no difference in approachability between soft and rigid; Wilcoxon. We reject when p is below 0.05.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2:50 to 3:05</a:t>
            </a:r>
          </a:p>
          <a:p/>
          <a:p>
            <a:r>
              <a:t>We cover one robot on a tape route through a mock home, with reminders, health checks, a fall pendant, and Telegram alerts. ALAGA has no arms, does not diagnose, and does not map rooms. Only the researchers simulate falls, on mats.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3:05 to 3:22</a:t>
            </a:r>
          </a:p>
          <a:p/>
          <a:p>
            <a:r>
              <a:t>This is a quantitative developmental study. We build and calibrate, program, run the trials, and analyze. We vary the station, the method, the event, and the body type.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3]  |  3:22 to 3:40</a:t>
            </a:r>
          </a:p>
          <a:p/>
          <a:p>
            <a:r>
              <a:t>ALAGA has a soft nylon body on a 40-centimeter wheeled base. It follows tape with a line sensor and stops for obstacles. The chest holds the health sensors. The pendant detects falls. Parts are estimated at about 6,600 pesos.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3:40 to 4:00</a:t>
            </a:r>
          </a:p>
          <a:p/>
          <a:p>
            <a:r>
              <a:t>Ten steps: IRB approval; build the body and base; wire; program; tape the route; calibrate; navigation and health trials; simulated falls; reminders and usability; and analysis.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4:00 to 4:20</a:t>
            </a:r>
          </a:p>
          <a:p/>
          <a:p>
            <a:r>
              <a:t>Navigation is judged by success rate. Health checks by bias, limits of agreement, and Arms. The pendant by sensitivity and specificity, and alerts by time to the phone. We use Excel and JASP at alpha 0.05.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 1]  |  4:20 to 4:35</a:t>
            </a:r>
          </a:p>
          <a:p/>
          <a:p>
            <a:r>
              <a:t>The school IRB approves our plan first, and everyone gives consent. Older adults only do seated checks; only we simulate falls, on mats. The robot is slow and soft, the fan is guarded, and the battery is fused.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image" Target="../media/image3.png"/><Relationship Id="rId9" Type="http://schemas.openxmlformats.org/officeDocument/2006/relationships/notesSlide" Target="../notesSlides/notesSlide18.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8B0707"/>
        </a:solidFill>
      </p:bgPr>
    </p:bg>
    <p:spTree>
      <p:nvGrpSpPr>
        <p:cNvPr id="1" name=""/>
        <p:cNvGrpSpPr/>
        <p:nvPr/>
      </p:nvGrpSpPr>
      <p:grpSpPr>
        <a:xfrm>
          <a:off x="0" y="0"/>
          <a:ext cx="0" cy="0"/>
          <a:chOff x="0" y="0"/>
          <a:chExt cx="0" cy="0"/>
        </a:xfrm>
      </p:grpSpPr>
      <p:sp>
        <p:nvSpPr>
          <p:cNvPr name="Freeform 2" id="2"/>
          <p:cNvSpPr/>
          <p:nvPr/>
        </p:nvSpPr>
        <p:spPr>
          <a:xfrm flipH="false" flipV="true" rot="0">
            <a:off x="-308939" y="-440152"/>
            <a:ext cx="3942365" cy="3942365"/>
          </a:xfrm>
          <a:custGeom>
            <a:avLst/>
            <a:gdLst/>
            <a:ahLst/>
            <a:cxnLst/>
            <a:rect r="r" b="b" t="t" l="l"/>
            <a:pathLst>
              <a:path h="3942365" w="3942365">
                <a:moveTo>
                  <a:pt x="0" y="3942365"/>
                </a:moveTo>
                <a:lnTo>
                  <a:pt x="3942365" y="3942365"/>
                </a:lnTo>
                <a:lnTo>
                  <a:pt x="3942365" y="0"/>
                </a:lnTo>
                <a:lnTo>
                  <a:pt x="0" y="0"/>
                </a:lnTo>
                <a:lnTo>
                  <a:pt x="0" y="394236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15910979" y="7909979"/>
            <a:ext cx="2696641" cy="2696641"/>
          </a:xfrm>
          <a:custGeom>
            <a:avLst/>
            <a:gdLst/>
            <a:ahLst/>
            <a:cxnLst/>
            <a:rect r="r" b="b" t="t" l="l"/>
            <a:pathLst>
              <a:path h="2696641" w="2696641">
                <a:moveTo>
                  <a:pt x="2696642" y="0"/>
                </a:moveTo>
                <a:lnTo>
                  <a:pt x="0" y="0"/>
                </a:lnTo>
                <a:lnTo>
                  <a:pt x="0" y="2696642"/>
                </a:lnTo>
                <a:lnTo>
                  <a:pt x="2696642" y="2696642"/>
                </a:lnTo>
                <a:lnTo>
                  <a:pt x="269664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4">
              <a:alphaModFix amt="26000"/>
            </a:blip>
            <a:stretch>
              <a:fillRect l="0" t="0" r="0" b="0"/>
            </a:stretch>
          </a:blipFill>
        </p:spPr>
      </p:sp>
      <p:sp>
        <p:nvSpPr>
          <p:cNvPr name="Freeform 5" id="5"/>
          <p:cNvSpPr/>
          <p:nvPr/>
        </p:nvSpPr>
        <p:spPr>
          <a:xfrm flipH="false" flipV="false" rot="0">
            <a:off x="699585" y="546888"/>
            <a:ext cx="2392319" cy="2426082"/>
          </a:xfrm>
          <a:custGeom>
            <a:avLst/>
            <a:gdLst/>
            <a:ahLst/>
            <a:cxnLst/>
            <a:rect r="r" b="b" t="t" l="l"/>
            <a:pathLst>
              <a:path h="2426082" w="2392319">
                <a:moveTo>
                  <a:pt x="0" y="0"/>
                </a:moveTo>
                <a:lnTo>
                  <a:pt x="2392319" y="0"/>
                </a:lnTo>
                <a:lnTo>
                  <a:pt x="2392319" y="2426082"/>
                </a:lnTo>
                <a:lnTo>
                  <a:pt x="0" y="2426082"/>
                </a:lnTo>
                <a:lnTo>
                  <a:pt x="0" y="0"/>
                </a:lnTo>
                <a:close/>
              </a:path>
            </a:pathLst>
          </a:custGeom>
          <a:blipFill>
            <a:blip r:embed="rId5"/>
            <a:stretch>
              <a:fillRect l="0" t="0" r="0" b="0"/>
            </a:stretch>
          </a:blipFill>
        </p:spPr>
      </p:sp>
      <p:sp>
        <p:nvSpPr>
          <p:cNvPr name="AutoShape 7" id="7"/>
          <p:cNvSpPr/>
          <p:nvPr/>
        </p:nvSpPr>
        <p:spPr>
          <a:xfrm>
            <a:off x="3246120" y="8110728"/>
            <a:ext cx="11795760" cy="0"/>
          </a:xfrm>
          <a:prstGeom prst="line">
            <a:avLst/>
          </a:prstGeom>
          <a:ln cap="flat" w="38100">
            <a:solidFill>
              <a:srgbClr val="FFFFFF"/>
            </a:solidFill>
            <a:prstDash val="solid"/>
            <a:headEnd type="none" len="sm" w="sm"/>
            <a:tailEnd type="none" len="sm" w="sm"/>
          </a:ln>
        </p:spPr>
      </p:sp>
      <p:sp>
        <p:nvSpPr>
          <p:cNvPr name="AutoShape 8" id="8"/>
          <p:cNvSpPr/>
          <p:nvPr/>
        </p:nvSpPr>
        <p:spPr>
          <a:xfrm>
            <a:off x="3246120" y="9802368"/>
            <a:ext cx="11795760" cy="0"/>
          </a:xfrm>
          <a:prstGeom prst="line">
            <a:avLst/>
          </a:prstGeom>
          <a:ln cap="flat" w="38100">
            <a:solidFill>
              <a:srgbClr val="FFFFFF"/>
            </a:solidFill>
            <a:prstDash val="solid"/>
            <a:headEnd type="none" len="sm" w="sm"/>
            <a:tailEnd type="none" len="sm" w="sm"/>
          </a:ln>
        </p:spPr>
      </p:sp>
      <p:sp>
        <p:nvSpPr>
          <p:cNvPr id="21" name="Research title"/>
          <p:cNvSpPr txBox="1"/>
          <p:nvPr/>
        </p:nvSpPr>
        <p:spPr>
          <a:xfrm>
            <a:off x="1988820" y="2331720"/>
            <a:ext cx="14310360" cy="5669280"/>
          </a:xfrm>
          <a:prstGeom prst="rect">
            <a:avLst/>
          </a:prstGeom>
          <a:noFill/>
        </p:spPr>
        <p:txBody>
          <a:bodyPr wrap="square" lIns="0" tIns="0" rIns="0" bIns="0" anchor="b" rtlCol="0">
            <a:noAutofit/>
          </a:bodyPr>
          <a:lstStyle/>
          <a:p>
            <a:pPr algn="ctr">
              <a:lnSpc>
                <a:spcPct val="102000"/>
              </a:lnSpc>
              <a:spcBef>
                <a:spcPts val="0"/>
              </a:spcBef>
              <a:spcAft>
                <a:spcPts val="0"/>
              </a:spcAft>
              <a:buNone/>
            </a:pPr>
            <a:r>
              <a:rPr lang="en-US" sz="5700" b="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ALAGA: A Low-Cost Wheeled Soft Inflatable Companion Robot for Older Adults Home Alone, with Medication Reminders, Vital-Sign Checks, and Fall Alerts to the Family</a:t>
            </a:r>
            <a:endParaRPr lang="en-US" sz="5700" dirty="0">
              <a:latin typeface="ITC Avant Garde Gothic"/>
            </a:endParaRPr>
          </a:p>
        </p:txBody>
      </p:sp>
      <p:sp>
        <p:nvSpPr>
          <p:cNvPr id="22" name="Researchers"/>
          <p:cNvSpPr txBox="1"/>
          <p:nvPr/>
        </p:nvSpPr>
        <p:spPr>
          <a:xfrm>
            <a:off x="3246120" y="8165592"/>
            <a:ext cx="11795760" cy="1591056"/>
          </a:xfrm>
          <a:prstGeom prst="rect">
            <a:avLst/>
          </a:prstGeom>
          <a:noFill/>
        </p:spPr>
        <p:txBody>
          <a:bodyPr wrap="square" lIns="0" tIns="0" rIns="0" bIns="0" anchor="ctr" rtlCol="0">
            <a:noAutofit/>
          </a:bodyPr>
          <a:lstStyle/>
          <a:p>
            <a:pPr algn="ctr">
              <a:lnSpc>
                <a:spcPct val="108000"/>
              </a:lnSpc>
              <a:spcBef>
                <a:spcPts val="0"/>
              </a:spcBef>
              <a:spcAft>
                <a:spcPts val="0"/>
              </a:spcAft>
              <a:buNone/>
            </a:pPr>
            <a:r>
              <a:rPr lang="en-US" sz="320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[Surname, Firstname M.]</a:t>
            </a:r>
            <a:endParaRPr lang="en-US" sz="3200" dirty="0">
              <a:latin typeface="ITC Avant Garde Gothic"/>
            </a:endParaRPr>
          </a:p>
          <a:p>
            <a:pPr algn="ctr">
              <a:lnSpc>
                <a:spcPct val="108000"/>
              </a:lnSpc>
              <a:spcBef>
                <a:spcPts val="0"/>
              </a:spcBef>
              <a:spcAft>
                <a:spcPts val="0"/>
              </a:spcAft>
              <a:buNone/>
            </a:pPr>
            <a:r>
              <a:rPr lang="en-US" sz="320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[Surname, Firstname M.]</a:t>
            </a:r>
            <a:endParaRPr lang="en-US" sz="3200" dirty="0">
              <a:latin typeface="ITC Avant Garde Gothic"/>
            </a:endParaRPr>
          </a:p>
          <a:p>
            <a:pPr algn="ctr">
              <a:lnSpc>
                <a:spcPct val="108000"/>
              </a:lnSpc>
              <a:spcBef>
                <a:spcPts val="0"/>
              </a:spcBef>
              <a:spcAft>
                <a:spcPts val="0"/>
              </a:spcAft>
              <a:buNone/>
            </a:pPr>
            <a:r>
              <a:rPr lang="en-US" sz="3200" dirty="0">
                <a:solidFill>
                  <a:srgbClr val="FFFFFF"/>
                </a:solidFill>
                <a:effectLst>
                  <a:outerShdw blurRad="63500" dist="31750" dir="5400000" algn="t" rotWithShape="0">
                    <a:srgbClr val="2A0000">
                      <a:alpha val="45000"/>
                    </a:srgbClr>
                  </a:outerShdw>
                </a:effectLst>
                <a:latin typeface="Times New Roman"/>
                <a:ea typeface="Times New Roman"/>
                <a:cs typeface="Times New Roman"/>
                <a:sym typeface="Times New Roman"/>
              </a:rPr>
              <a:t>[Surname, Firstname M.]</a:t>
            </a:r>
            <a:endParaRPr lang="en-US" sz="3200" dirty="0">
              <a:latin typeface="ITC Avant Garde Gothic"/>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INTRODUCTION</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Background of the Study</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2</a:t>
            </a:r>
            <a:endParaRPr lang="en-US" sz="1600" dirty="0">
              <a:latin typeface="ITC Avant Garde Gothic"/>
            </a:endParaRPr>
          </a:p>
        </p:txBody>
      </p:sp>
      <p:sp>
        <p:nvSpPr>
          <p:cNvPr id="23" name="Rectangle 22"/>
          <p:cNvSpPr/>
          <p:nvPr/>
        </p:nvSpPr>
        <p:spPr>
          <a:xfrm>
            <a:off x="822960" y="2103120"/>
            <a:ext cx="9372600" cy="576072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2423160"/>
            <a:ext cx="8641080" cy="5257800"/>
          </a:xfrm>
          <a:prstGeom prst="rect">
            <a:avLst/>
          </a:prstGeom>
          <a:noFill/>
        </p:spPr>
        <p:txBody>
          <a:bodyPr wrap="square" anchor="t">
            <a:spAutoFit/>
          </a:bodyPr>
          <a:lstStyle/>
          <a:p>
            <a:pPr algn="l">
              <a:spcAft>
                <a:spcPts val="855"/>
              </a:spcAft>
            </a:pPr>
            <a:r>
              <a:rPr sz="1900" b="0">
                <a:solidFill>
                  <a:srgbClr val="2B2020"/>
                </a:solidFill>
                <a:latin typeface="ITC Avant Garde Gothic"/>
              </a:rPr>
              <a:t>•  Many older adults stay home alone while their children work long hours or abroad.</a:t>
            </a:r>
          </a:p>
          <a:p>
            <a:pPr algn="l">
              <a:spcAft>
                <a:spcPts val="855"/>
              </a:spcAft>
            </a:pPr>
            <a:r>
              <a:rPr sz="1900" b="0">
                <a:solidFill>
                  <a:srgbClr val="2B2020"/>
                </a:solidFill>
                <a:latin typeface="ITC Avant Garde Gothic"/>
              </a:rPr>
              <a:t>•  A missed medicine, a fever, or a fall can go unnoticed until evening (WHO, 2021).</a:t>
            </a:r>
          </a:p>
          <a:p>
            <a:pPr algn="l">
              <a:spcAft>
                <a:spcPts val="855"/>
              </a:spcAft>
            </a:pPr>
            <a:r>
              <a:rPr sz="1900" b="0">
                <a:solidFill>
                  <a:srgbClr val="2B2020"/>
                </a:solidFill>
                <a:latin typeface="ITC Avant Garde Gothic"/>
              </a:rPr>
              <a:t>•  About half of patients on long-term medicines do not take them as prescribed (WHO, 2003).</a:t>
            </a:r>
          </a:p>
          <a:p>
            <a:pPr algn="l">
              <a:spcAft>
                <a:spcPts val="855"/>
              </a:spcAft>
            </a:pPr>
            <a:r>
              <a:rPr sz="1900" b="0">
                <a:solidFill>
                  <a:srgbClr val="2B2020"/>
                </a:solidFill>
                <a:latin typeface="ITC Avant Garde Gothic"/>
              </a:rPr>
              <a:t>•  Paid caregivers and companion robots cost more than most families can pay.</a:t>
            </a:r>
          </a:p>
        </p:txBody>
      </p:sp>
      <p:sp>
        <p:nvSpPr>
          <p:cNvPr id="25" name="TextBox 24"/>
          <p:cNvSpPr txBox="1"/>
          <p:nvPr/>
        </p:nvSpPr>
        <p:spPr>
          <a:xfrm>
            <a:off x="10561320" y="2075688"/>
            <a:ext cx="690372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1. The problem in figures</a:t>
            </a:r>
          </a:p>
        </p:txBody>
      </p:sp>
      <p:graphicFrame>
        <p:nvGraphicFramePr>
          <p:cNvPr id="26" name="Table 25"/>
          <p:cNvGraphicFramePr>
            <a:graphicFrameLocks noGrp="1"/>
          </p:cNvGraphicFramePr>
          <p:nvPr/>
        </p:nvGraphicFramePr>
        <p:xfrm>
          <a:off x="10561320" y="2487168"/>
          <a:ext cx="6903720" cy="4617720"/>
        </p:xfrm>
        <a:graphic>
          <a:graphicData uri="http://schemas.openxmlformats.org/drawingml/2006/table">
            <a:tbl>
              <a:tblPr firstRow="1" bandRow="1">
                <a:tableStyleId>{5C22544A-7EE6-4342-B048-85BDC9FD1C3A}</a:tableStyleId>
              </a:tblPr>
              <a:tblGrid>
                <a:gridCol w="3108960"/>
                <a:gridCol w="1737360"/>
                <a:gridCol w="2057400"/>
              </a:tblGrid>
              <a:tr h="502920">
                <a:tc>
                  <a:txBody>
                    <a:bodyPr/>
                    <a:lstStyle/>
                    <a:p>
                      <a:r>
                        <a:rPr sz="1400" b="1">
                          <a:solidFill>
                            <a:srgbClr val="FFFFFF"/>
                          </a:solidFill>
                          <a:latin typeface="ITC Avant Garde Gothic"/>
                        </a:rPr>
                        <a:t>Indicator</a:t>
                      </a:r>
                    </a:p>
                  </a:txBody>
                  <a:tcPr>
                    <a:solidFill>
                      <a:srgbClr val="8B0707"/>
                    </a:solidFill>
                  </a:tcPr>
                </a:tc>
                <a:tc>
                  <a:txBody>
                    <a:bodyPr/>
                    <a:lstStyle/>
                    <a:p>
                      <a:r>
                        <a:rPr sz="1400" b="1">
                          <a:solidFill>
                            <a:srgbClr val="FFFFFF"/>
                          </a:solidFill>
                          <a:latin typeface="ITC Avant Garde Gothic"/>
                        </a:rPr>
                        <a:t>Value</a:t>
                      </a:r>
                    </a:p>
                  </a:txBody>
                  <a:tcPr>
                    <a:solidFill>
                      <a:srgbClr val="8B0707"/>
                    </a:solidFill>
                  </a:tcPr>
                </a:tc>
                <a:tc>
                  <a:txBody>
                    <a:bodyPr/>
                    <a:lstStyle/>
                    <a:p>
                      <a:r>
                        <a:rPr sz="1400" b="1">
                          <a:solidFill>
                            <a:srgbClr val="FFFFFF"/>
                          </a:solidFill>
                          <a:latin typeface="ITC Avant Garde Gothic"/>
                        </a:rPr>
                        <a:t>Source</a:t>
                      </a:r>
                    </a:p>
                  </a:txBody>
                  <a:tcPr>
                    <a:solidFill>
                      <a:srgbClr val="8B0707"/>
                    </a:solidFill>
                  </a:tcPr>
                </a:tc>
              </a:tr>
              <a:tr h="822960">
                <a:tc>
                  <a:txBody>
                    <a:bodyPr/>
                    <a:lstStyle/>
                    <a:p>
                      <a:r>
                        <a:rPr sz="1400" b="0">
                          <a:solidFill>
                            <a:srgbClr val="8B0707"/>
                          </a:solidFill>
                          <a:latin typeface="ITC Avant Garde Gothic"/>
                        </a:rPr>
                        <a:t>Group with the most fatal falls</a:t>
                      </a:r>
                    </a:p>
                  </a:txBody>
                  <a:tcPr>
                    <a:solidFill>
                      <a:srgbClr val="FFFFFF"/>
                    </a:solidFill>
                  </a:tcPr>
                </a:tc>
                <a:tc>
                  <a:txBody>
                    <a:bodyPr/>
                    <a:lstStyle/>
                    <a:p>
                      <a:r>
                        <a:rPr sz="1400" b="0">
                          <a:solidFill>
                            <a:srgbClr val="2B2020"/>
                          </a:solidFill>
                          <a:latin typeface="ITC Avant Garde Gothic"/>
                        </a:rPr>
                        <a:t>Adults 60+</a:t>
                      </a:r>
                    </a:p>
                  </a:txBody>
                  <a:tcPr>
                    <a:solidFill>
                      <a:srgbClr val="FFFFFF"/>
                    </a:solidFill>
                  </a:tcPr>
                </a:tc>
                <a:tc>
                  <a:txBody>
                    <a:bodyPr/>
                    <a:lstStyle/>
                    <a:p>
                      <a:r>
                        <a:rPr sz="1400" b="0">
                          <a:solidFill>
                            <a:srgbClr val="2B2020"/>
                          </a:solidFill>
                          <a:latin typeface="ITC Avant Garde Gothic"/>
                        </a:rPr>
                        <a:t>WHO (2021)</a:t>
                      </a:r>
                    </a:p>
                  </a:txBody>
                  <a:tcPr>
                    <a:solidFill>
                      <a:srgbClr val="FFFFFF"/>
                    </a:solidFill>
                  </a:tcPr>
                </a:tc>
              </a:tr>
              <a:tr h="822960">
                <a:tc>
                  <a:txBody>
                    <a:bodyPr/>
                    <a:lstStyle/>
                    <a:p>
                      <a:r>
                        <a:rPr sz="1400" b="0">
                          <a:solidFill>
                            <a:srgbClr val="8B0707"/>
                          </a:solidFill>
                          <a:latin typeface="ITC Avant Garde Gothic"/>
                        </a:rPr>
                        <a:t>Adherence to long-term medicines</a:t>
                      </a:r>
                    </a:p>
                  </a:txBody>
                  <a:tcPr>
                    <a:solidFill>
                      <a:srgbClr val="F8EAEA"/>
                    </a:solidFill>
                  </a:tcPr>
                </a:tc>
                <a:tc>
                  <a:txBody>
                    <a:bodyPr/>
                    <a:lstStyle/>
                    <a:p>
                      <a:r>
                        <a:rPr sz="1400" b="0">
                          <a:solidFill>
                            <a:srgbClr val="2B2020"/>
                          </a:solidFill>
                          <a:latin typeface="ITC Avant Garde Gothic"/>
                        </a:rPr>
                        <a:t>About 50%</a:t>
                      </a:r>
                    </a:p>
                  </a:txBody>
                  <a:tcPr>
                    <a:solidFill>
                      <a:srgbClr val="F8EAEA"/>
                    </a:solidFill>
                  </a:tcPr>
                </a:tc>
                <a:tc>
                  <a:txBody>
                    <a:bodyPr/>
                    <a:lstStyle/>
                    <a:p>
                      <a:r>
                        <a:rPr sz="1400" b="0">
                          <a:solidFill>
                            <a:srgbClr val="2B2020"/>
                          </a:solidFill>
                          <a:latin typeface="ITC Avant Garde Gothic"/>
                        </a:rPr>
                        <a:t>WHO (2003)</a:t>
                      </a:r>
                    </a:p>
                  </a:txBody>
                  <a:tcPr>
                    <a:solidFill>
                      <a:srgbClr val="F8EAEA"/>
                    </a:solidFill>
                  </a:tcPr>
                </a:tc>
              </a:tr>
              <a:tr h="822960">
                <a:tc>
                  <a:txBody>
                    <a:bodyPr/>
                    <a:lstStyle/>
                    <a:p>
                      <a:r>
                        <a:rPr sz="1400" b="0">
                          <a:solidFill>
                            <a:srgbClr val="8B0707"/>
                          </a:solidFill>
                          <a:latin typeface="ITC Avant Garde Gothic"/>
                        </a:rPr>
                        <a:t>Social robots and older adults' mood</a:t>
                      </a:r>
                    </a:p>
                  </a:txBody>
                  <a:tcPr>
                    <a:solidFill>
                      <a:srgbClr val="FFFFFF"/>
                    </a:solidFill>
                  </a:tcPr>
                </a:tc>
                <a:tc>
                  <a:txBody>
                    <a:bodyPr/>
                    <a:lstStyle/>
                    <a:p>
                      <a:r>
                        <a:rPr sz="1400" b="0">
                          <a:solidFill>
                            <a:srgbClr val="2B2020"/>
                          </a:solidFill>
                          <a:latin typeface="ITC Avant Garde Gothic"/>
                        </a:rPr>
                        <a:t>Improved</a:t>
                      </a:r>
                    </a:p>
                  </a:txBody>
                  <a:tcPr>
                    <a:solidFill>
                      <a:srgbClr val="FFFFFF"/>
                    </a:solidFill>
                  </a:tcPr>
                </a:tc>
                <a:tc>
                  <a:txBody>
                    <a:bodyPr/>
                    <a:lstStyle/>
                    <a:p>
                      <a:r>
                        <a:rPr sz="1400" b="0">
                          <a:solidFill>
                            <a:srgbClr val="2B2020"/>
                          </a:solidFill>
                          <a:latin typeface="ITC Avant Garde Gothic"/>
                        </a:rPr>
                        <a:t>Pu et al. (2019)</a:t>
                      </a:r>
                    </a:p>
                  </a:txBody>
                  <a:tcPr>
                    <a:solidFill>
                      <a:srgbClr val="FFFFFF"/>
                    </a:solidFill>
                  </a:tcPr>
                </a:tc>
              </a:tr>
              <a:tr h="822960">
                <a:tc>
                  <a:txBody>
                    <a:bodyPr/>
                    <a:lstStyle/>
                    <a:p>
                      <a:r>
                        <a:rPr sz="1400" b="0">
                          <a:solidFill>
                            <a:srgbClr val="8B0707"/>
                          </a:solidFill>
                          <a:latin typeface="ITC Avant Garde Gothic"/>
                        </a:rPr>
                        <a:t>SpO₂ accuracy limit (Arms)</a:t>
                      </a:r>
                    </a:p>
                  </a:txBody>
                  <a:tcPr>
                    <a:solidFill>
                      <a:srgbClr val="F8EAEA"/>
                    </a:solidFill>
                  </a:tcPr>
                </a:tc>
                <a:tc>
                  <a:txBody>
                    <a:bodyPr/>
                    <a:lstStyle/>
                    <a:p>
                      <a:r>
                        <a:rPr sz="1400" b="0">
                          <a:solidFill>
                            <a:srgbClr val="2B2020"/>
                          </a:solidFill>
                          <a:latin typeface="ITC Avant Garde Gothic"/>
                        </a:rPr>
                        <a:t>≤ 4%</a:t>
                      </a:r>
                    </a:p>
                  </a:txBody>
                  <a:tcPr>
                    <a:solidFill>
                      <a:srgbClr val="F8EAEA"/>
                    </a:solidFill>
                  </a:tcPr>
                </a:tc>
                <a:tc>
                  <a:txBody>
                    <a:bodyPr/>
                    <a:lstStyle/>
                    <a:p>
                      <a:r>
                        <a:rPr sz="1400" b="0">
                          <a:solidFill>
                            <a:srgbClr val="2B2020"/>
                          </a:solidFill>
                          <a:latin typeface="ITC Avant Garde Gothic"/>
                        </a:rPr>
                        <a:t>ISO (2017b)</a:t>
                      </a:r>
                    </a:p>
                  </a:txBody>
                  <a:tcPr>
                    <a:solidFill>
                      <a:srgbClr val="F8EAEA"/>
                    </a:solidFill>
                  </a:tcPr>
                </a:tc>
              </a:tr>
              <a:tr h="822960">
                <a:tc>
                  <a:txBody>
                    <a:bodyPr/>
                    <a:lstStyle/>
                    <a:p>
                      <a:r>
                        <a:rPr sz="1400" b="0">
                          <a:solidFill>
                            <a:srgbClr val="8B0707"/>
                          </a:solidFill>
                          <a:latin typeface="ITC Avant Garde Gothic"/>
                        </a:rPr>
                        <a:t>Family care of older adults</a:t>
                      </a:r>
                    </a:p>
                  </a:txBody>
                  <a:tcPr>
                    <a:solidFill>
                      <a:srgbClr val="FFFFFF"/>
                    </a:solidFill>
                  </a:tcPr>
                </a:tc>
                <a:tc>
                  <a:txBody>
                    <a:bodyPr/>
                    <a:lstStyle/>
                    <a:p>
                      <a:r>
                        <a:rPr sz="1400" b="0">
                          <a:solidFill>
                            <a:srgbClr val="2B2020"/>
                          </a:solidFill>
                          <a:latin typeface="ITC Avant Garde Gothic"/>
                        </a:rPr>
                        <a:t>Encouraged by law</a:t>
                      </a:r>
                    </a:p>
                  </a:txBody>
                  <a:tcPr>
                    <a:solidFill>
                      <a:srgbClr val="FFFFFF"/>
                    </a:solidFill>
                  </a:tcPr>
                </a:tc>
                <a:tc>
                  <a:txBody>
                    <a:bodyPr/>
                    <a:lstStyle/>
                    <a:p>
                      <a:r>
                        <a:rPr sz="1400" b="0">
                          <a:solidFill>
                            <a:srgbClr val="2B2020"/>
                          </a:solidFill>
                          <a:latin typeface="ITC Avant Garde Gothic"/>
                        </a:rPr>
                        <a:t>RA 9994 (2010)</a:t>
                      </a:r>
                    </a:p>
                  </a:txBody>
                  <a:tcPr>
                    <a:solidFill>
                      <a:srgbClr val="FFFFFF"/>
                    </a:solidFill>
                  </a:tcPr>
                </a:tc>
              </a:tr>
            </a:tbl>
          </a:graphicData>
        </a:graphic>
      </p:graphicFrame>
      <p:sp>
        <p:nvSpPr>
          <p:cNvPr id="27" name="Rectangle 26"/>
          <p:cNvSpPr/>
          <p:nvPr/>
        </p:nvSpPr>
        <p:spPr>
          <a:xfrm>
            <a:off x="822960" y="8138160"/>
            <a:ext cx="16642080" cy="1417320"/>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8211312"/>
            <a:ext cx="15819120" cy="1271016"/>
          </a:xfrm>
          <a:prstGeom prst="rect">
            <a:avLst/>
          </a:prstGeom>
          <a:noFill/>
        </p:spPr>
        <p:txBody>
          <a:bodyPr wrap="square" anchor="ctr">
            <a:spAutoFit/>
          </a:bodyPr>
          <a:lstStyle/>
          <a:p>
            <a:pPr algn="l">
              <a:spcAft>
                <a:spcPts val="855"/>
              </a:spcAft>
            </a:pPr>
            <a:r>
              <a:rPr sz="1900" b="0">
                <a:solidFill>
                  <a:srgbClr val="8B0707"/>
                </a:solidFill>
                <a:latin typeface="ITC Avant Garde Gothic"/>
              </a:rPr>
              <a:t>Purpose of the study. To find out whether a low-cost wheeled soft robot, inspired by Big Hero 6, can watch over an older adult at home and keep the family informed.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RRL/RRS</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Related Literature</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3</a:t>
            </a:r>
            <a:endParaRPr lang="en-US" sz="1600" dirty="0">
              <a:latin typeface="ITC Avant Garde Gothic"/>
            </a:endParaRPr>
          </a:p>
        </p:txBody>
      </p:sp>
      <p:sp>
        <p:nvSpPr>
          <p:cNvPr id="23" name="TextBox 22"/>
          <p:cNvSpPr txBox="1"/>
          <p:nvPr/>
        </p:nvSpPr>
        <p:spPr>
          <a:xfrm>
            <a:off x="822960" y="2075688"/>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2. Related literature and how the study uses it</a:t>
            </a:r>
          </a:p>
        </p:txBody>
      </p:sp>
      <p:graphicFrame>
        <p:nvGraphicFramePr>
          <p:cNvPr id="24" name="Table 23"/>
          <p:cNvGraphicFramePr>
            <a:graphicFrameLocks noGrp="1"/>
          </p:cNvGraphicFramePr>
          <p:nvPr/>
        </p:nvGraphicFramePr>
        <p:xfrm>
          <a:off x="822960" y="2487168"/>
          <a:ext cx="16642080" cy="4526280"/>
        </p:xfrm>
        <a:graphic>
          <a:graphicData uri="http://schemas.openxmlformats.org/drawingml/2006/table">
            <a:tbl>
              <a:tblPr firstRow="1" bandRow="1">
                <a:tableStyleId>{5C22544A-7EE6-4342-B048-85BDC9FD1C3A}</a:tableStyleId>
              </a:tblPr>
              <a:tblGrid>
                <a:gridCol w="3840480"/>
                <a:gridCol w="4572000"/>
                <a:gridCol w="8229600"/>
              </a:tblGrid>
              <a:tr h="502920">
                <a:tc>
                  <a:txBody>
                    <a:bodyPr/>
                    <a:lstStyle/>
                    <a:p>
                      <a:r>
                        <a:rPr sz="1600" b="1">
                          <a:solidFill>
                            <a:srgbClr val="FFFFFF"/>
                          </a:solidFill>
                          <a:latin typeface="ITC Avant Garde Gothic"/>
                        </a:rPr>
                        <a:t>Area</a:t>
                      </a:r>
                    </a:p>
                  </a:txBody>
                  <a:tcPr>
                    <a:solidFill>
                      <a:srgbClr val="8B0707"/>
                    </a:solidFill>
                  </a:tcPr>
                </a:tc>
                <a:tc>
                  <a:txBody>
                    <a:bodyPr/>
                    <a:lstStyle/>
                    <a:p>
                      <a:r>
                        <a:rPr sz="1600" b="1">
                          <a:solidFill>
                            <a:srgbClr val="FFFFFF"/>
                          </a:solidFill>
                          <a:latin typeface="ITC Avant Garde Gothic"/>
                        </a:rPr>
                        <a:t>Key sources</a:t>
                      </a:r>
                    </a:p>
                  </a:txBody>
                  <a:tcPr>
                    <a:solidFill>
                      <a:srgbClr val="8B0707"/>
                    </a:solidFill>
                  </a:tcPr>
                </a:tc>
                <a:tc>
                  <a:txBody>
                    <a:bodyPr/>
                    <a:lstStyle/>
                    <a:p>
                      <a:r>
                        <a:rPr sz="1600" b="1">
                          <a:solidFill>
                            <a:srgbClr val="FFFFFF"/>
                          </a:solidFill>
                          <a:latin typeface="ITC Avant Garde Gothic"/>
                        </a:rPr>
                        <a:t>Use in the present study</a:t>
                      </a:r>
                    </a:p>
                  </a:txBody>
                  <a:tcPr>
                    <a:solidFill>
                      <a:srgbClr val="8B0707"/>
                    </a:solidFill>
                  </a:tcPr>
                </a:tc>
              </a:tr>
              <a:tr h="1005840">
                <a:tc>
                  <a:txBody>
                    <a:bodyPr/>
                    <a:lstStyle/>
                    <a:p>
                      <a:r>
                        <a:rPr sz="1600" b="0">
                          <a:solidFill>
                            <a:srgbClr val="8B0707"/>
                          </a:solidFill>
                          <a:latin typeface="ITC Avant Garde Gothic"/>
                        </a:rPr>
                        <a:t>Soft and inflatable robots</a:t>
                      </a:r>
                    </a:p>
                  </a:txBody>
                  <a:tcPr>
                    <a:solidFill>
                      <a:srgbClr val="FFFFFF"/>
                    </a:solidFill>
                  </a:tcPr>
                </a:tc>
                <a:tc>
                  <a:txBody>
                    <a:bodyPr/>
                    <a:lstStyle/>
                    <a:p>
                      <a:r>
                        <a:rPr sz="1600" b="0">
                          <a:solidFill>
                            <a:srgbClr val="2B2020"/>
                          </a:solidFill>
                          <a:latin typeface="ITC Avant Garde Gothic"/>
                        </a:rPr>
                        <a:t>Rus &amp; Tolley (2015); Sanan et al. (2011)</a:t>
                      </a:r>
                    </a:p>
                  </a:txBody>
                  <a:tcPr>
                    <a:solidFill>
                      <a:srgbClr val="FFFFFF"/>
                    </a:solidFill>
                  </a:tcPr>
                </a:tc>
                <a:tc>
                  <a:txBody>
                    <a:bodyPr/>
                    <a:lstStyle/>
                    <a:p>
                      <a:r>
                        <a:rPr sz="1600" b="0">
                          <a:solidFill>
                            <a:srgbClr val="2B2020"/>
                          </a:solidFill>
                          <a:latin typeface="ITC Avant Garde Gothic"/>
                        </a:rPr>
                        <a:t>Air body that is safe to bump into</a:t>
                      </a:r>
                    </a:p>
                  </a:txBody>
                  <a:tcPr>
                    <a:solidFill>
                      <a:srgbClr val="FFFFFF"/>
                    </a:solidFill>
                  </a:tcPr>
                </a:tc>
              </a:tr>
              <a:tr h="1005840">
                <a:tc>
                  <a:txBody>
                    <a:bodyPr/>
                    <a:lstStyle/>
                    <a:p>
                      <a:r>
                        <a:rPr sz="1600" b="0">
                          <a:solidFill>
                            <a:srgbClr val="8B0707"/>
                          </a:solidFill>
                          <a:latin typeface="ITC Avant Garde Gothic"/>
                        </a:rPr>
                        <a:t>Companion robots for older adults</a:t>
                      </a:r>
                    </a:p>
                  </a:txBody>
                  <a:tcPr>
                    <a:solidFill>
                      <a:srgbClr val="F8EAEA"/>
                    </a:solidFill>
                  </a:tcPr>
                </a:tc>
                <a:tc>
                  <a:txBody>
                    <a:bodyPr/>
                    <a:lstStyle/>
                    <a:p>
                      <a:r>
                        <a:rPr sz="1600" b="0">
                          <a:solidFill>
                            <a:srgbClr val="2B2020"/>
                          </a:solidFill>
                          <a:latin typeface="ITC Avant Garde Gothic"/>
                        </a:rPr>
                        <a:t>Wada &amp; Shibata (2007); Pu et al. (2019)</a:t>
                      </a:r>
                    </a:p>
                  </a:txBody>
                  <a:tcPr>
                    <a:solidFill>
                      <a:srgbClr val="F8EAEA"/>
                    </a:solidFill>
                  </a:tcPr>
                </a:tc>
                <a:tc>
                  <a:txBody>
                    <a:bodyPr/>
                    <a:lstStyle/>
                    <a:p>
                      <a:r>
                        <a:rPr sz="1600" b="0">
                          <a:solidFill>
                            <a:srgbClr val="2B2020"/>
                          </a:solidFill>
                          <a:latin typeface="ITC Avant Garde Gothic"/>
                        </a:rPr>
                        <a:t>Company, reminders, friendly face</a:t>
                      </a:r>
                    </a:p>
                  </a:txBody>
                  <a:tcPr>
                    <a:solidFill>
                      <a:srgbClr val="F8EAEA"/>
                    </a:solidFill>
                  </a:tcPr>
                </a:tc>
              </a:tr>
              <a:tr h="1005840">
                <a:tc>
                  <a:txBody>
                    <a:bodyPr/>
                    <a:lstStyle/>
                    <a:p>
                      <a:r>
                        <a:rPr sz="1600" b="0">
                          <a:solidFill>
                            <a:srgbClr val="8B0707"/>
                          </a:solidFill>
                          <a:latin typeface="ITC Avant Garde Gothic"/>
                        </a:rPr>
                        <a:t>Falls and medicine adherence</a:t>
                      </a:r>
                    </a:p>
                  </a:txBody>
                  <a:tcPr>
                    <a:solidFill>
                      <a:srgbClr val="FFFFFF"/>
                    </a:solidFill>
                  </a:tcPr>
                </a:tc>
                <a:tc>
                  <a:txBody>
                    <a:bodyPr/>
                    <a:lstStyle/>
                    <a:p>
                      <a:r>
                        <a:rPr sz="1600" b="0">
                          <a:solidFill>
                            <a:srgbClr val="2B2020"/>
                          </a:solidFill>
                          <a:latin typeface="ITC Avant Garde Gothic"/>
                        </a:rPr>
                        <a:t>Bourke et al. (2007); WHO (2003, 2021)</a:t>
                      </a:r>
                    </a:p>
                  </a:txBody>
                  <a:tcPr>
                    <a:solidFill>
                      <a:srgbClr val="FFFFFF"/>
                    </a:solidFill>
                  </a:tcPr>
                </a:tc>
                <a:tc>
                  <a:txBody>
                    <a:bodyPr/>
                    <a:lstStyle/>
                    <a:p>
                      <a:r>
                        <a:rPr sz="1600" b="0">
                          <a:solidFill>
                            <a:srgbClr val="2B2020"/>
                          </a:solidFill>
                          <a:latin typeface="ITC Avant Garde Gothic"/>
                        </a:rPr>
                        <a:t>Pendant fall rule; reminders</a:t>
                      </a:r>
                    </a:p>
                  </a:txBody>
                  <a:tcPr>
                    <a:solidFill>
                      <a:srgbClr val="FFFFFF"/>
                    </a:solidFill>
                  </a:tcPr>
                </a:tc>
              </a:tr>
              <a:tr h="1005840">
                <a:tc>
                  <a:txBody>
                    <a:bodyPr/>
                    <a:lstStyle/>
                    <a:p>
                      <a:r>
                        <a:rPr sz="1600" b="0">
                          <a:solidFill>
                            <a:srgbClr val="8B0707"/>
                          </a:solidFill>
                          <a:latin typeface="ITC Avant Garde Gothic"/>
                        </a:rPr>
                        <a:t>Vital signs, agreement, usability</a:t>
                      </a:r>
                    </a:p>
                  </a:txBody>
                  <a:tcPr>
                    <a:solidFill>
                      <a:srgbClr val="F8EAEA"/>
                    </a:solidFill>
                  </a:tcPr>
                </a:tc>
                <a:tc>
                  <a:txBody>
                    <a:bodyPr/>
                    <a:lstStyle/>
                    <a:p>
                      <a:r>
                        <a:rPr sz="1600" b="0">
                          <a:solidFill>
                            <a:srgbClr val="2B2020"/>
                          </a:solidFill>
                          <a:latin typeface="ITC Avant Garde Gothic"/>
                        </a:rPr>
                        <a:t>Jubran (2015); Bland &amp; Altman (1986); Brooke (1996)</a:t>
                      </a:r>
                    </a:p>
                  </a:txBody>
                  <a:tcPr>
                    <a:solidFill>
                      <a:srgbClr val="F8EAEA"/>
                    </a:solidFill>
                  </a:tcPr>
                </a:tc>
                <a:tc>
                  <a:txBody>
                    <a:bodyPr/>
                    <a:lstStyle/>
                    <a:p>
                      <a:r>
                        <a:rPr sz="1600" b="0">
                          <a:solidFill>
                            <a:srgbClr val="2B2020"/>
                          </a:solidFill>
                          <a:latin typeface="ITC Avant Garde Gothic"/>
                        </a:rPr>
                        <a:t>Limits, agreement tests, SUS</a:t>
                      </a:r>
                    </a:p>
                  </a:txBody>
                  <a:tcPr>
                    <a:solidFill>
                      <a:srgbClr val="F8EAEA"/>
                    </a:solidFill>
                  </a:tcPr>
                </a:tc>
              </a:tr>
            </a:tbl>
          </a:graphicData>
        </a:graphic>
      </p:graphicFrame>
      <p:sp>
        <p:nvSpPr>
          <p:cNvPr id="25" name="Rectangle 24"/>
          <p:cNvSpPr/>
          <p:nvPr/>
        </p:nvSpPr>
        <p:spPr>
          <a:xfrm>
            <a:off x="822960" y="8595360"/>
            <a:ext cx="16642080" cy="960120"/>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8668512"/>
            <a:ext cx="15819120" cy="813816"/>
          </a:xfrm>
          <a:prstGeom prst="rect">
            <a:avLst/>
          </a:prstGeom>
          <a:noFill/>
        </p:spPr>
        <p:txBody>
          <a:bodyPr wrap="square" anchor="ctr">
            <a:spAutoFit/>
          </a:bodyPr>
          <a:lstStyle/>
          <a:p>
            <a:pPr algn="l">
              <a:spcAft>
                <a:spcPts val="765"/>
              </a:spcAft>
            </a:pPr>
            <a:r>
              <a:rPr sz="1700" b="0">
                <a:solidFill>
                  <a:srgbClr val="8B0707"/>
                </a:solidFill>
                <a:latin typeface="ITC Avant Garde Gothic"/>
              </a:rPr>
              <a:t>Synthesis. Soft bodies are safer, companion robots help older adults, and falls can be detected with low-cost accelerometers.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RRL/RRS</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Related Studies</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4</a:t>
            </a:r>
            <a:endParaRPr lang="en-US" sz="1600" dirty="0">
              <a:latin typeface="ITC Avant Garde Gothic"/>
            </a:endParaRPr>
          </a:p>
        </p:txBody>
      </p:sp>
      <p:sp>
        <p:nvSpPr>
          <p:cNvPr id="23" name="TextBox 22"/>
          <p:cNvSpPr txBox="1"/>
          <p:nvPr/>
        </p:nvSpPr>
        <p:spPr>
          <a:xfrm>
            <a:off x="822960" y="2075688"/>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3. Related studies and their relation to the present study</a:t>
            </a:r>
          </a:p>
        </p:txBody>
      </p:sp>
      <p:graphicFrame>
        <p:nvGraphicFramePr>
          <p:cNvPr id="24" name="Table 23"/>
          <p:cNvGraphicFramePr>
            <a:graphicFrameLocks noGrp="1"/>
          </p:cNvGraphicFramePr>
          <p:nvPr/>
        </p:nvGraphicFramePr>
        <p:xfrm>
          <a:off x="822960" y="2487168"/>
          <a:ext cx="16642080" cy="4069080"/>
        </p:xfrm>
        <a:graphic>
          <a:graphicData uri="http://schemas.openxmlformats.org/drawingml/2006/table">
            <a:tbl>
              <a:tblPr firstRow="1" bandRow="1">
                <a:tableStyleId>{5C22544A-7EE6-4342-B048-85BDC9FD1C3A}</a:tableStyleId>
              </a:tblPr>
              <a:tblGrid>
                <a:gridCol w="3840480"/>
                <a:gridCol w="6217920"/>
                <a:gridCol w="6583680"/>
              </a:tblGrid>
              <a:tr h="502920">
                <a:tc>
                  <a:txBody>
                    <a:bodyPr/>
                    <a:lstStyle/>
                    <a:p>
                      <a:r>
                        <a:rPr sz="1600" b="1">
                          <a:solidFill>
                            <a:srgbClr val="FFFFFF"/>
                          </a:solidFill>
                          <a:latin typeface="ITC Avant Garde Gothic"/>
                        </a:rPr>
                        <a:t>Study</a:t>
                      </a:r>
                    </a:p>
                  </a:txBody>
                  <a:tcPr>
                    <a:solidFill>
                      <a:srgbClr val="8B0707"/>
                    </a:solidFill>
                  </a:tcPr>
                </a:tc>
                <a:tc>
                  <a:txBody>
                    <a:bodyPr/>
                    <a:lstStyle/>
                    <a:p>
                      <a:r>
                        <a:rPr sz="1600" b="1">
                          <a:solidFill>
                            <a:srgbClr val="FFFFFF"/>
                          </a:solidFill>
                          <a:latin typeface="ITC Avant Garde Gothic"/>
                        </a:rPr>
                        <a:t>What was done</a:t>
                      </a:r>
                    </a:p>
                  </a:txBody>
                  <a:tcPr>
                    <a:solidFill>
                      <a:srgbClr val="8B0707"/>
                    </a:solidFill>
                  </a:tcPr>
                </a:tc>
                <a:tc>
                  <a:txBody>
                    <a:bodyPr/>
                    <a:lstStyle/>
                    <a:p>
                      <a:r>
                        <a:rPr sz="1600" b="1">
                          <a:solidFill>
                            <a:srgbClr val="FFFFFF"/>
                          </a:solidFill>
                          <a:latin typeface="ITC Avant Garde Gothic"/>
                        </a:rPr>
                        <a:t>Relation to the present study</a:t>
                      </a:r>
                    </a:p>
                  </a:txBody>
                  <a:tcPr>
                    <a:solidFill>
                      <a:srgbClr val="8B0707"/>
                    </a:solidFill>
                  </a:tcPr>
                </a:tc>
              </a:tr>
              <a:tr h="1188720">
                <a:tc>
                  <a:txBody>
                    <a:bodyPr/>
                    <a:lstStyle/>
                    <a:p>
                      <a:r>
                        <a:rPr sz="1600" b="0">
                          <a:solidFill>
                            <a:srgbClr val="8B0707"/>
                          </a:solidFill>
                          <a:latin typeface="ITC Avant Garde Gothic"/>
                        </a:rPr>
                        <a:t>Wada &amp; Shibata (2007)</a:t>
                      </a:r>
                    </a:p>
                  </a:txBody>
                  <a:tcPr>
                    <a:solidFill>
                      <a:srgbClr val="FFFFFF"/>
                    </a:solidFill>
                  </a:tcPr>
                </a:tc>
                <a:tc>
                  <a:txBody>
                    <a:bodyPr/>
                    <a:lstStyle/>
                    <a:p>
                      <a:r>
                        <a:rPr sz="1600" b="0">
                          <a:solidFill>
                            <a:srgbClr val="2B2020"/>
                          </a:solidFill>
                          <a:latin typeface="ITC Avant Garde Gothic"/>
                        </a:rPr>
                        <a:t>Placed a seal robot with residents of a care house.</a:t>
                      </a:r>
                    </a:p>
                  </a:txBody>
                  <a:tcPr>
                    <a:solidFill>
                      <a:srgbClr val="FFFFFF"/>
                    </a:solidFill>
                  </a:tcPr>
                </a:tc>
                <a:tc>
                  <a:txBody>
                    <a:bodyPr/>
                    <a:lstStyle/>
                    <a:p>
                      <a:r>
                        <a:rPr sz="1600" b="0">
                          <a:solidFill>
                            <a:srgbClr val="2B2020"/>
                          </a:solidFill>
                          <a:latin typeface="ITC Avant Garde Gothic"/>
                        </a:rPr>
                        <a:t>Supports the companion role.</a:t>
                      </a:r>
                    </a:p>
                  </a:txBody>
                  <a:tcPr>
                    <a:solidFill>
                      <a:srgbClr val="FFFFFF"/>
                    </a:solidFill>
                  </a:tcPr>
                </a:tc>
              </a:tr>
              <a:tr h="1188720">
                <a:tc>
                  <a:txBody>
                    <a:bodyPr/>
                    <a:lstStyle/>
                    <a:p>
                      <a:r>
                        <a:rPr sz="1600" b="0">
                          <a:solidFill>
                            <a:srgbClr val="8B0707"/>
                          </a:solidFill>
                          <a:latin typeface="ITC Avant Garde Gothic"/>
                        </a:rPr>
                        <a:t>Bourke et al. (2007)</a:t>
                      </a:r>
                    </a:p>
                  </a:txBody>
                  <a:tcPr>
                    <a:solidFill>
                      <a:srgbClr val="F8EAEA"/>
                    </a:solidFill>
                  </a:tcPr>
                </a:tc>
                <a:tc>
                  <a:txBody>
                    <a:bodyPr/>
                    <a:lstStyle/>
                    <a:p>
                      <a:r>
                        <a:rPr sz="1600" b="0">
                          <a:solidFill>
                            <a:srgbClr val="2B2020"/>
                          </a:solidFill>
                          <a:latin typeface="ITC Avant Garde Gothic"/>
                        </a:rPr>
                        <a:t>Detected falls with accelerometer thresholds.</a:t>
                      </a:r>
                    </a:p>
                  </a:txBody>
                  <a:tcPr>
                    <a:solidFill>
                      <a:srgbClr val="F8EAEA"/>
                    </a:solidFill>
                  </a:tcPr>
                </a:tc>
                <a:tc>
                  <a:txBody>
                    <a:bodyPr/>
                    <a:lstStyle/>
                    <a:p>
                      <a:r>
                        <a:rPr sz="1600" b="0">
                          <a:solidFill>
                            <a:srgbClr val="2B2020"/>
                          </a:solidFill>
                          <a:latin typeface="ITC Avant Garde Gothic"/>
                        </a:rPr>
                        <a:t>Basis of the pendant's fall rule.</a:t>
                      </a:r>
                    </a:p>
                  </a:txBody>
                  <a:tcPr>
                    <a:solidFill>
                      <a:srgbClr val="F8EAEA"/>
                    </a:solidFill>
                  </a:tcPr>
                </a:tc>
              </a:tr>
              <a:tr h="1188720">
                <a:tc>
                  <a:txBody>
                    <a:bodyPr/>
                    <a:lstStyle/>
                    <a:p>
                      <a:r>
                        <a:rPr sz="1600" b="0">
                          <a:solidFill>
                            <a:srgbClr val="8B0707"/>
                          </a:solidFill>
                          <a:latin typeface="ITC Avant Garde Gothic"/>
                        </a:rPr>
                        <a:t>Bland &amp; Altman (1986)</a:t>
                      </a:r>
                    </a:p>
                  </a:txBody>
                  <a:tcPr>
                    <a:solidFill>
                      <a:srgbClr val="FFFFFF"/>
                    </a:solidFill>
                  </a:tcPr>
                </a:tc>
                <a:tc>
                  <a:txBody>
                    <a:bodyPr/>
                    <a:lstStyle/>
                    <a:p>
                      <a:r>
                        <a:rPr sz="1600" b="0">
                          <a:solidFill>
                            <a:srgbClr val="2B2020"/>
                          </a:solidFill>
                          <a:latin typeface="ITC Avant Garde Gothic"/>
                        </a:rPr>
                        <a:t>Proposed limits of agreement for two methods.</a:t>
                      </a:r>
                    </a:p>
                  </a:txBody>
                  <a:tcPr>
                    <a:solidFill>
                      <a:srgbClr val="FFFFFF"/>
                    </a:solidFill>
                  </a:tcPr>
                </a:tc>
                <a:tc>
                  <a:txBody>
                    <a:bodyPr/>
                    <a:lstStyle/>
                    <a:p>
                      <a:r>
                        <a:rPr sz="1600" b="0">
                          <a:solidFill>
                            <a:srgbClr val="2B2020"/>
                          </a:solidFill>
                          <a:latin typeface="ITC Avant Garde Gothic"/>
                        </a:rPr>
                        <a:t>Method used to test ALAGA.</a:t>
                      </a:r>
                    </a:p>
                  </a:txBody>
                  <a:tcPr>
                    <a:solidFill>
                      <a:srgbClr val="FFFFFF"/>
                    </a:solidFill>
                  </a:tcPr>
                </a:tc>
              </a:tr>
            </a:tbl>
          </a:graphicData>
        </a:graphic>
      </p:graphicFrame>
      <p:sp>
        <p:nvSpPr>
          <p:cNvPr id="25" name="Rectangle 24"/>
          <p:cNvSpPr/>
          <p:nvPr/>
        </p:nvSpPr>
        <p:spPr>
          <a:xfrm>
            <a:off x="822960" y="8476488"/>
            <a:ext cx="16642080" cy="1078992"/>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8549640"/>
            <a:ext cx="15819120" cy="932688"/>
          </a:xfrm>
          <a:prstGeom prst="rect">
            <a:avLst/>
          </a:prstGeom>
          <a:noFill/>
        </p:spPr>
        <p:txBody>
          <a:bodyPr wrap="square" anchor="ctr">
            <a:spAutoFit/>
          </a:bodyPr>
          <a:lstStyle/>
          <a:p>
            <a:pPr algn="l">
              <a:spcAft>
                <a:spcPts val="765"/>
              </a:spcAft>
            </a:pPr>
            <a:r>
              <a:rPr sz="1700" b="0">
                <a:solidFill>
                  <a:srgbClr val="8B0707"/>
                </a:solidFill>
                <a:latin typeface="ITC Avant Garde Gothic"/>
              </a:rPr>
              <a:t>Synthesis. No low-cost mobile robot joins a soft body, reminders, health checks, fall alerts, and family messages.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292608"/>
            <a:ext cx="17376398" cy="777240"/>
          </a:xfrm>
          <a:prstGeom prst="rect">
            <a:avLst/>
          </a:prstGeom>
        </p:spPr>
        <p:txBody>
          <a:bodyPr anchor="t" rtlCol="false" tIns="0" lIns="0" bIns="0" rIns="0">
            <a:spAutoFit/>
          </a:bodyPr>
          <a:lstStyle/>
          <a:p>
            <a:pPr algn="l">
              <a:lnSpc>
                <a:spcPts val="7720"/>
              </a:lnSpc>
            </a:pPr>
            <a:r>
              <a:rPr lang="en-US" sz="4000">
                <a:solidFill>
                  <a:srgbClr val="FFFFFF"/>
                </a:solidFill>
                <a:latin typeface="ITC Avant Garde Gothic"/>
                <a:ea typeface="ITC Avant Garde Gothic"/>
                <a:cs typeface="ITC Avant Garde Gothic"/>
                <a:sym typeface="ITC Avant Garde Gothic"/>
              </a:rPr>
              <a:t>THEORETICAL/CONCEPTUAL FRAMEWORK PARADIGM</a:t>
            </a:r>
          </a:p>
        </p:txBody>
      </p:sp>
      <p:sp>
        <p:nvSpPr>
          <p:cNvPr id="21" name="Subtitle"/>
          <p:cNvSpPr txBox="1"/>
          <p:nvPr/>
        </p:nvSpPr>
        <p:spPr>
          <a:xfrm>
            <a:off x="210312" y="1097280"/>
            <a:ext cx="17373600" cy="45720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000" dirty="0">
                <a:solidFill>
                  <a:srgbClr val="FFFFFF">
                    <a:alpha val="92000"/>
                  </a:srgbClr>
                </a:solidFill>
                <a:latin typeface="ITC Avant Garde Gothic"/>
                <a:ea typeface="ITC Avant Garde Gothic"/>
                <a:cs typeface="ITC Avant Garde Gothic"/>
                <a:sym typeface="ITC Avant Garde Gothic"/>
              </a:rPr>
              <a:t>Theoretical Framework</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5</a:t>
            </a:r>
            <a:endParaRPr lang="en-US" sz="1600" dirty="0">
              <a:latin typeface="ITC Avant Garde Gothic"/>
            </a:endParaRPr>
          </a:p>
        </p:txBody>
      </p:sp>
      <p:sp>
        <p:nvSpPr>
          <p:cNvPr id="23" name="TextBox 22"/>
          <p:cNvSpPr txBox="1"/>
          <p:nvPr/>
        </p:nvSpPr>
        <p:spPr>
          <a:xfrm>
            <a:off x="822960" y="2029968"/>
            <a:ext cx="7178040" cy="457200"/>
          </a:xfrm>
          <a:prstGeom prst="rect">
            <a:avLst/>
          </a:prstGeom>
          <a:noFill/>
        </p:spPr>
        <p:txBody>
          <a:bodyPr wrap="square" anchor="t">
            <a:spAutoFit/>
          </a:bodyPr>
          <a:lstStyle/>
          <a:p>
            <a:pPr algn="l">
              <a:spcAft>
                <a:spcPts val="810"/>
              </a:spcAft>
            </a:pPr>
            <a:r>
              <a:rPr sz="1800" b="1">
                <a:solidFill>
                  <a:srgbClr val="8B0707"/>
                </a:solidFill>
                <a:latin typeface="ITC Avant Garde Gothic"/>
              </a:rPr>
              <a:t>Research gap</a:t>
            </a:r>
          </a:p>
        </p:txBody>
      </p:sp>
      <p:sp>
        <p:nvSpPr>
          <p:cNvPr id="24" name="TextBox 23"/>
          <p:cNvSpPr txBox="1"/>
          <p:nvPr/>
        </p:nvSpPr>
        <p:spPr>
          <a:xfrm>
            <a:off x="9281160" y="2029968"/>
            <a:ext cx="8183879" cy="457200"/>
          </a:xfrm>
          <a:prstGeom prst="rect">
            <a:avLst/>
          </a:prstGeom>
          <a:noFill/>
        </p:spPr>
        <p:txBody>
          <a:bodyPr wrap="square" anchor="t">
            <a:spAutoFit/>
          </a:bodyPr>
          <a:lstStyle/>
          <a:p>
            <a:pPr algn="l">
              <a:spcAft>
                <a:spcPts val="810"/>
              </a:spcAft>
            </a:pPr>
            <a:r>
              <a:rPr sz="1800" b="1">
                <a:solidFill>
                  <a:srgbClr val="8B0707"/>
                </a:solidFill>
                <a:latin typeface="ITC Avant Garde Gothic"/>
              </a:rPr>
              <a:t>Theory or concept that addresses it</a:t>
            </a:r>
          </a:p>
        </p:txBody>
      </p:sp>
      <p:sp>
        <p:nvSpPr>
          <p:cNvPr id="25" name="Rectangle 24"/>
          <p:cNvSpPr/>
          <p:nvPr/>
        </p:nvSpPr>
        <p:spPr>
          <a:xfrm>
            <a:off x="822960" y="2560320"/>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2633472"/>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G1  Alone at home</a:t>
            </a:r>
            <a:r>
              <a:rPr sz="1500" b="0">
                <a:solidFill>
                  <a:srgbClr val="2B2020"/>
                </a:solidFill>
                <a:latin typeface="ITC Avant Garde Gothic"/>
              </a:rPr>
              <a:t/>
            </a:r>
          </a:p>
          <a:p>
            <a:pPr algn="l">
              <a:spcAft>
                <a:spcPts val="675"/>
              </a:spcAft>
            </a:pPr>
            <a:r>
              <a:rPr sz="1500" b="0">
                <a:solidFill>
                  <a:srgbClr val="2B2020"/>
                </a:solidFill>
                <a:latin typeface="ITC Avant Garde Gothic"/>
              </a:rPr>
              <a:t>Family is away at work all day.</a:t>
            </a:r>
          </a:p>
        </p:txBody>
      </p:sp>
      <p:sp>
        <p:nvSpPr>
          <p:cNvPr id="27" name="Right Arrow 26"/>
          <p:cNvSpPr/>
          <p:nvPr/>
        </p:nvSpPr>
        <p:spPr>
          <a:xfrm>
            <a:off x="8138160" y="3035808"/>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81160" y="2560320"/>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55480" y="2633472"/>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Companion + telemonitoring</a:t>
            </a:r>
          </a:p>
          <a:p>
            <a:pPr algn="l">
              <a:spcAft>
                <a:spcPts val="675"/>
              </a:spcAft>
            </a:pPr>
            <a:r>
              <a:rPr sz="1500" b="0">
                <a:solidFill>
                  <a:srgbClr val="FFFFFF"/>
                </a:solidFill>
                <a:latin typeface="ITC Avant Garde Gothic"/>
              </a:rPr>
              <a:t>Reminders, company, family reports.</a:t>
            </a:r>
          </a:p>
        </p:txBody>
      </p:sp>
      <p:sp>
        <p:nvSpPr>
          <p:cNvPr id="30" name="Rectangle 29"/>
          <p:cNvSpPr/>
          <p:nvPr/>
        </p:nvSpPr>
        <p:spPr>
          <a:xfrm>
            <a:off x="822960" y="4215383"/>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4288536"/>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G2  Falls unnoticed</a:t>
            </a:r>
            <a:r>
              <a:rPr sz="1500" b="0">
                <a:solidFill>
                  <a:srgbClr val="2B2020"/>
                </a:solidFill>
                <a:latin typeface="ITC Avant Garde Gothic"/>
              </a:rPr>
              <a:t/>
            </a:r>
          </a:p>
          <a:p>
            <a:pPr algn="l">
              <a:spcAft>
                <a:spcPts val="675"/>
              </a:spcAft>
            </a:pPr>
            <a:r>
              <a:rPr sz="1500" b="0">
                <a:solidFill>
                  <a:srgbClr val="2B2020"/>
                </a:solidFill>
                <a:latin typeface="ITC Avant Garde Gothic"/>
              </a:rPr>
              <a:t>The older adult may not reach a phone.</a:t>
            </a:r>
          </a:p>
        </p:txBody>
      </p:sp>
      <p:sp>
        <p:nvSpPr>
          <p:cNvPr id="32" name="Right Arrow 31"/>
          <p:cNvSpPr/>
          <p:nvPr/>
        </p:nvSpPr>
        <p:spPr>
          <a:xfrm>
            <a:off x="8138160" y="4690871"/>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81160" y="4215383"/>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4288536"/>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Threshold fall detection</a:t>
            </a:r>
          </a:p>
          <a:p>
            <a:pPr algn="l">
              <a:spcAft>
                <a:spcPts val="675"/>
              </a:spcAft>
            </a:pPr>
            <a:r>
              <a:rPr sz="1500" b="0">
                <a:solidFill>
                  <a:srgbClr val="FFFFFF"/>
                </a:solidFill>
                <a:latin typeface="ITC Avant Garde Gothic"/>
              </a:rPr>
              <a:t>Pendant alerts the family in seconds.</a:t>
            </a:r>
          </a:p>
        </p:txBody>
      </p:sp>
      <p:sp>
        <p:nvSpPr>
          <p:cNvPr id="35" name="Rectangle 34"/>
          <p:cNvSpPr/>
          <p:nvPr/>
        </p:nvSpPr>
        <p:spPr>
          <a:xfrm>
            <a:off x="822960" y="5870448"/>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5943600"/>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G3  Robots can scare</a:t>
            </a:r>
            <a:r>
              <a:rPr sz="1500" b="0">
                <a:solidFill>
                  <a:srgbClr val="2B2020"/>
                </a:solidFill>
                <a:latin typeface="ITC Avant Garde Gothic"/>
              </a:rPr>
              <a:t/>
            </a:r>
          </a:p>
          <a:p>
            <a:pPr algn="l">
              <a:spcAft>
                <a:spcPts val="675"/>
              </a:spcAft>
            </a:pPr>
            <a:r>
              <a:rPr sz="1500" b="0">
                <a:solidFill>
                  <a:srgbClr val="2B2020"/>
                </a:solidFill>
                <a:latin typeface="ITC Avant Garde Gothic"/>
              </a:rPr>
              <a:t>Rigid moving machines in small homes.</a:t>
            </a:r>
          </a:p>
        </p:txBody>
      </p:sp>
      <p:sp>
        <p:nvSpPr>
          <p:cNvPr id="37" name="Right Arrow 36"/>
          <p:cNvSpPr/>
          <p:nvPr/>
        </p:nvSpPr>
        <p:spPr>
          <a:xfrm>
            <a:off x="8138160" y="6345936"/>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281160" y="5870448"/>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55480" y="5943600"/>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Soft body + plain face</a:t>
            </a:r>
          </a:p>
          <a:p>
            <a:pPr algn="l">
              <a:spcAft>
                <a:spcPts val="675"/>
              </a:spcAft>
            </a:pPr>
            <a:r>
              <a:rPr sz="1500" b="0">
                <a:solidFill>
                  <a:srgbClr val="FFFFFF"/>
                </a:solidFill>
                <a:latin typeface="ITC Avant Garde Gothic"/>
              </a:rPr>
              <a:t>Air body, 0.2 m/s, simple face.</a:t>
            </a:r>
          </a:p>
        </p:txBody>
      </p:sp>
      <p:sp>
        <p:nvSpPr>
          <p:cNvPr id="40" name="Rectangle 39"/>
          <p:cNvSpPr/>
          <p:nvPr/>
        </p:nvSpPr>
        <p:spPr>
          <a:xfrm>
            <a:off x="822960" y="7525512"/>
            <a:ext cx="7178040" cy="1499616"/>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7598664"/>
            <a:ext cx="6675120" cy="1353312"/>
          </a:xfrm>
          <a:prstGeom prst="rect">
            <a:avLst/>
          </a:prstGeom>
          <a:noFill/>
        </p:spPr>
        <p:txBody>
          <a:bodyPr wrap="square" anchor="t">
            <a:spAutoFit/>
          </a:bodyPr>
          <a:lstStyle/>
          <a:p>
            <a:pPr algn="l">
              <a:spcAft>
                <a:spcPts val="675"/>
              </a:spcAft>
            </a:pPr>
            <a:r>
              <a:rPr b="1" sz="1500">
                <a:solidFill>
                  <a:srgbClr val="8B0707"/>
                </a:solidFill>
                <a:latin typeface="ITC Avant Garde Gothic"/>
              </a:rPr>
              <a:t>G4  Cheap sensors vary</a:t>
            </a:r>
            <a:r>
              <a:rPr sz="1500" b="0">
                <a:solidFill>
                  <a:srgbClr val="2B2020"/>
                </a:solidFill>
                <a:latin typeface="ITC Avant Garde Gothic"/>
              </a:rPr>
              <a:t/>
            </a:r>
          </a:p>
          <a:p>
            <a:pPr algn="l">
              <a:spcAft>
                <a:spcPts val="675"/>
              </a:spcAft>
            </a:pPr>
            <a:r>
              <a:rPr sz="1500" b="0">
                <a:solidFill>
                  <a:srgbClr val="2B2020"/>
                </a:solidFill>
                <a:latin typeface="ITC Avant Garde Gothic"/>
              </a:rPr>
              <a:t>Low-cost modules are rarely validated.</a:t>
            </a:r>
          </a:p>
        </p:txBody>
      </p:sp>
      <p:sp>
        <p:nvSpPr>
          <p:cNvPr id="42" name="Right Arrow 41"/>
          <p:cNvSpPr/>
          <p:nvPr/>
        </p:nvSpPr>
        <p:spPr>
          <a:xfrm>
            <a:off x="8138160" y="8001000"/>
            <a:ext cx="1005840" cy="54864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281160" y="7525512"/>
            <a:ext cx="8183879" cy="1499616"/>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7598664"/>
            <a:ext cx="7680960" cy="1353312"/>
          </a:xfrm>
          <a:prstGeom prst="rect">
            <a:avLst/>
          </a:prstGeom>
          <a:noFill/>
        </p:spPr>
        <p:txBody>
          <a:bodyPr wrap="square" anchor="t">
            <a:spAutoFit/>
          </a:bodyPr>
          <a:lstStyle/>
          <a:p>
            <a:pPr algn="l">
              <a:spcAft>
                <a:spcPts val="675"/>
              </a:spcAft>
            </a:pPr>
            <a:r>
              <a:rPr sz="1500" b="0">
                <a:solidFill>
                  <a:srgbClr val="FFFFFF"/>
                </a:solidFill>
                <a:latin typeface="ITC Avant Garde Gothic"/>
              </a:rPr>
              <a:t>PPG, IR + agreement</a:t>
            </a:r>
          </a:p>
          <a:p>
            <a:pPr algn="l">
              <a:spcAft>
                <a:spcPts val="675"/>
              </a:spcAft>
            </a:pPr>
            <a:r>
              <a:rPr sz="1500" b="0">
                <a:solidFill>
                  <a:srgbClr val="FFFFFF"/>
                </a:solidFill>
                <a:latin typeface="ITC Avant Garde Gothic"/>
              </a:rPr>
              <a:t>Calibrate, then Bland–Altman test.</a:t>
            </a:r>
          </a:p>
        </p:txBody>
      </p:sp>
      <p:sp>
        <p:nvSpPr>
          <p:cNvPr id="45" name="TextBox 44"/>
          <p:cNvSpPr txBox="1"/>
          <p:nvPr/>
        </p:nvSpPr>
        <p:spPr>
          <a:xfrm>
            <a:off x="822960" y="918972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Figure 1. Research gaps (left) and the theories and concepts used to address them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292608"/>
            <a:ext cx="17376398" cy="777240"/>
          </a:xfrm>
          <a:prstGeom prst="rect">
            <a:avLst/>
          </a:prstGeom>
        </p:spPr>
        <p:txBody>
          <a:bodyPr anchor="t" rtlCol="false" tIns="0" lIns="0" bIns="0" rIns="0">
            <a:spAutoFit/>
          </a:bodyPr>
          <a:lstStyle/>
          <a:p>
            <a:pPr algn="l">
              <a:lnSpc>
                <a:spcPts val="7720"/>
              </a:lnSpc>
            </a:pPr>
            <a:r>
              <a:rPr lang="en-US" sz="4000">
                <a:solidFill>
                  <a:srgbClr val="FFFFFF"/>
                </a:solidFill>
                <a:latin typeface="ITC Avant Garde Gothic"/>
                <a:ea typeface="ITC Avant Garde Gothic"/>
                <a:cs typeface="ITC Avant Garde Gothic"/>
                <a:sym typeface="ITC Avant Garde Gothic"/>
              </a:rPr>
              <a:t>THEORETICAL/CONCEPTUAL FRAMEWORK PARADIGM</a:t>
            </a:r>
          </a:p>
        </p:txBody>
      </p:sp>
      <p:sp>
        <p:nvSpPr>
          <p:cNvPr id="21" name="Subtitle"/>
          <p:cNvSpPr txBox="1"/>
          <p:nvPr/>
        </p:nvSpPr>
        <p:spPr>
          <a:xfrm>
            <a:off x="210312" y="1097280"/>
            <a:ext cx="17373600" cy="45720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000" dirty="0">
                <a:solidFill>
                  <a:srgbClr val="FFFFFF">
                    <a:alpha val="92000"/>
                  </a:srgbClr>
                </a:solidFill>
                <a:latin typeface="ITC Avant Garde Gothic"/>
                <a:ea typeface="ITC Avant Garde Gothic"/>
                <a:cs typeface="ITC Avant Garde Gothic"/>
                <a:sym typeface="ITC Avant Garde Gothic"/>
              </a:rPr>
              <a:t>Conceptual Paradigm</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6</a:t>
            </a:r>
            <a:endParaRPr lang="en-US" sz="1600" dirty="0">
              <a:latin typeface="ITC Avant Garde Gothic"/>
            </a:endParaRPr>
          </a:p>
        </p:txBody>
      </p:sp>
      <p:sp>
        <p:nvSpPr>
          <p:cNvPr id="23" name="Rectangle 22"/>
          <p:cNvSpPr/>
          <p:nvPr/>
        </p:nvSpPr>
        <p:spPr>
          <a:xfrm>
            <a:off x="822960" y="2103120"/>
            <a:ext cx="4754880" cy="621792"/>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ITC Avant Garde Gothic"/>
              </a:rPr>
              <a:t>INPUT</a:t>
            </a:r>
          </a:p>
        </p:txBody>
      </p:sp>
      <p:sp>
        <p:nvSpPr>
          <p:cNvPr id="24" name="Rectangle 23"/>
          <p:cNvSpPr/>
          <p:nvPr/>
        </p:nvSpPr>
        <p:spPr>
          <a:xfrm>
            <a:off x="822960" y="2724912"/>
            <a:ext cx="4754880" cy="5230368"/>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2999232"/>
            <a:ext cx="4251960" cy="4773168"/>
          </a:xfrm>
          <a:prstGeom prst="rect">
            <a:avLst/>
          </a:prstGeom>
          <a:noFill/>
        </p:spPr>
        <p:txBody>
          <a:bodyPr wrap="square" anchor="t">
            <a:spAutoFit/>
          </a:bodyPr>
          <a:lstStyle/>
          <a:p>
            <a:pPr algn="l">
              <a:spcAft>
                <a:spcPts val="720"/>
              </a:spcAft>
            </a:pPr>
            <a:r>
              <a:rPr sz="1600" b="0">
                <a:solidFill>
                  <a:srgbClr val="2B2020"/>
                </a:solidFill>
                <a:latin typeface="ITC Avant Garde Gothic"/>
              </a:rPr>
              <a:t>•  Soft body, fan, wheeled base, motors</a:t>
            </a:r>
          </a:p>
          <a:p>
            <a:pPr algn="l">
              <a:spcAft>
                <a:spcPts val="720"/>
              </a:spcAft>
            </a:pPr>
            <a:r>
              <a:rPr sz="1600" b="0">
                <a:solidFill>
                  <a:srgbClr val="2B2020"/>
                </a:solidFill>
                <a:latin typeface="ITC Avant Garde Gothic"/>
              </a:rPr>
              <a:t>•  ESP32, line sensor, HC-SR04, bumper</a:t>
            </a:r>
          </a:p>
          <a:p>
            <a:pPr algn="l">
              <a:spcAft>
                <a:spcPts val="720"/>
              </a:spcAft>
            </a:pPr>
            <a:r>
              <a:rPr sz="1600" b="0">
                <a:solidFill>
                  <a:srgbClr val="2B2020"/>
                </a:solidFill>
                <a:latin typeface="ITC Avant Garde Gothic"/>
              </a:rPr>
              <a:t>•  MLX90614, MAX30102, OLED, voice, dial</a:t>
            </a:r>
          </a:p>
          <a:p>
            <a:pPr algn="l">
              <a:spcAft>
                <a:spcPts val="720"/>
              </a:spcAft>
            </a:pPr>
            <a:r>
              <a:rPr sz="1600" b="0">
                <a:solidFill>
                  <a:srgbClr val="2B2020"/>
                </a:solidFill>
                <a:latin typeface="ITC Avant Garde Gothic"/>
              </a:rPr>
              <a:t>•  Pendant: ESP32-C3 + MPU6050</a:t>
            </a:r>
          </a:p>
          <a:p>
            <a:pPr algn="l">
              <a:spcAft>
                <a:spcPts val="720"/>
              </a:spcAft>
            </a:pPr>
            <a:r>
              <a:rPr sz="1600" b="0">
                <a:solidFill>
                  <a:srgbClr val="2B2020"/>
                </a:solidFill>
                <a:latin typeface="ITC Avant Garde Gothic"/>
              </a:rPr>
              <a:t>•  Wi-Fi, Telegram; reference instruments</a:t>
            </a:r>
          </a:p>
        </p:txBody>
      </p:sp>
      <p:sp>
        <p:nvSpPr>
          <p:cNvPr id="26" name="Rectangle 25"/>
          <p:cNvSpPr/>
          <p:nvPr/>
        </p:nvSpPr>
        <p:spPr>
          <a:xfrm>
            <a:off x="6263640" y="2103120"/>
            <a:ext cx="5760720" cy="621792"/>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ITC Avant Garde Gothic"/>
              </a:rPr>
              <a:t>PROCESS</a:t>
            </a:r>
          </a:p>
        </p:txBody>
      </p:sp>
      <p:sp>
        <p:nvSpPr>
          <p:cNvPr id="27" name="Rectangle 26"/>
          <p:cNvSpPr/>
          <p:nvPr/>
        </p:nvSpPr>
        <p:spPr>
          <a:xfrm>
            <a:off x="6263640" y="2724912"/>
            <a:ext cx="5760720" cy="5230368"/>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59" y="2999232"/>
            <a:ext cx="5257800" cy="4773168"/>
          </a:xfrm>
          <a:prstGeom prst="rect">
            <a:avLst/>
          </a:prstGeom>
          <a:noFill/>
        </p:spPr>
        <p:txBody>
          <a:bodyPr wrap="square" anchor="t">
            <a:spAutoFit/>
          </a:bodyPr>
          <a:lstStyle/>
          <a:p>
            <a:pPr algn="l">
              <a:spcAft>
                <a:spcPts val="720"/>
              </a:spcAft>
            </a:pPr>
            <a:r>
              <a:rPr sz="1600" b="0">
                <a:solidFill>
                  <a:srgbClr val="2B2020"/>
                </a:solidFill>
                <a:latin typeface="ITC Avant Garde Gothic"/>
              </a:rPr>
              <a:t>1.  Sew the body; build the wheeled base</a:t>
            </a:r>
          </a:p>
          <a:p>
            <a:pPr algn="l">
              <a:spcAft>
                <a:spcPts val="720"/>
              </a:spcAft>
            </a:pPr>
            <a:r>
              <a:rPr sz="1600" b="0">
                <a:solidFill>
                  <a:srgbClr val="2B2020"/>
                </a:solidFill>
                <a:latin typeface="ITC Avant Garde Gothic"/>
              </a:rPr>
              <a:t>2.  Wire and program robot and pendant</a:t>
            </a:r>
          </a:p>
          <a:p>
            <a:pPr algn="l">
              <a:spcAft>
                <a:spcPts val="720"/>
              </a:spcAft>
            </a:pPr>
            <a:r>
              <a:rPr sz="1600" b="0">
                <a:solidFill>
                  <a:srgbClr val="2B2020"/>
                </a:solidFill>
                <a:latin typeface="ITC Avant Garde Gothic"/>
              </a:rPr>
              <a:t>3.  Tape the mock-home route</a:t>
            </a:r>
          </a:p>
          <a:p>
            <a:pPr algn="l">
              <a:spcAft>
                <a:spcPts val="720"/>
              </a:spcAft>
            </a:pPr>
            <a:r>
              <a:rPr sz="1600" b="0">
                <a:solidFill>
                  <a:srgbClr val="2B2020"/>
                </a:solidFill>
                <a:latin typeface="ITC Avant Garde Gothic"/>
              </a:rPr>
              <a:t>4.  Calibrate sensors and fall rule</a:t>
            </a:r>
          </a:p>
          <a:p>
            <a:pPr algn="l">
              <a:spcAft>
                <a:spcPts val="720"/>
              </a:spcAft>
            </a:pPr>
            <a:r>
              <a:rPr sz="1600" b="0">
                <a:solidFill>
                  <a:srgbClr val="2B2020"/>
                </a:solidFill>
                <a:latin typeface="ITC Avant Garde Gothic"/>
              </a:rPr>
              <a:t>5.  Navigation, health, fall, reminder tests</a:t>
            </a:r>
          </a:p>
          <a:p>
            <a:pPr algn="l">
              <a:spcAft>
                <a:spcPts val="720"/>
              </a:spcAft>
            </a:pPr>
            <a:r>
              <a:rPr sz="1600" b="0">
                <a:solidFill>
                  <a:srgbClr val="2B2020"/>
                </a:solidFill>
                <a:latin typeface="ITC Avant Garde Gothic"/>
              </a:rPr>
              <a:t>6.  Usability (soft vs rigid); statistics</a:t>
            </a:r>
          </a:p>
        </p:txBody>
      </p:sp>
      <p:sp>
        <p:nvSpPr>
          <p:cNvPr id="29" name="Rectangle 28"/>
          <p:cNvSpPr/>
          <p:nvPr/>
        </p:nvSpPr>
        <p:spPr>
          <a:xfrm>
            <a:off x="12710160" y="2103120"/>
            <a:ext cx="4754880" cy="621792"/>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ITC Avant Garde Gothic"/>
              </a:rPr>
              <a:t>OUTPUT</a:t>
            </a:r>
          </a:p>
        </p:txBody>
      </p:sp>
      <p:sp>
        <p:nvSpPr>
          <p:cNvPr id="30" name="Rectangle 29"/>
          <p:cNvSpPr/>
          <p:nvPr/>
        </p:nvSpPr>
        <p:spPr>
          <a:xfrm>
            <a:off x="12710160" y="2724912"/>
            <a:ext cx="4754880" cy="5230368"/>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84480" y="2999232"/>
            <a:ext cx="4251960" cy="4773168"/>
          </a:xfrm>
          <a:prstGeom prst="rect">
            <a:avLst/>
          </a:prstGeom>
          <a:noFill/>
        </p:spPr>
        <p:txBody>
          <a:bodyPr wrap="square" anchor="t">
            <a:spAutoFit/>
          </a:bodyPr>
          <a:lstStyle/>
          <a:p>
            <a:pPr algn="l">
              <a:spcAft>
                <a:spcPts val="720"/>
              </a:spcAft>
            </a:pPr>
            <a:r>
              <a:rPr sz="1600" b="0">
                <a:solidFill>
                  <a:srgbClr val="2B2020"/>
                </a:solidFill>
                <a:latin typeface="ITC Avant Garde Gothic"/>
              </a:rPr>
              <a:t>•  ALAGA robot and pendant</a:t>
            </a:r>
          </a:p>
          <a:p>
            <a:pPr algn="l">
              <a:spcAft>
                <a:spcPts val="720"/>
              </a:spcAft>
            </a:pPr>
            <a:r>
              <a:rPr sz="1600" b="0">
                <a:solidFill>
                  <a:srgbClr val="2B2020"/>
                </a:solidFill>
                <a:latin typeface="ITC Avant Garde Gothic"/>
              </a:rPr>
              <a:t>•  Arrival rate, stop distance</a:t>
            </a:r>
          </a:p>
          <a:p>
            <a:pPr algn="l">
              <a:spcAft>
                <a:spcPts val="720"/>
              </a:spcAft>
            </a:pPr>
            <a:r>
              <a:rPr sz="1600" b="0">
                <a:solidFill>
                  <a:srgbClr val="2B2020"/>
                </a:solidFill>
                <a:latin typeface="ITC Avant Garde Gothic"/>
              </a:rPr>
              <a:t>•  Bias, limits of agreement, Arms</a:t>
            </a:r>
          </a:p>
          <a:p>
            <a:pPr algn="l">
              <a:spcAft>
                <a:spcPts val="720"/>
              </a:spcAft>
            </a:pPr>
            <a:r>
              <a:rPr sz="1600" b="0">
                <a:solidFill>
                  <a:srgbClr val="2B2020"/>
                </a:solidFill>
                <a:latin typeface="ITC Avant Garde Gothic"/>
              </a:rPr>
              <a:t>•  Fall sensitivity, specificity, alert time</a:t>
            </a:r>
          </a:p>
          <a:p>
            <a:pPr algn="l">
              <a:spcAft>
                <a:spcPts val="720"/>
              </a:spcAft>
            </a:pPr>
            <a:r>
              <a:rPr sz="1600" b="0">
                <a:solidFill>
                  <a:srgbClr val="2B2020"/>
                </a:solidFill>
                <a:latin typeface="ITC Avant Garde Gothic"/>
              </a:rPr>
              <a:t>•  Reminder punctuality; SUS</a:t>
            </a:r>
          </a:p>
          <a:p>
            <a:pPr algn="l">
              <a:spcAft>
                <a:spcPts val="720"/>
              </a:spcAft>
            </a:pPr>
            <a:r>
              <a:rPr sz="1600" b="0">
                <a:solidFill>
                  <a:srgbClr val="2B2020"/>
                </a:solidFill>
                <a:latin typeface="ITC Avant Garde Gothic"/>
              </a:rPr>
              <a:t>•  Cost per unit and per day</a:t>
            </a:r>
          </a:p>
        </p:txBody>
      </p:sp>
      <p:sp>
        <p:nvSpPr>
          <p:cNvPr id="32" name="Right Arrow 31"/>
          <p:cNvSpPr/>
          <p:nvPr/>
        </p:nvSpPr>
        <p:spPr>
          <a:xfrm>
            <a:off x="5715000" y="4956048"/>
            <a:ext cx="548640" cy="768096"/>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12161520" y="4956048"/>
            <a:ext cx="548640" cy="768096"/>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15087600" y="7955279"/>
            <a:ext cx="0" cy="493777"/>
          </a:xfrm>
          <a:prstGeom prst="line">
            <a:avLst/>
          </a:prstGeom>
          <a:ln w="25400">
            <a:solidFill>
              <a:srgbClr val="8B0707"/>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3200400" y="8449056"/>
            <a:ext cx="11887200" cy="0"/>
          </a:xfrm>
          <a:prstGeom prst="line">
            <a:avLst/>
          </a:prstGeom>
          <a:ln w="25400">
            <a:solidFill>
              <a:srgbClr val="8B0707"/>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00400" y="7973568"/>
            <a:ext cx="0" cy="475488"/>
          </a:xfrm>
          <a:prstGeom prst="line">
            <a:avLst/>
          </a:prstGeom>
          <a:ln w="25400">
            <a:solidFill>
              <a:srgbClr val="8B0707"/>
            </a:solidFill>
            <a:prstDash val="dash"/>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212080" y="8202168"/>
            <a:ext cx="7863840" cy="493776"/>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r>
              <a:rPr sz="1400" i="1" b="0">
                <a:solidFill>
                  <a:srgbClr val="8B0707"/>
                </a:solidFill>
                <a:latin typeface="ITC Avant Garde Gothic"/>
              </a:rPr>
              <a:t>Feedback: results tune the calibration, fall thresholds, and speed</a:t>
            </a:r>
          </a:p>
        </p:txBody>
      </p:sp>
      <p:sp>
        <p:nvSpPr>
          <p:cNvPr id="38" name="TextBox 37"/>
          <p:cNvSpPr txBox="1"/>
          <p:nvPr/>
        </p:nvSpPr>
        <p:spPr>
          <a:xfrm>
            <a:off x="822960" y="896112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Figure 2. Conceptual paradigm of the study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6000">
                <a:solidFill>
                  <a:srgbClr val="FFFFFF"/>
                </a:solidFill>
                <a:latin typeface="ITC Avant Garde Gothic"/>
                <a:ea typeface="ITC Avant Garde Gothic"/>
                <a:cs typeface="ITC Avant Garde Gothic"/>
                <a:sym typeface="ITC Avant Garde Gothic"/>
              </a:rPr>
              <a:t>SIGNIFICANCE OF THE STUDY</a:t>
            </a: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7</a:t>
            </a:r>
            <a:endParaRPr lang="en-US" sz="1600" dirty="0">
              <a:latin typeface="ITC Avant Garde Gothic"/>
            </a:endParaRPr>
          </a:p>
        </p:txBody>
      </p:sp>
      <p:sp>
        <p:nvSpPr>
          <p:cNvPr id="23" name="Rectangle 22"/>
          <p:cNvSpPr/>
          <p:nvPr/>
        </p:nvSpPr>
        <p:spPr>
          <a:xfrm>
            <a:off x="822960" y="2103120"/>
            <a:ext cx="16642080" cy="65379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2514600"/>
            <a:ext cx="7680960" cy="5989320"/>
          </a:xfrm>
          <a:prstGeom prst="rect">
            <a:avLst/>
          </a:prstGeom>
          <a:noFill/>
        </p:spPr>
        <p:txBody>
          <a:bodyPr wrap="square" anchor="t">
            <a:spAutoFit/>
          </a:bodyPr>
          <a:lstStyle/>
          <a:p>
            <a:pPr algn="l">
              <a:spcAft>
                <a:spcPts val="900"/>
              </a:spcAft>
            </a:pPr>
            <a:r>
              <a:rPr b="1" sz="2000">
                <a:solidFill>
                  <a:srgbClr val="8B0707"/>
                </a:solidFill>
                <a:latin typeface="ITC Avant Garde Gothic"/>
              </a:rPr>
              <a:t>Older adults.</a:t>
            </a:r>
            <a:r>
              <a:rPr sz="2000" b="0">
                <a:solidFill>
                  <a:srgbClr val="2B2020"/>
                </a:solidFill>
                <a:latin typeface="ITC Avant Garde Gothic"/>
              </a:rPr>
              <a:t> Reminders, health checks, company, and a quick way to call for help when alone.</a:t>
            </a:r>
          </a:p>
          <a:p>
            <a:pPr algn="l">
              <a:spcAft>
                <a:spcPts val="900"/>
              </a:spcAft>
            </a:pPr>
            <a:r>
              <a:rPr b="1" sz="2000">
                <a:solidFill>
                  <a:srgbClr val="8B0707"/>
                </a:solidFill>
                <a:latin typeface="ITC Avant Garde Gothic"/>
              </a:rPr>
              <a:t>Working families and OFWs.</a:t>
            </a:r>
            <a:r>
              <a:rPr sz="2000" b="0">
                <a:solidFill>
                  <a:srgbClr val="2B2020"/>
                </a:solidFill>
                <a:latin typeface="ITC Avant Garde Gothic"/>
              </a:rPr>
              <a:t> Reports and alerts on their phones; a check-in any time.</a:t>
            </a:r>
          </a:p>
          <a:p>
            <a:pPr algn="l">
              <a:spcAft>
                <a:spcPts val="900"/>
              </a:spcAft>
            </a:pPr>
            <a:r>
              <a:rPr b="1" sz="2000">
                <a:solidFill>
                  <a:srgbClr val="8B0707"/>
                </a:solidFill>
                <a:latin typeface="ITC Avant Garde Gothic"/>
              </a:rPr>
              <a:t>Barangay health workers and OSCA.</a:t>
            </a:r>
            <a:r>
              <a:rPr sz="2000" b="0">
                <a:solidFill>
                  <a:srgbClr val="2B2020"/>
                </a:solidFill>
                <a:latin typeface="ITC Avant Garde Gothic"/>
              </a:rPr>
              <a:t> A low-cost aid for seniors who are alone by day.</a:t>
            </a:r>
          </a:p>
        </p:txBody>
      </p:sp>
      <p:sp>
        <p:nvSpPr>
          <p:cNvPr id="25" name="TextBox 24"/>
          <p:cNvSpPr txBox="1"/>
          <p:nvPr/>
        </p:nvSpPr>
        <p:spPr>
          <a:xfrm>
            <a:off x="9326880" y="2514600"/>
            <a:ext cx="7680960" cy="5989320"/>
          </a:xfrm>
          <a:prstGeom prst="rect">
            <a:avLst/>
          </a:prstGeom>
          <a:noFill/>
        </p:spPr>
        <p:txBody>
          <a:bodyPr wrap="square" anchor="t">
            <a:spAutoFit/>
          </a:bodyPr>
          <a:lstStyle/>
          <a:p>
            <a:pPr algn="l">
              <a:spcAft>
                <a:spcPts val="900"/>
              </a:spcAft>
            </a:pPr>
            <a:r>
              <a:rPr b="1" sz="2000">
                <a:solidFill>
                  <a:srgbClr val="8B0707"/>
                </a:solidFill>
                <a:latin typeface="ITC Avant Garde Gothic"/>
              </a:rPr>
              <a:t>Schools and LGUs.</a:t>
            </a:r>
            <a:r>
              <a:rPr sz="2000" b="0">
                <a:solidFill>
                  <a:srgbClr val="2B2020"/>
                </a:solidFill>
                <a:latin typeface="ITC Avant Garde Gothic"/>
              </a:rPr>
              <a:t> A local, repairable design that can be built by students.</a:t>
            </a:r>
          </a:p>
          <a:p>
            <a:pPr algn="l">
              <a:spcAft>
                <a:spcPts val="900"/>
              </a:spcAft>
            </a:pPr>
            <a:r>
              <a:rPr b="1" sz="2000">
                <a:solidFill>
                  <a:srgbClr val="8B0707"/>
                </a:solidFill>
                <a:latin typeface="ITC Avant Garde Gothic"/>
              </a:rPr>
              <a:t>Future researchers.</a:t>
            </a:r>
            <a:r>
              <a:rPr sz="2000" b="0">
                <a:solidFill>
                  <a:srgbClr val="2B2020"/>
                </a:solidFill>
                <a:latin typeface="ITC Avant Garde Gothic"/>
              </a:rPr>
              <a:t> A tested open design and a way to validate low-cost sensors.</a:t>
            </a:r>
          </a:p>
        </p:txBody>
      </p:sp>
      <p:cxnSp>
        <p:nvCxnSpPr>
          <p:cNvPr id="26" name="Connector 25"/>
          <p:cNvCxnSpPr/>
          <p:nvPr/>
        </p:nvCxnSpPr>
        <p:spPr>
          <a:xfrm>
            <a:off x="9144000" y="2606040"/>
            <a:ext cx="0" cy="5532120"/>
          </a:xfrm>
          <a:prstGeom prst="line">
            <a:avLst/>
          </a:prstGeom>
          <a:ln>
            <a:solidFill>
              <a:srgbClr val="E3C9C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22960" y="8823960"/>
            <a:ext cx="16642080" cy="457200"/>
          </a:xfrm>
          <a:prstGeom prst="rect">
            <a:avLst/>
          </a:prstGeom>
          <a:noFill/>
        </p:spPr>
        <p:txBody>
          <a:bodyPr wrap="square" anchor="t">
            <a:spAutoFit/>
          </a:bodyPr>
          <a:lstStyle/>
          <a:p>
            <a:pPr algn="ctr">
              <a:spcAft>
                <a:spcPts val="720"/>
              </a:spcAft>
            </a:pPr>
            <a:r>
              <a:rPr sz="1600" b="0">
                <a:solidFill>
                  <a:srgbClr val="6A5656"/>
                </a:solidFill>
                <a:latin typeface="ITC Avant Garde Gothic"/>
              </a:rPr>
              <a:t>The study supports SDG 3 (good health), SDG 9 (innovation), and SDG 10 (reduced inequalities).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6000">
                <a:solidFill>
                  <a:srgbClr val="FFFFFF"/>
                </a:solidFill>
                <a:latin typeface="ITC Avant Garde Gothic"/>
                <a:ea typeface="ITC Avant Garde Gothic"/>
                <a:cs typeface="ITC Avant Garde Gothic"/>
                <a:sym typeface="ITC Avant Garde Gothic"/>
              </a:rPr>
              <a:t>OBJECTIVES OF THE STUDY / SOP</a:t>
            </a: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8</a:t>
            </a:r>
            <a:endParaRPr lang="en-US" sz="1600" dirty="0">
              <a:latin typeface="ITC Avant Garde Gothic"/>
            </a:endParaRPr>
          </a:p>
        </p:txBody>
      </p:sp>
      <p:sp>
        <p:nvSpPr>
          <p:cNvPr id="23" name="Rectangle 22"/>
          <p:cNvSpPr/>
          <p:nvPr/>
        </p:nvSpPr>
        <p:spPr>
          <a:xfrm>
            <a:off x="822960" y="2103120"/>
            <a:ext cx="16642080" cy="1600200"/>
          </a:xfrm>
          <a:prstGeom prst="rect">
            <a:avLst/>
          </a:prstGeom>
          <a:solidFill>
            <a:srgbClr val="F8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2176272"/>
            <a:ext cx="15819120" cy="1463040"/>
          </a:xfrm>
          <a:prstGeom prst="rect">
            <a:avLst/>
          </a:prstGeom>
          <a:noFill/>
        </p:spPr>
        <p:txBody>
          <a:bodyPr wrap="square" anchor="ctr">
            <a:spAutoFit/>
          </a:bodyPr>
          <a:lstStyle/>
          <a:p>
            <a:pPr algn="l">
              <a:spcAft>
                <a:spcPts val="855"/>
              </a:spcAft>
            </a:pPr>
            <a:r>
              <a:rPr b="1" sz="1900">
                <a:solidFill>
                  <a:srgbClr val="8B0707"/>
                </a:solidFill>
                <a:latin typeface="ITC Avant Garde Gothic"/>
              </a:rPr>
              <a:t>General objective.</a:t>
            </a:r>
            <a:r>
              <a:rPr sz="1900" b="0">
                <a:solidFill>
                  <a:srgbClr val="2B2020"/>
                </a:solidFill>
                <a:latin typeface="ITC Avant Garde Gothic"/>
              </a:rPr>
              <a:t> This study aimed to design, build, and evaluate ALAGA, a low-cost wheeled soft inflatable companion robot that watches over an older adult at home while the family is at work.</a:t>
            </a:r>
          </a:p>
        </p:txBody>
      </p:sp>
      <p:sp>
        <p:nvSpPr>
          <p:cNvPr id="25" name="TextBox 24"/>
          <p:cNvSpPr txBox="1"/>
          <p:nvPr/>
        </p:nvSpPr>
        <p:spPr>
          <a:xfrm>
            <a:off x="822960" y="3840480"/>
            <a:ext cx="16642080" cy="457200"/>
          </a:xfrm>
          <a:prstGeom prst="rect">
            <a:avLst/>
          </a:prstGeom>
          <a:noFill/>
        </p:spPr>
        <p:txBody>
          <a:bodyPr wrap="square" anchor="t">
            <a:spAutoFit/>
          </a:bodyPr>
          <a:lstStyle/>
          <a:p>
            <a:pPr algn="l">
              <a:spcAft>
                <a:spcPts val="810"/>
              </a:spcAft>
            </a:pPr>
            <a:r>
              <a:rPr sz="1800">
                <a:solidFill>
                  <a:srgbClr val="6A5656"/>
                </a:solidFill>
                <a:latin typeface="ITC Avant Garde Gothic"/>
              </a:rPr>
              <a:t>Specifically, it seeks to answer the following questions:</a:t>
            </a:r>
          </a:p>
        </p:txBody>
      </p:sp>
      <p:sp>
        <p:nvSpPr>
          <p:cNvPr id="26" name="Rectangle 25"/>
          <p:cNvSpPr/>
          <p:nvPr/>
        </p:nvSpPr>
        <p:spPr>
          <a:xfrm>
            <a:off x="822960" y="4389120"/>
            <a:ext cx="8165592" cy="51663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308592" y="4389120"/>
            <a:ext cx="8165592" cy="51663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43000" y="4663440"/>
            <a:ext cx="7571231" cy="4754880"/>
          </a:xfrm>
          <a:prstGeom prst="rect">
            <a:avLst/>
          </a:prstGeom>
          <a:noFill/>
        </p:spPr>
        <p:txBody>
          <a:bodyPr wrap="square" anchor="t">
            <a:spAutoFit/>
          </a:bodyPr>
          <a:lstStyle/>
          <a:p>
            <a:pPr algn="l">
              <a:spcAft>
                <a:spcPts val="765"/>
              </a:spcAft>
            </a:pPr>
            <a:r>
              <a:rPr sz="1700" b="0">
                <a:solidFill>
                  <a:srgbClr val="2B2020"/>
                </a:solidFill>
                <a:latin typeface="ITC Avant Garde Gothic"/>
              </a:rPr>
              <a:t>1.  How reliably does ALAGA reach each home station (success rate, time, stopping distance)?</a:t>
            </a:r>
          </a:p>
          <a:p>
            <a:pPr algn="l">
              <a:spcAft>
                <a:spcPts val="765"/>
              </a:spcAft>
            </a:pPr>
            <a:r>
              <a:rPr sz="1700" b="0">
                <a:solidFill>
                  <a:srgbClr val="2B2020"/>
                </a:solidFill>
                <a:latin typeface="ITC Avant Garde Gothic"/>
              </a:rPr>
              <a:t>2.  How closely do its temperature, pulse rate, and SpO₂ agree with reference instruments?</a:t>
            </a:r>
          </a:p>
          <a:p>
            <a:pPr algn="l">
              <a:spcAft>
                <a:spcPts val="765"/>
              </a:spcAft>
            </a:pPr>
            <a:r>
              <a:rPr sz="1700" b="0">
                <a:solidFill>
                  <a:srgbClr val="2B2020"/>
                </a:solidFill>
                <a:latin typeface="ITC Avant Garde Gothic"/>
              </a:rPr>
              <a:t>3.  How accurately does the pendant detect falls, and how fast do alerts reach the family?</a:t>
            </a:r>
          </a:p>
        </p:txBody>
      </p:sp>
      <p:sp>
        <p:nvSpPr>
          <p:cNvPr id="29" name="TextBox 28"/>
          <p:cNvSpPr txBox="1"/>
          <p:nvPr/>
        </p:nvSpPr>
        <p:spPr>
          <a:xfrm>
            <a:off x="9628632" y="4663440"/>
            <a:ext cx="7571231" cy="4754880"/>
          </a:xfrm>
          <a:prstGeom prst="rect">
            <a:avLst/>
          </a:prstGeom>
          <a:noFill/>
        </p:spPr>
        <p:txBody>
          <a:bodyPr wrap="square" anchor="t">
            <a:spAutoFit/>
          </a:bodyPr>
          <a:lstStyle/>
          <a:p>
            <a:pPr algn="l">
              <a:spcAft>
                <a:spcPts val="765"/>
              </a:spcAft>
            </a:pPr>
            <a:r>
              <a:rPr sz="1700" b="0">
                <a:solidFill>
                  <a:srgbClr val="2B2020"/>
                </a:solidFill>
                <a:latin typeface="ITC Avant Garde Gothic"/>
              </a:rPr>
              <a:t>4.  How punctual are reminders, and what share of messages reach the family?</a:t>
            </a:r>
          </a:p>
          <a:p>
            <a:pPr algn="l">
              <a:spcAft>
                <a:spcPts val="765"/>
              </a:spcAft>
            </a:pPr>
            <a:r>
              <a:rPr sz="1700" b="0">
                <a:solidFill>
                  <a:srgbClr val="2B2020"/>
                </a:solidFill>
                <a:latin typeface="ITC Avant Garde Gothic"/>
              </a:rPr>
              <a:t>5.  How do users rate usability, and is the soft body more approachable than a rigid shell?</a:t>
            </a:r>
          </a:p>
          <a:p>
            <a:pPr algn="l">
              <a:spcAft>
                <a:spcPts val="765"/>
              </a:spcAft>
            </a:pPr>
            <a:r>
              <a:rPr sz="1700" b="0">
                <a:solidFill>
                  <a:srgbClr val="2B2020"/>
                </a:solidFill>
                <a:latin typeface="ITC Avant Garde Gothic"/>
              </a:rPr>
              <a:t>6.  How much does ALAGA cost to build and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HYPOTHESES</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Null Hypotheses</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9</a:t>
            </a:r>
            <a:endParaRPr lang="en-US" sz="1600" dirty="0">
              <a:latin typeface="ITC Avant Garde Gothic"/>
            </a:endParaRPr>
          </a:p>
        </p:txBody>
      </p:sp>
      <p:sp>
        <p:nvSpPr>
          <p:cNvPr id="23" name="TextBox 22"/>
          <p:cNvSpPr txBox="1"/>
          <p:nvPr/>
        </p:nvSpPr>
        <p:spPr>
          <a:xfrm>
            <a:off x="822960" y="2011680"/>
            <a:ext cx="16642080" cy="566928"/>
          </a:xfrm>
          <a:prstGeom prst="rect">
            <a:avLst/>
          </a:prstGeom>
          <a:noFill/>
        </p:spPr>
        <p:txBody>
          <a:bodyPr wrap="square" anchor="t">
            <a:spAutoFit/>
          </a:bodyPr>
          <a:lstStyle/>
          <a:p>
            <a:pPr algn="l">
              <a:spcAft>
                <a:spcPts val="765"/>
              </a:spcAft>
            </a:pPr>
            <a:r>
              <a:rPr sz="1700">
                <a:solidFill>
                  <a:srgbClr val="6A5656"/>
                </a:solidFill>
                <a:latin typeface="ITC Avant Garde Gothic"/>
              </a:rPr>
              <a:t>The hypotheses were stated before testing and are tested at the 0.05 level of significance.</a:t>
            </a:r>
          </a:p>
        </p:txBody>
      </p:sp>
      <p:graphicFrame>
        <p:nvGraphicFramePr>
          <p:cNvPr id="24" name="Table 23"/>
          <p:cNvGraphicFramePr>
            <a:graphicFrameLocks noGrp="1"/>
          </p:cNvGraphicFramePr>
          <p:nvPr/>
        </p:nvGraphicFramePr>
        <p:xfrm>
          <a:off x="822960" y="2670048"/>
          <a:ext cx="16642080" cy="3429000"/>
        </p:xfrm>
        <a:graphic>
          <a:graphicData uri="http://schemas.openxmlformats.org/drawingml/2006/table">
            <a:tbl>
              <a:tblPr firstRow="1" bandRow="1">
                <a:tableStyleId>{5C22544A-7EE6-4342-B048-85BDC9FD1C3A}</a:tableStyleId>
              </a:tblPr>
              <a:tblGrid>
                <a:gridCol w="1463040"/>
                <a:gridCol w="9692640"/>
                <a:gridCol w="5486400"/>
              </a:tblGrid>
              <a:tr h="502920">
                <a:tc>
                  <a:txBody>
                    <a:bodyPr/>
                    <a:lstStyle/>
                    <a:p>
                      <a:r>
                        <a:rPr sz="1800" b="1">
                          <a:solidFill>
                            <a:srgbClr val="FFFFFF"/>
                          </a:solidFill>
                          <a:latin typeface="ITC Avant Garde Gothic"/>
                        </a:rPr>
                        <a:t>Code</a:t>
                      </a:r>
                    </a:p>
                  </a:txBody>
                  <a:tcPr>
                    <a:solidFill>
                      <a:srgbClr val="8B0707"/>
                    </a:solidFill>
                  </a:tcPr>
                </a:tc>
                <a:tc>
                  <a:txBody>
                    <a:bodyPr/>
                    <a:lstStyle/>
                    <a:p>
                      <a:r>
                        <a:rPr sz="1800" b="1">
                          <a:solidFill>
                            <a:srgbClr val="FFFFFF"/>
                          </a:solidFill>
                          <a:latin typeface="ITC Avant Garde Gothic"/>
                        </a:rPr>
                        <a:t>Hypothesis</a:t>
                      </a:r>
                    </a:p>
                  </a:txBody>
                  <a:tcPr>
                    <a:solidFill>
                      <a:srgbClr val="8B0707"/>
                    </a:solidFill>
                  </a:tcPr>
                </a:tc>
                <a:tc>
                  <a:txBody>
                    <a:bodyPr/>
                    <a:lstStyle/>
                    <a:p>
                      <a:r>
                        <a:rPr sz="1800" b="1">
                          <a:solidFill>
                            <a:srgbClr val="FFFFFF"/>
                          </a:solidFill>
                          <a:latin typeface="ITC Avant Garde Gothic"/>
                        </a:rPr>
                        <a:t>Test or decision rule</a:t>
                      </a:r>
                    </a:p>
                  </a:txBody>
                  <a:tcPr>
                    <a:solidFill>
                      <a:srgbClr val="8B0707"/>
                    </a:solidFill>
                  </a:tcPr>
                </a:tc>
              </a:tr>
              <a:tr h="1463040">
                <a:tc>
                  <a:txBody>
                    <a:bodyPr/>
                    <a:lstStyle/>
                    <a:p>
                      <a:r>
                        <a:rPr sz="1800" b="0">
                          <a:solidFill>
                            <a:srgbClr val="8B0707"/>
                          </a:solidFill>
                          <a:latin typeface="ITC Avant Garde Gothic"/>
                        </a:rPr>
                        <a:t>H₀1</a:t>
                      </a:r>
                    </a:p>
                  </a:txBody>
                  <a:tcPr>
                    <a:solidFill>
                      <a:srgbClr val="FFFFFF"/>
                    </a:solidFill>
                  </a:tcPr>
                </a:tc>
                <a:tc>
                  <a:txBody>
                    <a:bodyPr/>
                    <a:lstStyle/>
                    <a:p>
                      <a:r>
                        <a:rPr sz="1800" b="0">
                          <a:solidFill>
                            <a:srgbClr val="2B2020"/>
                          </a:solidFill>
                          <a:latin typeface="ITC Avant Garde Gothic"/>
                        </a:rPr>
                        <a:t>There is no significant difference between ALAGA's readings and the reference readings for temperature, pulse rate, and SpO₂.</a:t>
                      </a:r>
                    </a:p>
                  </a:txBody>
                  <a:tcPr>
                    <a:solidFill>
                      <a:srgbClr val="FFFFFF"/>
                    </a:solidFill>
                  </a:tcPr>
                </a:tc>
                <a:tc>
                  <a:txBody>
                    <a:bodyPr/>
                    <a:lstStyle/>
                    <a:p>
                      <a:r>
                        <a:rPr sz="1800" b="0">
                          <a:solidFill>
                            <a:srgbClr val="2B2020"/>
                          </a:solidFill>
                          <a:latin typeface="ITC Avant Garde Gothic"/>
                        </a:rPr>
                        <a:t>Paired t-test; Bland–Altman limits of agreement</a:t>
                      </a:r>
                    </a:p>
                  </a:txBody>
                  <a:tcPr>
                    <a:solidFill>
                      <a:srgbClr val="FFFFFF"/>
                    </a:solidFill>
                  </a:tcPr>
                </a:tc>
              </a:tr>
              <a:tr h="1463040">
                <a:tc>
                  <a:txBody>
                    <a:bodyPr/>
                    <a:lstStyle/>
                    <a:p>
                      <a:r>
                        <a:rPr sz="1800" b="0">
                          <a:solidFill>
                            <a:srgbClr val="8B0707"/>
                          </a:solidFill>
                          <a:latin typeface="ITC Avant Garde Gothic"/>
                        </a:rPr>
                        <a:t>H₀2</a:t>
                      </a:r>
                    </a:p>
                  </a:txBody>
                  <a:tcPr>
                    <a:solidFill>
                      <a:srgbClr val="F8EAEA"/>
                    </a:solidFill>
                  </a:tcPr>
                </a:tc>
                <a:tc>
                  <a:txBody>
                    <a:bodyPr/>
                    <a:lstStyle/>
                    <a:p>
                      <a:r>
                        <a:rPr sz="1800" b="0">
                          <a:solidFill>
                            <a:srgbClr val="2B2020"/>
                          </a:solidFill>
                          <a:latin typeface="ITC Avant Garde Gothic"/>
                        </a:rPr>
                        <a:t>The pendant's decision is not associated with the true event type (fall or daily activity).</a:t>
                      </a:r>
                    </a:p>
                  </a:txBody>
                  <a:tcPr>
                    <a:solidFill>
                      <a:srgbClr val="F8EAEA"/>
                    </a:solidFill>
                  </a:tcPr>
                </a:tc>
                <a:tc>
                  <a:txBody>
                    <a:bodyPr/>
                    <a:lstStyle/>
                    <a:p>
                      <a:r>
                        <a:rPr sz="1800" b="0">
                          <a:solidFill>
                            <a:srgbClr val="2B2020"/>
                          </a:solidFill>
                          <a:latin typeface="ITC Avant Garde Gothic"/>
                        </a:rPr>
                        <a:t>Chi-square test of independence</a:t>
                      </a:r>
                    </a:p>
                  </a:txBody>
                  <a:tcPr>
                    <a:solidFill>
                      <a:srgbClr val="F8EAEA"/>
                    </a:solidFill>
                  </a:tcPr>
                </a:tc>
              </a:tr>
              <a:tr h="1463040">
                <a:tc>
                  <a:txBody>
                    <a:bodyPr/>
                    <a:lstStyle/>
                    <a:p>
                      <a:r>
                        <a:rPr sz="1800" b="0">
                          <a:solidFill>
                            <a:srgbClr val="8B0707"/>
                          </a:solidFill>
                          <a:latin typeface="ITC Avant Garde Gothic"/>
                        </a:rPr>
                        <a:t>H₀3</a:t>
                      </a:r>
                    </a:p>
                  </a:txBody>
                  <a:tcPr>
                    <a:solidFill>
                      <a:srgbClr val="F8EAEA"/>
                    </a:solidFill>
                  </a:tcPr>
                </a:tc>
                <a:tc>
                  <a:txBody>
                    <a:bodyPr/>
                    <a:lstStyle/>
                    <a:p>
                      <a:r>
                        <a:rPr sz="1800" b="0">
                          <a:solidFill>
                            <a:srgbClr val="2B2020"/>
                          </a:solidFill>
                          <a:latin typeface="ITC Avant Garde Gothic"/>
                        </a:rPr>
                        <a:t>There is no significant difference in approachability between the soft body and the rigid shell.</a:t>
                      </a:r>
                    </a:p>
                  </a:txBody>
                  <a:tcPr>
                    <a:solidFill>
                      <a:srgbClr val="F8EAEA"/>
                    </a:solidFill>
                  </a:tcPr>
                </a:tc>
                <a:tc>
                  <a:txBody>
                    <a:bodyPr/>
                    <a:lstStyle/>
                    <a:p>
                      <a:r>
                        <a:rPr sz="1800" b="0">
                          <a:solidFill>
                            <a:srgbClr val="2B2020"/>
                          </a:solidFill>
                          <a:latin typeface="ITC Avant Garde Gothic"/>
                        </a:rPr>
                        <a:t>Wilcoxon signed-rank test</a:t>
                      </a:r>
                    </a:p>
                  </a:txBody>
                  <a:tcPr>
                    <a:solidFill>
                      <a:srgbClr val="F8EAEA"/>
                    </a:solidFill>
                  </a:tcPr>
                </a:tc>
              </a:tr>
            </a:tbl>
          </a:graphicData>
        </a:graphic>
      </p:graphicFrame>
      <p:sp>
        <p:nvSpPr>
          <p:cNvPr id="25" name="TextBox 24"/>
          <p:cNvSpPr txBox="1"/>
          <p:nvPr/>
        </p:nvSpPr>
        <p:spPr>
          <a:xfrm>
            <a:off x="822960" y="9089136"/>
            <a:ext cx="16642080" cy="466344"/>
          </a:xfrm>
          <a:prstGeom prst="rect">
            <a:avLst/>
          </a:prstGeom>
          <a:noFill/>
        </p:spPr>
        <p:txBody>
          <a:bodyPr wrap="square" anchor="t">
            <a:spAutoFit/>
          </a:bodyPr>
          <a:lstStyle/>
          <a:p>
            <a:pPr algn="l">
              <a:spcAft>
                <a:spcPts val="720"/>
              </a:spcAft>
            </a:pPr>
            <a:r>
              <a:rPr sz="1600">
                <a:solidFill>
                  <a:srgbClr val="6A5656"/>
                </a:solidFill>
                <a:latin typeface="ITC Avant Garde Gothic"/>
              </a:rPr>
              <a:t>Reject H₀ when p &lt; 0.05.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6000">
                <a:solidFill>
                  <a:srgbClr val="FFFFFF"/>
                </a:solidFill>
                <a:latin typeface="ITC Avant Garde Gothic"/>
                <a:ea typeface="ITC Avant Garde Gothic"/>
                <a:cs typeface="ITC Avant Garde Gothic"/>
                <a:sym typeface="ITC Avant Garde Gothic"/>
              </a:rPr>
              <a:t>SCOPE AND DELIMITATION</a:t>
            </a: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10</a:t>
            </a:r>
            <a:endParaRPr lang="en-US" sz="1600" dirty="0">
              <a:latin typeface="ITC Avant Garde Gothic"/>
            </a:endParaRPr>
          </a:p>
        </p:txBody>
      </p:sp>
      <p:sp>
        <p:nvSpPr>
          <p:cNvPr id="23" name="Rectangle 22"/>
          <p:cNvSpPr/>
          <p:nvPr/>
        </p:nvSpPr>
        <p:spPr>
          <a:xfrm>
            <a:off x="822960" y="2103120"/>
            <a:ext cx="8165592" cy="406908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2286000"/>
            <a:ext cx="7424927" cy="457200"/>
          </a:xfrm>
          <a:prstGeom prst="rect">
            <a:avLst/>
          </a:prstGeom>
          <a:noFill/>
        </p:spPr>
        <p:txBody>
          <a:bodyPr wrap="square" anchor="t">
            <a:spAutoFit/>
          </a:bodyPr>
          <a:lstStyle/>
          <a:p>
            <a:pPr algn="l">
              <a:spcAft>
                <a:spcPts val="900"/>
              </a:spcAft>
            </a:pPr>
            <a:r>
              <a:rPr sz="2000" b="1">
                <a:solidFill>
                  <a:srgbClr val="8B0707"/>
                </a:solidFill>
                <a:latin typeface="ITC Avant Garde Gothic"/>
              </a:rPr>
              <a:t>Scope</a:t>
            </a:r>
          </a:p>
        </p:txBody>
      </p:sp>
      <p:sp>
        <p:nvSpPr>
          <p:cNvPr id="25" name="TextBox 24"/>
          <p:cNvSpPr txBox="1"/>
          <p:nvPr/>
        </p:nvSpPr>
        <p:spPr>
          <a:xfrm>
            <a:off x="1234440" y="2834640"/>
            <a:ext cx="7424927" cy="3200400"/>
          </a:xfrm>
          <a:prstGeom prst="rect">
            <a:avLst/>
          </a:prstGeom>
          <a:noFill/>
        </p:spPr>
        <p:txBody>
          <a:bodyPr wrap="square" anchor="t">
            <a:spAutoFit/>
          </a:bodyPr>
          <a:lstStyle/>
          <a:p>
            <a:pPr algn="l">
              <a:spcAft>
                <a:spcPts val="720"/>
              </a:spcAft>
            </a:pPr>
            <a:r>
              <a:rPr sz="1600" b="0">
                <a:solidFill>
                  <a:srgbClr val="2B2020"/>
                </a:solidFill>
                <a:latin typeface="ITC Avant Garde Gothic"/>
              </a:rPr>
              <a:t>•  One robot, 1.35 m tall, two-wheel drive</a:t>
            </a:r>
          </a:p>
          <a:p>
            <a:pPr algn="l">
              <a:spcAft>
                <a:spcPts val="720"/>
              </a:spcAft>
            </a:pPr>
            <a:r>
              <a:rPr sz="1600" b="0">
                <a:solidFill>
                  <a:srgbClr val="2B2020"/>
                </a:solidFill>
                <a:latin typeface="ITC Avant Garde Gothic"/>
              </a:rPr>
              <a:t>•  Tape route: dock, chair, bed, kitchen</a:t>
            </a:r>
          </a:p>
          <a:p>
            <a:pPr algn="l">
              <a:spcAft>
                <a:spcPts val="720"/>
              </a:spcAft>
            </a:pPr>
            <a:r>
              <a:rPr sz="1600" b="0">
                <a:solidFill>
                  <a:srgbClr val="2B2020"/>
                </a:solidFill>
                <a:latin typeface="ITC Avant Garde Gothic"/>
              </a:rPr>
              <a:t>•  Medicine, water, check-in reminders; health checks</a:t>
            </a:r>
          </a:p>
          <a:p>
            <a:pPr algn="l">
              <a:spcAft>
                <a:spcPts val="720"/>
              </a:spcAft>
            </a:pPr>
            <a:r>
              <a:rPr sz="1600" b="0">
                <a:solidFill>
                  <a:srgbClr val="2B2020"/>
                </a:solidFill>
                <a:latin typeface="ITC Avant Garde Gothic"/>
              </a:rPr>
              <a:t>•  Fall and SOS pendant; Telegram alerts</a:t>
            </a:r>
          </a:p>
          <a:p>
            <a:pPr algn="l">
              <a:spcAft>
                <a:spcPts val="720"/>
              </a:spcAft>
            </a:pPr>
            <a:r>
              <a:rPr sz="1600" b="0">
                <a:solidFill>
                  <a:srgbClr val="2B2020"/>
                </a:solidFill>
                <a:latin typeface="ITC Avant Garde Gothic"/>
              </a:rPr>
              <a:t>•  Mock home; older adults 60+ after IRB approval</a:t>
            </a:r>
          </a:p>
        </p:txBody>
      </p:sp>
      <p:sp>
        <p:nvSpPr>
          <p:cNvPr id="26" name="Rectangle 25"/>
          <p:cNvSpPr/>
          <p:nvPr/>
        </p:nvSpPr>
        <p:spPr>
          <a:xfrm>
            <a:off x="9308592" y="2103120"/>
            <a:ext cx="8165592" cy="406908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74352" y="2286000"/>
            <a:ext cx="7424927" cy="457200"/>
          </a:xfrm>
          <a:prstGeom prst="rect">
            <a:avLst/>
          </a:prstGeom>
          <a:noFill/>
        </p:spPr>
        <p:txBody>
          <a:bodyPr wrap="square" anchor="t">
            <a:spAutoFit/>
          </a:bodyPr>
          <a:lstStyle/>
          <a:p>
            <a:pPr algn="l">
              <a:spcAft>
                <a:spcPts val="900"/>
              </a:spcAft>
            </a:pPr>
            <a:r>
              <a:rPr sz="2000" b="1">
                <a:solidFill>
                  <a:srgbClr val="8B0707"/>
                </a:solidFill>
                <a:latin typeface="ITC Avant Garde Gothic"/>
              </a:rPr>
              <a:t>Delimitation</a:t>
            </a:r>
          </a:p>
        </p:txBody>
      </p:sp>
      <p:sp>
        <p:nvSpPr>
          <p:cNvPr id="28" name="TextBox 27"/>
          <p:cNvSpPr txBox="1"/>
          <p:nvPr/>
        </p:nvSpPr>
        <p:spPr>
          <a:xfrm>
            <a:off x="9720072" y="2834640"/>
            <a:ext cx="7424927" cy="3200400"/>
          </a:xfrm>
          <a:prstGeom prst="rect">
            <a:avLst/>
          </a:prstGeom>
          <a:noFill/>
        </p:spPr>
        <p:txBody>
          <a:bodyPr wrap="square" anchor="t">
            <a:spAutoFit/>
          </a:bodyPr>
          <a:lstStyle/>
          <a:p>
            <a:pPr algn="l">
              <a:spcAft>
                <a:spcPts val="720"/>
              </a:spcAft>
            </a:pPr>
            <a:r>
              <a:rPr sz="1600" b="0">
                <a:solidFill>
                  <a:srgbClr val="2B2020"/>
                </a:solidFill>
                <a:latin typeface="ITC Avant Garde Gothic"/>
              </a:rPr>
              <a:t>•  No arms; cannot give medicine</a:t>
            </a:r>
          </a:p>
          <a:p>
            <a:pPr algn="l">
              <a:spcAft>
                <a:spcPts val="720"/>
              </a:spcAft>
            </a:pPr>
            <a:r>
              <a:rPr sz="1600" b="0">
                <a:solidFill>
                  <a:srgbClr val="2B2020"/>
                </a:solidFill>
                <a:latin typeface="ITC Avant Garde Gothic"/>
              </a:rPr>
              <a:t>•  Not a medical device; no diagnosis</a:t>
            </a:r>
          </a:p>
          <a:p>
            <a:pPr algn="l">
              <a:spcAft>
                <a:spcPts val="720"/>
              </a:spcAft>
            </a:pPr>
            <a:r>
              <a:rPr sz="1600" b="0">
                <a:solidFill>
                  <a:srgbClr val="2B2020"/>
                </a:solidFill>
                <a:latin typeface="ITC Avant Garde Gothic"/>
              </a:rPr>
              <a:t>•  No mapping, stairs, or high door sills</a:t>
            </a:r>
          </a:p>
          <a:p>
            <a:pPr algn="l">
              <a:spcAft>
                <a:spcPts val="720"/>
              </a:spcAft>
            </a:pPr>
            <a:r>
              <a:rPr sz="1600" b="0">
                <a:solidFill>
                  <a:srgbClr val="2B2020"/>
                </a:solidFill>
                <a:latin typeface="ITC Avant Garde Gothic"/>
              </a:rPr>
              <a:t>•  Falls simulated only by researchers on mats</a:t>
            </a:r>
          </a:p>
          <a:p>
            <a:pPr algn="l">
              <a:spcAft>
                <a:spcPts val="720"/>
              </a:spcAft>
            </a:pPr>
            <a:r>
              <a:rPr sz="1600" b="0">
                <a:solidFill>
                  <a:srgbClr val="2B2020"/>
                </a:solidFill>
                <a:latin typeface="ITC Avant Garde Gothic"/>
              </a:rPr>
              <a:t>•  Needs home Wi-Fi; not tested for weeks</a:t>
            </a:r>
          </a:p>
        </p:txBody>
      </p:sp>
      <p:sp>
        <p:nvSpPr>
          <p:cNvPr id="29" name="TextBox 28"/>
          <p:cNvSpPr txBox="1"/>
          <p:nvPr/>
        </p:nvSpPr>
        <p:spPr>
          <a:xfrm>
            <a:off x="822960" y="6355080"/>
            <a:ext cx="16642080" cy="384048"/>
          </a:xfrm>
          <a:prstGeom prst="rect">
            <a:avLst/>
          </a:prstGeom>
          <a:noFill/>
        </p:spPr>
        <p:txBody>
          <a:bodyPr wrap="square" anchor="t">
            <a:spAutoFit/>
          </a:bodyPr>
          <a:lstStyle/>
          <a:p>
            <a:pPr algn="l">
              <a:spcAft>
                <a:spcPts val="720"/>
              </a:spcAft>
            </a:pPr>
            <a:r>
              <a:rPr sz="1600" b="0">
                <a:solidFill>
                  <a:srgbClr val="6A5656"/>
                </a:solidFill>
                <a:latin typeface="ITC Avant Garde Gothic"/>
              </a:rPr>
              <a:t>Table 4. Trials Conducted in the Study</a:t>
            </a:r>
          </a:p>
        </p:txBody>
      </p:sp>
      <p:graphicFrame>
        <p:nvGraphicFramePr>
          <p:cNvPr id="30" name="Table 29"/>
          <p:cNvGraphicFramePr>
            <a:graphicFrameLocks noGrp="1"/>
          </p:cNvGraphicFramePr>
          <p:nvPr/>
        </p:nvGraphicFramePr>
        <p:xfrm>
          <a:off x="822960" y="6739128"/>
          <a:ext cx="16642080" cy="1920240"/>
        </p:xfrm>
        <a:graphic>
          <a:graphicData uri="http://schemas.openxmlformats.org/drawingml/2006/table">
            <a:tbl>
              <a:tblPr firstRow="1" bandRow="1">
                <a:tableStyleId>{5C22544A-7EE6-4342-B048-85BDC9FD1C3A}</a:tableStyleId>
              </a:tblPr>
              <a:tblGrid>
                <a:gridCol w="4160520"/>
                <a:gridCol w="4160520"/>
                <a:gridCol w="4160520"/>
                <a:gridCol w="4160520"/>
              </a:tblGrid>
              <a:tr h="384048">
                <a:tc>
                  <a:txBody>
                    <a:bodyPr/>
                    <a:lstStyle/>
                    <a:p>
                      <a:r>
                        <a:rPr sz="1400" b="0">
                          <a:solidFill>
                            <a:srgbClr val="FFFFFF"/>
                          </a:solidFill>
                          <a:latin typeface="ITC Avant Garde Gothic"/>
                        </a:rPr>
                        <a:t>Trial set</a:t>
                      </a:r>
                    </a:p>
                  </a:txBody>
                  <a:tcPr>
                    <a:solidFill>
                      <a:srgbClr val="8B0707"/>
                    </a:solidFill>
                  </a:tcPr>
                </a:tc>
                <a:tc>
                  <a:txBody>
                    <a:bodyPr/>
                    <a:lstStyle/>
                    <a:p>
                      <a:r>
                        <a:rPr sz="1400" b="0">
                          <a:solidFill>
                            <a:srgbClr val="FFFFFF"/>
                          </a:solidFill>
                          <a:latin typeface="ITC Avant Garde Gothic"/>
                        </a:rPr>
                        <a:t>Measures</a:t>
                      </a:r>
                    </a:p>
                  </a:txBody>
                  <a:tcPr>
                    <a:solidFill>
                      <a:srgbClr val="8B0707"/>
                    </a:solidFill>
                  </a:tcPr>
                </a:tc>
                <a:tc>
                  <a:txBody>
                    <a:bodyPr/>
                    <a:lstStyle/>
                    <a:p>
                      <a:r>
                        <a:rPr sz="1400" b="0">
                          <a:solidFill>
                            <a:srgbClr val="FFFFFF"/>
                          </a:solidFill>
                          <a:latin typeface="ITC Avant Garde Gothic"/>
                        </a:rPr>
                        <a:t>Number</a:t>
                      </a:r>
                    </a:p>
                  </a:txBody>
                  <a:tcPr>
                    <a:solidFill>
                      <a:srgbClr val="8B0707"/>
                    </a:solidFill>
                  </a:tcPr>
                </a:tc>
                <a:tc>
                  <a:txBody>
                    <a:bodyPr/>
                    <a:lstStyle/>
                    <a:p>
                      <a:r>
                        <a:rPr sz="1400" b="0">
                          <a:solidFill>
                            <a:srgbClr val="FFFFFF"/>
                          </a:solidFill>
                          <a:latin typeface="ITC Avant Garde Gothic"/>
                        </a:rPr>
                        <a:t>Reference</a:t>
                      </a:r>
                    </a:p>
                  </a:txBody>
                  <a:tcPr>
                    <a:solidFill>
                      <a:srgbClr val="8B0707"/>
                    </a:solidFill>
                  </a:tcPr>
                </a:tc>
              </a:tr>
              <a:tr h="384048">
                <a:tc>
                  <a:txBody>
                    <a:bodyPr/>
                    <a:lstStyle/>
                    <a:p>
                      <a:r>
                        <a:rPr sz="1400" b="0">
                          <a:solidFill>
                            <a:srgbClr val="8B0707"/>
                          </a:solidFill>
                          <a:latin typeface="ITC Avant Garde Gothic"/>
                        </a:rPr>
                        <a:t>Navigation</a:t>
                      </a:r>
                    </a:p>
                  </a:txBody>
                  <a:tcPr>
                    <a:solidFill>
                      <a:srgbClr val="FFFFFF"/>
                    </a:solidFill>
                  </a:tcPr>
                </a:tc>
                <a:tc>
                  <a:txBody>
                    <a:bodyPr/>
                    <a:lstStyle/>
                    <a:p>
                      <a:r>
                        <a:rPr sz="1400" b="0">
                          <a:solidFill>
                            <a:srgbClr val="2B2020"/>
                          </a:solidFill>
                          <a:latin typeface="ITC Avant Garde Gothic"/>
                        </a:rPr>
                        <a:t>Arrival, time, obstacle stops</a:t>
                      </a:r>
                    </a:p>
                  </a:txBody>
                  <a:tcPr>
                    <a:solidFill>
                      <a:srgbClr val="FFFFFF"/>
                    </a:solidFill>
                  </a:tcPr>
                </a:tc>
                <a:tc>
                  <a:txBody>
                    <a:bodyPr/>
                    <a:lstStyle/>
                    <a:p>
                      <a:r>
                        <a:rPr sz="1400" b="0">
                          <a:solidFill>
                            <a:srgbClr val="2B2020"/>
                          </a:solidFill>
                          <a:latin typeface="ITC Avant Garde Gothic"/>
                        </a:rPr>
                        <a:t>____ trips; 30 obstacles</a:t>
                      </a:r>
                    </a:p>
                  </a:txBody>
                  <a:tcPr>
                    <a:solidFill>
                      <a:srgbClr val="FFFFFF"/>
                    </a:solidFill>
                  </a:tcPr>
                </a:tc>
                <a:tc>
                  <a:txBody>
                    <a:bodyPr/>
                    <a:lstStyle/>
                    <a:p>
                      <a:r>
                        <a:rPr sz="1400" b="0">
                          <a:solidFill>
                            <a:srgbClr val="2B2020"/>
                          </a:solidFill>
                          <a:latin typeface="ITC Avant Garde Gothic"/>
                        </a:rPr>
                        <a:t>Stopwatch, tape</a:t>
                      </a:r>
                    </a:p>
                  </a:txBody>
                  <a:tcPr>
                    <a:solidFill>
                      <a:srgbClr val="FFFFFF"/>
                    </a:solidFill>
                  </a:tcPr>
                </a:tc>
              </a:tr>
              <a:tr h="384048">
                <a:tc>
                  <a:txBody>
                    <a:bodyPr/>
                    <a:lstStyle/>
                    <a:p>
                      <a:r>
                        <a:rPr sz="1400" b="0">
                          <a:solidFill>
                            <a:srgbClr val="8B0707"/>
                          </a:solidFill>
                          <a:latin typeface="ITC Avant Garde Gothic"/>
                        </a:rPr>
                        <a:t>Health check</a:t>
                      </a:r>
                    </a:p>
                  </a:txBody>
                  <a:tcPr>
                    <a:solidFill>
                      <a:srgbClr val="F8EAEA"/>
                    </a:solidFill>
                  </a:tcPr>
                </a:tc>
                <a:tc>
                  <a:txBody>
                    <a:bodyPr/>
                    <a:lstStyle/>
                    <a:p>
                      <a:r>
                        <a:rPr sz="1400" b="0">
                          <a:solidFill>
                            <a:srgbClr val="2B2020"/>
                          </a:solidFill>
                          <a:latin typeface="ITC Avant Garde Gothic"/>
                        </a:rPr>
                        <a:t>Temperature, PR, SpO₂</a:t>
                      </a:r>
                    </a:p>
                  </a:txBody>
                  <a:tcPr>
                    <a:solidFill>
                      <a:srgbClr val="F8EAEA"/>
                    </a:solidFill>
                  </a:tcPr>
                </a:tc>
                <a:tc>
                  <a:txBody>
                    <a:bodyPr/>
                    <a:lstStyle/>
                    <a:p>
                      <a:r>
                        <a:rPr sz="1400" b="0">
                          <a:solidFill>
                            <a:srgbClr val="2B2020"/>
                          </a:solidFill>
                          <a:latin typeface="ITC Avant Garde Gothic"/>
                        </a:rPr>
                        <a:t>10 + ____ volunteers</a:t>
                      </a:r>
                    </a:p>
                  </a:txBody>
                  <a:tcPr>
                    <a:solidFill>
                      <a:srgbClr val="F8EAEA"/>
                    </a:solidFill>
                  </a:tcPr>
                </a:tc>
                <a:tc>
                  <a:txBody>
                    <a:bodyPr/>
                    <a:lstStyle/>
                    <a:p>
                      <a:r>
                        <a:rPr sz="1400" b="0">
                          <a:solidFill>
                            <a:srgbClr val="2B2020"/>
                          </a:solidFill>
                          <a:latin typeface="ITC Avant Garde Gothic"/>
                        </a:rPr>
                        <a:t>Clinic instruments</a:t>
                      </a:r>
                    </a:p>
                  </a:txBody>
                  <a:tcPr>
                    <a:solidFill>
                      <a:srgbClr val="F8EAEA"/>
                    </a:solidFill>
                  </a:tcPr>
                </a:tc>
              </a:tr>
              <a:tr h="384048">
                <a:tc>
                  <a:txBody>
                    <a:bodyPr/>
                    <a:lstStyle/>
                    <a:p>
                      <a:r>
                        <a:rPr sz="1400" b="0">
                          <a:solidFill>
                            <a:srgbClr val="8B0707"/>
                          </a:solidFill>
                          <a:latin typeface="ITC Avant Garde Gothic"/>
                        </a:rPr>
                        <a:t>Falls</a:t>
                      </a:r>
                    </a:p>
                  </a:txBody>
                  <a:tcPr>
                    <a:solidFill>
                      <a:srgbClr val="FFFFFF"/>
                    </a:solidFill>
                  </a:tcPr>
                </a:tc>
                <a:tc>
                  <a:txBody>
                    <a:bodyPr/>
                    <a:lstStyle/>
                    <a:p>
                      <a:r>
                        <a:rPr sz="1400" b="0">
                          <a:solidFill>
                            <a:srgbClr val="2B2020"/>
                          </a:solidFill>
                          <a:latin typeface="ITC Avant Garde Gothic"/>
                        </a:rPr>
                        <a:t>Pendant decision, alert time</a:t>
                      </a:r>
                    </a:p>
                  </a:txBody>
                  <a:tcPr>
                    <a:solidFill>
                      <a:srgbClr val="FFFFFF"/>
                    </a:solidFill>
                  </a:tcPr>
                </a:tc>
                <a:tc>
                  <a:txBody>
                    <a:bodyPr/>
                    <a:lstStyle/>
                    <a:p>
                      <a:r>
                        <a:rPr sz="1400" b="0">
                          <a:solidFill>
                            <a:srgbClr val="2B2020"/>
                          </a:solidFill>
                          <a:latin typeface="ITC Avant Garde Gothic"/>
                        </a:rPr>
                        <a:t>____ falls; ____ activities</a:t>
                      </a:r>
                    </a:p>
                  </a:txBody>
                  <a:tcPr>
                    <a:solidFill>
                      <a:srgbClr val="FFFFFF"/>
                    </a:solidFill>
                  </a:tcPr>
                </a:tc>
                <a:tc>
                  <a:txBody>
                    <a:bodyPr/>
                    <a:lstStyle/>
                    <a:p>
                      <a:r>
                        <a:rPr sz="1400" b="0">
                          <a:solidFill>
                            <a:srgbClr val="2B2020"/>
                          </a:solidFill>
                          <a:latin typeface="ITC Avant Garde Gothic"/>
                        </a:rPr>
                        <a:t>Video</a:t>
                      </a:r>
                    </a:p>
                  </a:txBody>
                  <a:tcPr>
                    <a:solidFill>
                      <a:srgbClr val="FFFFFF"/>
                    </a:solidFill>
                  </a:tcPr>
                </a:tc>
              </a:tr>
              <a:tr h="384048">
                <a:tc>
                  <a:txBody>
                    <a:bodyPr/>
                    <a:lstStyle/>
                    <a:p>
                      <a:r>
                        <a:rPr sz="1400" b="0">
                          <a:solidFill>
                            <a:srgbClr val="8B0707"/>
                          </a:solidFill>
                          <a:latin typeface="ITC Avant Garde Gothic"/>
                        </a:rPr>
                        <a:t>Reminders, usability</a:t>
                      </a:r>
                    </a:p>
                  </a:txBody>
                  <a:tcPr>
                    <a:solidFill>
                      <a:srgbClr val="F8EAEA"/>
                    </a:solidFill>
                  </a:tcPr>
                </a:tc>
                <a:tc>
                  <a:txBody>
                    <a:bodyPr/>
                    <a:lstStyle/>
                    <a:p>
                      <a:r>
                        <a:rPr sz="1400" b="0">
                          <a:solidFill>
                            <a:srgbClr val="2B2020"/>
                          </a:solidFill>
                          <a:latin typeface="ITC Avant Garde Gothic"/>
                        </a:rPr>
                        <a:t>On time; delivered; SUS; rating</a:t>
                      </a:r>
                    </a:p>
                  </a:txBody>
                  <a:tcPr>
                    <a:solidFill>
                      <a:srgbClr val="F8EAEA"/>
                    </a:solidFill>
                  </a:tcPr>
                </a:tc>
                <a:tc>
                  <a:txBody>
                    <a:bodyPr/>
                    <a:lstStyle/>
                    <a:p>
                      <a:r>
                        <a:rPr sz="1400" b="0">
                          <a:solidFill>
                            <a:srgbClr val="2B2020"/>
                          </a:solidFill>
                          <a:latin typeface="ITC Avant Garde Gothic"/>
                        </a:rPr>
                        <a:t>5 days; ____ users</a:t>
                      </a:r>
                    </a:p>
                  </a:txBody>
                  <a:tcPr>
                    <a:solidFill>
                      <a:srgbClr val="F8EAEA"/>
                    </a:solidFill>
                  </a:tcPr>
                </a:tc>
                <a:tc>
                  <a:txBody>
                    <a:bodyPr/>
                    <a:lstStyle/>
                    <a:p>
                      <a:r>
                        <a:rPr sz="1400" b="0">
                          <a:solidFill>
                            <a:srgbClr val="2B2020"/>
                          </a:solidFill>
                          <a:latin typeface="ITC Avant Garde Gothic"/>
                        </a:rPr>
                        <a:t>Phone time stamps</a:t>
                      </a:r>
                    </a:p>
                  </a:txBody>
                  <a:tcPr>
                    <a:solidFill>
                      <a:srgbClr val="F8EAEA"/>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Research Design</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11</a:t>
            </a:r>
            <a:endParaRPr lang="en-US" sz="1600" dirty="0">
              <a:latin typeface="ITC Avant Garde Gothic"/>
            </a:endParaRPr>
          </a:p>
        </p:txBody>
      </p:sp>
      <p:sp>
        <p:nvSpPr>
          <p:cNvPr id="23" name="TextBox 22"/>
          <p:cNvSpPr txBox="1"/>
          <p:nvPr/>
        </p:nvSpPr>
        <p:spPr>
          <a:xfrm>
            <a:off x="822960" y="2011680"/>
            <a:ext cx="16642080" cy="1097280"/>
          </a:xfrm>
          <a:prstGeom prst="rect">
            <a:avLst/>
          </a:prstGeom>
          <a:noFill/>
        </p:spPr>
        <p:txBody>
          <a:bodyPr wrap="square" anchor="t">
            <a:spAutoFit/>
          </a:bodyPr>
          <a:lstStyle/>
          <a:p>
            <a:pPr algn="l">
              <a:spcAft>
                <a:spcPts val="765"/>
              </a:spcAft>
            </a:pPr>
            <a:r>
              <a:rPr sz="1700" b="0">
                <a:solidFill>
                  <a:srgbClr val="2B2020"/>
                </a:solidFill>
                <a:latin typeface="ITC Avant Garde Gothic"/>
              </a:rPr>
              <a:t>This is a quantitative developmental study with method-comparison, experimental, and usability tests. The robot is built and calibrated first; then it is tested in a mock home.</a:t>
            </a:r>
          </a:p>
        </p:txBody>
      </p:sp>
      <p:sp>
        <p:nvSpPr>
          <p:cNvPr id="24" name="Rectangle 23"/>
          <p:cNvSpPr/>
          <p:nvPr/>
        </p:nvSpPr>
        <p:spPr>
          <a:xfrm>
            <a:off x="822960"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ITC Avant Garde Gothic"/>
              </a:rPr>
              <a:t>1. Build and calibrate</a:t>
            </a:r>
          </a:p>
        </p:txBody>
      </p:sp>
      <p:sp>
        <p:nvSpPr>
          <p:cNvPr id="25" name="Right Arrow 24"/>
          <p:cNvSpPr/>
          <p:nvPr/>
        </p:nvSpPr>
        <p:spPr>
          <a:xfrm>
            <a:off x="4434840" y="3410712"/>
            <a:ext cx="685800" cy="329184"/>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93792"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ITC Avant Garde Gothic"/>
              </a:rPr>
              <a:t>2. Program logic</a:t>
            </a:r>
          </a:p>
        </p:txBody>
      </p:sp>
      <p:sp>
        <p:nvSpPr>
          <p:cNvPr id="27" name="Right Arrow 26"/>
          <p:cNvSpPr/>
          <p:nvPr/>
        </p:nvSpPr>
        <p:spPr>
          <a:xfrm>
            <a:off x="8805672" y="3410712"/>
            <a:ext cx="685800" cy="329184"/>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64624"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0">
                <a:solidFill>
                  <a:srgbClr val="FFFFFF"/>
                </a:solidFill>
                <a:latin typeface="ITC Avant Garde Gothic"/>
              </a:rPr>
              <a:t>3. Run the trials</a:t>
            </a:r>
          </a:p>
        </p:txBody>
      </p:sp>
      <p:sp>
        <p:nvSpPr>
          <p:cNvPr id="29" name="Right Arrow 28"/>
          <p:cNvSpPr/>
          <p:nvPr/>
        </p:nvSpPr>
        <p:spPr>
          <a:xfrm>
            <a:off x="13176504" y="3410712"/>
            <a:ext cx="685800" cy="329184"/>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935456" y="3246120"/>
            <a:ext cx="3520440" cy="658368"/>
          </a:xfrm>
          <a:prstGeom prst="rect">
            <a:avLst/>
          </a:prstGeom>
          <a:solidFill>
            <a:srgbClr val="8B0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ITC Avant Garde Gothic"/>
              </a:rPr>
              <a:t>4. Analyze results</a:t>
            </a:r>
          </a:p>
        </p:txBody>
      </p:sp>
      <p:sp>
        <p:nvSpPr>
          <p:cNvPr id="31" name="TextBox 30"/>
          <p:cNvSpPr txBox="1"/>
          <p:nvPr/>
        </p:nvSpPr>
        <p:spPr>
          <a:xfrm>
            <a:off x="822960" y="416052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Table 5. Variables of the study</a:t>
            </a:r>
          </a:p>
        </p:txBody>
      </p:sp>
      <p:graphicFrame>
        <p:nvGraphicFramePr>
          <p:cNvPr id="32" name="Table 31"/>
          <p:cNvGraphicFramePr>
            <a:graphicFrameLocks noGrp="1"/>
          </p:cNvGraphicFramePr>
          <p:nvPr/>
        </p:nvGraphicFramePr>
        <p:xfrm>
          <a:off x="822960" y="4572000"/>
          <a:ext cx="16642080" cy="4434840"/>
        </p:xfrm>
        <a:graphic>
          <a:graphicData uri="http://schemas.openxmlformats.org/drawingml/2006/table">
            <a:tbl>
              <a:tblPr firstRow="1" bandRow="1">
                <a:tableStyleId>{5C22544A-7EE6-4342-B048-85BDC9FD1C3A}</a:tableStyleId>
              </a:tblPr>
              <a:tblGrid>
                <a:gridCol w="5547360"/>
                <a:gridCol w="5547360"/>
                <a:gridCol w="5547360"/>
              </a:tblGrid>
              <a:tr h="502920">
                <a:tc>
                  <a:txBody>
                    <a:bodyPr/>
                    <a:lstStyle/>
                    <a:p>
                      <a:r>
                        <a:rPr sz="1500" b="1">
                          <a:solidFill>
                            <a:srgbClr val="FFFFFF"/>
                          </a:solidFill>
                          <a:latin typeface="ITC Avant Garde Gothic"/>
                        </a:rPr>
                        <a:t>Independent (varied)</a:t>
                      </a:r>
                    </a:p>
                  </a:txBody>
                  <a:tcPr>
                    <a:solidFill>
                      <a:srgbClr val="8B0707"/>
                    </a:solidFill>
                  </a:tcPr>
                </a:tc>
                <a:tc>
                  <a:txBody>
                    <a:bodyPr/>
                    <a:lstStyle/>
                    <a:p>
                      <a:r>
                        <a:rPr sz="1500" b="1">
                          <a:solidFill>
                            <a:srgbClr val="FFFFFF"/>
                          </a:solidFill>
                          <a:latin typeface="ITC Avant Garde Gothic"/>
                        </a:rPr>
                        <a:t>Dependent (measured)</a:t>
                      </a:r>
                    </a:p>
                  </a:txBody>
                  <a:tcPr>
                    <a:solidFill>
                      <a:srgbClr val="8B0707"/>
                    </a:solidFill>
                  </a:tcPr>
                </a:tc>
                <a:tc>
                  <a:txBody>
                    <a:bodyPr/>
                    <a:lstStyle/>
                    <a:p>
                      <a:r>
                        <a:rPr sz="1500" b="1">
                          <a:solidFill>
                            <a:srgbClr val="FFFFFF"/>
                          </a:solidFill>
                          <a:latin typeface="ITC Avant Garde Gothic"/>
                        </a:rPr>
                        <a:t>Controlled (held fixed)</a:t>
                      </a:r>
                    </a:p>
                  </a:txBody>
                  <a:tcPr>
                    <a:solidFill>
                      <a:srgbClr val="8B0707"/>
                    </a:solidFill>
                  </a:tcPr>
                </a:tc>
              </a:tr>
              <a:tr h="3931920">
                <a:tc>
                  <a:txBody>
                    <a:bodyPr/>
                    <a:lstStyle/>
                    <a:p>
                      <a:r>
                        <a:rPr sz="1500" b="0">
                          <a:solidFill>
                            <a:srgbClr val="2B2020"/>
                          </a:solidFill>
                          <a:latin typeface="ITC Avant Garde Gothic"/>
                        </a:rPr>
                        <a:t>Target station; obstacle</a:t>
                      </a:r>
                    </a:p>
                    <a:p>
                      <a:r>
                        <a:rPr sz="1500" b="0">
                          <a:solidFill>
                            <a:srgbClr val="2B2020"/>
                          </a:solidFill>
                          <a:latin typeface="ITC Avant Garde Gothic"/>
                        </a:rPr>
                        <a:t>Method (ALAGA; reference)</a:t>
                      </a:r>
                    </a:p>
                    <a:p>
                      <a:r>
                        <a:rPr sz="1500" b="0">
                          <a:solidFill>
                            <a:srgbClr val="2B2020"/>
                          </a:solidFill>
                          <a:latin typeface="ITC Avant Garde Gothic"/>
                        </a:rPr>
                        <a:t>Event (fall; daily activity)</a:t>
                      </a:r>
                    </a:p>
                    <a:p>
                      <a:r>
                        <a:rPr sz="1500" b="0">
                          <a:solidFill>
                            <a:srgbClr val="2B2020"/>
                          </a:solidFill>
                          <a:latin typeface="ITC Avant Garde Gothic"/>
                        </a:rPr>
                        <a:t>Body (soft; rigid)</a:t>
                      </a:r>
                    </a:p>
                  </a:txBody>
                  <a:tcPr>
                    <a:solidFill>
                      <a:srgbClr val="FFFFFF"/>
                    </a:solidFill>
                  </a:tcPr>
                </a:tc>
                <a:tc>
                  <a:txBody>
                    <a:bodyPr/>
                    <a:lstStyle/>
                    <a:p>
                      <a:r>
                        <a:rPr sz="1500" b="0">
                          <a:solidFill>
                            <a:srgbClr val="2B2020"/>
                          </a:solidFill>
                          <a:latin typeface="ITC Avant Garde Gothic"/>
                        </a:rPr>
                        <a:t>Arrival rate, stop distance</a:t>
                      </a:r>
                    </a:p>
                    <a:p>
                      <a:r>
                        <a:rPr sz="1500" b="0">
                          <a:solidFill>
                            <a:srgbClr val="2B2020"/>
                          </a:solidFill>
                          <a:latin typeface="ITC Avant Garde Gothic"/>
                        </a:rPr>
                        <a:t>Bias, LoA, Arms</a:t>
                      </a:r>
                    </a:p>
                    <a:p>
                      <a:r>
                        <a:rPr sz="1500" b="0">
                          <a:solidFill>
                            <a:srgbClr val="2B2020"/>
                          </a:solidFill>
                          <a:latin typeface="ITC Avant Garde Gothic"/>
                        </a:rPr>
                        <a:t>Sensitivity, specificity, alert time</a:t>
                      </a:r>
                    </a:p>
                    <a:p>
                      <a:r>
                        <a:rPr sz="1500" b="0">
                          <a:solidFill>
                            <a:srgbClr val="2B2020"/>
                          </a:solidFill>
                          <a:latin typeface="ITC Avant Garde Gothic"/>
                        </a:rPr>
                        <a:t>SUS; approachability</a:t>
                      </a:r>
                    </a:p>
                  </a:txBody>
                  <a:tcPr>
                    <a:solidFill>
                      <a:srgbClr val="FFFFFF"/>
                    </a:solidFill>
                  </a:tcPr>
                </a:tc>
                <a:tc>
                  <a:txBody>
                    <a:bodyPr/>
                    <a:lstStyle/>
                    <a:p>
                      <a:r>
                        <a:rPr sz="1500" b="0">
                          <a:solidFill>
                            <a:srgbClr val="2B2020"/>
                          </a:solidFill>
                          <a:latin typeface="ITC Avant Garde Gothic"/>
                        </a:rPr>
                        <a:t>Tape route, speed 0.2 m/s</a:t>
                      </a:r>
                    </a:p>
                    <a:p>
                      <a:r>
                        <a:rPr sz="1500" b="0">
                          <a:solidFill>
                            <a:srgbClr val="2B2020"/>
                          </a:solidFill>
                          <a:latin typeface="ITC Avant Garde Gothic"/>
                        </a:rPr>
                        <a:t>Room 26–30 °C; 5-min rest</a:t>
                      </a:r>
                    </a:p>
                    <a:p>
                      <a:r>
                        <a:rPr sz="1500" b="0">
                          <a:solidFill>
                            <a:srgbClr val="2B2020"/>
                          </a:solidFill>
                          <a:latin typeface="ITC Avant Garde Gothic"/>
                        </a:rPr>
                        <a:t>Pendant at the chest</a:t>
                      </a:r>
                    </a:p>
                    <a:p>
                      <a:r>
                        <a:rPr sz="1500" b="0">
                          <a:solidFill>
                            <a:srgbClr val="2B2020"/>
                          </a:solidFill>
                          <a:latin typeface="ITC Avant Garde Gothic"/>
                        </a:rPr>
                        <a:t>Same prompts; order alternated</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Materials and Device</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12</a:t>
            </a:r>
            <a:endParaRPr lang="en-US" sz="1600" dirty="0">
              <a:latin typeface="ITC Avant Garde Gothic"/>
            </a:endParaRPr>
          </a:p>
        </p:txBody>
      </p:sp>
      <p:sp>
        <p:nvSpPr>
          <p:cNvPr id="23" name="Rectangle 22"/>
          <p:cNvSpPr/>
          <p:nvPr/>
        </p:nvSpPr>
        <p:spPr>
          <a:xfrm>
            <a:off x="822960" y="2103120"/>
            <a:ext cx="6766560" cy="745236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2240280"/>
            <a:ext cx="6217920" cy="457200"/>
          </a:xfrm>
          <a:prstGeom prst="rect">
            <a:avLst/>
          </a:prstGeom>
          <a:noFill/>
        </p:spPr>
        <p:txBody>
          <a:bodyPr wrap="square" anchor="t">
            <a:spAutoFit/>
          </a:bodyPr>
          <a:lstStyle/>
          <a:p>
            <a:pPr algn="l">
              <a:spcAft>
                <a:spcPts val="855"/>
              </a:spcAft>
            </a:pPr>
            <a:r>
              <a:rPr sz="1900" b="1">
                <a:solidFill>
                  <a:srgbClr val="8B0707"/>
                </a:solidFill>
                <a:latin typeface="ITC Avant Garde Gothic"/>
              </a:rPr>
              <a:t>Device specification</a:t>
            </a:r>
          </a:p>
        </p:txBody>
      </p:sp>
      <p:sp>
        <p:nvSpPr>
          <p:cNvPr id="25" name="TextBox 24"/>
          <p:cNvSpPr txBox="1"/>
          <p:nvPr/>
        </p:nvSpPr>
        <p:spPr>
          <a:xfrm>
            <a:off x="1143000" y="2788920"/>
            <a:ext cx="6217920" cy="6675120"/>
          </a:xfrm>
          <a:prstGeom prst="rect">
            <a:avLst/>
          </a:prstGeom>
          <a:noFill/>
        </p:spPr>
        <p:txBody>
          <a:bodyPr wrap="square" anchor="t">
            <a:spAutoFit/>
          </a:bodyPr>
          <a:lstStyle/>
          <a:p>
            <a:pPr algn="l">
              <a:spcAft>
                <a:spcPts val="630"/>
              </a:spcAft>
            </a:pPr>
            <a:r>
              <a:rPr sz="1400" b="0">
                <a:solidFill>
                  <a:srgbClr val="2B2020"/>
                </a:solidFill>
                <a:latin typeface="ITC Avant Garde Gothic"/>
              </a:rPr>
              <a:t>•  Body: white ripstop nylon, about 1.35 m tall in all, kept inflated by a 12 V blower fan.</a:t>
            </a:r>
          </a:p>
          <a:p>
            <a:pPr algn="l">
              <a:spcAft>
                <a:spcPts val="630"/>
              </a:spcAft>
            </a:pPr>
            <a:r>
              <a:rPr sz="1400" b="0">
                <a:solidFill>
                  <a:srgbClr val="2B2020"/>
                </a:solidFill>
                <a:latin typeface="ITC Avant Garde Gothic"/>
              </a:rPr>
              <a:t>•  Base: 40 × 40 cm plywood, 2 geared motors with 65-mm wheels, front caster, top speed 0.2 m/s.</a:t>
            </a:r>
          </a:p>
          <a:p>
            <a:pPr algn="l">
              <a:spcAft>
                <a:spcPts val="630"/>
              </a:spcAft>
            </a:pPr>
            <a:r>
              <a:rPr sz="1400" b="0">
                <a:solidFill>
                  <a:srgbClr val="2B2020"/>
                </a:solidFill>
                <a:latin typeface="ITC Avant Garde Gothic"/>
              </a:rPr>
              <a:t>•  Front: 5-channel line sensor, HC-SR04, bumper. Chest: thermometer, finger slot, dial, button, OLED.</a:t>
            </a:r>
          </a:p>
          <a:p>
            <a:pPr algn="l">
              <a:spcAft>
                <a:spcPts val="630"/>
              </a:spcAft>
            </a:pPr>
            <a:r>
              <a:rPr sz="1400" b="0">
                <a:solidFill>
                  <a:srgbClr val="2B2020"/>
                </a:solidFill>
                <a:latin typeface="ITC Avant Garde Gothic"/>
              </a:rPr>
              <a:t>•  ESP32 with Telegram over Wi-Fi and ESP-NOW for the pendant; 12 V 7 Ah battery.</a:t>
            </a:r>
          </a:p>
          <a:p>
            <a:pPr algn="l">
              <a:spcAft>
                <a:spcPts val="630"/>
              </a:spcAft>
            </a:pPr>
            <a:r>
              <a:rPr sz="1400" b="0">
                <a:solidFill>
                  <a:srgbClr val="2B2020"/>
                </a:solidFill>
                <a:latin typeface="ITC Avant Garde Gothic"/>
              </a:rPr>
              <a:t>•  Pendant: ESP32-C3, MPU6050, buzzer, SOS button, 400 mAh battery on a neck cord.</a:t>
            </a:r>
          </a:p>
        </p:txBody>
      </p:sp>
      <p:sp>
        <p:nvSpPr>
          <p:cNvPr id="26" name="TextBox 25"/>
          <p:cNvSpPr txBox="1"/>
          <p:nvPr/>
        </p:nvSpPr>
        <p:spPr>
          <a:xfrm>
            <a:off x="7863840" y="2075688"/>
            <a:ext cx="9601200" cy="384048"/>
          </a:xfrm>
          <a:prstGeom prst="rect">
            <a:avLst/>
          </a:prstGeom>
          <a:noFill/>
        </p:spPr>
        <p:txBody>
          <a:bodyPr wrap="square" anchor="t">
            <a:spAutoFit/>
          </a:bodyPr>
          <a:lstStyle/>
          <a:p>
            <a:pPr algn="l">
              <a:spcAft>
                <a:spcPts val="630"/>
              </a:spcAft>
            </a:pPr>
            <a:r>
              <a:rPr sz="1400" b="0">
                <a:solidFill>
                  <a:srgbClr val="6A5656"/>
                </a:solidFill>
                <a:latin typeface="ITC Avant Garde Gothic"/>
              </a:rPr>
              <a:t>Table 6. Materials and Components of ALAGA</a:t>
            </a:r>
          </a:p>
        </p:txBody>
      </p:sp>
      <p:graphicFrame>
        <p:nvGraphicFramePr>
          <p:cNvPr id="27" name="Table 26"/>
          <p:cNvGraphicFramePr>
            <a:graphicFrameLocks noGrp="1"/>
          </p:cNvGraphicFramePr>
          <p:nvPr/>
        </p:nvGraphicFramePr>
        <p:xfrm>
          <a:off x="7863840" y="2514600"/>
          <a:ext cx="9601200" cy="6537960"/>
        </p:xfrm>
        <a:graphic>
          <a:graphicData uri="http://schemas.openxmlformats.org/drawingml/2006/table">
            <a:tbl>
              <a:tblPr firstRow="1" bandRow="1">
                <a:tableStyleId>{5C22544A-7EE6-4342-B048-85BDC9FD1C3A}</a:tableStyleId>
              </a:tblPr>
              <a:tblGrid>
                <a:gridCol w="3931920"/>
                <a:gridCol w="1554480"/>
                <a:gridCol w="4114800"/>
              </a:tblGrid>
              <a:tr h="502920">
                <a:tc>
                  <a:txBody>
                    <a:bodyPr/>
                    <a:lstStyle/>
                    <a:p>
                      <a:r>
                        <a:rPr sz="1200" b="1">
                          <a:solidFill>
                            <a:srgbClr val="FFFFFF"/>
                          </a:solidFill>
                          <a:latin typeface="ITC Avant Garde Gothic"/>
                        </a:rPr>
                        <a:t>Material / Component</a:t>
                      </a:r>
                    </a:p>
                  </a:txBody>
                  <a:tcPr>
                    <a:solidFill>
                      <a:srgbClr val="8B0707"/>
                    </a:solidFill>
                  </a:tcPr>
                </a:tc>
                <a:tc>
                  <a:txBody>
                    <a:bodyPr/>
                    <a:lstStyle/>
                    <a:p>
                      <a:r>
                        <a:rPr sz="1200" b="1">
                          <a:solidFill>
                            <a:srgbClr val="FFFFFF"/>
                          </a:solidFill>
                          <a:latin typeface="ITC Avant Garde Gothic"/>
                        </a:rPr>
                        <a:t>Quantity</a:t>
                      </a:r>
                    </a:p>
                  </a:txBody>
                  <a:tcPr>
                    <a:solidFill>
                      <a:srgbClr val="8B0707"/>
                    </a:solidFill>
                  </a:tcPr>
                </a:tc>
                <a:tc>
                  <a:txBody>
                    <a:bodyPr/>
                    <a:lstStyle/>
                    <a:p>
                      <a:r>
                        <a:rPr sz="1200" b="1">
                          <a:solidFill>
                            <a:srgbClr val="FFFFFF"/>
                          </a:solidFill>
                          <a:latin typeface="ITC Avant Garde Gothic"/>
                        </a:rPr>
                        <a:t>Purpose</a:t>
                      </a:r>
                    </a:p>
                  </a:txBody>
                  <a:tcPr>
                    <a:solidFill>
                      <a:srgbClr val="8B0707"/>
                    </a:solidFill>
                  </a:tcPr>
                </a:tc>
              </a:tr>
              <a:tr h="502920">
                <a:tc>
                  <a:txBody>
                    <a:bodyPr/>
                    <a:lstStyle/>
                    <a:p>
                      <a:r>
                        <a:rPr sz="1200" b="0">
                          <a:solidFill>
                            <a:srgbClr val="8B0707"/>
                          </a:solidFill>
                          <a:latin typeface="ITC Avant Garde Gothic"/>
                        </a:rPr>
                        <a:t>White 70D ripstop nylon, seam tape, zipper</a:t>
                      </a:r>
                    </a:p>
                  </a:txBody>
                  <a:tcPr>
                    <a:solidFill>
                      <a:srgbClr val="FFFFFF"/>
                    </a:solidFill>
                  </a:tcPr>
                </a:tc>
                <a:tc>
                  <a:txBody>
                    <a:bodyPr/>
                    <a:lstStyle/>
                    <a:p>
                      <a:r>
                        <a:rPr sz="1200" b="0">
                          <a:solidFill>
                            <a:srgbClr val="2B2020"/>
                          </a:solidFill>
                          <a:latin typeface="ITC Avant Garde Gothic"/>
                        </a:rPr>
                        <a:t>3 m; 1 set</a:t>
                      </a:r>
                    </a:p>
                  </a:txBody>
                  <a:tcPr>
                    <a:solidFill>
                      <a:srgbClr val="FFFFFF"/>
                    </a:solidFill>
                  </a:tcPr>
                </a:tc>
                <a:tc>
                  <a:txBody>
                    <a:bodyPr/>
                    <a:lstStyle/>
                    <a:p>
                      <a:r>
                        <a:rPr sz="1200" b="0">
                          <a:solidFill>
                            <a:srgbClr val="2B2020"/>
                          </a:solidFill>
                          <a:latin typeface="ITC Avant Garde Gothic"/>
                        </a:rPr>
                        <a:t>Inflatable body and head</a:t>
                      </a:r>
                    </a:p>
                  </a:txBody>
                  <a:tcPr>
                    <a:solidFill>
                      <a:srgbClr val="FFFFFF"/>
                    </a:solidFill>
                  </a:tcPr>
                </a:tc>
              </a:tr>
              <a:tr h="502920">
                <a:tc>
                  <a:txBody>
                    <a:bodyPr/>
                    <a:lstStyle/>
                    <a:p>
                      <a:r>
                        <a:rPr sz="1200" b="0">
                          <a:solidFill>
                            <a:srgbClr val="8B0707"/>
                          </a:solidFill>
                          <a:latin typeface="ITC Avant Garde Gothic"/>
                        </a:rPr>
                        <a:t>12 V DC blower fan with finger guard</a:t>
                      </a:r>
                    </a:p>
                  </a:txBody>
                  <a:tcPr>
                    <a:solidFill>
                      <a:srgbClr val="F8EAEA"/>
                    </a:solidFill>
                  </a:tcPr>
                </a:tc>
                <a:tc>
                  <a:txBody>
                    <a:bodyPr/>
                    <a:lstStyle/>
                    <a:p>
                      <a:r>
                        <a:rPr sz="1200" b="0">
                          <a:solidFill>
                            <a:srgbClr val="2B2020"/>
                          </a:solidFill>
                          <a:latin typeface="ITC Avant Garde Gothic"/>
                        </a:rPr>
                        <a:t>1</a:t>
                      </a:r>
                    </a:p>
                  </a:txBody>
                  <a:tcPr>
                    <a:solidFill>
                      <a:srgbClr val="F8EAEA"/>
                    </a:solidFill>
                  </a:tcPr>
                </a:tc>
                <a:tc>
                  <a:txBody>
                    <a:bodyPr/>
                    <a:lstStyle/>
                    <a:p>
                      <a:r>
                        <a:rPr sz="1200" b="0">
                          <a:solidFill>
                            <a:srgbClr val="2B2020"/>
                          </a:solidFill>
                          <a:latin typeface="ITC Avant Garde Gothic"/>
                        </a:rPr>
                        <a:t>Keeps the body inflated</a:t>
                      </a:r>
                    </a:p>
                  </a:txBody>
                  <a:tcPr>
                    <a:solidFill>
                      <a:srgbClr val="F8EAEA"/>
                    </a:solidFill>
                  </a:tcPr>
                </a:tc>
              </a:tr>
              <a:tr h="502920">
                <a:tc>
                  <a:txBody>
                    <a:bodyPr/>
                    <a:lstStyle/>
                    <a:p>
                      <a:r>
                        <a:rPr sz="1200" b="0">
                          <a:solidFill>
                            <a:srgbClr val="8B0707"/>
                          </a:solidFill>
                          <a:latin typeface="ITC Avant Garde Gothic"/>
                        </a:rPr>
                        <a:t>12 V geared motors with 65-mm wheels; caster</a:t>
                      </a:r>
                    </a:p>
                  </a:txBody>
                  <a:tcPr>
                    <a:solidFill>
                      <a:srgbClr val="FFFFFF"/>
                    </a:solidFill>
                  </a:tcPr>
                </a:tc>
                <a:tc>
                  <a:txBody>
                    <a:bodyPr/>
                    <a:lstStyle/>
                    <a:p>
                      <a:r>
                        <a:rPr sz="1200" b="0">
                          <a:solidFill>
                            <a:srgbClr val="2B2020"/>
                          </a:solidFill>
                          <a:latin typeface="ITC Avant Garde Gothic"/>
                        </a:rPr>
                        <a:t>2; 1</a:t>
                      </a:r>
                    </a:p>
                  </a:txBody>
                  <a:tcPr>
                    <a:solidFill>
                      <a:srgbClr val="FFFFFF"/>
                    </a:solidFill>
                  </a:tcPr>
                </a:tc>
                <a:tc>
                  <a:txBody>
                    <a:bodyPr/>
                    <a:lstStyle/>
                    <a:p>
                      <a:r>
                        <a:rPr sz="1200" b="0">
                          <a:solidFill>
                            <a:srgbClr val="2B2020"/>
                          </a:solidFill>
                          <a:latin typeface="ITC Avant Garde Gothic"/>
                        </a:rPr>
                        <a:t>Two-wheel-drive base</a:t>
                      </a:r>
                    </a:p>
                  </a:txBody>
                  <a:tcPr>
                    <a:solidFill>
                      <a:srgbClr val="FFFFFF"/>
                    </a:solidFill>
                  </a:tcPr>
                </a:tc>
              </a:tr>
              <a:tr h="502920">
                <a:tc>
                  <a:txBody>
                    <a:bodyPr/>
                    <a:lstStyle/>
                    <a:p>
                      <a:r>
                        <a:rPr sz="1200" b="0">
                          <a:solidFill>
                            <a:srgbClr val="8B0707"/>
                          </a:solidFill>
                          <a:latin typeface="ITC Avant Garde Gothic"/>
                        </a:rPr>
                        <a:t>L298N driver; 5-channel line sensor; bumper</a:t>
                      </a:r>
                    </a:p>
                  </a:txBody>
                  <a:tcPr>
                    <a:solidFill>
                      <a:srgbClr val="F8EAEA"/>
                    </a:solidFill>
                  </a:tcPr>
                </a:tc>
                <a:tc>
                  <a:txBody>
                    <a:bodyPr/>
                    <a:lstStyle/>
                    <a:p>
                      <a:r>
                        <a:rPr sz="1200" b="0">
                          <a:solidFill>
                            <a:srgbClr val="2B2020"/>
                          </a:solidFill>
                          <a:latin typeface="ITC Avant Garde Gothic"/>
                        </a:rPr>
                        <a:t>1 each</a:t>
                      </a:r>
                    </a:p>
                  </a:txBody>
                  <a:tcPr>
                    <a:solidFill>
                      <a:srgbClr val="F8EAEA"/>
                    </a:solidFill>
                  </a:tcPr>
                </a:tc>
                <a:tc>
                  <a:txBody>
                    <a:bodyPr/>
                    <a:lstStyle/>
                    <a:p>
                      <a:r>
                        <a:rPr sz="1200" b="0">
                          <a:solidFill>
                            <a:srgbClr val="2B2020"/>
                          </a:solidFill>
                          <a:latin typeface="ITC Avant Garde Gothic"/>
                        </a:rPr>
                        <a:t>Driving and route following</a:t>
                      </a:r>
                    </a:p>
                  </a:txBody>
                  <a:tcPr>
                    <a:solidFill>
                      <a:srgbClr val="F8EAEA"/>
                    </a:solidFill>
                  </a:tcPr>
                </a:tc>
              </a:tr>
              <a:tr h="502920">
                <a:tc>
                  <a:txBody>
                    <a:bodyPr/>
                    <a:lstStyle/>
                    <a:p>
                      <a:r>
                        <a:rPr sz="1200" b="0">
                          <a:solidFill>
                            <a:srgbClr val="8B0707"/>
                          </a:solidFill>
                          <a:latin typeface="ITC Avant Garde Gothic"/>
                        </a:rPr>
                        <a:t>ESP32 development board</a:t>
                      </a:r>
                    </a:p>
                  </a:txBody>
                  <a:tcPr>
                    <a:solidFill>
                      <a:srgbClr val="FFFFFF"/>
                    </a:solidFill>
                  </a:tcPr>
                </a:tc>
                <a:tc>
                  <a:txBody>
                    <a:bodyPr/>
                    <a:lstStyle/>
                    <a:p>
                      <a:r>
                        <a:rPr sz="1200" b="0">
                          <a:solidFill>
                            <a:srgbClr val="2B2020"/>
                          </a:solidFill>
                          <a:latin typeface="ITC Avant Garde Gothic"/>
                        </a:rPr>
                        <a:t>1</a:t>
                      </a:r>
                    </a:p>
                  </a:txBody>
                  <a:tcPr>
                    <a:solidFill>
                      <a:srgbClr val="FFFFFF"/>
                    </a:solidFill>
                  </a:tcPr>
                </a:tc>
                <a:tc>
                  <a:txBody>
                    <a:bodyPr/>
                    <a:lstStyle/>
                    <a:p>
                      <a:r>
                        <a:rPr sz="1200" b="0">
                          <a:solidFill>
                            <a:srgbClr val="2B2020"/>
                          </a:solidFill>
                          <a:latin typeface="ITC Avant Garde Gothic"/>
                        </a:rPr>
                        <a:t>Controller, Wi-Fi, ESP-NOW</a:t>
                      </a:r>
                    </a:p>
                  </a:txBody>
                  <a:tcPr>
                    <a:solidFill>
                      <a:srgbClr val="FFFFFF"/>
                    </a:solidFill>
                  </a:tcPr>
                </a:tc>
              </a:tr>
              <a:tr h="502920">
                <a:tc>
                  <a:txBody>
                    <a:bodyPr/>
                    <a:lstStyle/>
                    <a:p>
                      <a:r>
                        <a:rPr sz="1200" b="0">
                          <a:solidFill>
                            <a:srgbClr val="8B0707"/>
                          </a:solidFill>
                          <a:latin typeface="ITC Avant Garde Gothic"/>
                        </a:rPr>
                        <a:t>MLX90614; MAX30102</a:t>
                      </a:r>
                    </a:p>
                  </a:txBody>
                  <a:tcPr>
                    <a:solidFill>
                      <a:srgbClr val="F8EAEA"/>
                    </a:solidFill>
                  </a:tcPr>
                </a:tc>
                <a:tc>
                  <a:txBody>
                    <a:bodyPr/>
                    <a:lstStyle/>
                    <a:p>
                      <a:r>
                        <a:rPr sz="1200" b="0">
                          <a:solidFill>
                            <a:srgbClr val="2B2020"/>
                          </a:solidFill>
                          <a:latin typeface="ITC Avant Garde Gothic"/>
                        </a:rPr>
                        <a:t>1 each</a:t>
                      </a:r>
                    </a:p>
                  </a:txBody>
                  <a:tcPr>
                    <a:solidFill>
                      <a:srgbClr val="F8EAEA"/>
                    </a:solidFill>
                  </a:tcPr>
                </a:tc>
                <a:tc>
                  <a:txBody>
                    <a:bodyPr/>
                    <a:lstStyle/>
                    <a:p>
                      <a:r>
                        <a:rPr sz="1200" b="0">
                          <a:solidFill>
                            <a:srgbClr val="2B2020"/>
                          </a:solidFill>
                          <a:latin typeface="ITC Avant Garde Gothic"/>
                        </a:rPr>
                        <a:t>Temperature, pulse rate, SpO₂</a:t>
                      </a:r>
                    </a:p>
                  </a:txBody>
                  <a:tcPr>
                    <a:solidFill>
                      <a:srgbClr val="F8EAEA"/>
                    </a:solidFill>
                  </a:tcPr>
                </a:tc>
              </a:tr>
              <a:tr h="502920">
                <a:tc>
                  <a:txBody>
                    <a:bodyPr/>
                    <a:lstStyle/>
                    <a:p>
                      <a:r>
                        <a:rPr sz="1200" b="0">
                          <a:solidFill>
                            <a:srgbClr val="8B0707"/>
                          </a:solidFill>
                          <a:latin typeface="ITC Avant Garde Gothic"/>
                        </a:rPr>
                        <a:t>HC-SR04 ultrasonic sensor</a:t>
                      </a:r>
                    </a:p>
                  </a:txBody>
                  <a:tcPr>
                    <a:solidFill>
                      <a:srgbClr val="FFFFFF"/>
                    </a:solidFill>
                  </a:tcPr>
                </a:tc>
                <a:tc>
                  <a:txBody>
                    <a:bodyPr/>
                    <a:lstStyle/>
                    <a:p>
                      <a:r>
                        <a:rPr sz="1200" b="0">
                          <a:solidFill>
                            <a:srgbClr val="2B2020"/>
                          </a:solidFill>
                          <a:latin typeface="ITC Avant Garde Gothic"/>
                        </a:rPr>
                        <a:t>1</a:t>
                      </a:r>
                    </a:p>
                  </a:txBody>
                  <a:tcPr>
                    <a:solidFill>
                      <a:srgbClr val="FFFFFF"/>
                    </a:solidFill>
                  </a:tcPr>
                </a:tc>
                <a:tc>
                  <a:txBody>
                    <a:bodyPr/>
                    <a:lstStyle/>
                    <a:p>
                      <a:r>
                        <a:rPr sz="1200" b="0">
                          <a:solidFill>
                            <a:srgbClr val="2B2020"/>
                          </a:solidFill>
                          <a:latin typeface="ITC Avant Garde Gothic"/>
                        </a:rPr>
                        <a:t>Obstacle detection</a:t>
                      </a:r>
                    </a:p>
                  </a:txBody>
                  <a:tcPr>
                    <a:solidFill>
                      <a:srgbClr val="FFFFFF"/>
                    </a:solidFill>
                  </a:tcPr>
                </a:tc>
              </a:tr>
              <a:tr h="502920">
                <a:tc>
                  <a:txBody>
                    <a:bodyPr/>
                    <a:lstStyle/>
                    <a:p>
                      <a:r>
                        <a:rPr sz="1200" b="0">
                          <a:solidFill>
                            <a:srgbClr val="8B0707"/>
                          </a:solidFill>
                          <a:latin typeface="ITC Avant Garde Gothic"/>
                        </a:rPr>
                        <a:t>OLED; DFPlayer Mini, microSD, 3 W speaker</a:t>
                      </a:r>
                    </a:p>
                  </a:txBody>
                  <a:tcPr>
                    <a:solidFill>
                      <a:srgbClr val="F8EAEA"/>
                    </a:solidFill>
                  </a:tcPr>
                </a:tc>
                <a:tc>
                  <a:txBody>
                    <a:bodyPr/>
                    <a:lstStyle/>
                    <a:p>
                      <a:r>
                        <a:rPr sz="1200" b="0">
                          <a:solidFill>
                            <a:srgbClr val="2B2020"/>
                          </a:solidFill>
                          <a:latin typeface="ITC Avant Garde Gothic"/>
                        </a:rPr>
                        <a:t>1 set</a:t>
                      </a:r>
                    </a:p>
                  </a:txBody>
                  <a:tcPr>
                    <a:solidFill>
                      <a:srgbClr val="F8EAEA"/>
                    </a:solidFill>
                  </a:tcPr>
                </a:tc>
                <a:tc>
                  <a:txBody>
                    <a:bodyPr/>
                    <a:lstStyle/>
                    <a:p>
                      <a:r>
                        <a:rPr sz="1200" b="0">
                          <a:solidFill>
                            <a:srgbClr val="2B2020"/>
                          </a:solidFill>
                          <a:latin typeface="ITC Avant Garde Gothic"/>
                        </a:rPr>
                        <a:t>Display and voice</a:t>
                      </a:r>
                    </a:p>
                  </a:txBody>
                  <a:tcPr>
                    <a:solidFill>
                      <a:srgbClr val="F8EAEA"/>
                    </a:solidFill>
                  </a:tcPr>
                </a:tc>
              </a:tr>
              <a:tr h="502920">
                <a:tc>
                  <a:txBody>
                    <a:bodyPr/>
                    <a:lstStyle/>
                    <a:p>
                      <a:r>
                        <a:rPr sz="1200" b="0">
                          <a:solidFill>
                            <a:srgbClr val="8B0707"/>
                          </a:solidFill>
                          <a:latin typeface="ITC Avant Garde Gothic"/>
                        </a:rPr>
                        <a:t>KY-037 sound sensor, button, 10 kΩ dial</a:t>
                      </a:r>
                    </a:p>
                  </a:txBody>
                  <a:tcPr>
                    <a:solidFill>
                      <a:srgbClr val="FFFFFF"/>
                    </a:solidFill>
                  </a:tcPr>
                </a:tc>
                <a:tc>
                  <a:txBody>
                    <a:bodyPr/>
                    <a:lstStyle/>
                    <a:p>
                      <a:r>
                        <a:rPr sz="1200" b="0">
                          <a:solidFill>
                            <a:srgbClr val="2B2020"/>
                          </a:solidFill>
                          <a:latin typeface="ITC Avant Garde Gothic"/>
                        </a:rPr>
                        <a:t>1 each</a:t>
                      </a:r>
                    </a:p>
                  </a:txBody>
                  <a:tcPr>
                    <a:solidFill>
                      <a:srgbClr val="FFFFFF"/>
                    </a:solidFill>
                  </a:tcPr>
                </a:tc>
                <a:tc>
                  <a:txBody>
                    <a:bodyPr/>
                    <a:lstStyle/>
                    <a:p>
                      <a:r>
                        <a:rPr sz="1200" b="0">
                          <a:solidFill>
                            <a:srgbClr val="2B2020"/>
                          </a:solidFill>
                          <a:latin typeface="ITC Avant Garde Gothic"/>
                        </a:rPr>
                        <a:t>Calling, confirming, choosing</a:t>
                      </a:r>
                    </a:p>
                  </a:txBody>
                  <a:tcPr>
                    <a:solidFill>
                      <a:srgbClr val="FFFFFF"/>
                    </a:solidFill>
                  </a:tcPr>
                </a:tc>
              </a:tr>
              <a:tr h="502920">
                <a:tc>
                  <a:txBody>
                    <a:bodyPr/>
                    <a:lstStyle/>
                    <a:p>
                      <a:r>
                        <a:rPr sz="1200" b="0">
                          <a:solidFill>
                            <a:srgbClr val="8B0707"/>
                          </a:solidFill>
                          <a:latin typeface="ITC Avant Garde Gothic"/>
                        </a:rPr>
                        <a:t>12 V 7 Ah battery, LM2596, D4184, fuse</a:t>
                      </a:r>
                    </a:p>
                  </a:txBody>
                  <a:tcPr>
                    <a:solidFill>
                      <a:srgbClr val="F8EAEA"/>
                    </a:solidFill>
                  </a:tcPr>
                </a:tc>
                <a:tc>
                  <a:txBody>
                    <a:bodyPr/>
                    <a:lstStyle/>
                    <a:p>
                      <a:r>
                        <a:rPr sz="1200" b="0">
                          <a:solidFill>
                            <a:srgbClr val="2B2020"/>
                          </a:solidFill>
                          <a:latin typeface="ITC Avant Garde Gothic"/>
                        </a:rPr>
                        <a:t>1 set</a:t>
                      </a:r>
                    </a:p>
                  </a:txBody>
                  <a:tcPr>
                    <a:solidFill>
                      <a:srgbClr val="F8EAEA"/>
                    </a:solidFill>
                  </a:tcPr>
                </a:tc>
                <a:tc>
                  <a:txBody>
                    <a:bodyPr/>
                    <a:lstStyle/>
                    <a:p>
                      <a:r>
                        <a:rPr sz="1200" b="0">
                          <a:solidFill>
                            <a:srgbClr val="2B2020"/>
                          </a:solidFill>
                          <a:latin typeface="ITC Avant Garde Gothic"/>
                        </a:rPr>
                        <a:t>Power and fan switch</a:t>
                      </a:r>
                    </a:p>
                  </a:txBody>
                  <a:tcPr>
                    <a:solidFill>
                      <a:srgbClr val="F8EAEA"/>
                    </a:solidFill>
                  </a:tcPr>
                </a:tc>
              </a:tr>
              <a:tr h="502920">
                <a:tc>
                  <a:txBody>
                    <a:bodyPr/>
                    <a:lstStyle/>
                    <a:p>
                      <a:r>
                        <a:rPr sz="1200" b="0">
                          <a:solidFill>
                            <a:srgbClr val="8B0707"/>
                          </a:solidFill>
                          <a:latin typeface="ITC Avant Garde Gothic"/>
                        </a:rPr>
                        <a:t>Pendant: ESP32-C3, MPU6050, buzzer, LiPo</a:t>
                      </a:r>
                    </a:p>
                  </a:txBody>
                  <a:tcPr>
                    <a:solidFill>
                      <a:srgbClr val="FFFFFF"/>
                    </a:solidFill>
                  </a:tcPr>
                </a:tc>
                <a:tc>
                  <a:txBody>
                    <a:bodyPr/>
                    <a:lstStyle/>
                    <a:p>
                      <a:r>
                        <a:rPr sz="1200" b="0">
                          <a:solidFill>
                            <a:srgbClr val="2B2020"/>
                          </a:solidFill>
                          <a:latin typeface="ITC Avant Garde Gothic"/>
                        </a:rPr>
                        <a:t>1 set</a:t>
                      </a:r>
                    </a:p>
                  </a:txBody>
                  <a:tcPr>
                    <a:solidFill>
                      <a:srgbClr val="FFFFFF"/>
                    </a:solidFill>
                  </a:tcPr>
                </a:tc>
                <a:tc>
                  <a:txBody>
                    <a:bodyPr/>
                    <a:lstStyle/>
                    <a:p>
                      <a:r>
                        <a:rPr sz="1200" b="0">
                          <a:solidFill>
                            <a:srgbClr val="2B2020"/>
                          </a:solidFill>
                          <a:latin typeface="ITC Avant Garde Gothic"/>
                        </a:rPr>
                        <a:t>Fall detection and SOS</a:t>
                      </a:r>
                    </a:p>
                  </a:txBody>
                  <a:tcPr>
                    <a:solidFill>
                      <a:srgbClr val="FFFFFF"/>
                    </a:solidFill>
                  </a:tcPr>
                </a:tc>
              </a:tr>
              <a:tr h="502920">
                <a:tc>
                  <a:txBody>
                    <a:bodyPr/>
                    <a:lstStyle/>
                    <a:p>
                      <a:r>
                        <a:rPr sz="1200" b="0">
                          <a:solidFill>
                            <a:srgbClr val="8B0707"/>
                          </a:solidFill>
                          <a:latin typeface="ITC Avant Garde Gothic"/>
                        </a:rPr>
                        <a:t>Reference thermometer and pulse oximeter</a:t>
                      </a:r>
                    </a:p>
                  </a:txBody>
                  <a:tcPr>
                    <a:solidFill>
                      <a:srgbClr val="F8EAEA"/>
                    </a:solidFill>
                  </a:tcPr>
                </a:tc>
                <a:tc>
                  <a:txBody>
                    <a:bodyPr/>
                    <a:lstStyle/>
                    <a:p>
                      <a:r>
                        <a:rPr sz="1200" b="0">
                          <a:solidFill>
                            <a:srgbClr val="2B2020"/>
                          </a:solidFill>
                          <a:latin typeface="ITC Avant Garde Gothic"/>
                        </a:rPr>
                        <a:t>1 each</a:t>
                      </a:r>
                    </a:p>
                  </a:txBody>
                  <a:tcPr>
                    <a:solidFill>
                      <a:srgbClr val="F8EAEA"/>
                    </a:solidFill>
                  </a:tcPr>
                </a:tc>
                <a:tc>
                  <a:txBody>
                    <a:bodyPr/>
                    <a:lstStyle/>
                    <a:p>
                      <a:r>
                        <a:rPr sz="1200" b="0">
                          <a:solidFill>
                            <a:srgbClr val="2B2020"/>
                          </a:solidFill>
                          <a:latin typeface="ITC Avant Garde Gothic"/>
                        </a:rPr>
                        <a:t>Reference readings (borrowed)</a:t>
                      </a:r>
                    </a:p>
                  </a:txBody>
                  <a:tcPr>
                    <a:solidFill>
                      <a:srgbClr val="F8EAEA"/>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txBody>
          <a:bodyPr/>
          <a:p/>
        </p:txBody>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Data Gathering Procedure</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13</a:t>
            </a:r>
            <a:endParaRPr lang="en-US" sz="1600" dirty="0">
              <a:latin typeface="ITC Avant Garde Gothic"/>
            </a:endParaRPr>
          </a:p>
        </p:txBody>
      </p:sp>
      <p:sp>
        <p:nvSpPr>
          <p:cNvPr id="23" name="Rectangle 22"/>
          <p:cNvSpPr/>
          <p:nvPr/>
        </p:nvSpPr>
        <p:spPr>
          <a:xfrm>
            <a:off x="82296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1</a:t>
            </a:r>
          </a:p>
        </p:txBody>
      </p:sp>
      <p:sp>
        <p:nvSpPr>
          <p:cNvPr id="25" name="TextBox 24"/>
          <p:cNvSpPr txBox="1"/>
          <p:nvPr/>
        </p:nvSpPr>
        <p:spPr>
          <a:xfrm>
            <a:off x="100584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Secure IRB approval, consent</a:t>
            </a:r>
          </a:p>
        </p:txBody>
      </p:sp>
      <p:sp>
        <p:nvSpPr>
          <p:cNvPr id="26" name="Right Arrow 25"/>
          <p:cNvSpPr/>
          <p:nvPr/>
        </p:nvSpPr>
        <p:spPr>
          <a:xfrm>
            <a:off x="3950207"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2</a:t>
            </a:r>
          </a:p>
        </p:txBody>
      </p:sp>
      <p:sp>
        <p:nvSpPr>
          <p:cNvPr id="29" name="TextBox 28"/>
          <p:cNvSpPr txBox="1"/>
          <p:nvPr/>
        </p:nvSpPr>
        <p:spPr>
          <a:xfrm>
            <a:off x="438912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Sew body; build wheeled base</a:t>
            </a:r>
          </a:p>
        </p:txBody>
      </p:sp>
      <p:sp>
        <p:nvSpPr>
          <p:cNvPr id="30" name="Right Arrow 29"/>
          <p:cNvSpPr/>
          <p:nvPr/>
        </p:nvSpPr>
        <p:spPr>
          <a:xfrm>
            <a:off x="7333488"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8952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3</a:t>
            </a:r>
          </a:p>
        </p:txBody>
      </p:sp>
      <p:sp>
        <p:nvSpPr>
          <p:cNvPr id="33" name="TextBox 32"/>
          <p:cNvSpPr txBox="1"/>
          <p:nvPr/>
        </p:nvSpPr>
        <p:spPr>
          <a:xfrm>
            <a:off x="777240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Wire robot and pendant</a:t>
            </a:r>
          </a:p>
        </p:txBody>
      </p:sp>
      <p:sp>
        <p:nvSpPr>
          <p:cNvPr id="34" name="Right Arrow 33"/>
          <p:cNvSpPr/>
          <p:nvPr/>
        </p:nvSpPr>
        <p:spPr>
          <a:xfrm>
            <a:off x="10716768"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97280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15568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4</a:t>
            </a:r>
          </a:p>
        </p:txBody>
      </p:sp>
      <p:sp>
        <p:nvSpPr>
          <p:cNvPr id="37" name="TextBox 36"/>
          <p:cNvSpPr txBox="1"/>
          <p:nvPr/>
        </p:nvSpPr>
        <p:spPr>
          <a:xfrm>
            <a:off x="1115568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Program tasks and alerts</a:t>
            </a:r>
          </a:p>
        </p:txBody>
      </p:sp>
      <p:sp>
        <p:nvSpPr>
          <p:cNvPr id="38" name="Right Arrow 37"/>
          <p:cNvSpPr/>
          <p:nvPr/>
        </p:nvSpPr>
        <p:spPr>
          <a:xfrm>
            <a:off x="14100048" y="3383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4356080" y="2194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38960" y="2331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5</a:t>
            </a:r>
          </a:p>
        </p:txBody>
      </p:sp>
      <p:sp>
        <p:nvSpPr>
          <p:cNvPr id="41" name="TextBox 40"/>
          <p:cNvSpPr txBox="1"/>
          <p:nvPr/>
        </p:nvSpPr>
        <p:spPr>
          <a:xfrm>
            <a:off x="14538960" y="2880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Tape the mock-home route</a:t>
            </a:r>
          </a:p>
        </p:txBody>
      </p:sp>
      <p:sp>
        <p:nvSpPr>
          <p:cNvPr id="42" name="Rectangle 41"/>
          <p:cNvSpPr/>
          <p:nvPr/>
        </p:nvSpPr>
        <p:spPr>
          <a:xfrm>
            <a:off x="82296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584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6</a:t>
            </a:r>
          </a:p>
        </p:txBody>
      </p:sp>
      <p:sp>
        <p:nvSpPr>
          <p:cNvPr id="44" name="TextBox 43"/>
          <p:cNvSpPr txBox="1"/>
          <p:nvPr/>
        </p:nvSpPr>
        <p:spPr>
          <a:xfrm>
            <a:off x="100584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Calibrate sensors, fall rule</a:t>
            </a:r>
          </a:p>
        </p:txBody>
      </p:sp>
      <p:sp>
        <p:nvSpPr>
          <p:cNvPr id="45" name="Right Arrow 44"/>
          <p:cNvSpPr/>
          <p:nvPr/>
        </p:nvSpPr>
        <p:spPr>
          <a:xfrm>
            <a:off x="3950207"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0624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8912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7</a:t>
            </a:r>
          </a:p>
        </p:txBody>
      </p:sp>
      <p:sp>
        <p:nvSpPr>
          <p:cNvPr id="48" name="TextBox 47"/>
          <p:cNvSpPr txBox="1"/>
          <p:nvPr/>
        </p:nvSpPr>
        <p:spPr>
          <a:xfrm>
            <a:off x="438912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Navigation and health trials</a:t>
            </a:r>
          </a:p>
        </p:txBody>
      </p:sp>
      <p:sp>
        <p:nvSpPr>
          <p:cNvPr id="49" name="Right Arrow 48"/>
          <p:cNvSpPr/>
          <p:nvPr/>
        </p:nvSpPr>
        <p:spPr>
          <a:xfrm>
            <a:off x="7333488"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58952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8</a:t>
            </a:r>
          </a:p>
        </p:txBody>
      </p:sp>
      <p:sp>
        <p:nvSpPr>
          <p:cNvPr id="52" name="TextBox 51"/>
          <p:cNvSpPr txBox="1"/>
          <p:nvPr/>
        </p:nvSpPr>
        <p:spPr>
          <a:xfrm>
            <a:off x="777240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Simulated falls, activities</a:t>
            </a:r>
          </a:p>
        </p:txBody>
      </p:sp>
      <p:sp>
        <p:nvSpPr>
          <p:cNvPr id="53" name="Right Arrow 52"/>
          <p:cNvSpPr/>
          <p:nvPr/>
        </p:nvSpPr>
        <p:spPr>
          <a:xfrm>
            <a:off x="10716768"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97280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15568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9</a:t>
            </a:r>
          </a:p>
        </p:txBody>
      </p:sp>
      <p:sp>
        <p:nvSpPr>
          <p:cNvPr id="56" name="TextBox 55"/>
          <p:cNvSpPr txBox="1"/>
          <p:nvPr/>
        </p:nvSpPr>
        <p:spPr>
          <a:xfrm>
            <a:off x="1115568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Reminders; usability test</a:t>
            </a:r>
          </a:p>
        </p:txBody>
      </p:sp>
      <p:sp>
        <p:nvSpPr>
          <p:cNvPr id="57" name="Right Arrow 56"/>
          <p:cNvSpPr/>
          <p:nvPr/>
        </p:nvSpPr>
        <p:spPr>
          <a:xfrm>
            <a:off x="14100048" y="6812280"/>
            <a:ext cx="237744" cy="365760"/>
          </a:xfrm>
          <a:prstGeom prst="rightArrow">
            <a:avLst/>
          </a:prstGeom>
          <a:solidFill>
            <a:srgbClr val="8B07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4356080" y="5623560"/>
            <a:ext cx="3108960" cy="2743200"/>
          </a:xfrm>
          <a:prstGeom prst="rect">
            <a:avLst/>
          </a:prstGeom>
          <a:solidFill>
            <a:srgbClr val="FFFFFF"/>
          </a:solidFill>
          <a:ln w="12700">
            <a:solidFill>
              <a:srgbClr val="8B0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538960" y="5760720"/>
            <a:ext cx="2743200" cy="457200"/>
          </a:xfrm>
          <a:prstGeom prst="rect">
            <a:avLst/>
          </a:prstGeom>
          <a:noFill/>
        </p:spPr>
        <p:txBody>
          <a:bodyPr wrap="square" anchor="t">
            <a:spAutoFit/>
          </a:bodyPr>
          <a:lstStyle/>
          <a:p>
            <a:pPr algn="l">
              <a:spcAft>
                <a:spcPts val="630"/>
              </a:spcAft>
            </a:pPr>
            <a:r>
              <a:rPr sz="1400" b="1">
                <a:solidFill>
                  <a:srgbClr val="8B0707"/>
                </a:solidFill>
                <a:latin typeface="ITC Avant Garde Gothic"/>
              </a:rPr>
              <a:t>Step 10</a:t>
            </a:r>
          </a:p>
        </p:txBody>
      </p:sp>
      <p:sp>
        <p:nvSpPr>
          <p:cNvPr id="60" name="TextBox 59"/>
          <p:cNvSpPr txBox="1"/>
          <p:nvPr/>
        </p:nvSpPr>
        <p:spPr>
          <a:xfrm>
            <a:off x="14538960" y="6309360"/>
            <a:ext cx="2743200" cy="1920240"/>
          </a:xfrm>
          <a:prstGeom prst="rect">
            <a:avLst/>
          </a:prstGeom>
          <a:noFill/>
        </p:spPr>
        <p:txBody>
          <a:bodyPr wrap="square" anchor="t">
            <a:spAutoFit/>
          </a:bodyPr>
          <a:lstStyle/>
          <a:p>
            <a:pPr algn="l">
              <a:spcAft>
                <a:spcPts val="810"/>
              </a:spcAft>
            </a:pPr>
            <a:r>
              <a:rPr sz="1800" b="0">
                <a:solidFill>
                  <a:srgbClr val="2B2020"/>
                </a:solidFill>
                <a:latin typeface="ITC Avant Garde Gothic"/>
              </a:rPr>
              <a:t>Bland–Altman, χ², t, Wilcoxon</a:t>
            </a:r>
          </a:p>
        </p:txBody>
      </p:sp>
      <p:sp>
        <p:nvSpPr>
          <p:cNvPr id="61" name="TextBox 60"/>
          <p:cNvSpPr txBox="1"/>
          <p:nvPr/>
        </p:nvSpPr>
        <p:spPr>
          <a:xfrm>
            <a:off x="822960" y="9098280"/>
            <a:ext cx="16642080" cy="384048"/>
          </a:xfrm>
          <a:prstGeom prst="rect">
            <a:avLst/>
          </a:prstGeom>
          <a:noFill/>
        </p:spPr>
        <p:txBody>
          <a:bodyPr wrap="square" anchor="t">
            <a:spAutoFit/>
          </a:bodyPr>
          <a:lstStyle/>
          <a:p>
            <a:pPr algn="l">
              <a:spcAft>
                <a:spcPts val="720"/>
              </a:spcAft>
            </a:pPr>
            <a:r>
              <a:rPr sz="1600">
                <a:solidFill>
                  <a:srgbClr val="6A5656"/>
                </a:solidFill>
                <a:latin typeface="ITC Avant Garde Gothic"/>
              </a:rPr>
              <a:t>Figure 3. Data gathering procedure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Treatment of Data</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14</a:t>
            </a:r>
            <a:endParaRPr lang="en-US" sz="1600" dirty="0">
              <a:latin typeface="ITC Avant Garde Gothic"/>
            </a:endParaRPr>
          </a:p>
        </p:txBody>
      </p:sp>
      <p:sp>
        <p:nvSpPr>
          <p:cNvPr id="23" name="Rectangle 22"/>
          <p:cNvSpPr/>
          <p:nvPr/>
        </p:nvSpPr>
        <p:spPr>
          <a:xfrm>
            <a:off x="822960" y="2103120"/>
            <a:ext cx="8229600" cy="740664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2240280"/>
            <a:ext cx="7680960" cy="457200"/>
          </a:xfrm>
          <a:prstGeom prst="rect">
            <a:avLst/>
          </a:prstGeom>
          <a:noFill/>
        </p:spPr>
        <p:txBody>
          <a:bodyPr wrap="square" anchor="t">
            <a:spAutoFit/>
          </a:bodyPr>
          <a:lstStyle/>
          <a:p>
            <a:pPr algn="l">
              <a:spcAft>
                <a:spcPts val="855"/>
              </a:spcAft>
            </a:pPr>
            <a:r>
              <a:rPr sz="1900" b="1">
                <a:solidFill>
                  <a:srgbClr val="8B0707"/>
                </a:solidFill>
                <a:latin typeface="ITC Avant Garde Gothic"/>
              </a:rPr>
              <a:t>Formulas</a:t>
            </a:r>
          </a:p>
        </p:txBody>
      </p:sp>
      <p:sp>
        <p:nvSpPr>
          <p:cNvPr id="25" name="TextBox 24"/>
          <p:cNvSpPr txBox="1"/>
          <p:nvPr/>
        </p:nvSpPr>
        <p:spPr>
          <a:xfrm>
            <a:off x="1143000" y="283464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Success = correct ÷ trips × 100</a:t>
            </a:r>
          </a:p>
        </p:txBody>
      </p:sp>
      <p:sp>
        <p:nvSpPr>
          <p:cNvPr id="26" name="TextBox 25"/>
          <p:cNvSpPr txBox="1"/>
          <p:nvPr/>
        </p:nvSpPr>
        <p:spPr>
          <a:xfrm>
            <a:off x="1143000" y="338328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navigation reliability (%)</a:t>
            </a:r>
          </a:p>
        </p:txBody>
      </p:sp>
      <p:sp>
        <p:nvSpPr>
          <p:cNvPr id="27" name="TextBox 26"/>
          <p:cNvSpPr txBox="1"/>
          <p:nvPr/>
        </p:nvSpPr>
        <p:spPr>
          <a:xfrm>
            <a:off x="1143000" y="429768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Bias = Σd ÷ n;  LoA = Bias ± 1.96 SD</a:t>
            </a:r>
          </a:p>
        </p:txBody>
      </p:sp>
      <p:sp>
        <p:nvSpPr>
          <p:cNvPr id="28" name="TextBox 27"/>
          <p:cNvSpPr txBox="1"/>
          <p:nvPr/>
        </p:nvSpPr>
        <p:spPr>
          <a:xfrm>
            <a:off x="1143000" y="484632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d = ALAGA − reference</a:t>
            </a:r>
          </a:p>
        </p:txBody>
      </p:sp>
      <p:sp>
        <p:nvSpPr>
          <p:cNvPr id="29" name="TextBox 28"/>
          <p:cNvSpPr txBox="1"/>
          <p:nvPr/>
        </p:nvSpPr>
        <p:spPr>
          <a:xfrm>
            <a:off x="1143000" y="576072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Arms = √(Σd² ÷ n)</a:t>
            </a:r>
          </a:p>
        </p:txBody>
      </p:sp>
      <p:sp>
        <p:nvSpPr>
          <p:cNvPr id="30" name="TextBox 29"/>
          <p:cNvSpPr txBox="1"/>
          <p:nvPr/>
        </p:nvSpPr>
        <p:spPr>
          <a:xfrm>
            <a:off x="1143000" y="630936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SpO₂ root-mean-square error (≤ 4%)</a:t>
            </a:r>
          </a:p>
        </p:txBody>
      </p:sp>
      <p:sp>
        <p:nvSpPr>
          <p:cNvPr id="31" name="TextBox 30"/>
          <p:cNvSpPr txBox="1"/>
          <p:nvPr/>
        </p:nvSpPr>
        <p:spPr>
          <a:xfrm>
            <a:off x="1143000" y="722376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Sens. = TP ÷ (TP + FN); Spec. = TN ÷ (TN + FP)</a:t>
            </a:r>
          </a:p>
        </p:txBody>
      </p:sp>
      <p:sp>
        <p:nvSpPr>
          <p:cNvPr id="32" name="TextBox 31"/>
          <p:cNvSpPr txBox="1"/>
          <p:nvPr/>
        </p:nvSpPr>
        <p:spPr>
          <a:xfrm>
            <a:off x="1143000" y="777240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falls detected; activities ignored</a:t>
            </a:r>
          </a:p>
        </p:txBody>
      </p:sp>
      <p:sp>
        <p:nvSpPr>
          <p:cNvPr id="33" name="TextBox 32"/>
          <p:cNvSpPr txBox="1"/>
          <p:nvPr/>
        </p:nvSpPr>
        <p:spPr>
          <a:xfrm>
            <a:off x="1143000" y="8686800"/>
            <a:ext cx="7680960" cy="914400"/>
          </a:xfrm>
          <a:prstGeom prst="rect">
            <a:avLst/>
          </a:prstGeom>
          <a:noFill/>
        </p:spPr>
        <p:txBody>
          <a:bodyPr wrap="square" anchor="t">
            <a:spAutoFit/>
          </a:bodyPr>
          <a:lstStyle/>
          <a:p>
            <a:pPr algn="l">
              <a:spcAft>
                <a:spcPts val="765"/>
              </a:spcAft>
            </a:pPr>
            <a:r>
              <a:rPr sz="1700" b="0">
                <a:solidFill>
                  <a:srgbClr val="2B2020"/>
                </a:solidFill>
                <a:latin typeface="ITC Avant Garde Gothic"/>
              </a:rPr>
              <a:t>t_alert = t_phone − t_event</a:t>
            </a:r>
          </a:p>
        </p:txBody>
      </p:sp>
      <p:sp>
        <p:nvSpPr>
          <p:cNvPr id="34" name="TextBox 33"/>
          <p:cNvSpPr txBox="1"/>
          <p:nvPr/>
        </p:nvSpPr>
        <p:spPr>
          <a:xfrm>
            <a:off x="1143000" y="9235440"/>
            <a:ext cx="7680960" cy="548640"/>
          </a:xfrm>
          <a:prstGeom prst="rect">
            <a:avLst/>
          </a:prstGeom>
          <a:noFill/>
        </p:spPr>
        <p:txBody>
          <a:bodyPr wrap="square" anchor="t">
            <a:spAutoFit/>
          </a:bodyPr>
          <a:lstStyle/>
          <a:p>
            <a:pPr algn="l">
              <a:spcAft>
                <a:spcPts val="585"/>
              </a:spcAft>
            </a:pPr>
            <a:r>
              <a:rPr sz="1300" b="0">
                <a:solidFill>
                  <a:srgbClr val="6A5656"/>
                </a:solidFill>
                <a:latin typeface="ITC Avant Garde Gothic"/>
              </a:rPr>
              <a:t>alert time (s)</a:t>
            </a:r>
          </a:p>
        </p:txBody>
      </p:sp>
      <p:sp>
        <p:nvSpPr>
          <p:cNvPr id="35" name="TextBox 34"/>
          <p:cNvSpPr txBox="1"/>
          <p:nvPr/>
        </p:nvSpPr>
        <p:spPr>
          <a:xfrm>
            <a:off x="9326880" y="2075688"/>
            <a:ext cx="8138160" cy="384048"/>
          </a:xfrm>
          <a:prstGeom prst="rect">
            <a:avLst/>
          </a:prstGeom>
          <a:noFill/>
        </p:spPr>
        <p:txBody>
          <a:bodyPr wrap="square" anchor="t">
            <a:spAutoFit/>
          </a:bodyPr>
          <a:lstStyle/>
          <a:p>
            <a:pPr algn="l">
              <a:spcAft>
                <a:spcPts val="855"/>
              </a:spcAft>
            </a:pPr>
            <a:r>
              <a:rPr sz="1900" b="1">
                <a:solidFill>
                  <a:srgbClr val="8B0707"/>
                </a:solidFill>
                <a:latin typeface="ITC Avant Garde Gothic"/>
              </a:rPr>
              <a:t>Statistical treatment</a:t>
            </a:r>
          </a:p>
        </p:txBody>
      </p:sp>
      <p:graphicFrame>
        <p:nvGraphicFramePr>
          <p:cNvPr id="36" name="Table 35"/>
          <p:cNvGraphicFramePr>
            <a:graphicFrameLocks noGrp="1"/>
          </p:cNvGraphicFramePr>
          <p:nvPr/>
        </p:nvGraphicFramePr>
        <p:xfrm>
          <a:off x="9326880" y="2560320"/>
          <a:ext cx="8138160" cy="6446520"/>
        </p:xfrm>
        <a:graphic>
          <a:graphicData uri="http://schemas.openxmlformats.org/drawingml/2006/table">
            <a:tbl>
              <a:tblPr firstRow="1" bandRow="1">
                <a:tableStyleId>{5C22544A-7EE6-4342-B048-85BDC9FD1C3A}</a:tableStyleId>
              </a:tblPr>
              <a:tblGrid>
                <a:gridCol w="822960"/>
                <a:gridCol w="4846320"/>
                <a:gridCol w="2468880"/>
              </a:tblGrid>
              <a:tr h="502920">
                <a:tc>
                  <a:txBody>
                    <a:bodyPr/>
                    <a:lstStyle/>
                    <a:p>
                      <a:r>
                        <a:rPr sz="1200" b="1">
                          <a:solidFill>
                            <a:srgbClr val="FFFFFF"/>
                          </a:solidFill>
                          <a:latin typeface="ITC Avant Garde Gothic"/>
                        </a:rPr>
                        <a:t>SOP</a:t>
                      </a:r>
                    </a:p>
                  </a:txBody>
                  <a:tcPr>
                    <a:solidFill>
                      <a:srgbClr val="8B0707"/>
                    </a:solidFill>
                  </a:tcPr>
                </a:tc>
                <a:tc>
                  <a:txBody>
                    <a:bodyPr/>
                    <a:lstStyle/>
                    <a:p>
                      <a:r>
                        <a:rPr sz="1200" b="1">
                          <a:solidFill>
                            <a:srgbClr val="FFFFFF"/>
                          </a:solidFill>
                          <a:latin typeface="ITC Avant Garde Gothic"/>
                        </a:rPr>
                        <a:t>Question</a:t>
                      </a:r>
                    </a:p>
                  </a:txBody>
                  <a:tcPr>
                    <a:solidFill>
                      <a:srgbClr val="8B0707"/>
                    </a:solidFill>
                  </a:tcPr>
                </a:tc>
                <a:tc>
                  <a:txBody>
                    <a:bodyPr/>
                    <a:lstStyle/>
                    <a:p>
                      <a:r>
                        <a:rPr sz="1200" b="1">
                          <a:solidFill>
                            <a:srgbClr val="FFFFFF"/>
                          </a:solidFill>
                          <a:latin typeface="ITC Avant Garde Gothic"/>
                        </a:rPr>
                        <a:t>Tool</a:t>
                      </a:r>
                    </a:p>
                  </a:txBody>
                  <a:tcPr>
                    <a:solidFill>
                      <a:srgbClr val="8B0707"/>
                    </a:solidFill>
                  </a:tcPr>
                </a:tc>
              </a:tr>
              <a:tr h="1188720">
                <a:tc>
                  <a:txBody>
                    <a:bodyPr/>
                    <a:lstStyle/>
                    <a:p>
                      <a:r>
                        <a:rPr sz="1200" b="0">
                          <a:solidFill>
                            <a:srgbClr val="8B0707"/>
                          </a:solidFill>
                          <a:latin typeface="ITC Avant Garde Gothic"/>
                        </a:rPr>
                        <a:t>S1</a:t>
                      </a:r>
                    </a:p>
                  </a:txBody>
                  <a:tcPr>
                    <a:solidFill>
                      <a:srgbClr val="FFFFFF"/>
                    </a:solidFill>
                  </a:tcPr>
                </a:tc>
                <a:tc>
                  <a:txBody>
                    <a:bodyPr/>
                    <a:lstStyle/>
                    <a:p>
                      <a:r>
                        <a:rPr sz="1200" b="0">
                          <a:solidFill>
                            <a:srgbClr val="2B2020"/>
                          </a:solidFill>
                          <a:latin typeface="ITC Avant Garde Gothic"/>
                        </a:rPr>
                        <a:t>Navigation</a:t>
                      </a:r>
                    </a:p>
                  </a:txBody>
                  <a:tcPr>
                    <a:solidFill>
                      <a:srgbClr val="FFFFFF"/>
                    </a:solidFill>
                  </a:tcPr>
                </a:tc>
                <a:tc>
                  <a:txBody>
                    <a:bodyPr/>
                    <a:lstStyle/>
                    <a:p>
                      <a:r>
                        <a:rPr sz="1200" b="0">
                          <a:solidFill>
                            <a:srgbClr val="2B2020"/>
                          </a:solidFill>
                          <a:latin typeface="ITC Avant Garde Gothic"/>
                        </a:rPr>
                        <a:t>Success rate; mean ± SD</a:t>
                      </a:r>
                    </a:p>
                  </a:txBody>
                  <a:tcPr>
                    <a:solidFill>
                      <a:srgbClr val="FFFFFF"/>
                    </a:solidFill>
                  </a:tcPr>
                </a:tc>
              </a:tr>
              <a:tr h="1188720">
                <a:tc>
                  <a:txBody>
                    <a:bodyPr/>
                    <a:lstStyle/>
                    <a:p>
                      <a:r>
                        <a:rPr sz="1200" b="0">
                          <a:solidFill>
                            <a:srgbClr val="8B0707"/>
                          </a:solidFill>
                          <a:latin typeface="ITC Avant Garde Gothic"/>
                        </a:rPr>
                        <a:t>S2</a:t>
                      </a:r>
                    </a:p>
                  </a:txBody>
                  <a:tcPr>
                    <a:solidFill>
                      <a:srgbClr val="F8EAEA"/>
                    </a:solidFill>
                  </a:tcPr>
                </a:tc>
                <a:tc>
                  <a:txBody>
                    <a:bodyPr/>
                    <a:lstStyle/>
                    <a:p>
                      <a:r>
                        <a:rPr sz="1200" b="0">
                          <a:solidFill>
                            <a:srgbClr val="2B2020"/>
                          </a:solidFill>
                          <a:latin typeface="ITC Avant Garde Gothic"/>
                        </a:rPr>
                        <a:t>Agreement with reference</a:t>
                      </a:r>
                    </a:p>
                  </a:txBody>
                  <a:tcPr>
                    <a:solidFill>
                      <a:srgbClr val="F8EAEA"/>
                    </a:solidFill>
                  </a:tcPr>
                </a:tc>
                <a:tc>
                  <a:txBody>
                    <a:bodyPr/>
                    <a:lstStyle/>
                    <a:p>
                      <a:r>
                        <a:rPr sz="1200" b="0">
                          <a:solidFill>
                            <a:srgbClr val="2B2020"/>
                          </a:solidFill>
                          <a:latin typeface="ITC Avant Garde Gothic"/>
                        </a:rPr>
                        <a:t>Bias, LoA, Arms; paired t-test</a:t>
                      </a:r>
                    </a:p>
                  </a:txBody>
                  <a:tcPr>
                    <a:solidFill>
                      <a:srgbClr val="F8EAEA"/>
                    </a:solidFill>
                  </a:tcPr>
                </a:tc>
              </a:tr>
              <a:tr h="1188720">
                <a:tc>
                  <a:txBody>
                    <a:bodyPr/>
                    <a:lstStyle/>
                    <a:p>
                      <a:r>
                        <a:rPr sz="1200" b="0">
                          <a:solidFill>
                            <a:srgbClr val="8B0707"/>
                          </a:solidFill>
                          <a:latin typeface="ITC Avant Garde Gothic"/>
                        </a:rPr>
                        <a:t>S3</a:t>
                      </a:r>
                    </a:p>
                  </a:txBody>
                  <a:tcPr>
                    <a:solidFill>
                      <a:srgbClr val="FFFFFF"/>
                    </a:solidFill>
                  </a:tcPr>
                </a:tc>
                <a:tc>
                  <a:txBody>
                    <a:bodyPr/>
                    <a:lstStyle/>
                    <a:p>
                      <a:r>
                        <a:rPr sz="1200" b="0">
                          <a:solidFill>
                            <a:srgbClr val="2B2020"/>
                          </a:solidFill>
                          <a:latin typeface="ITC Avant Garde Gothic"/>
                        </a:rPr>
                        <a:t>Falls and alerts</a:t>
                      </a:r>
                    </a:p>
                  </a:txBody>
                  <a:tcPr>
                    <a:solidFill>
                      <a:srgbClr val="FFFFFF"/>
                    </a:solidFill>
                  </a:tcPr>
                </a:tc>
                <a:tc>
                  <a:txBody>
                    <a:bodyPr/>
                    <a:lstStyle/>
                    <a:p>
                      <a:r>
                        <a:rPr sz="1200" b="0">
                          <a:solidFill>
                            <a:srgbClr val="2B2020"/>
                          </a:solidFill>
                          <a:latin typeface="ITC Avant Garde Gothic"/>
                        </a:rPr>
                        <a:t>Sensitivity, specificity; χ²</a:t>
                      </a:r>
                    </a:p>
                  </a:txBody>
                  <a:tcPr>
                    <a:solidFill>
                      <a:srgbClr val="FFFFFF"/>
                    </a:solidFill>
                  </a:tcPr>
                </a:tc>
              </a:tr>
              <a:tr h="1188720">
                <a:tc>
                  <a:txBody>
                    <a:bodyPr/>
                    <a:lstStyle/>
                    <a:p>
                      <a:r>
                        <a:rPr sz="1200" b="0">
                          <a:solidFill>
                            <a:srgbClr val="8B0707"/>
                          </a:solidFill>
                          <a:latin typeface="ITC Avant Garde Gothic"/>
                        </a:rPr>
                        <a:t>S4</a:t>
                      </a:r>
                    </a:p>
                  </a:txBody>
                  <a:tcPr>
                    <a:solidFill>
                      <a:srgbClr val="F8EAEA"/>
                    </a:solidFill>
                  </a:tcPr>
                </a:tc>
                <a:tc>
                  <a:txBody>
                    <a:bodyPr/>
                    <a:lstStyle/>
                    <a:p>
                      <a:r>
                        <a:rPr sz="1200" b="0">
                          <a:solidFill>
                            <a:srgbClr val="2B2020"/>
                          </a:solidFill>
                          <a:latin typeface="ITC Avant Garde Gothic"/>
                        </a:rPr>
                        <a:t>Reminders and messages</a:t>
                      </a:r>
                    </a:p>
                  </a:txBody>
                  <a:tcPr>
                    <a:solidFill>
                      <a:srgbClr val="F8EAEA"/>
                    </a:solidFill>
                  </a:tcPr>
                </a:tc>
                <a:tc>
                  <a:txBody>
                    <a:bodyPr/>
                    <a:lstStyle/>
                    <a:p>
                      <a:r>
                        <a:rPr sz="1200" b="0">
                          <a:solidFill>
                            <a:srgbClr val="2B2020"/>
                          </a:solidFill>
                          <a:latin typeface="ITC Avant Garde Gothic"/>
                        </a:rPr>
                        <a:t>Punctuality; delivery rate</a:t>
                      </a:r>
                    </a:p>
                  </a:txBody>
                  <a:tcPr>
                    <a:solidFill>
                      <a:srgbClr val="F8EAEA"/>
                    </a:solidFill>
                  </a:tcPr>
                </a:tc>
              </a:tr>
              <a:tr h="1188720">
                <a:tc>
                  <a:txBody>
                    <a:bodyPr/>
                    <a:lstStyle/>
                    <a:p>
                      <a:r>
                        <a:rPr sz="1200" b="0">
                          <a:solidFill>
                            <a:srgbClr val="8B0707"/>
                          </a:solidFill>
                          <a:latin typeface="ITC Avant Garde Gothic"/>
                        </a:rPr>
                        <a:t>S5</a:t>
                      </a:r>
                    </a:p>
                  </a:txBody>
                  <a:tcPr>
                    <a:solidFill>
                      <a:srgbClr val="FFFFFF"/>
                    </a:solidFill>
                  </a:tcPr>
                </a:tc>
                <a:tc>
                  <a:txBody>
                    <a:bodyPr/>
                    <a:lstStyle/>
                    <a:p>
                      <a:r>
                        <a:rPr sz="1200" b="0">
                          <a:solidFill>
                            <a:srgbClr val="2B2020"/>
                          </a:solidFill>
                          <a:latin typeface="ITC Avant Garde Gothic"/>
                        </a:rPr>
                        <a:t>Usability, approachability</a:t>
                      </a:r>
                    </a:p>
                  </a:txBody>
                  <a:tcPr>
                    <a:solidFill>
                      <a:srgbClr val="FFFFFF"/>
                    </a:solidFill>
                  </a:tcPr>
                </a:tc>
                <a:tc>
                  <a:txBody>
                    <a:bodyPr/>
                    <a:lstStyle/>
                    <a:p>
                      <a:r>
                        <a:rPr sz="1200" b="0">
                          <a:solidFill>
                            <a:srgbClr val="2B2020"/>
                          </a:solidFill>
                          <a:latin typeface="ITC Avant Garde Gothic"/>
                        </a:rPr>
                        <a:t>SUS; Wilcoxon signed-rank</a:t>
                      </a:r>
                    </a:p>
                  </a:txBody>
                  <a:tcPr>
                    <a:solidFill>
                      <a:srgbClr val="FFFFFF"/>
                    </a:solidFill>
                  </a:tcPr>
                </a:tc>
              </a:tr>
              <a:tr h="1188720">
                <a:tc>
                  <a:txBody>
                    <a:bodyPr/>
                    <a:lstStyle/>
                    <a:p>
                      <a:r>
                        <a:rPr sz="1200" b="0">
                          <a:solidFill>
                            <a:srgbClr val="8B0707"/>
                          </a:solidFill>
                          <a:latin typeface="ITC Avant Garde Gothic"/>
                        </a:rPr>
                        <a:t>S6</a:t>
                      </a:r>
                    </a:p>
                  </a:txBody>
                  <a:tcPr>
                    <a:solidFill>
                      <a:srgbClr val="FFFFFF"/>
                    </a:solidFill>
                  </a:tcPr>
                </a:tc>
                <a:tc>
                  <a:txBody>
                    <a:bodyPr/>
                    <a:lstStyle/>
                    <a:p>
                      <a:r>
                        <a:rPr sz="1200" b="0">
                          <a:solidFill>
                            <a:srgbClr val="2B2020"/>
                          </a:solidFill>
                          <a:latin typeface="ITC Avant Garde Gothic"/>
                        </a:rPr>
                        <a:t>Cost</a:t>
                      </a:r>
                    </a:p>
                  </a:txBody>
                  <a:tcPr>
                    <a:solidFill>
                      <a:srgbClr val="FFFFFF"/>
                    </a:solidFill>
                  </a:tcPr>
                </a:tc>
                <a:tc>
                  <a:txBody>
                    <a:bodyPr/>
                    <a:lstStyle/>
                    <a:p>
                      <a:r>
                        <a:rPr sz="1200" b="0">
                          <a:solidFill>
                            <a:srgbClr val="2B2020"/>
                          </a:solidFill>
                          <a:latin typeface="ITC Avant Garde Gothic"/>
                        </a:rPr>
                        <a:t>Itemized cost; PHP per day</a:t>
                      </a:r>
                    </a:p>
                  </a:txBody>
                  <a:tcPr>
                    <a:solidFill>
                      <a:srgbClr val="FFFFFF"/>
                    </a:solidFill>
                  </a:tcPr>
                </a:tc>
              </a:tr>
            </a:tbl>
          </a:graphicData>
        </a:graphic>
      </p:graphicFrame>
      <p:sp>
        <p:nvSpPr>
          <p:cNvPr id="37" name="TextBox 36"/>
          <p:cNvSpPr txBox="1"/>
          <p:nvPr/>
        </p:nvSpPr>
        <p:spPr>
          <a:xfrm>
            <a:off x="9326880" y="8869680"/>
            <a:ext cx="8138160" cy="548640"/>
          </a:xfrm>
          <a:prstGeom prst="rect">
            <a:avLst/>
          </a:prstGeom>
          <a:noFill/>
        </p:spPr>
        <p:txBody>
          <a:bodyPr wrap="square" anchor="t">
            <a:spAutoFit/>
          </a:bodyPr>
          <a:lstStyle/>
          <a:p>
            <a:pPr algn="l">
              <a:spcAft>
                <a:spcPts val="630"/>
              </a:spcAft>
            </a:pPr>
            <a:r>
              <a:rPr sz="1400">
                <a:solidFill>
                  <a:srgbClr val="6A5656"/>
                </a:solidFill>
                <a:latin typeface="ITC Avant Garde Gothic"/>
              </a:rPr>
              <a:t>α = 0.05; software: Microsoft Excel and JASP.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2">
              <a:alphaModFix amt="26000"/>
            </a:blip>
            <a:stretch>
              <a:fillRect l="0" t="0" r="0" b="0"/>
            </a:stretch>
          </a:blipFill>
        </p:spPr>
      </p:sp>
      <p:grpSp>
        <p:nvGrpSpPr>
          <p:cNvPr name="Group 3" id="3"/>
          <p:cNvGrpSpPr/>
          <p:nvPr/>
        </p:nvGrpSpPr>
        <p:grpSpPr>
          <a:xfrm rot="0">
            <a:off x="-514350" y="-959494"/>
            <a:ext cx="19524889" cy="2664593"/>
            <a:chOff x="0" y="0"/>
            <a:chExt cx="5142358" cy="701786"/>
          </a:xfrm>
        </p:grpSpPr>
        <p:sp>
          <p:nvSpPr>
            <p:cNvPr name="Freeform 4" id="4"/>
            <p:cNvSpPr/>
            <p:nvPr/>
          </p:nvSpPr>
          <p:spPr>
            <a:xfrm flipH="false" flipV="false" rot="0">
              <a:off x="0" y="0"/>
              <a:ext cx="5142357" cy="701786"/>
            </a:xfrm>
            <a:custGeom>
              <a:avLst/>
              <a:gdLst/>
              <a:ahLst/>
              <a:cxnLst/>
              <a:rect r="r" b="b" t="t" l="l"/>
              <a:pathLst>
                <a:path h="701786" w="5142357">
                  <a:moveTo>
                    <a:pt x="0" y="0"/>
                  </a:moveTo>
                  <a:lnTo>
                    <a:pt x="5142357" y="0"/>
                  </a:lnTo>
                  <a:lnTo>
                    <a:pt x="5142357" y="701786"/>
                  </a:lnTo>
                  <a:lnTo>
                    <a:pt x="0" y="701786"/>
                  </a:lnTo>
                  <a:close/>
                </a:path>
              </a:pathLst>
            </a:custGeom>
            <a:solidFill>
              <a:srgbClr val="8B0707"/>
            </a:solidFill>
          </p:spPr>
        </p:sp>
        <p:sp>
          <p:nvSpPr>
            <p:cNvPr name="TextBox 5" id="5"/>
            <p:cNvSpPr txBox="true"/>
            <p:nvPr/>
          </p:nvSpPr>
          <p:spPr>
            <a:xfrm>
              <a:off x="0" y="-76200"/>
              <a:ext cx="5142358" cy="777986"/>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213886" y="324392"/>
            <a:ext cx="17376398" cy="1229762"/>
          </a:xfrm>
          <a:prstGeom prst="rect">
            <a:avLst/>
          </a:prstGeom>
        </p:spPr>
        <p:txBody>
          <a:bodyPr anchor="t" rtlCol="false" tIns="0" lIns="0" bIns="0" rIns="0">
            <a:spAutoFit/>
          </a:bodyPr>
          <a:lstStyle/>
          <a:p>
            <a:pPr algn="l">
              <a:lnSpc>
                <a:spcPts val="7720"/>
              </a:lnSpc>
            </a:pPr>
            <a:r>
              <a:rPr lang="en-US" sz="8579">
                <a:solidFill>
                  <a:srgbClr val="FFFFFF"/>
                </a:solidFill>
                <a:latin typeface="ITC Avant Garde Gothic"/>
                <a:ea typeface="ITC Avant Garde Gothic"/>
                <a:cs typeface="ITC Avant Garde Gothic"/>
                <a:sym typeface="ITC Avant Garde Gothic"/>
              </a:rPr>
              <a:t>METHODOLOGY</a:t>
            </a:r>
          </a:p>
        </p:txBody>
      </p:sp>
      <p:sp>
        <p:nvSpPr>
          <p:cNvPr id="21" name="Subtitle"/>
          <p:cNvSpPr txBox="1"/>
          <p:nvPr/>
        </p:nvSpPr>
        <p:spPr>
          <a:xfrm>
            <a:off x="9509760" y="475488"/>
            <a:ext cx="8366760" cy="731520"/>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2600" dirty="0">
                <a:solidFill>
                  <a:srgbClr val="FFFFFF">
                    <a:alpha val="92000"/>
                  </a:srgbClr>
                </a:solidFill>
                <a:latin typeface="ITC Avant Garde Gothic"/>
                <a:ea typeface="ITC Avant Garde Gothic"/>
                <a:cs typeface="ITC Avant Garde Gothic"/>
                <a:sym typeface="ITC Avant Garde Gothic"/>
              </a:rPr>
              <a:t>Ethical Considerations and Safety</a:t>
            </a:r>
            <a:endParaRPr lang="en-US" sz="2600" dirty="0">
              <a:latin typeface="ITC Avant Garde Gothic"/>
            </a:endParaRPr>
          </a:p>
        </p:txBody>
      </p:sp>
      <p:sp>
        <p:nvSpPr>
          <p:cNvPr id="22" name="Slide number"/>
          <p:cNvSpPr txBox="1"/>
          <p:nvPr/>
        </p:nvSpPr>
        <p:spPr>
          <a:xfrm>
            <a:off x="17007840" y="9710928"/>
            <a:ext cx="914400" cy="384048"/>
          </a:xfrm>
          <a:prstGeom prst="rect">
            <a:avLst/>
          </a:prstGeom>
          <a:noFill/>
        </p:spPr>
        <p:txBody>
          <a:bodyPr wrap="square" lIns="0" tIns="0" rIns="0" bIns="0" anchor="ctr" rtlCol="0">
            <a:noAutofit/>
          </a:bodyPr>
          <a:lstStyle/>
          <a:p>
            <a:pPr algn="r">
              <a:lnSpc>
                <a:spcPct val="100000"/>
              </a:lnSpc>
              <a:spcBef>
                <a:spcPts val="0"/>
              </a:spcBef>
              <a:spcAft>
                <a:spcPts val="0"/>
              </a:spcAft>
              <a:buNone/>
            </a:pPr>
            <a:r>
              <a:rPr lang="en-US" sz="1600" dirty="0">
                <a:solidFill>
                  <a:srgbClr val="8B0707">
                    <a:alpha val="75000"/>
                  </a:srgbClr>
                </a:solidFill>
                <a:latin typeface="ITC Avant Garde Gothic"/>
                <a:ea typeface="ITC Avant Garde Gothic"/>
                <a:cs typeface="ITC Avant Garde Gothic"/>
                <a:sym typeface="ITC Avant Garde Gothic"/>
              </a:rPr>
              <a:t>15</a:t>
            </a:r>
            <a:endParaRPr lang="en-US" sz="1600" dirty="0">
              <a:latin typeface="ITC Avant Garde Gothic"/>
            </a:endParaRPr>
          </a:p>
        </p:txBody>
      </p:sp>
      <p:sp>
        <p:nvSpPr>
          <p:cNvPr id="23" name="Rectangle 22"/>
          <p:cNvSpPr/>
          <p:nvPr/>
        </p:nvSpPr>
        <p:spPr>
          <a:xfrm>
            <a:off x="822960" y="2103120"/>
            <a:ext cx="16642080" cy="7406640"/>
          </a:xfrm>
          <a:prstGeom prst="rect">
            <a:avLst/>
          </a:prstGeom>
          <a:solidFill>
            <a:srgbClr val="FFFFFF"/>
          </a:solidFill>
          <a:ln w="12700">
            <a:solidFill>
              <a:srgbClr val="E3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2377440"/>
            <a:ext cx="7680960" cy="6949440"/>
          </a:xfrm>
          <a:prstGeom prst="rect">
            <a:avLst/>
          </a:prstGeom>
          <a:noFill/>
        </p:spPr>
        <p:txBody>
          <a:bodyPr wrap="square" anchor="t">
            <a:spAutoFit/>
          </a:bodyPr>
          <a:lstStyle/>
          <a:p>
            <a:pPr algn="l">
              <a:spcAft>
                <a:spcPts val="765"/>
              </a:spcAft>
            </a:pPr>
            <a:r>
              <a:rPr b="1" sz="1700">
                <a:solidFill>
                  <a:srgbClr val="8B0707"/>
                </a:solidFill>
                <a:latin typeface="ITC Avant Garde Gothic"/>
              </a:rPr>
              <a:t>Ethics.</a:t>
            </a:r>
            <a:r>
              <a:rPr sz="1700" b="0">
                <a:solidFill>
                  <a:srgbClr val="2B2020"/>
                </a:solidFill>
                <a:latin typeface="ITC Avant Garde Gothic"/>
              </a:rPr>
              <a:t/>
            </a:r>
          </a:p>
          <a:p>
            <a:pPr algn="l">
              <a:spcAft>
                <a:spcPts val="765"/>
              </a:spcAft>
            </a:pPr>
            <a:r>
              <a:rPr sz="1700" b="0">
                <a:solidFill>
                  <a:srgbClr val="2B2020"/>
                </a:solidFill>
                <a:latin typeface="ITC Avant Garde Gothic"/>
              </a:rPr>
              <a:t>Plan approved by the school IRB first; consent from every participant (ISEF Form 4).</a:t>
            </a:r>
          </a:p>
          <a:p>
            <a:pPr algn="l">
              <a:spcAft>
                <a:spcPts val="765"/>
              </a:spcAft>
            </a:pPr>
            <a:r>
              <a:rPr sz="1700" b="0">
                <a:solidFill>
                  <a:srgbClr val="2B2020"/>
                </a:solidFill>
                <a:latin typeface="ITC Avant Garde Gothic"/>
              </a:rPr>
              <a:t>Older adults only do seated health checks and usability sessions.</a:t>
            </a:r>
          </a:p>
          <a:p>
            <a:pPr algn="l">
              <a:spcAft>
                <a:spcPts val="765"/>
              </a:spcAft>
            </a:pPr>
            <a:r>
              <a:rPr sz="1700" b="0">
                <a:solidFill>
                  <a:srgbClr val="2B2020"/>
                </a:solidFill>
                <a:latin typeface="ITC Avant Garde Gothic"/>
              </a:rPr>
              <a:t>Falls simulated only by researchers on 20-cm gym mats, with pads and supervision.</a:t>
            </a:r>
          </a:p>
          <a:p>
            <a:pPr algn="l">
              <a:spcAft>
                <a:spcPts val="765"/>
              </a:spcAft>
            </a:pPr>
            <a:r>
              <a:rPr sz="1700" b="0">
                <a:solidFill>
                  <a:srgbClr val="2B2020"/>
                </a:solidFill>
                <a:latin typeface="ITC Avant Garde Gothic"/>
              </a:rPr>
              <a:t>Private family Telegram group; coded data. ALAGA never diagnoses.</a:t>
            </a:r>
          </a:p>
        </p:txBody>
      </p:sp>
      <p:cxnSp>
        <p:nvCxnSpPr>
          <p:cNvPr id="25" name="Connector 24"/>
          <p:cNvCxnSpPr/>
          <p:nvPr/>
        </p:nvCxnSpPr>
        <p:spPr>
          <a:xfrm>
            <a:off x="9144000" y="2468880"/>
            <a:ext cx="0" cy="6675120"/>
          </a:xfrm>
          <a:prstGeom prst="line">
            <a:avLst/>
          </a:prstGeom>
          <a:ln>
            <a:solidFill>
              <a:srgbClr val="E3C9C9"/>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2377440"/>
            <a:ext cx="7680960" cy="6949440"/>
          </a:xfrm>
          <a:prstGeom prst="rect">
            <a:avLst/>
          </a:prstGeom>
          <a:noFill/>
        </p:spPr>
        <p:txBody>
          <a:bodyPr wrap="square" anchor="t">
            <a:spAutoFit/>
          </a:bodyPr>
          <a:lstStyle/>
          <a:p>
            <a:pPr algn="l">
              <a:spcAft>
                <a:spcPts val="765"/>
              </a:spcAft>
            </a:pPr>
            <a:r>
              <a:rPr b="1" sz="1700">
                <a:solidFill>
                  <a:srgbClr val="8B0707"/>
                </a:solidFill>
                <a:latin typeface="ITC Avant Garde Gothic"/>
              </a:rPr>
              <a:t>Risk and safety.</a:t>
            </a:r>
            <a:r>
              <a:rPr sz="1700" b="0">
                <a:solidFill>
                  <a:srgbClr val="2B2020"/>
                </a:solidFill>
                <a:latin typeface="ITC Avant Garde Gothic"/>
              </a:rPr>
              <a:t/>
            </a:r>
          </a:p>
          <a:p>
            <a:pPr algn="l">
              <a:spcAft>
                <a:spcPts val="765"/>
              </a:spcAft>
            </a:pPr>
            <a:r>
              <a:rPr sz="1700" b="0">
                <a:solidFill>
                  <a:srgbClr val="2B2020"/>
                </a:solidFill>
                <a:latin typeface="ITC Avant Garde Gothic"/>
              </a:rPr>
              <a:t>Moving robot: 0.2 m/s top speed, soft body, bumper and ultrasonic stop.</a:t>
            </a:r>
          </a:p>
          <a:p>
            <a:pPr algn="l">
              <a:spcAft>
                <a:spcPts val="765"/>
              </a:spcAft>
            </a:pPr>
            <a:r>
              <a:rPr sz="1700" b="0">
                <a:solidFill>
                  <a:srgbClr val="2B2020"/>
                </a:solidFill>
                <a:latin typeface="ITC Avant Garde Gothic"/>
              </a:rPr>
              <a:t>Fan and wheels: finger guard; wheels inside the base outline.</a:t>
            </a:r>
          </a:p>
          <a:p>
            <a:pPr algn="l">
              <a:spcAft>
                <a:spcPts val="765"/>
              </a:spcAft>
            </a:pPr>
            <a:r>
              <a:rPr sz="1700" b="0">
                <a:solidFill>
                  <a:srgbClr val="2B2020"/>
                </a:solidFill>
                <a:latin typeface="ITC Avant Garde Gothic"/>
              </a:rPr>
              <a:t>12 V battery: inline fuse; wiring in a closed box; supervised charging.</a:t>
            </a:r>
          </a:p>
          <a:p>
            <a:pPr algn="l">
              <a:spcAft>
                <a:spcPts val="765"/>
              </a:spcAft>
            </a:pPr>
            <a:r>
              <a:rPr sz="1700" b="0">
                <a:solidFill>
                  <a:srgbClr val="2B2020"/>
                </a:solidFill>
                <a:latin typeface="ITC Avant Garde Gothic"/>
              </a:rPr>
              <a:t>Shared sensors: wiped with 70% alcohol between participants.</a:t>
            </a:r>
          </a:p>
          <a:p>
            <a:pPr algn="l">
              <a:spcAft>
                <a:spcPts val="765"/>
              </a:spcAft>
            </a:pPr>
            <a:r>
              <a:rPr sz="1700" b="0">
                <a:solidFill>
                  <a:srgbClr val="2B2020"/>
                </a:solidFill>
                <a:latin typeface="ITC Avant Garde Gothic"/>
              </a:rPr>
              <a:t>No data were fabricated; all sources cited in APA 7th edition.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8B0707"/>
        </a:solidFill>
      </p:bgPr>
    </p:bg>
    <p:spTree>
      <p:nvGrpSpPr>
        <p:cNvPr id="1" name=""/>
        <p:cNvGrpSpPr/>
        <p:nvPr/>
      </p:nvGrpSpPr>
      <p:grpSpPr>
        <a:xfrm>
          <a:off x="0" y="0"/>
          <a:ext cx="0" cy="0"/>
          <a:chOff x="0" y="0"/>
          <a:chExt cx="0" cy="0"/>
        </a:xfrm>
      </p:grpSpPr>
      <p:sp>
        <p:nvSpPr>
          <p:cNvPr name="Freeform 2" id="2"/>
          <p:cNvSpPr/>
          <p:nvPr/>
        </p:nvSpPr>
        <p:spPr>
          <a:xfrm flipH="false" flipV="true" rot="0">
            <a:off x="-308939" y="-440152"/>
            <a:ext cx="3942365" cy="3942365"/>
          </a:xfrm>
          <a:custGeom>
            <a:avLst/>
            <a:gdLst/>
            <a:ahLst/>
            <a:cxnLst/>
            <a:rect r="r" b="b" t="t" l="l"/>
            <a:pathLst>
              <a:path h="3942365" w="3942365">
                <a:moveTo>
                  <a:pt x="0" y="3942365"/>
                </a:moveTo>
                <a:lnTo>
                  <a:pt x="3942365" y="3942365"/>
                </a:lnTo>
                <a:lnTo>
                  <a:pt x="3942365" y="0"/>
                </a:lnTo>
                <a:lnTo>
                  <a:pt x="0" y="0"/>
                </a:lnTo>
                <a:lnTo>
                  <a:pt x="0" y="394236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1371600" y="3089694"/>
            <a:ext cx="15544800" cy="4250486"/>
          </a:xfrm>
          <a:prstGeom prst="rect">
            <a:avLst/>
          </a:prstGeom>
        </p:spPr>
        <p:txBody>
          <a:bodyPr anchor="t" rtlCol="false" tIns="0" lIns="0" bIns="0" rIns="0">
            <a:spAutoFit/>
          </a:bodyPr>
          <a:lstStyle/>
          <a:p>
            <a:pPr algn="ctr">
              <a:lnSpc>
                <a:spcPts val="14833"/>
              </a:lnSpc>
            </a:pPr>
            <a:r>
              <a:rPr lang="en-US" sz="16481">
                <a:solidFill>
                  <a:srgbClr val="FFFFFF"/>
                </a:solidFill>
                <a:latin typeface="ITC Avant Garde Gothic"/>
                <a:ea typeface="ITC Avant Garde Gothic"/>
                <a:cs typeface="ITC Avant Garde Gothic"/>
                <a:sym typeface="ITC Avant Garde Gothic"/>
              </a:rPr>
              <a:t>QUESTIONS</a:t>
            </a:r>
          </a:p>
          <a:p>
            <a:pPr algn="ctr">
              <a:lnSpc>
                <a:spcPts val="14833"/>
              </a:lnSpc>
            </a:pPr>
            <a:r>
              <a:rPr lang="en-US" sz="16481">
                <a:solidFill>
                  <a:srgbClr val="FFFFFF"/>
                </a:solidFill>
                <a:latin typeface="ITC Avant Garde Gothic"/>
                <a:ea typeface="ITC Avant Garde Gothic"/>
                <a:cs typeface="ITC Avant Garde Gothic"/>
                <a:sym typeface="ITC Avant Garde Gothic"/>
              </a:rPr>
              <a:t>&amp; ANSWERS</a:t>
            </a:r>
          </a:p>
        </p:txBody>
      </p:sp>
      <p:sp>
        <p:nvSpPr>
          <p:cNvPr name="Freeform 4" id="4"/>
          <p:cNvSpPr/>
          <p:nvPr/>
        </p:nvSpPr>
        <p:spPr>
          <a:xfrm flipH="true" flipV="false" rot="0">
            <a:off x="15910979" y="7909979"/>
            <a:ext cx="2696641" cy="2696641"/>
          </a:xfrm>
          <a:custGeom>
            <a:avLst/>
            <a:gdLst/>
            <a:ahLst/>
            <a:cxnLst/>
            <a:rect r="r" b="b" t="t" l="l"/>
            <a:pathLst>
              <a:path h="2696641" w="2696641">
                <a:moveTo>
                  <a:pt x="2696642" y="0"/>
                </a:moveTo>
                <a:lnTo>
                  <a:pt x="0" y="0"/>
                </a:lnTo>
                <a:lnTo>
                  <a:pt x="0" y="2696642"/>
                </a:lnTo>
                <a:lnTo>
                  <a:pt x="2696642" y="2696642"/>
                </a:lnTo>
                <a:lnTo>
                  <a:pt x="269664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4">
              <a:alphaModFix amt="26000"/>
            </a:blip>
            <a:stretch>
              <a:fillRect l="0" t="0" r="0" b="0"/>
            </a:stretch>
          </a:blipFill>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8B0707"/>
        </a:solidFill>
      </p:bgPr>
    </p:bg>
    <p:spTree>
      <p:nvGrpSpPr>
        <p:cNvPr id="1" name=""/>
        <p:cNvGrpSpPr/>
        <p:nvPr/>
      </p:nvGrpSpPr>
      <p:grpSpPr>
        <a:xfrm>
          <a:off x="0" y="0"/>
          <a:ext cx="0" cy="0"/>
          <a:chOff x="0" y="0"/>
          <a:chExt cx="0" cy="0"/>
        </a:xfrm>
      </p:grpSpPr>
      <p:sp>
        <p:nvSpPr>
          <p:cNvPr name="Freeform 2" id="2"/>
          <p:cNvSpPr/>
          <p:nvPr/>
        </p:nvSpPr>
        <p:spPr>
          <a:xfrm flipH="false" flipV="true" rot="0">
            <a:off x="-308939" y="-440152"/>
            <a:ext cx="3942365" cy="3942365"/>
          </a:xfrm>
          <a:custGeom>
            <a:avLst/>
            <a:gdLst/>
            <a:ahLst/>
            <a:cxnLst/>
            <a:rect r="r" b="b" t="t" l="l"/>
            <a:pathLst>
              <a:path h="3942365" w="3942365">
                <a:moveTo>
                  <a:pt x="0" y="3942365"/>
                </a:moveTo>
                <a:lnTo>
                  <a:pt x="3942365" y="3942365"/>
                </a:lnTo>
                <a:lnTo>
                  <a:pt x="3942365" y="0"/>
                </a:lnTo>
                <a:lnTo>
                  <a:pt x="0" y="0"/>
                </a:lnTo>
                <a:lnTo>
                  <a:pt x="0" y="394236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691817" y="4031050"/>
            <a:ext cx="12904366" cy="2367775"/>
          </a:xfrm>
          <a:prstGeom prst="rect">
            <a:avLst/>
          </a:prstGeom>
        </p:spPr>
        <p:txBody>
          <a:bodyPr anchor="t" rtlCol="false" tIns="0" lIns="0" bIns="0" rIns="0">
            <a:spAutoFit/>
          </a:bodyPr>
          <a:lstStyle/>
          <a:p>
            <a:pPr algn="ctr">
              <a:lnSpc>
                <a:spcPts val="14833"/>
              </a:lnSpc>
            </a:pPr>
            <a:r>
              <a:rPr lang="en-US" sz="16481">
                <a:solidFill>
                  <a:srgbClr val="FFFFFF"/>
                </a:solidFill>
                <a:latin typeface="ITC Avant Garde Gothic"/>
                <a:ea typeface="ITC Avant Garde Gothic"/>
                <a:cs typeface="ITC Avant Garde Gothic"/>
                <a:sym typeface="ITC Avant Garde Gothic"/>
              </a:rPr>
              <a:t>THANK YOU</a:t>
            </a:r>
          </a:p>
        </p:txBody>
      </p:sp>
      <p:sp>
        <p:nvSpPr>
          <p:cNvPr name="Freeform 4" id="4"/>
          <p:cNvSpPr/>
          <p:nvPr/>
        </p:nvSpPr>
        <p:spPr>
          <a:xfrm flipH="true" flipV="false" rot="0">
            <a:off x="15910979" y="7909979"/>
            <a:ext cx="2696641" cy="2696641"/>
          </a:xfrm>
          <a:custGeom>
            <a:avLst/>
            <a:gdLst/>
            <a:ahLst/>
            <a:cxnLst/>
            <a:rect r="r" b="b" t="t" l="l"/>
            <a:pathLst>
              <a:path h="2696641" w="2696641">
                <a:moveTo>
                  <a:pt x="2696642" y="0"/>
                </a:moveTo>
                <a:lnTo>
                  <a:pt x="0" y="0"/>
                </a:lnTo>
                <a:lnTo>
                  <a:pt x="0" y="2696642"/>
                </a:lnTo>
                <a:lnTo>
                  <a:pt x="2696642" y="2696642"/>
                </a:lnTo>
                <a:lnTo>
                  <a:pt x="2696642"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5486400" y="7677223"/>
            <a:ext cx="7315200" cy="465513"/>
          </a:xfrm>
          <a:custGeom>
            <a:avLst/>
            <a:gdLst/>
            <a:ahLst/>
            <a:cxnLst/>
            <a:rect r="r" b="b" t="t" l="l"/>
            <a:pathLst>
              <a:path h="465513" w="7315200">
                <a:moveTo>
                  <a:pt x="0" y="0"/>
                </a:moveTo>
                <a:lnTo>
                  <a:pt x="7315200" y="0"/>
                </a:lnTo>
                <a:lnTo>
                  <a:pt x="7315200" y="465513"/>
                </a:lnTo>
                <a:lnTo>
                  <a:pt x="0" y="4655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7534466" y="-2049686"/>
            <a:ext cx="3219068" cy="3219068"/>
          </a:xfrm>
          <a:custGeom>
            <a:avLst/>
            <a:gdLst/>
            <a:ahLst/>
            <a:cxnLst/>
            <a:rect r="r" b="b" t="t" l="l"/>
            <a:pathLst>
              <a:path h="3219068" w="3219068">
                <a:moveTo>
                  <a:pt x="0" y="0"/>
                </a:moveTo>
                <a:lnTo>
                  <a:pt x="3219068" y="0"/>
                </a:lnTo>
                <a:lnTo>
                  <a:pt x="3219068" y="3219068"/>
                </a:lnTo>
                <a:lnTo>
                  <a:pt x="0" y="3219068"/>
                </a:lnTo>
                <a:lnTo>
                  <a:pt x="0" y="0"/>
                </a:lnTo>
                <a:close/>
              </a:path>
            </a:pathLst>
          </a:custGeom>
          <a:blipFill>
            <a:blip r:embed="rId6">
              <a:alphaModFix amt="24000"/>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837818" y="7909979"/>
            <a:ext cx="3219068" cy="3219068"/>
          </a:xfrm>
          <a:custGeom>
            <a:avLst/>
            <a:gdLst/>
            <a:ahLst/>
            <a:cxnLst/>
            <a:rect r="r" b="b" t="t" l="l"/>
            <a:pathLst>
              <a:path h="3219068" w="3219068">
                <a:moveTo>
                  <a:pt x="0" y="0"/>
                </a:moveTo>
                <a:lnTo>
                  <a:pt x="3219068" y="0"/>
                </a:lnTo>
                <a:lnTo>
                  <a:pt x="3219068" y="3219069"/>
                </a:lnTo>
                <a:lnTo>
                  <a:pt x="0" y="3219069"/>
                </a:lnTo>
                <a:lnTo>
                  <a:pt x="0" y="0"/>
                </a:lnTo>
                <a:close/>
              </a:path>
            </a:pathLst>
          </a:custGeom>
          <a:blipFill>
            <a:blip r:embed="rId6">
              <a:alphaModFix amt="24000"/>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0">
            <a:off x="-104983" y="0"/>
            <a:ext cx="18497965" cy="10416667"/>
          </a:xfrm>
          <a:custGeom>
            <a:avLst/>
            <a:gdLst/>
            <a:ahLst/>
            <a:cxnLst/>
            <a:rect r="r" b="b" t="t" l="l"/>
            <a:pathLst>
              <a:path h="10416667" w="18497965">
                <a:moveTo>
                  <a:pt x="0" y="0"/>
                </a:moveTo>
                <a:lnTo>
                  <a:pt x="18497966" y="0"/>
                </a:lnTo>
                <a:lnTo>
                  <a:pt x="18497966" y="10416667"/>
                </a:lnTo>
                <a:lnTo>
                  <a:pt x="0" y="10416667"/>
                </a:lnTo>
                <a:lnTo>
                  <a:pt x="0" y="0"/>
                </a:lnTo>
                <a:close/>
              </a:path>
            </a:pathLst>
          </a:custGeom>
          <a:blipFill>
            <a:blip r:embed="rId8">
              <a:alphaModFix amt="26000"/>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DAHXUrdeoSg</dc:identifier>
  <dcterms:modified xsi:type="dcterms:W3CDTF">2011-08-01T06:04:30Z</dcterms:modified>
  <cp:revision>1</cp:revision>
  <dc:title>ALAGA: A Low-Cost Wheeled Soft Inflatable Companion Robot for Older Adults Home Alone, with Medication Reminders, Vital-Sign Checks, and Fall Alerts to the Family</dc:title>
  <dc:creator>Brimbuela, P. J. A.; De Asis, D. J. Ll.; Shin, Y.</dc:creator>
  <dc:subject>Robotics and Intelligent Machines – Team (RIM-T)</dc:subject>
  <cp:keywords>Albay; informal public transport; accessibility; GTFS; hospital bed capacity</cp:keywords>
  <cp:lastModifiedBy>Brimbuela, De Asis, Shin</cp:lastModifiedBy>
</cp:coreProperties>
</file>