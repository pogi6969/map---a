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64" r:id="rId14"/>
    <p:sldId id="265" r:id="rId15"/>
  </p:sldIdLst>
  <p:sldSz cx="18288000" cy="10287000"/>
  <p:notesSz cx="6858000" cy="9144000"/>
  <p:embeddedFontLst>
    <p:embeddedFont>
      <p:font typeface="ITC Avant Garde Gothic" charset="1" panose="020B05020202020202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font" Target="fonts/font16.fntdata"/><Relationship Id="rId25" Type="http://schemas.openxmlformats.org/officeDocument/2006/relationships/notesMaster" Target="notesMasters/notesMaster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6.xml"/><Relationship Id="rId31" Type="http://schemas.openxmlformats.org/officeDocument/2006/relationships/slide" Target="slides/slide7.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3.xml"/><Relationship Id="rId38" Type="http://schemas.openxmlformats.org/officeDocument/2006/relationships/slide" Target="slides/slide14.xml"/><Relationship Id="rId39"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0:00 to 0:15</a:t>
            </a:r>
          </a:p>
          <a:p/>
          <a:p>
            <a:r>
              <a:t>Good morning to the panel. We are [names], with our adviser, [adviser]. Our study is titled ALAGA, a low-cost soft inflatable healthcare companion robot.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3]  |  4:35 to 4:42</a:t>
            </a:r>
          </a:p>
          <a:p/>
          <a:p>
            <a:r>
              <a:t>That ends our presentation. We are now ready for your questions.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up after the closing line of slide 17.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0:15 to 0:40</a:t>
            </a:r>
          </a:p>
          <a:p/>
          <a:p>
            <a:r>
              <a:t>Mayon was raised to Alert Level 3 in January 2026, and in May ash fell on 87 villages. More than 300 families moved to evacuation centers. There, a few health workers must check every evacuee for fever, low oxygen, and pain. Healthcare robots exist, but they are rigid and costly. Our purpose: to find out whether a low-cost soft robot, inspired by the healthcare companion in Big Hero 6, can screen evacuees accurately.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0:40 to 0:58</a:t>
            </a:r>
          </a:p>
          <a:p/>
          <a:p>
            <a:r>
              <a:t>From the literature: soft and inflatable robots are safer to touch; older adults accept robots that look friendly and are easy to use; pulse oximetry and infrared thermometry can screen vital signs; and Bland and Altman's limits of agreement test whether a new instrument can be trusted.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0:58 to 1:15</a:t>
            </a:r>
          </a:p>
          <a:p/>
          <a:p>
            <a:r>
              <a:t>Related studies built an inflatable arm for safe contact, reviewed acceptance of care robots, and gave us the agreement method. None joins a soft body, vital-sign screening, and pain triage for evacuation centers.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2]  |  1:15 to 1:35</a:t>
            </a:r>
          </a:p>
          <a:p/>
          <a:p>
            <a:r>
              <a:t>Our framework answers four gaps. Few health workers: a socially assistive robot does the routine checks. Robots can scare people: an air-filled body and a plain two-dot face. Cheap sensors vary: we calibrate and test agreement. Who needs help first: a state machine gives GREEN, YELLOW, or RED.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2]  |  1:35 to 1:58</a:t>
            </a:r>
          </a:p>
          <a:p/>
          <a:p>
            <a:r>
              <a:t>Our paradigm follows input, process, output. Inputs are the body, sensors, reference instruments, and volunteers. The process is building, calibration, trials, and analysis. Outputs answer each objective, and results feed back to tune the offsets and limits.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2]  |  1:58 to 2:15</a:t>
            </a:r>
          </a:p>
          <a:p/>
          <a:p>
            <a:r>
              <a:t>Evacuees get a friendly, quick screening. Health workers spend more time on flagged evacuees. LGUs get an affordable aid for every center, schools a clinic helper, and future researchers a tested open design. The study supports SDGs 3, 9, and 11.5.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2]  |  2:15 to 2:35</a:t>
            </a:r>
          </a:p>
          <a:p/>
          <a:p>
            <a:r>
              <a:t>Our general objective: to design, build, and evaluate ALAGA. Specifically: agreement with reference instruments, accuracy of flags, screening time, usability and approachability of the soft body versus a rigid shell, and cost.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3]  |  2:35 to 2:50</a:t>
            </a:r>
          </a:p>
          <a:p/>
          <a:p>
            <a:r>
              <a:t>H₀1: there is no significant difference between ALAGA's readings and the reference readings; we use a paired t-test and Bland–Altman analysis. H₀2: there is no significant difference in approachability between the soft body and a rigid shell; we use the Wilcoxon signed-rank test. We reject when p is below 0.05.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3]  |  2:50 to 3:05</a:t>
            </a:r>
          </a:p>
          <a:p/>
          <a:p>
            <a:r>
              <a:t>We cover one stationary robot that screens temperature, pulse, oxygen, and pain, tested on healthy volunteers after IRB approval. ALAGA does not walk or diagnose, and fever and low oxygen are simulated by a water bath and logic test cases. Table 4 lists our trials.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3]  |  3:05 to 3:22</a:t>
            </a:r>
          </a:p>
          <a:p/>
          <a:p>
            <a:r>
              <a:t>This is a quantitative developmental and method-comparison study. We build and calibrate, program the logic, screen volunteers, and analyze. We vary the measurement method, target temperature, and body type, and we measure agreement, flag accuracy, time, and ratings.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3]  |  3:22 to 3:40</a:t>
            </a:r>
          </a:p>
          <a:p/>
          <a:p>
            <a:r>
              <a:t>ALAGA's body is white ripstop nylon kept full by a 12-volt fan. The chest panel holds the infrared thermometer, distance sensor, finger cradle, pain dial, and display. An ESP32 runs everything from a 12-volt battery. The parts are estimated at about 4,600 pesos.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3:40 to 4:00</a:t>
            </a:r>
          </a:p>
          <a:p/>
          <a:p>
            <a:r>
              <a:t>The procedure has ten steps: IRB approval and consent; sew the body; wire the sensors; program the state machine; bench-test with a water bath; calibrate on ten volunteers; screen validation volunteers; run logic tests; run the usability test; and analyze.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4:00 to 4:20</a:t>
            </a:r>
          </a:p>
          <a:p/>
          <a:p>
            <a:r>
              <a:t>For each paired reading we take the difference. Bias is the mean difference, and the limits of agreement are bias plus or minus 1.96 standard deviations. Arms is the SpO₂ root-mean-square error, accepted at 4 percent or less. Flags are judged by sensitivity and specificity. We use Excel and JASP at alpha 0.05.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 1]  |  4:20 to 4:35</a:t>
            </a:r>
          </a:p>
          <a:p/>
          <a:p>
            <a:r>
              <a:t>Because we work with people, the school IRB approves our plan first, and every volunteer gives consent. Tests are non-invasive, data are coded, and any abnormal reading goes to the nurse. The fan is guarded, the battery is fused, and sensors are wiped with alcohol.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3.png"/><Relationship Id="rId9" Type="http://schemas.openxmlformats.org/officeDocument/2006/relationships/notesSlide" Target="../notesSlides/notesSlide18.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8B0707"/>
        </a:solidFill>
      </p:bgPr>
    </p:bg>
    <p:spTree>
      <p:nvGrpSpPr>
        <p:cNvPr id="1" name=""/>
        <p:cNvGrpSpPr/>
        <p:nvPr/>
      </p:nvGrpSpPr>
      <p:grpSpPr>
        <a:xfrm>
          <a:off x="0" y="0"/>
          <a:ext cx="0" cy="0"/>
          <a:chOff x="0" y="0"/>
          <a:chExt cx="0" cy="0"/>
        </a:xfrm>
      </p:grpSpPr>
      <p:sp>
        <p:nvSpPr>
          <p:cNvPr name="Freeform 2" id="2"/>
          <p:cNvSpPr/>
          <p:nvPr/>
        </p:nvSpPr>
        <p:spPr>
          <a:xfrm flipH="false" flipV="true" rot="0">
            <a:off x="-308939" y="-440152"/>
            <a:ext cx="3942365" cy="3942365"/>
          </a:xfrm>
          <a:custGeom>
            <a:avLst/>
            <a:gdLst/>
            <a:ahLst/>
            <a:cxnLst/>
            <a:rect r="r" b="b" t="t" l="l"/>
            <a:pathLst>
              <a:path h="3942365" w="3942365">
                <a:moveTo>
                  <a:pt x="0" y="3942365"/>
                </a:moveTo>
                <a:lnTo>
                  <a:pt x="3942365" y="3942365"/>
                </a:lnTo>
                <a:lnTo>
                  <a:pt x="3942365" y="0"/>
                </a:lnTo>
                <a:lnTo>
                  <a:pt x="0" y="0"/>
                </a:lnTo>
                <a:lnTo>
                  <a:pt x="0" y="394236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910979" y="7909979"/>
            <a:ext cx="2696641" cy="2696641"/>
          </a:xfrm>
          <a:custGeom>
            <a:avLst/>
            <a:gdLst/>
            <a:ahLst/>
            <a:cxnLst/>
            <a:rect r="r" b="b" t="t" l="l"/>
            <a:pathLst>
              <a:path h="2696641" w="2696641">
                <a:moveTo>
                  <a:pt x="2696642" y="0"/>
                </a:moveTo>
                <a:lnTo>
                  <a:pt x="0" y="0"/>
                </a:lnTo>
                <a:lnTo>
                  <a:pt x="0" y="2696642"/>
                </a:lnTo>
                <a:lnTo>
                  <a:pt x="2696642" y="2696642"/>
                </a:lnTo>
                <a:lnTo>
                  <a:pt x="26966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4">
              <a:alphaModFix amt="26000"/>
            </a:blip>
            <a:stretch>
              <a:fillRect l="0" t="0" r="0" b="0"/>
            </a:stretch>
          </a:blipFill>
        </p:spPr>
      </p:sp>
      <p:sp>
        <p:nvSpPr>
          <p:cNvPr name="Freeform 5" id="5"/>
          <p:cNvSpPr/>
          <p:nvPr/>
        </p:nvSpPr>
        <p:spPr>
          <a:xfrm flipH="false" flipV="false" rot="0">
            <a:off x="699585" y="546888"/>
            <a:ext cx="2392319" cy="2426082"/>
          </a:xfrm>
          <a:custGeom>
            <a:avLst/>
            <a:gdLst/>
            <a:ahLst/>
            <a:cxnLst/>
            <a:rect r="r" b="b" t="t" l="l"/>
            <a:pathLst>
              <a:path h="2426082" w="2392319">
                <a:moveTo>
                  <a:pt x="0" y="0"/>
                </a:moveTo>
                <a:lnTo>
                  <a:pt x="2392319" y="0"/>
                </a:lnTo>
                <a:lnTo>
                  <a:pt x="2392319" y="2426082"/>
                </a:lnTo>
                <a:lnTo>
                  <a:pt x="0" y="2426082"/>
                </a:lnTo>
                <a:lnTo>
                  <a:pt x="0" y="0"/>
                </a:lnTo>
                <a:close/>
              </a:path>
            </a:pathLst>
          </a:custGeom>
          <a:blipFill>
            <a:blip r:embed="rId5"/>
            <a:stretch>
              <a:fillRect l="0" t="0" r="0" b="0"/>
            </a:stretch>
          </a:blipFill>
        </p:spPr>
      </p:sp>
      <p:sp>
        <p:nvSpPr>
          <p:cNvPr name="AutoShape 7" id="7"/>
          <p:cNvSpPr/>
          <p:nvPr/>
        </p:nvSpPr>
        <p:spPr>
          <a:xfrm>
            <a:off x="3246120" y="8110728"/>
            <a:ext cx="11795760" cy="0"/>
          </a:xfrm>
          <a:prstGeom prst="line">
            <a:avLst/>
          </a:prstGeom>
          <a:ln cap="flat" w="38100">
            <a:solidFill>
              <a:srgbClr val="FFFFFF"/>
            </a:solidFill>
            <a:prstDash val="solid"/>
            <a:headEnd type="none" len="sm" w="sm"/>
            <a:tailEnd type="none" len="sm" w="sm"/>
          </a:ln>
        </p:spPr>
      </p:sp>
      <p:sp>
        <p:nvSpPr>
          <p:cNvPr name="AutoShape 8" id="8"/>
          <p:cNvSpPr/>
          <p:nvPr/>
        </p:nvSpPr>
        <p:spPr>
          <a:xfrm>
            <a:off x="3246120" y="9802368"/>
            <a:ext cx="11795760" cy="0"/>
          </a:xfrm>
          <a:prstGeom prst="line">
            <a:avLst/>
          </a:prstGeom>
          <a:ln cap="flat" w="38100">
            <a:solidFill>
              <a:srgbClr val="FFFFFF"/>
            </a:solidFill>
            <a:prstDash val="solid"/>
            <a:headEnd type="none" len="sm" w="sm"/>
            <a:tailEnd type="none" len="sm" w="sm"/>
          </a:ln>
        </p:spPr>
      </p:sp>
      <p:sp>
        <p:nvSpPr>
          <p:cNvPr id="21" name="Research title"/>
          <p:cNvSpPr txBox="1"/>
          <p:nvPr/>
        </p:nvSpPr>
        <p:spPr>
          <a:xfrm>
            <a:off x="1988820" y="2331720"/>
            <a:ext cx="14310360" cy="5669280"/>
          </a:xfrm>
          <a:prstGeom prst="rect">
            <a:avLst/>
          </a:prstGeom>
          <a:noFill/>
        </p:spPr>
        <p:txBody>
          <a:bodyPr wrap="square" lIns="0" tIns="0" rIns="0" bIns="0" anchor="b" rtlCol="0">
            <a:noAutofit/>
          </a:bodyPr>
          <a:lstStyle/>
          <a:p>
            <a:pPr algn="ctr">
              <a:lnSpc>
                <a:spcPct val="102000"/>
              </a:lnSpc>
              <a:spcBef>
                <a:spcPts val="0"/>
              </a:spcBef>
              <a:spcAft>
                <a:spcPts val="0"/>
              </a:spcAft>
              <a:buNone/>
            </a:pPr>
            <a:r>
              <a:rPr lang="en-US" sz="5700" b="0" dirty="0">
                <a:solidFill>
                  <a:srgbClr val="FFFFFF"/>
                </a:solidFill>
                <a:effectLst>
                  <a:outerShdw blurRad="63500" dist="31750" dir="5400000" algn="t" rotWithShape="0">
                    <a:srgbClr val="2A0000">
                      <a:alpha val="45000"/>
                    </a:srgbClr>
                  </a:outerShdw>
                </a:effectLst>
                <a:latin typeface="Times New Roman"/>
                <a:ea typeface="Times New Roman"/>
                <a:cs typeface="Times New Roman"/>
                <a:sym typeface="Times New Roman"/>
              </a:rPr>
              <a:t>ALAGA: A Low-Cost Soft Inflatable Healthcare Companion Robot with Non-Contact Temperature, Pulse Oximetry, and Pain-Scale Triage for Evacuation Centers</a:t>
            </a:r>
            <a:endParaRPr lang="en-US" sz="5700" dirty="0">
              <a:latin typeface="ITC Avant Garde Gothic"/>
            </a:endParaRPr>
          </a:p>
        </p:txBody>
      </p:sp>
      <p:sp>
        <p:nvSpPr>
          <p:cNvPr id="22" name="Researchers"/>
          <p:cNvSpPr txBox="1"/>
          <p:nvPr/>
        </p:nvSpPr>
        <p:spPr>
          <a:xfrm>
            <a:off x="3246120" y="8165592"/>
            <a:ext cx="11795760" cy="1591056"/>
          </a:xfrm>
          <a:prstGeom prst="rect">
            <a:avLst/>
          </a:prstGeom>
          <a:noFill/>
        </p:spPr>
        <p:txBody>
          <a:bodyPr wrap="square" lIns="0" tIns="0" rIns="0" bIns="0" anchor="ctr" rtlCol="0">
            <a:noAutofit/>
          </a:bodyPr>
          <a:lstStyle/>
          <a:p>
            <a:pPr algn="ctr">
              <a:lnSpc>
                <a:spcPct val="108000"/>
              </a:lnSpc>
              <a:spcBef>
                <a:spcPts val="0"/>
              </a:spcBef>
              <a:spcAft>
                <a:spcPts val="0"/>
              </a:spcAft>
              <a:buNone/>
            </a:pPr>
            <a:r>
              <a:rPr lang="en-US" sz="3200" dirty="0">
                <a:solidFill>
                  <a:srgbClr val="FFFFFF"/>
                </a:solidFill>
                <a:effectLst>
                  <a:outerShdw blurRad="63500" dist="31750" dir="5400000" algn="t" rotWithShape="0">
                    <a:srgbClr val="2A0000">
                      <a:alpha val="45000"/>
                    </a:srgbClr>
                  </a:outerShdw>
                </a:effectLst>
                <a:latin typeface="Times New Roman"/>
                <a:ea typeface="Times New Roman"/>
                <a:cs typeface="Times New Roman"/>
                <a:sym typeface="Times New Roman"/>
              </a:rPr>
              <a:t>[Surname, Firstname M.]</a:t>
            </a:r>
            <a:endParaRPr lang="en-US" sz="3200" dirty="0">
              <a:latin typeface="ITC Avant Garde Gothic"/>
            </a:endParaRPr>
          </a:p>
          <a:p>
            <a:pPr algn="ctr">
              <a:lnSpc>
                <a:spcPct val="108000"/>
              </a:lnSpc>
              <a:spcBef>
                <a:spcPts val="0"/>
              </a:spcBef>
              <a:spcAft>
                <a:spcPts val="0"/>
              </a:spcAft>
              <a:buNone/>
            </a:pPr>
            <a:r>
              <a:rPr lang="en-US" sz="3200" dirty="0">
                <a:solidFill>
                  <a:srgbClr val="FFFFFF"/>
                </a:solidFill>
                <a:effectLst>
                  <a:outerShdw blurRad="63500" dist="31750" dir="5400000" algn="t" rotWithShape="0">
                    <a:srgbClr val="2A0000">
                      <a:alpha val="45000"/>
                    </a:srgbClr>
                  </a:outerShdw>
                </a:effectLst>
                <a:latin typeface="Times New Roman"/>
                <a:ea typeface="Times New Roman"/>
                <a:cs typeface="Times New Roman"/>
                <a:sym typeface="Times New Roman"/>
              </a:rPr>
              <a:t>[Surname, Firstname M.]</a:t>
            </a:r>
            <a:endParaRPr lang="en-US" sz="3200" dirty="0">
              <a:latin typeface="ITC Avant Garde Gothic"/>
            </a:endParaRPr>
          </a:p>
          <a:p>
            <a:pPr algn="ctr">
              <a:lnSpc>
                <a:spcPct val="108000"/>
              </a:lnSpc>
              <a:spcBef>
                <a:spcPts val="0"/>
              </a:spcBef>
              <a:spcAft>
                <a:spcPts val="0"/>
              </a:spcAft>
              <a:buNone/>
            </a:pPr>
            <a:r>
              <a:rPr lang="en-US" sz="3200" dirty="0">
                <a:solidFill>
                  <a:srgbClr val="FFFFFF"/>
                </a:solidFill>
                <a:effectLst>
                  <a:outerShdw blurRad="63500" dist="31750" dir="5400000" algn="t" rotWithShape="0">
                    <a:srgbClr val="2A0000">
                      <a:alpha val="45000"/>
                    </a:srgbClr>
                  </a:outerShdw>
                </a:effectLst>
                <a:latin typeface="Times New Roman"/>
                <a:ea typeface="Times New Roman"/>
                <a:cs typeface="Times New Roman"/>
                <a:sym typeface="Times New Roman"/>
              </a:rPr>
              <a:t>[Surname, Firstname M.]</a:t>
            </a:r>
            <a:endParaRPr lang="en-US" sz="3200" dirty="0">
              <a:latin typeface="ITC Avant Garde Gothic"/>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INTRODUCTION</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Background of the Study</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2</a:t>
            </a:r>
            <a:endParaRPr lang="en-US" sz="1600" dirty="0">
              <a:latin typeface="ITC Avant Garde Gothic"/>
            </a:endParaRPr>
          </a:p>
        </p:txBody>
      </p:sp>
      <p:sp>
        <p:nvSpPr>
          <p:cNvPr id="23" name="Rectangle 22"/>
          <p:cNvSpPr/>
          <p:nvPr/>
        </p:nvSpPr>
        <p:spPr>
          <a:xfrm>
            <a:off x="822960" y="2103120"/>
            <a:ext cx="9372600" cy="576072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423160"/>
            <a:ext cx="8641080" cy="5257800"/>
          </a:xfrm>
          <a:prstGeom prst="rect">
            <a:avLst/>
          </a:prstGeom>
          <a:noFill/>
        </p:spPr>
        <p:txBody>
          <a:bodyPr wrap="square" anchor="t">
            <a:spAutoFit/>
          </a:bodyPr>
          <a:lstStyle/>
          <a:p>
            <a:pPr algn="l">
              <a:spcAft>
                <a:spcPts val="855"/>
              </a:spcAft>
            </a:pPr>
            <a:r>
              <a:rPr sz="1900" b="0">
                <a:solidFill>
                  <a:srgbClr val="2B2020"/>
                </a:solidFill>
                <a:latin typeface="ITC Avant Garde Gothic"/>
              </a:rPr>
              <a:t>•  Mayon was raised to Alert Level 3 in January 2026, and ash fell on 87 villages in May (DZRH, 2026).</a:t>
            </a:r>
          </a:p>
          <a:p>
            <a:pPr algn="l">
              <a:spcAft>
                <a:spcPts val="855"/>
              </a:spcAft>
            </a:pPr>
            <a:r>
              <a:rPr sz="1900" b="0">
                <a:solidFill>
                  <a:srgbClr val="2B2020"/>
                </a:solidFill>
                <a:latin typeface="ITC Avant Garde Gothic"/>
              </a:rPr>
              <a:t>•  Evacuation centers fill up, and ash irritates the eyes and airways (Horwell &amp; Baxter, 2006).</a:t>
            </a:r>
          </a:p>
          <a:p>
            <a:pPr algn="l">
              <a:spcAft>
                <a:spcPts val="855"/>
              </a:spcAft>
            </a:pPr>
            <a:r>
              <a:rPr sz="1900" b="0">
                <a:solidFill>
                  <a:srgbClr val="2B2020"/>
                </a:solidFill>
                <a:latin typeface="ITC Avant Garde Gothic"/>
              </a:rPr>
              <a:t>•  A few health workers must check every evacuee's temperature, pulse, oxygen, and pain.</a:t>
            </a:r>
          </a:p>
          <a:p>
            <a:pPr algn="l">
              <a:spcAft>
                <a:spcPts val="855"/>
              </a:spcAft>
            </a:pPr>
            <a:r>
              <a:rPr sz="1900" b="0">
                <a:solidFill>
                  <a:srgbClr val="2B2020"/>
                </a:solidFill>
                <a:latin typeface="ITC Avant Garde Gothic"/>
              </a:rPr>
              <a:t>•  Healthcare robots exist, but they are rigid and cost more than a barangay can pay.</a:t>
            </a:r>
          </a:p>
        </p:txBody>
      </p:sp>
      <p:sp>
        <p:nvSpPr>
          <p:cNvPr id="25" name="TextBox 24"/>
          <p:cNvSpPr txBox="1"/>
          <p:nvPr/>
        </p:nvSpPr>
        <p:spPr>
          <a:xfrm>
            <a:off x="10561320" y="2075688"/>
            <a:ext cx="690372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Table 1. The problem in figures</a:t>
            </a:r>
          </a:p>
        </p:txBody>
      </p:sp>
      <p:graphicFrame>
        <p:nvGraphicFramePr>
          <p:cNvPr id="26" name="Table 25"/>
          <p:cNvGraphicFramePr>
            <a:graphicFrameLocks noGrp="1"/>
          </p:cNvGraphicFramePr>
          <p:nvPr/>
        </p:nvGraphicFramePr>
        <p:xfrm>
          <a:off x="10561320" y="2487168"/>
          <a:ext cx="6903720" cy="4617720"/>
        </p:xfrm>
        <a:graphic>
          <a:graphicData uri="http://schemas.openxmlformats.org/drawingml/2006/table">
            <a:tbl>
              <a:tblPr firstRow="1" bandRow="1">
                <a:tableStyleId>{5C22544A-7EE6-4342-B048-85BDC9FD1C3A}</a:tableStyleId>
              </a:tblPr>
              <a:tblGrid>
                <a:gridCol w="3108960"/>
                <a:gridCol w="1737360"/>
                <a:gridCol w="2057400"/>
              </a:tblGrid>
              <a:tr h="502920">
                <a:tc>
                  <a:txBody>
                    <a:bodyPr/>
                    <a:lstStyle/>
                    <a:p>
                      <a:r>
                        <a:rPr sz="1400" b="1">
                          <a:solidFill>
                            <a:srgbClr val="FFFFFF"/>
                          </a:solidFill>
                          <a:latin typeface="ITC Avant Garde Gothic"/>
                        </a:rPr>
                        <a:t>Indicator</a:t>
                      </a:r>
                    </a:p>
                  </a:txBody>
                  <a:tcPr>
                    <a:solidFill>
                      <a:srgbClr val="8B0707"/>
                    </a:solidFill>
                  </a:tcPr>
                </a:tc>
                <a:tc>
                  <a:txBody>
                    <a:bodyPr/>
                    <a:lstStyle/>
                    <a:p>
                      <a:r>
                        <a:rPr sz="1400" b="1">
                          <a:solidFill>
                            <a:srgbClr val="FFFFFF"/>
                          </a:solidFill>
                          <a:latin typeface="ITC Avant Garde Gothic"/>
                        </a:rPr>
                        <a:t>Value</a:t>
                      </a:r>
                    </a:p>
                  </a:txBody>
                  <a:tcPr>
                    <a:solidFill>
                      <a:srgbClr val="8B0707"/>
                    </a:solidFill>
                  </a:tcPr>
                </a:tc>
                <a:tc>
                  <a:txBody>
                    <a:bodyPr/>
                    <a:lstStyle/>
                    <a:p>
                      <a:r>
                        <a:rPr sz="1400" b="1">
                          <a:solidFill>
                            <a:srgbClr val="FFFFFF"/>
                          </a:solidFill>
                          <a:latin typeface="ITC Avant Garde Gothic"/>
                        </a:rPr>
                        <a:t>Source</a:t>
                      </a:r>
                    </a:p>
                  </a:txBody>
                  <a:tcPr>
                    <a:solidFill>
                      <a:srgbClr val="8B0707"/>
                    </a:solidFill>
                  </a:tcPr>
                </a:tc>
              </a:tr>
              <a:tr h="822960">
                <a:tc>
                  <a:txBody>
                    <a:bodyPr/>
                    <a:lstStyle/>
                    <a:p>
                      <a:r>
                        <a:rPr sz="1400" b="0">
                          <a:solidFill>
                            <a:srgbClr val="8B0707"/>
                          </a:solidFill>
                          <a:latin typeface="ITC Avant Garde Gothic"/>
                        </a:rPr>
                        <a:t>Mayon alert level, Jan 2026</a:t>
                      </a:r>
                    </a:p>
                  </a:txBody>
                  <a:tcPr>
                    <a:solidFill>
                      <a:srgbClr val="FFFFFF"/>
                    </a:solidFill>
                  </a:tcPr>
                </a:tc>
                <a:tc>
                  <a:txBody>
                    <a:bodyPr/>
                    <a:lstStyle/>
                    <a:p>
                      <a:r>
                        <a:rPr sz="1400" b="0">
                          <a:solidFill>
                            <a:srgbClr val="2B2020"/>
                          </a:solidFill>
                          <a:latin typeface="ITC Avant Garde Gothic"/>
                        </a:rPr>
                        <a:t>Level 3</a:t>
                      </a:r>
                    </a:p>
                  </a:txBody>
                  <a:tcPr>
                    <a:solidFill>
                      <a:srgbClr val="FFFFFF"/>
                    </a:solidFill>
                  </a:tcPr>
                </a:tc>
                <a:tc>
                  <a:txBody>
                    <a:bodyPr/>
                    <a:lstStyle/>
                    <a:p>
                      <a:r>
                        <a:rPr sz="1400" b="0">
                          <a:solidFill>
                            <a:srgbClr val="2B2020"/>
                          </a:solidFill>
                          <a:latin typeface="ITC Avant Garde Gothic"/>
                        </a:rPr>
                        <a:t>DZRH (2026)</a:t>
                      </a:r>
                    </a:p>
                  </a:txBody>
                  <a:tcPr>
                    <a:solidFill>
                      <a:srgbClr val="FFFFFF"/>
                    </a:solidFill>
                  </a:tcPr>
                </a:tc>
              </a:tr>
              <a:tr h="822960">
                <a:tc>
                  <a:txBody>
                    <a:bodyPr/>
                    <a:lstStyle/>
                    <a:p>
                      <a:r>
                        <a:rPr sz="1400" b="0">
                          <a:solidFill>
                            <a:srgbClr val="8B0707"/>
                          </a:solidFill>
                          <a:latin typeface="ITC Avant Garde Gothic"/>
                        </a:rPr>
                        <a:t>Villages under ash, May 2026</a:t>
                      </a:r>
                    </a:p>
                  </a:txBody>
                  <a:tcPr>
                    <a:solidFill>
                      <a:srgbClr val="F8EAEA"/>
                    </a:solidFill>
                  </a:tcPr>
                </a:tc>
                <a:tc>
                  <a:txBody>
                    <a:bodyPr/>
                    <a:lstStyle/>
                    <a:p>
                      <a:r>
                        <a:rPr sz="1400" b="0">
                          <a:solidFill>
                            <a:srgbClr val="2B2020"/>
                          </a:solidFill>
                          <a:latin typeface="ITC Avant Garde Gothic"/>
                        </a:rPr>
                        <a:t>87</a:t>
                      </a:r>
                    </a:p>
                  </a:txBody>
                  <a:tcPr>
                    <a:solidFill>
                      <a:srgbClr val="F8EAEA"/>
                    </a:solidFill>
                  </a:tcPr>
                </a:tc>
                <a:tc>
                  <a:txBody>
                    <a:bodyPr/>
                    <a:lstStyle/>
                    <a:p>
                      <a:r>
                        <a:rPr sz="1400" b="0">
                          <a:solidFill>
                            <a:srgbClr val="2B2020"/>
                          </a:solidFill>
                          <a:latin typeface="ITC Avant Garde Gothic"/>
                        </a:rPr>
                        <a:t>Khaosod English (2026)</a:t>
                      </a:r>
                    </a:p>
                  </a:txBody>
                  <a:tcPr>
                    <a:solidFill>
                      <a:srgbClr val="F8EAEA"/>
                    </a:solidFill>
                  </a:tcPr>
                </a:tc>
              </a:tr>
              <a:tr h="822960">
                <a:tc>
                  <a:txBody>
                    <a:bodyPr/>
                    <a:lstStyle/>
                    <a:p>
                      <a:r>
                        <a:rPr sz="1400" b="0">
                          <a:solidFill>
                            <a:srgbClr val="8B0707"/>
                          </a:solidFill>
                          <a:latin typeface="ITC Avant Garde Gothic"/>
                        </a:rPr>
                        <a:t>Families evacuated, May 2026</a:t>
                      </a:r>
                    </a:p>
                  </a:txBody>
                  <a:tcPr>
                    <a:solidFill>
                      <a:srgbClr val="FFFFFF"/>
                    </a:solidFill>
                  </a:tcPr>
                </a:tc>
                <a:tc>
                  <a:txBody>
                    <a:bodyPr/>
                    <a:lstStyle/>
                    <a:p>
                      <a:r>
                        <a:rPr sz="1400" b="0">
                          <a:solidFill>
                            <a:srgbClr val="2B2020"/>
                          </a:solidFill>
                          <a:latin typeface="ITC Avant Garde Gothic"/>
                        </a:rPr>
                        <a:t>300+</a:t>
                      </a:r>
                    </a:p>
                  </a:txBody>
                  <a:tcPr>
                    <a:solidFill>
                      <a:srgbClr val="FFFFFF"/>
                    </a:solidFill>
                  </a:tcPr>
                </a:tc>
                <a:tc>
                  <a:txBody>
                    <a:bodyPr/>
                    <a:lstStyle/>
                    <a:p>
                      <a:r>
                        <a:rPr sz="1400" b="0">
                          <a:solidFill>
                            <a:srgbClr val="2B2020"/>
                          </a:solidFill>
                          <a:latin typeface="ITC Avant Garde Gothic"/>
                        </a:rPr>
                        <a:t>Khaosod English (2026)</a:t>
                      </a:r>
                    </a:p>
                  </a:txBody>
                  <a:tcPr>
                    <a:solidFill>
                      <a:srgbClr val="FFFFFF"/>
                    </a:solidFill>
                  </a:tcPr>
                </a:tc>
              </a:tr>
              <a:tr h="822960">
                <a:tc>
                  <a:txBody>
                    <a:bodyPr/>
                    <a:lstStyle/>
                    <a:p>
                      <a:r>
                        <a:rPr sz="1400" b="0">
                          <a:solidFill>
                            <a:srgbClr val="8B0707"/>
                          </a:solidFill>
                          <a:latin typeface="ITC Avant Garde Gothic"/>
                        </a:rPr>
                        <a:t>SpO₂ accuracy limit (Arms)</a:t>
                      </a:r>
                    </a:p>
                  </a:txBody>
                  <a:tcPr>
                    <a:solidFill>
                      <a:srgbClr val="F8EAEA"/>
                    </a:solidFill>
                  </a:tcPr>
                </a:tc>
                <a:tc>
                  <a:txBody>
                    <a:bodyPr/>
                    <a:lstStyle/>
                    <a:p>
                      <a:r>
                        <a:rPr sz="1400" b="0">
                          <a:solidFill>
                            <a:srgbClr val="2B2020"/>
                          </a:solidFill>
                          <a:latin typeface="ITC Avant Garde Gothic"/>
                        </a:rPr>
                        <a:t>≤ 4%</a:t>
                      </a:r>
                    </a:p>
                  </a:txBody>
                  <a:tcPr>
                    <a:solidFill>
                      <a:srgbClr val="F8EAEA"/>
                    </a:solidFill>
                  </a:tcPr>
                </a:tc>
                <a:tc>
                  <a:txBody>
                    <a:bodyPr/>
                    <a:lstStyle/>
                    <a:p>
                      <a:r>
                        <a:rPr sz="1400" b="0">
                          <a:solidFill>
                            <a:srgbClr val="2B2020"/>
                          </a:solidFill>
                          <a:latin typeface="ITC Avant Garde Gothic"/>
                        </a:rPr>
                        <a:t>ISO (2017b)</a:t>
                      </a:r>
                    </a:p>
                  </a:txBody>
                  <a:tcPr>
                    <a:solidFill>
                      <a:srgbClr val="F8EAEA"/>
                    </a:solidFill>
                  </a:tcPr>
                </a:tc>
              </a:tr>
              <a:tr h="822960">
                <a:tc>
                  <a:txBody>
                    <a:bodyPr/>
                    <a:lstStyle/>
                    <a:p>
                      <a:r>
                        <a:rPr sz="1400" b="0">
                          <a:solidFill>
                            <a:srgbClr val="8B0707"/>
                          </a:solidFill>
                          <a:latin typeface="ITC Avant Garde Gothic"/>
                        </a:rPr>
                        <a:t>Pain scale used in screening</a:t>
                      </a:r>
                    </a:p>
                  </a:txBody>
                  <a:tcPr>
                    <a:solidFill>
                      <a:srgbClr val="FFFFFF"/>
                    </a:solidFill>
                  </a:tcPr>
                </a:tc>
                <a:tc>
                  <a:txBody>
                    <a:bodyPr/>
                    <a:lstStyle/>
                    <a:p>
                      <a:r>
                        <a:rPr sz="1400" b="0">
                          <a:solidFill>
                            <a:srgbClr val="2B2020"/>
                          </a:solidFill>
                          <a:latin typeface="ITC Avant Garde Gothic"/>
                        </a:rPr>
                        <a:t>0–10 NRS</a:t>
                      </a:r>
                    </a:p>
                  </a:txBody>
                  <a:tcPr>
                    <a:solidFill>
                      <a:srgbClr val="FFFFFF"/>
                    </a:solidFill>
                  </a:tcPr>
                </a:tc>
                <a:tc>
                  <a:txBody>
                    <a:bodyPr/>
                    <a:lstStyle/>
                    <a:p>
                      <a:r>
                        <a:rPr sz="1400" b="0">
                          <a:solidFill>
                            <a:srgbClr val="2B2020"/>
                          </a:solidFill>
                          <a:latin typeface="ITC Avant Garde Gothic"/>
                        </a:rPr>
                        <a:t>Hawker et al. (2011)</a:t>
                      </a:r>
                    </a:p>
                  </a:txBody>
                  <a:tcPr>
                    <a:solidFill>
                      <a:srgbClr val="FFFFFF"/>
                    </a:solidFill>
                  </a:tcPr>
                </a:tc>
              </a:tr>
            </a:tbl>
          </a:graphicData>
        </a:graphic>
      </p:graphicFrame>
      <p:sp>
        <p:nvSpPr>
          <p:cNvPr id="27" name="Rectangle 26"/>
          <p:cNvSpPr/>
          <p:nvPr/>
        </p:nvSpPr>
        <p:spPr>
          <a:xfrm>
            <a:off x="822960" y="8138160"/>
            <a:ext cx="16642080" cy="1417320"/>
          </a:xfrm>
          <a:prstGeom prst="rect">
            <a:avLst/>
          </a:prstGeom>
          <a:solidFill>
            <a:srgbClr val="F8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34440" y="8211312"/>
            <a:ext cx="15819120" cy="1271016"/>
          </a:xfrm>
          <a:prstGeom prst="rect">
            <a:avLst/>
          </a:prstGeom>
          <a:noFill/>
        </p:spPr>
        <p:txBody>
          <a:bodyPr wrap="square" anchor="ctr">
            <a:spAutoFit/>
          </a:bodyPr>
          <a:lstStyle/>
          <a:p>
            <a:pPr algn="l">
              <a:spcAft>
                <a:spcPts val="855"/>
              </a:spcAft>
            </a:pPr>
            <a:r>
              <a:rPr sz="1900" b="0">
                <a:solidFill>
                  <a:srgbClr val="8B0707"/>
                </a:solidFill>
                <a:latin typeface="ITC Avant Garde Gothic"/>
              </a:rPr>
              <a:t>Purpose of the study. To find out whether a low-cost soft robot, inspired by the healthcare companion of Big Hero 6, can screen evacuees accurately.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RRL/RRS</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Related Literature</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3</a:t>
            </a:r>
            <a:endParaRPr lang="en-US" sz="1600" dirty="0">
              <a:latin typeface="ITC Avant Garde Gothic"/>
            </a:endParaRPr>
          </a:p>
        </p:txBody>
      </p:sp>
      <p:sp>
        <p:nvSpPr>
          <p:cNvPr id="23" name="TextBox 22"/>
          <p:cNvSpPr txBox="1"/>
          <p:nvPr/>
        </p:nvSpPr>
        <p:spPr>
          <a:xfrm>
            <a:off x="822960" y="2075688"/>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Table 2. Related literature and how the study uses it</a:t>
            </a:r>
          </a:p>
        </p:txBody>
      </p:sp>
      <p:graphicFrame>
        <p:nvGraphicFramePr>
          <p:cNvPr id="24" name="Table 23"/>
          <p:cNvGraphicFramePr>
            <a:graphicFrameLocks noGrp="1"/>
          </p:cNvGraphicFramePr>
          <p:nvPr/>
        </p:nvGraphicFramePr>
        <p:xfrm>
          <a:off x="822960" y="2487168"/>
          <a:ext cx="16642080" cy="4526280"/>
        </p:xfrm>
        <a:graphic>
          <a:graphicData uri="http://schemas.openxmlformats.org/drawingml/2006/table">
            <a:tbl>
              <a:tblPr firstRow="1" bandRow="1">
                <a:tableStyleId>{5C22544A-7EE6-4342-B048-85BDC9FD1C3A}</a:tableStyleId>
              </a:tblPr>
              <a:tblGrid>
                <a:gridCol w="3840480"/>
                <a:gridCol w="4572000"/>
                <a:gridCol w="8229600"/>
              </a:tblGrid>
              <a:tr h="502920">
                <a:tc>
                  <a:txBody>
                    <a:bodyPr/>
                    <a:lstStyle/>
                    <a:p>
                      <a:r>
                        <a:rPr sz="1600" b="1">
                          <a:solidFill>
                            <a:srgbClr val="FFFFFF"/>
                          </a:solidFill>
                          <a:latin typeface="ITC Avant Garde Gothic"/>
                        </a:rPr>
                        <a:t>Area</a:t>
                      </a:r>
                    </a:p>
                  </a:txBody>
                  <a:tcPr>
                    <a:solidFill>
                      <a:srgbClr val="8B0707"/>
                    </a:solidFill>
                  </a:tcPr>
                </a:tc>
                <a:tc>
                  <a:txBody>
                    <a:bodyPr/>
                    <a:lstStyle/>
                    <a:p>
                      <a:r>
                        <a:rPr sz="1600" b="1">
                          <a:solidFill>
                            <a:srgbClr val="FFFFFF"/>
                          </a:solidFill>
                          <a:latin typeface="ITC Avant Garde Gothic"/>
                        </a:rPr>
                        <a:t>Key sources</a:t>
                      </a:r>
                    </a:p>
                  </a:txBody>
                  <a:tcPr>
                    <a:solidFill>
                      <a:srgbClr val="8B0707"/>
                    </a:solidFill>
                  </a:tcPr>
                </a:tc>
                <a:tc>
                  <a:txBody>
                    <a:bodyPr/>
                    <a:lstStyle/>
                    <a:p>
                      <a:r>
                        <a:rPr sz="1600" b="1">
                          <a:solidFill>
                            <a:srgbClr val="FFFFFF"/>
                          </a:solidFill>
                          <a:latin typeface="ITC Avant Garde Gothic"/>
                        </a:rPr>
                        <a:t>Use in the present study</a:t>
                      </a:r>
                    </a:p>
                  </a:txBody>
                  <a:tcPr>
                    <a:solidFill>
                      <a:srgbClr val="8B0707"/>
                    </a:solidFill>
                  </a:tcPr>
                </a:tc>
              </a:tr>
              <a:tr h="1005840">
                <a:tc>
                  <a:txBody>
                    <a:bodyPr/>
                    <a:lstStyle/>
                    <a:p>
                      <a:r>
                        <a:rPr sz="1600" b="0">
                          <a:solidFill>
                            <a:srgbClr val="8B0707"/>
                          </a:solidFill>
                          <a:latin typeface="ITC Avant Garde Gothic"/>
                        </a:rPr>
                        <a:t>Soft and inflatable robots</a:t>
                      </a:r>
                    </a:p>
                  </a:txBody>
                  <a:tcPr>
                    <a:solidFill>
                      <a:srgbClr val="FFFFFF"/>
                    </a:solidFill>
                  </a:tcPr>
                </a:tc>
                <a:tc>
                  <a:txBody>
                    <a:bodyPr/>
                    <a:lstStyle/>
                    <a:p>
                      <a:r>
                        <a:rPr sz="1600" b="0">
                          <a:solidFill>
                            <a:srgbClr val="2B2020"/>
                          </a:solidFill>
                          <a:latin typeface="ITC Avant Garde Gothic"/>
                        </a:rPr>
                        <a:t>Rus &amp; Tolley (2015); Sanan et al. (2011)</a:t>
                      </a:r>
                    </a:p>
                  </a:txBody>
                  <a:tcPr>
                    <a:solidFill>
                      <a:srgbClr val="FFFFFF"/>
                    </a:solidFill>
                  </a:tcPr>
                </a:tc>
                <a:tc>
                  <a:txBody>
                    <a:bodyPr/>
                    <a:lstStyle/>
                    <a:p>
                      <a:r>
                        <a:rPr sz="1600" b="0">
                          <a:solidFill>
                            <a:srgbClr val="2B2020"/>
                          </a:solidFill>
                          <a:latin typeface="ITC Avant Garde Gothic"/>
                        </a:rPr>
                        <a:t>Air-filled body that is safe to touch</a:t>
                      </a:r>
                    </a:p>
                  </a:txBody>
                  <a:tcPr>
                    <a:solidFill>
                      <a:srgbClr val="FFFFFF"/>
                    </a:solidFill>
                  </a:tcPr>
                </a:tc>
              </a:tr>
              <a:tr h="1005840">
                <a:tc>
                  <a:txBody>
                    <a:bodyPr/>
                    <a:lstStyle/>
                    <a:p>
                      <a:r>
                        <a:rPr sz="1600" b="0">
                          <a:solidFill>
                            <a:srgbClr val="8B0707"/>
                          </a:solidFill>
                          <a:latin typeface="ITC Avant Garde Gothic"/>
                        </a:rPr>
                        <a:t>Acceptance of care robots</a:t>
                      </a:r>
                    </a:p>
                  </a:txBody>
                  <a:tcPr>
                    <a:solidFill>
                      <a:srgbClr val="F8EAEA"/>
                    </a:solidFill>
                  </a:tcPr>
                </a:tc>
                <a:tc>
                  <a:txBody>
                    <a:bodyPr/>
                    <a:lstStyle/>
                    <a:p>
                      <a:r>
                        <a:rPr sz="1600" b="0">
                          <a:solidFill>
                            <a:srgbClr val="2B2020"/>
                          </a:solidFill>
                          <a:latin typeface="ITC Avant Garde Gothic"/>
                        </a:rPr>
                        <a:t>Broadbent et al. (2009); Mori et al. (2012)</a:t>
                      </a:r>
                    </a:p>
                  </a:txBody>
                  <a:tcPr>
                    <a:solidFill>
                      <a:srgbClr val="F8EAEA"/>
                    </a:solidFill>
                  </a:tcPr>
                </a:tc>
                <a:tc>
                  <a:txBody>
                    <a:bodyPr/>
                    <a:lstStyle/>
                    <a:p>
                      <a:r>
                        <a:rPr sz="1600" b="0">
                          <a:solidFill>
                            <a:srgbClr val="2B2020"/>
                          </a:solidFill>
                          <a:latin typeface="ITC Avant Garde Gothic"/>
                        </a:rPr>
                        <a:t>Friendly look; simple two-dot face</a:t>
                      </a:r>
                    </a:p>
                  </a:txBody>
                  <a:tcPr>
                    <a:solidFill>
                      <a:srgbClr val="F8EAEA"/>
                    </a:solidFill>
                  </a:tcPr>
                </a:tc>
              </a:tr>
              <a:tr h="1005840">
                <a:tc>
                  <a:txBody>
                    <a:bodyPr/>
                    <a:lstStyle/>
                    <a:p>
                      <a:r>
                        <a:rPr sz="1600" b="0">
                          <a:solidFill>
                            <a:srgbClr val="8B0707"/>
                          </a:solidFill>
                          <a:latin typeface="ITC Avant Garde Gothic"/>
                        </a:rPr>
                        <a:t>Vital-sign sensing</a:t>
                      </a:r>
                    </a:p>
                  </a:txBody>
                  <a:tcPr>
                    <a:solidFill>
                      <a:srgbClr val="FFFFFF"/>
                    </a:solidFill>
                  </a:tcPr>
                </a:tc>
                <a:tc>
                  <a:txBody>
                    <a:bodyPr/>
                    <a:lstStyle/>
                    <a:p>
                      <a:r>
                        <a:rPr sz="1600" b="0">
                          <a:solidFill>
                            <a:srgbClr val="2B2020"/>
                          </a:solidFill>
                          <a:latin typeface="ITC Avant Garde Gothic"/>
                        </a:rPr>
                        <a:t>Jubran (2015); Allen (2007); ISO (2017a, 2017b)</a:t>
                      </a:r>
                    </a:p>
                  </a:txBody>
                  <a:tcPr>
                    <a:solidFill>
                      <a:srgbClr val="FFFFFF"/>
                    </a:solidFill>
                  </a:tcPr>
                </a:tc>
                <a:tc>
                  <a:txBody>
                    <a:bodyPr/>
                    <a:lstStyle/>
                    <a:p>
                      <a:r>
                        <a:rPr sz="1600" b="0">
                          <a:solidFill>
                            <a:srgbClr val="2B2020"/>
                          </a:solidFill>
                          <a:latin typeface="ITC Avant Garde Gothic"/>
                        </a:rPr>
                        <a:t>SpO₂, pulse, and IR temperature limits</a:t>
                      </a:r>
                    </a:p>
                  </a:txBody>
                  <a:tcPr>
                    <a:solidFill>
                      <a:srgbClr val="FFFFFF"/>
                    </a:solidFill>
                  </a:tcPr>
                </a:tc>
              </a:tr>
              <a:tr h="1005840">
                <a:tc>
                  <a:txBody>
                    <a:bodyPr/>
                    <a:lstStyle/>
                    <a:p>
                      <a:r>
                        <a:rPr sz="1600" b="0">
                          <a:solidFill>
                            <a:srgbClr val="8B0707"/>
                          </a:solidFill>
                          <a:latin typeface="ITC Avant Garde Gothic"/>
                        </a:rPr>
                        <a:t>Method comparison, usability</a:t>
                      </a:r>
                    </a:p>
                  </a:txBody>
                  <a:tcPr>
                    <a:solidFill>
                      <a:srgbClr val="F8EAEA"/>
                    </a:solidFill>
                  </a:tcPr>
                </a:tc>
                <a:tc>
                  <a:txBody>
                    <a:bodyPr/>
                    <a:lstStyle/>
                    <a:p>
                      <a:r>
                        <a:rPr sz="1600" b="0">
                          <a:solidFill>
                            <a:srgbClr val="2B2020"/>
                          </a:solidFill>
                          <a:latin typeface="ITC Avant Garde Gothic"/>
                        </a:rPr>
                        <a:t>Bland &amp; Altman (1986); Brooke (1996)</a:t>
                      </a:r>
                    </a:p>
                  </a:txBody>
                  <a:tcPr>
                    <a:solidFill>
                      <a:srgbClr val="F8EAEA"/>
                    </a:solidFill>
                  </a:tcPr>
                </a:tc>
                <a:tc>
                  <a:txBody>
                    <a:bodyPr/>
                    <a:lstStyle/>
                    <a:p>
                      <a:r>
                        <a:rPr sz="1600" b="0">
                          <a:solidFill>
                            <a:srgbClr val="2B2020"/>
                          </a:solidFill>
                          <a:latin typeface="ITC Avant Garde Gothic"/>
                        </a:rPr>
                        <a:t>Agreement statistics and SUS</a:t>
                      </a:r>
                    </a:p>
                  </a:txBody>
                  <a:tcPr>
                    <a:solidFill>
                      <a:srgbClr val="F8EAEA"/>
                    </a:solidFill>
                  </a:tcPr>
                </a:tc>
              </a:tr>
            </a:tbl>
          </a:graphicData>
        </a:graphic>
      </p:graphicFrame>
      <p:sp>
        <p:nvSpPr>
          <p:cNvPr id="25" name="Rectangle 24"/>
          <p:cNvSpPr/>
          <p:nvPr/>
        </p:nvSpPr>
        <p:spPr>
          <a:xfrm>
            <a:off x="822960" y="8595360"/>
            <a:ext cx="16642080" cy="960120"/>
          </a:xfrm>
          <a:prstGeom prst="rect">
            <a:avLst/>
          </a:prstGeom>
          <a:solidFill>
            <a:srgbClr val="F8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8668512"/>
            <a:ext cx="15819120" cy="813816"/>
          </a:xfrm>
          <a:prstGeom prst="rect">
            <a:avLst/>
          </a:prstGeom>
          <a:noFill/>
        </p:spPr>
        <p:txBody>
          <a:bodyPr wrap="square" anchor="ctr">
            <a:spAutoFit/>
          </a:bodyPr>
          <a:lstStyle/>
          <a:p>
            <a:pPr algn="l">
              <a:spcAft>
                <a:spcPts val="765"/>
              </a:spcAft>
            </a:pPr>
            <a:r>
              <a:rPr sz="1700" b="0">
                <a:solidFill>
                  <a:srgbClr val="8B0707"/>
                </a:solidFill>
                <a:latin typeface="ITC Avant Garde Gothic"/>
              </a:rPr>
              <a:t>Synthesis. Soft bodies are safer and friendlier, and low-cost sensors can screen vital signs if checked against a reference.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RRL/RRS</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Related Studies</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4</a:t>
            </a:r>
            <a:endParaRPr lang="en-US" sz="1600" dirty="0">
              <a:latin typeface="ITC Avant Garde Gothic"/>
            </a:endParaRPr>
          </a:p>
        </p:txBody>
      </p:sp>
      <p:sp>
        <p:nvSpPr>
          <p:cNvPr id="23" name="TextBox 22"/>
          <p:cNvSpPr txBox="1"/>
          <p:nvPr/>
        </p:nvSpPr>
        <p:spPr>
          <a:xfrm>
            <a:off x="822960" y="2075688"/>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Table 3. Related studies and their relation to the present study</a:t>
            </a:r>
          </a:p>
        </p:txBody>
      </p:sp>
      <p:graphicFrame>
        <p:nvGraphicFramePr>
          <p:cNvPr id="24" name="Table 23"/>
          <p:cNvGraphicFramePr>
            <a:graphicFrameLocks noGrp="1"/>
          </p:cNvGraphicFramePr>
          <p:nvPr/>
        </p:nvGraphicFramePr>
        <p:xfrm>
          <a:off x="822960" y="2487168"/>
          <a:ext cx="16642080" cy="4069080"/>
        </p:xfrm>
        <a:graphic>
          <a:graphicData uri="http://schemas.openxmlformats.org/drawingml/2006/table">
            <a:tbl>
              <a:tblPr firstRow="1" bandRow="1">
                <a:tableStyleId>{5C22544A-7EE6-4342-B048-85BDC9FD1C3A}</a:tableStyleId>
              </a:tblPr>
              <a:tblGrid>
                <a:gridCol w="3840480"/>
                <a:gridCol w="6217920"/>
                <a:gridCol w="6583680"/>
              </a:tblGrid>
              <a:tr h="502920">
                <a:tc>
                  <a:txBody>
                    <a:bodyPr/>
                    <a:lstStyle/>
                    <a:p>
                      <a:r>
                        <a:rPr sz="1600" b="1">
                          <a:solidFill>
                            <a:srgbClr val="FFFFFF"/>
                          </a:solidFill>
                          <a:latin typeface="ITC Avant Garde Gothic"/>
                        </a:rPr>
                        <a:t>Study</a:t>
                      </a:r>
                    </a:p>
                  </a:txBody>
                  <a:tcPr>
                    <a:solidFill>
                      <a:srgbClr val="8B0707"/>
                    </a:solidFill>
                  </a:tcPr>
                </a:tc>
                <a:tc>
                  <a:txBody>
                    <a:bodyPr/>
                    <a:lstStyle/>
                    <a:p>
                      <a:r>
                        <a:rPr sz="1600" b="1">
                          <a:solidFill>
                            <a:srgbClr val="FFFFFF"/>
                          </a:solidFill>
                          <a:latin typeface="ITC Avant Garde Gothic"/>
                        </a:rPr>
                        <a:t>What was done</a:t>
                      </a:r>
                    </a:p>
                  </a:txBody>
                  <a:tcPr>
                    <a:solidFill>
                      <a:srgbClr val="8B0707"/>
                    </a:solidFill>
                  </a:tcPr>
                </a:tc>
                <a:tc>
                  <a:txBody>
                    <a:bodyPr/>
                    <a:lstStyle/>
                    <a:p>
                      <a:r>
                        <a:rPr sz="1600" b="1">
                          <a:solidFill>
                            <a:srgbClr val="FFFFFF"/>
                          </a:solidFill>
                          <a:latin typeface="ITC Avant Garde Gothic"/>
                        </a:rPr>
                        <a:t>Relation to the present study</a:t>
                      </a:r>
                    </a:p>
                  </a:txBody>
                  <a:tcPr>
                    <a:solidFill>
                      <a:srgbClr val="8B0707"/>
                    </a:solidFill>
                  </a:tcPr>
                </a:tc>
              </a:tr>
              <a:tr h="1188720">
                <a:tc>
                  <a:txBody>
                    <a:bodyPr/>
                    <a:lstStyle/>
                    <a:p>
                      <a:r>
                        <a:rPr sz="1600" b="0">
                          <a:solidFill>
                            <a:srgbClr val="8B0707"/>
                          </a:solidFill>
                          <a:latin typeface="ITC Avant Garde Gothic"/>
                        </a:rPr>
                        <a:t>Sanan et al. (2011)</a:t>
                      </a:r>
                    </a:p>
                  </a:txBody>
                  <a:tcPr>
                    <a:solidFill>
                      <a:srgbClr val="FFFFFF"/>
                    </a:solidFill>
                  </a:tcPr>
                </a:tc>
                <a:tc>
                  <a:txBody>
                    <a:bodyPr/>
                    <a:lstStyle/>
                    <a:p>
                      <a:r>
                        <a:rPr sz="1600" b="0">
                          <a:solidFill>
                            <a:srgbClr val="2B2020"/>
                          </a:solidFill>
                          <a:latin typeface="ITC Avant Garde Gothic"/>
                        </a:rPr>
                        <a:t>Built an inflatable arm for safe contact with people.</a:t>
                      </a:r>
                    </a:p>
                  </a:txBody>
                  <a:tcPr>
                    <a:solidFill>
                      <a:srgbClr val="FFFFFF"/>
                    </a:solidFill>
                  </a:tcPr>
                </a:tc>
                <a:tc>
                  <a:txBody>
                    <a:bodyPr/>
                    <a:lstStyle/>
                    <a:p>
                      <a:r>
                        <a:rPr sz="1600" b="0">
                          <a:solidFill>
                            <a:srgbClr val="2B2020"/>
                          </a:solidFill>
                          <a:latin typeface="ITC Avant Garde Gothic"/>
                        </a:rPr>
                        <a:t>Supports an air-filled body.</a:t>
                      </a:r>
                    </a:p>
                  </a:txBody>
                  <a:tcPr>
                    <a:solidFill>
                      <a:srgbClr val="FFFFFF"/>
                    </a:solidFill>
                  </a:tcPr>
                </a:tc>
              </a:tr>
              <a:tr h="1188720">
                <a:tc>
                  <a:txBody>
                    <a:bodyPr/>
                    <a:lstStyle/>
                    <a:p>
                      <a:r>
                        <a:rPr sz="1600" b="0">
                          <a:solidFill>
                            <a:srgbClr val="8B0707"/>
                          </a:solidFill>
                          <a:latin typeface="ITC Avant Garde Gothic"/>
                        </a:rPr>
                        <a:t>Broadbent et al. (2009)</a:t>
                      </a:r>
                    </a:p>
                  </a:txBody>
                  <a:tcPr>
                    <a:solidFill>
                      <a:srgbClr val="F8EAEA"/>
                    </a:solidFill>
                  </a:tcPr>
                </a:tc>
                <a:tc>
                  <a:txBody>
                    <a:bodyPr/>
                    <a:lstStyle/>
                    <a:p>
                      <a:r>
                        <a:rPr sz="1600" b="0">
                          <a:solidFill>
                            <a:srgbClr val="2B2020"/>
                          </a:solidFill>
                          <a:latin typeface="ITC Avant Garde Gothic"/>
                        </a:rPr>
                        <a:t>Reviewed what makes older adults accept care robots.</a:t>
                      </a:r>
                    </a:p>
                  </a:txBody>
                  <a:tcPr>
                    <a:solidFill>
                      <a:srgbClr val="F8EAEA"/>
                    </a:solidFill>
                  </a:tcPr>
                </a:tc>
                <a:tc>
                  <a:txBody>
                    <a:bodyPr/>
                    <a:lstStyle/>
                    <a:p>
                      <a:r>
                        <a:rPr sz="1600" b="0">
                          <a:solidFill>
                            <a:srgbClr val="2B2020"/>
                          </a:solidFill>
                          <a:latin typeface="ITC Avant Garde Gothic"/>
                        </a:rPr>
                        <a:t>Guides the friendly design.</a:t>
                      </a:r>
                    </a:p>
                  </a:txBody>
                  <a:tcPr>
                    <a:solidFill>
                      <a:srgbClr val="F8EAEA"/>
                    </a:solidFill>
                  </a:tcPr>
                </a:tc>
              </a:tr>
              <a:tr h="1188720">
                <a:tc>
                  <a:txBody>
                    <a:bodyPr/>
                    <a:lstStyle/>
                    <a:p>
                      <a:r>
                        <a:rPr sz="1600" b="0">
                          <a:solidFill>
                            <a:srgbClr val="8B0707"/>
                          </a:solidFill>
                          <a:latin typeface="ITC Avant Garde Gothic"/>
                        </a:rPr>
                        <a:t>Bland &amp; Altman (1986)</a:t>
                      </a:r>
                    </a:p>
                  </a:txBody>
                  <a:tcPr>
                    <a:solidFill>
                      <a:srgbClr val="FFFFFF"/>
                    </a:solidFill>
                  </a:tcPr>
                </a:tc>
                <a:tc>
                  <a:txBody>
                    <a:bodyPr/>
                    <a:lstStyle/>
                    <a:p>
                      <a:r>
                        <a:rPr sz="1600" b="0">
                          <a:solidFill>
                            <a:srgbClr val="2B2020"/>
                          </a:solidFill>
                          <a:latin typeface="ITC Avant Garde Gothic"/>
                        </a:rPr>
                        <a:t>Proposed limits of agreement for two methods.</a:t>
                      </a:r>
                    </a:p>
                  </a:txBody>
                  <a:tcPr>
                    <a:solidFill>
                      <a:srgbClr val="FFFFFF"/>
                    </a:solidFill>
                  </a:tcPr>
                </a:tc>
                <a:tc>
                  <a:txBody>
                    <a:bodyPr/>
                    <a:lstStyle/>
                    <a:p>
                      <a:r>
                        <a:rPr sz="1600" b="0">
                          <a:solidFill>
                            <a:srgbClr val="2B2020"/>
                          </a:solidFill>
                          <a:latin typeface="ITC Avant Garde Gothic"/>
                        </a:rPr>
                        <a:t>Method used to test ALAGA.</a:t>
                      </a:r>
                    </a:p>
                  </a:txBody>
                  <a:tcPr>
                    <a:solidFill>
                      <a:srgbClr val="FFFFFF"/>
                    </a:solidFill>
                  </a:tcPr>
                </a:tc>
              </a:tr>
            </a:tbl>
          </a:graphicData>
        </a:graphic>
      </p:graphicFrame>
      <p:sp>
        <p:nvSpPr>
          <p:cNvPr id="25" name="Rectangle 24"/>
          <p:cNvSpPr/>
          <p:nvPr/>
        </p:nvSpPr>
        <p:spPr>
          <a:xfrm>
            <a:off x="822960" y="8476488"/>
            <a:ext cx="16642080" cy="1078992"/>
          </a:xfrm>
          <a:prstGeom prst="rect">
            <a:avLst/>
          </a:prstGeom>
          <a:solidFill>
            <a:srgbClr val="F8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8549640"/>
            <a:ext cx="15819120" cy="932688"/>
          </a:xfrm>
          <a:prstGeom prst="rect">
            <a:avLst/>
          </a:prstGeom>
          <a:noFill/>
        </p:spPr>
        <p:txBody>
          <a:bodyPr wrap="square" anchor="ctr">
            <a:spAutoFit/>
          </a:bodyPr>
          <a:lstStyle/>
          <a:p>
            <a:pPr algn="l">
              <a:spcAft>
                <a:spcPts val="765"/>
              </a:spcAft>
            </a:pPr>
            <a:r>
              <a:rPr sz="1700" b="0">
                <a:solidFill>
                  <a:srgbClr val="8B0707"/>
                </a:solidFill>
                <a:latin typeface="ITC Avant Garde Gothic"/>
              </a:rPr>
              <a:t>Synthesis. No low-cost robot joins a soft body, vital-sign screening, and pain triage for evacuation centers.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292608"/>
            <a:ext cx="17376398" cy="777240"/>
          </a:xfrm>
          <a:prstGeom prst="rect">
            <a:avLst/>
          </a:prstGeom>
        </p:spPr>
        <p:txBody>
          <a:bodyPr anchor="t" rtlCol="false" tIns="0" lIns="0" bIns="0" rIns="0">
            <a:spAutoFit/>
          </a:bodyPr>
          <a:lstStyle/>
          <a:p>
            <a:pPr algn="l">
              <a:lnSpc>
                <a:spcPts val="7720"/>
              </a:lnSpc>
            </a:pPr>
            <a:r>
              <a:rPr lang="en-US" sz="4000">
                <a:solidFill>
                  <a:srgbClr val="FFFFFF"/>
                </a:solidFill>
                <a:latin typeface="ITC Avant Garde Gothic"/>
                <a:ea typeface="ITC Avant Garde Gothic"/>
                <a:cs typeface="ITC Avant Garde Gothic"/>
                <a:sym typeface="ITC Avant Garde Gothic"/>
              </a:rPr>
              <a:t>THEORETICAL/CONCEPTUAL FRAMEWORK PARADIGM</a:t>
            </a:r>
          </a:p>
        </p:txBody>
      </p:sp>
      <p:sp>
        <p:nvSpPr>
          <p:cNvPr id="21" name="Subtitle"/>
          <p:cNvSpPr txBox="1"/>
          <p:nvPr/>
        </p:nvSpPr>
        <p:spPr>
          <a:xfrm>
            <a:off x="210312" y="1097280"/>
            <a:ext cx="17373600" cy="45720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000" dirty="0">
                <a:solidFill>
                  <a:srgbClr val="FFFFFF">
                    <a:alpha val="92000"/>
                  </a:srgbClr>
                </a:solidFill>
                <a:latin typeface="ITC Avant Garde Gothic"/>
                <a:ea typeface="ITC Avant Garde Gothic"/>
                <a:cs typeface="ITC Avant Garde Gothic"/>
                <a:sym typeface="ITC Avant Garde Gothic"/>
              </a:rPr>
              <a:t>Theoretical Framework</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5</a:t>
            </a:r>
            <a:endParaRPr lang="en-US" sz="1600" dirty="0">
              <a:latin typeface="ITC Avant Garde Gothic"/>
            </a:endParaRPr>
          </a:p>
        </p:txBody>
      </p:sp>
      <p:sp>
        <p:nvSpPr>
          <p:cNvPr id="23" name="TextBox 22"/>
          <p:cNvSpPr txBox="1"/>
          <p:nvPr/>
        </p:nvSpPr>
        <p:spPr>
          <a:xfrm>
            <a:off x="822960" y="2029968"/>
            <a:ext cx="7178040" cy="457200"/>
          </a:xfrm>
          <a:prstGeom prst="rect">
            <a:avLst/>
          </a:prstGeom>
          <a:noFill/>
        </p:spPr>
        <p:txBody>
          <a:bodyPr wrap="square" anchor="t">
            <a:spAutoFit/>
          </a:bodyPr>
          <a:lstStyle/>
          <a:p>
            <a:pPr algn="l">
              <a:spcAft>
                <a:spcPts val="810"/>
              </a:spcAft>
            </a:pPr>
            <a:r>
              <a:rPr sz="1800" b="1">
                <a:solidFill>
                  <a:srgbClr val="8B0707"/>
                </a:solidFill>
                <a:latin typeface="ITC Avant Garde Gothic"/>
              </a:rPr>
              <a:t>Research gap</a:t>
            </a:r>
          </a:p>
        </p:txBody>
      </p:sp>
      <p:sp>
        <p:nvSpPr>
          <p:cNvPr id="24" name="TextBox 23"/>
          <p:cNvSpPr txBox="1"/>
          <p:nvPr/>
        </p:nvSpPr>
        <p:spPr>
          <a:xfrm>
            <a:off x="9281160" y="2029968"/>
            <a:ext cx="8183879" cy="457200"/>
          </a:xfrm>
          <a:prstGeom prst="rect">
            <a:avLst/>
          </a:prstGeom>
          <a:noFill/>
        </p:spPr>
        <p:txBody>
          <a:bodyPr wrap="square" anchor="t">
            <a:spAutoFit/>
          </a:bodyPr>
          <a:lstStyle/>
          <a:p>
            <a:pPr algn="l">
              <a:spcAft>
                <a:spcPts val="810"/>
              </a:spcAft>
            </a:pPr>
            <a:r>
              <a:rPr sz="1800" b="1">
                <a:solidFill>
                  <a:srgbClr val="8B0707"/>
                </a:solidFill>
                <a:latin typeface="ITC Avant Garde Gothic"/>
              </a:rPr>
              <a:t>Theory or concept that addresses it</a:t>
            </a:r>
          </a:p>
        </p:txBody>
      </p:sp>
      <p:sp>
        <p:nvSpPr>
          <p:cNvPr id="25" name="Rectangle 24"/>
          <p:cNvSpPr/>
          <p:nvPr/>
        </p:nvSpPr>
        <p:spPr>
          <a:xfrm>
            <a:off x="822960" y="2560320"/>
            <a:ext cx="7178040" cy="1499616"/>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2633472"/>
            <a:ext cx="6675120" cy="1353312"/>
          </a:xfrm>
          <a:prstGeom prst="rect">
            <a:avLst/>
          </a:prstGeom>
          <a:noFill/>
        </p:spPr>
        <p:txBody>
          <a:bodyPr wrap="square" anchor="t">
            <a:spAutoFit/>
          </a:bodyPr>
          <a:lstStyle/>
          <a:p>
            <a:pPr algn="l">
              <a:spcAft>
                <a:spcPts val="675"/>
              </a:spcAft>
            </a:pPr>
            <a:r>
              <a:rPr b="1" sz="1500">
                <a:solidFill>
                  <a:srgbClr val="8B0707"/>
                </a:solidFill>
                <a:latin typeface="ITC Avant Garde Gothic"/>
              </a:rPr>
              <a:t>G1  Few health workers</a:t>
            </a:r>
            <a:r>
              <a:rPr sz="1500" b="0">
                <a:solidFill>
                  <a:srgbClr val="2B2020"/>
                </a:solidFill>
                <a:latin typeface="ITC Avant Garde Gothic"/>
              </a:rPr>
              <a:t/>
            </a:r>
          </a:p>
          <a:p>
            <a:pPr algn="l">
              <a:spcAft>
                <a:spcPts val="675"/>
              </a:spcAft>
            </a:pPr>
            <a:r>
              <a:rPr sz="1500" b="0">
                <a:solidFill>
                  <a:srgbClr val="2B2020"/>
                </a:solidFill>
                <a:latin typeface="ITC Avant Garde Gothic"/>
              </a:rPr>
              <a:t>Hundreds of evacuees need routine checks.</a:t>
            </a:r>
          </a:p>
        </p:txBody>
      </p:sp>
      <p:sp>
        <p:nvSpPr>
          <p:cNvPr id="27" name="Right Arrow 26"/>
          <p:cNvSpPr/>
          <p:nvPr/>
        </p:nvSpPr>
        <p:spPr>
          <a:xfrm>
            <a:off x="8138160" y="3035808"/>
            <a:ext cx="1005840" cy="54864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81160" y="2560320"/>
            <a:ext cx="8183879" cy="1499616"/>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55480" y="2633472"/>
            <a:ext cx="7680960" cy="1353312"/>
          </a:xfrm>
          <a:prstGeom prst="rect">
            <a:avLst/>
          </a:prstGeom>
          <a:noFill/>
        </p:spPr>
        <p:txBody>
          <a:bodyPr wrap="square" anchor="t">
            <a:spAutoFit/>
          </a:bodyPr>
          <a:lstStyle/>
          <a:p>
            <a:pPr algn="l">
              <a:spcAft>
                <a:spcPts val="675"/>
              </a:spcAft>
            </a:pPr>
            <a:r>
              <a:rPr sz="1500" b="0">
                <a:solidFill>
                  <a:srgbClr val="FFFFFF"/>
                </a:solidFill>
                <a:latin typeface="ITC Avant Garde Gothic"/>
              </a:rPr>
              <a:t>Socially assistive robot</a:t>
            </a:r>
          </a:p>
          <a:p>
            <a:pPr algn="l">
              <a:spcAft>
                <a:spcPts val="675"/>
              </a:spcAft>
            </a:pPr>
            <a:r>
              <a:rPr sz="1500" b="0">
                <a:solidFill>
                  <a:srgbClr val="FFFFFF"/>
                </a:solidFill>
                <a:latin typeface="ITC Avant Garde Gothic"/>
              </a:rPr>
              <a:t>Robot screens; health workers treat.</a:t>
            </a:r>
          </a:p>
        </p:txBody>
      </p:sp>
      <p:sp>
        <p:nvSpPr>
          <p:cNvPr id="30" name="Rectangle 29"/>
          <p:cNvSpPr/>
          <p:nvPr/>
        </p:nvSpPr>
        <p:spPr>
          <a:xfrm>
            <a:off x="822960" y="4215383"/>
            <a:ext cx="7178040" cy="1499616"/>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4288536"/>
            <a:ext cx="6675120" cy="1353312"/>
          </a:xfrm>
          <a:prstGeom prst="rect">
            <a:avLst/>
          </a:prstGeom>
          <a:noFill/>
        </p:spPr>
        <p:txBody>
          <a:bodyPr wrap="square" anchor="t">
            <a:spAutoFit/>
          </a:bodyPr>
          <a:lstStyle/>
          <a:p>
            <a:pPr algn="l">
              <a:spcAft>
                <a:spcPts val="675"/>
              </a:spcAft>
            </a:pPr>
            <a:r>
              <a:rPr b="1" sz="1500">
                <a:solidFill>
                  <a:srgbClr val="8B0707"/>
                </a:solidFill>
                <a:latin typeface="ITC Avant Garde Gothic"/>
              </a:rPr>
              <a:t>G2  Robots can scare</a:t>
            </a:r>
            <a:r>
              <a:rPr sz="1500" b="0">
                <a:solidFill>
                  <a:srgbClr val="2B2020"/>
                </a:solidFill>
                <a:latin typeface="ITC Avant Garde Gothic"/>
              </a:rPr>
              <a:t/>
            </a:r>
          </a:p>
          <a:p>
            <a:pPr algn="l">
              <a:spcAft>
                <a:spcPts val="675"/>
              </a:spcAft>
            </a:pPr>
            <a:r>
              <a:rPr sz="1500" b="0">
                <a:solidFill>
                  <a:srgbClr val="2B2020"/>
                </a:solidFill>
                <a:latin typeface="ITC Avant Garde Gothic"/>
              </a:rPr>
              <a:t>Rigid or almost-human robots feel unsafe.</a:t>
            </a:r>
          </a:p>
        </p:txBody>
      </p:sp>
      <p:sp>
        <p:nvSpPr>
          <p:cNvPr id="32" name="Right Arrow 31"/>
          <p:cNvSpPr/>
          <p:nvPr/>
        </p:nvSpPr>
        <p:spPr>
          <a:xfrm>
            <a:off x="8138160" y="4690871"/>
            <a:ext cx="1005840" cy="54864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281160" y="4215383"/>
            <a:ext cx="8183879" cy="1499616"/>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55480" y="4288536"/>
            <a:ext cx="7680960" cy="1353312"/>
          </a:xfrm>
          <a:prstGeom prst="rect">
            <a:avLst/>
          </a:prstGeom>
          <a:noFill/>
        </p:spPr>
        <p:txBody>
          <a:bodyPr wrap="square" anchor="t">
            <a:spAutoFit/>
          </a:bodyPr>
          <a:lstStyle/>
          <a:p>
            <a:pPr algn="l">
              <a:spcAft>
                <a:spcPts val="675"/>
              </a:spcAft>
            </a:pPr>
            <a:r>
              <a:rPr sz="1500" b="0">
                <a:solidFill>
                  <a:srgbClr val="FFFFFF"/>
                </a:solidFill>
                <a:latin typeface="ITC Avant Garde Gothic"/>
              </a:rPr>
              <a:t>Soft body + plain face</a:t>
            </a:r>
          </a:p>
          <a:p>
            <a:pPr algn="l">
              <a:spcAft>
                <a:spcPts val="675"/>
              </a:spcAft>
            </a:pPr>
            <a:r>
              <a:rPr sz="1500" b="0">
                <a:solidFill>
                  <a:srgbClr val="FFFFFF"/>
                </a:solidFill>
                <a:latin typeface="ITC Avant Garde Gothic"/>
              </a:rPr>
              <a:t>Air body; simple face (Mori et al., 2012).</a:t>
            </a:r>
          </a:p>
        </p:txBody>
      </p:sp>
      <p:sp>
        <p:nvSpPr>
          <p:cNvPr id="35" name="Rectangle 34"/>
          <p:cNvSpPr/>
          <p:nvPr/>
        </p:nvSpPr>
        <p:spPr>
          <a:xfrm>
            <a:off x="822960" y="5870448"/>
            <a:ext cx="7178040" cy="1499616"/>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943600"/>
            <a:ext cx="6675120" cy="1353312"/>
          </a:xfrm>
          <a:prstGeom prst="rect">
            <a:avLst/>
          </a:prstGeom>
          <a:noFill/>
        </p:spPr>
        <p:txBody>
          <a:bodyPr wrap="square" anchor="t">
            <a:spAutoFit/>
          </a:bodyPr>
          <a:lstStyle/>
          <a:p>
            <a:pPr algn="l">
              <a:spcAft>
                <a:spcPts val="675"/>
              </a:spcAft>
            </a:pPr>
            <a:r>
              <a:rPr b="1" sz="1500">
                <a:solidFill>
                  <a:srgbClr val="8B0707"/>
                </a:solidFill>
                <a:latin typeface="ITC Avant Garde Gothic"/>
              </a:rPr>
              <a:t>G3  Cheap sensors vary</a:t>
            </a:r>
            <a:r>
              <a:rPr sz="1500" b="0">
                <a:solidFill>
                  <a:srgbClr val="2B2020"/>
                </a:solidFill>
                <a:latin typeface="ITC Avant Garde Gothic"/>
              </a:rPr>
              <a:t/>
            </a:r>
          </a:p>
          <a:p>
            <a:pPr algn="l">
              <a:spcAft>
                <a:spcPts val="675"/>
              </a:spcAft>
            </a:pPr>
            <a:r>
              <a:rPr sz="1500" b="0">
                <a:solidFill>
                  <a:srgbClr val="2B2020"/>
                </a:solidFill>
                <a:latin typeface="ITC Avant Garde Gothic"/>
              </a:rPr>
              <a:t>Low-cost modules are rarely validated.</a:t>
            </a:r>
          </a:p>
        </p:txBody>
      </p:sp>
      <p:sp>
        <p:nvSpPr>
          <p:cNvPr id="37" name="Right Arrow 36"/>
          <p:cNvSpPr/>
          <p:nvPr/>
        </p:nvSpPr>
        <p:spPr>
          <a:xfrm>
            <a:off x="8138160" y="6345936"/>
            <a:ext cx="1005840" cy="54864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81160" y="5870448"/>
            <a:ext cx="8183879" cy="1499616"/>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55480" y="5943600"/>
            <a:ext cx="7680960" cy="1353312"/>
          </a:xfrm>
          <a:prstGeom prst="rect">
            <a:avLst/>
          </a:prstGeom>
          <a:noFill/>
        </p:spPr>
        <p:txBody>
          <a:bodyPr wrap="square" anchor="t">
            <a:spAutoFit/>
          </a:bodyPr>
          <a:lstStyle/>
          <a:p>
            <a:pPr algn="l">
              <a:spcAft>
                <a:spcPts val="675"/>
              </a:spcAft>
            </a:pPr>
            <a:r>
              <a:rPr sz="1500" b="0">
                <a:solidFill>
                  <a:srgbClr val="FFFFFF"/>
                </a:solidFill>
                <a:latin typeface="ITC Avant Garde Gothic"/>
              </a:rPr>
              <a:t>PPG, IR + agreement</a:t>
            </a:r>
          </a:p>
          <a:p>
            <a:pPr algn="l">
              <a:spcAft>
                <a:spcPts val="675"/>
              </a:spcAft>
            </a:pPr>
            <a:r>
              <a:rPr sz="1500" b="0">
                <a:solidFill>
                  <a:srgbClr val="FFFFFF"/>
                </a:solidFill>
                <a:latin typeface="ITC Avant Garde Gothic"/>
              </a:rPr>
              <a:t>Calibrate, then Bland–Altman test.</a:t>
            </a:r>
          </a:p>
        </p:txBody>
      </p:sp>
      <p:sp>
        <p:nvSpPr>
          <p:cNvPr id="40" name="Rectangle 39"/>
          <p:cNvSpPr/>
          <p:nvPr/>
        </p:nvSpPr>
        <p:spPr>
          <a:xfrm>
            <a:off x="822960" y="7525512"/>
            <a:ext cx="7178040" cy="1499616"/>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7598664"/>
            <a:ext cx="6675120" cy="1353312"/>
          </a:xfrm>
          <a:prstGeom prst="rect">
            <a:avLst/>
          </a:prstGeom>
          <a:noFill/>
        </p:spPr>
        <p:txBody>
          <a:bodyPr wrap="square" anchor="t">
            <a:spAutoFit/>
          </a:bodyPr>
          <a:lstStyle/>
          <a:p>
            <a:pPr algn="l">
              <a:spcAft>
                <a:spcPts val="675"/>
              </a:spcAft>
            </a:pPr>
            <a:r>
              <a:rPr b="1" sz="1500">
                <a:solidFill>
                  <a:srgbClr val="8B0707"/>
                </a:solidFill>
                <a:latin typeface="ITC Avant Garde Gothic"/>
              </a:rPr>
              <a:t>G4  Who needs help first</a:t>
            </a:r>
            <a:r>
              <a:rPr sz="1500" b="0">
                <a:solidFill>
                  <a:srgbClr val="2B2020"/>
                </a:solidFill>
                <a:latin typeface="ITC Avant Garde Gothic"/>
              </a:rPr>
              <a:t/>
            </a:r>
          </a:p>
          <a:p>
            <a:pPr algn="l">
              <a:spcAft>
                <a:spcPts val="675"/>
              </a:spcAft>
            </a:pPr>
            <a:r>
              <a:rPr sz="1500" b="0">
                <a:solidFill>
                  <a:srgbClr val="2B2020"/>
                </a:solidFill>
                <a:latin typeface="ITC Avant Garde Gothic"/>
              </a:rPr>
              <a:t>Raw numbers mean little to evacuees.</a:t>
            </a:r>
          </a:p>
        </p:txBody>
      </p:sp>
      <p:sp>
        <p:nvSpPr>
          <p:cNvPr id="42" name="Right Arrow 41"/>
          <p:cNvSpPr/>
          <p:nvPr/>
        </p:nvSpPr>
        <p:spPr>
          <a:xfrm>
            <a:off x="8138160" y="8001000"/>
            <a:ext cx="1005840" cy="54864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81160" y="7525512"/>
            <a:ext cx="8183879" cy="1499616"/>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55480" y="7598664"/>
            <a:ext cx="7680960" cy="1353312"/>
          </a:xfrm>
          <a:prstGeom prst="rect">
            <a:avLst/>
          </a:prstGeom>
          <a:noFill/>
        </p:spPr>
        <p:txBody>
          <a:bodyPr wrap="square" anchor="t">
            <a:spAutoFit/>
          </a:bodyPr>
          <a:lstStyle/>
          <a:p>
            <a:pPr algn="l">
              <a:spcAft>
                <a:spcPts val="675"/>
              </a:spcAft>
            </a:pPr>
            <a:r>
              <a:rPr sz="1500" b="0">
                <a:solidFill>
                  <a:srgbClr val="FFFFFF"/>
                </a:solidFill>
                <a:latin typeface="ITC Avant Garde Gothic"/>
              </a:rPr>
              <a:t>State machine + limits</a:t>
            </a:r>
          </a:p>
          <a:p>
            <a:pPr algn="l">
              <a:spcAft>
                <a:spcPts val="675"/>
              </a:spcAft>
            </a:pPr>
            <a:r>
              <a:rPr sz="1500" b="0">
                <a:solidFill>
                  <a:srgbClr val="FFFFFF"/>
                </a:solidFill>
                <a:latin typeface="ITC Avant Garde Gothic"/>
              </a:rPr>
              <a:t>GREEN, YELLOW, or RED with spoken advice.</a:t>
            </a:r>
          </a:p>
        </p:txBody>
      </p:sp>
      <p:sp>
        <p:nvSpPr>
          <p:cNvPr id="45" name="TextBox 44"/>
          <p:cNvSpPr txBox="1"/>
          <p:nvPr/>
        </p:nvSpPr>
        <p:spPr>
          <a:xfrm>
            <a:off x="822960" y="9189720"/>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Figure 1. Research gaps (left) and the theories and concepts used to address them (right)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292608"/>
            <a:ext cx="17376398" cy="777240"/>
          </a:xfrm>
          <a:prstGeom prst="rect">
            <a:avLst/>
          </a:prstGeom>
        </p:spPr>
        <p:txBody>
          <a:bodyPr anchor="t" rtlCol="false" tIns="0" lIns="0" bIns="0" rIns="0">
            <a:spAutoFit/>
          </a:bodyPr>
          <a:lstStyle/>
          <a:p>
            <a:pPr algn="l">
              <a:lnSpc>
                <a:spcPts val="7720"/>
              </a:lnSpc>
            </a:pPr>
            <a:r>
              <a:rPr lang="en-US" sz="4000">
                <a:solidFill>
                  <a:srgbClr val="FFFFFF"/>
                </a:solidFill>
                <a:latin typeface="ITC Avant Garde Gothic"/>
                <a:ea typeface="ITC Avant Garde Gothic"/>
                <a:cs typeface="ITC Avant Garde Gothic"/>
                <a:sym typeface="ITC Avant Garde Gothic"/>
              </a:rPr>
              <a:t>THEORETICAL/CONCEPTUAL FRAMEWORK PARADIGM</a:t>
            </a:r>
          </a:p>
        </p:txBody>
      </p:sp>
      <p:sp>
        <p:nvSpPr>
          <p:cNvPr id="21" name="Subtitle"/>
          <p:cNvSpPr txBox="1"/>
          <p:nvPr/>
        </p:nvSpPr>
        <p:spPr>
          <a:xfrm>
            <a:off x="210312" y="1097280"/>
            <a:ext cx="17373600" cy="45720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000" dirty="0">
                <a:solidFill>
                  <a:srgbClr val="FFFFFF">
                    <a:alpha val="92000"/>
                  </a:srgbClr>
                </a:solidFill>
                <a:latin typeface="ITC Avant Garde Gothic"/>
                <a:ea typeface="ITC Avant Garde Gothic"/>
                <a:cs typeface="ITC Avant Garde Gothic"/>
                <a:sym typeface="ITC Avant Garde Gothic"/>
              </a:rPr>
              <a:t>Conceptual Paradigm</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6</a:t>
            </a:r>
            <a:endParaRPr lang="en-US" sz="1600" dirty="0">
              <a:latin typeface="ITC Avant Garde Gothic"/>
            </a:endParaRPr>
          </a:p>
        </p:txBody>
      </p:sp>
      <p:sp>
        <p:nvSpPr>
          <p:cNvPr id="23" name="Rectangle 22"/>
          <p:cNvSpPr/>
          <p:nvPr/>
        </p:nvSpPr>
        <p:spPr>
          <a:xfrm>
            <a:off x="822960" y="2103120"/>
            <a:ext cx="4754880" cy="621792"/>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ITC Avant Garde Gothic"/>
              </a:rPr>
              <a:t>INPUT</a:t>
            </a:r>
          </a:p>
        </p:txBody>
      </p:sp>
      <p:sp>
        <p:nvSpPr>
          <p:cNvPr id="24" name="Rectangle 23"/>
          <p:cNvSpPr/>
          <p:nvPr/>
        </p:nvSpPr>
        <p:spPr>
          <a:xfrm>
            <a:off x="822960" y="2724912"/>
            <a:ext cx="4754880" cy="5230368"/>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2999232"/>
            <a:ext cx="4251960" cy="4773168"/>
          </a:xfrm>
          <a:prstGeom prst="rect">
            <a:avLst/>
          </a:prstGeom>
          <a:noFill/>
        </p:spPr>
        <p:txBody>
          <a:bodyPr wrap="square" anchor="t">
            <a:spAutoFit/>
          </a:bodyPr>
          <a:lstStyle/>
          <a:p>
            <a:pPr algn="l">
              <a:spcAft>
                <a:spcPts val="720"/>
              </a:spcAft>
            </a:pPr>
            <a:r>
              <a:rPr sz="1600" b="0">
                <a:solidFill>
                  <a:srgbClr val="2B2020"/>
                </a:solidFill>
                <a:latin typeface="ITC Avant Garde Gothic"/>
              </a:rPr>
              <a:t>•  Ripstop nylon body and 12 V blower fan</a:t>
            </a:r>
          </a:p>
          <a:p>
            <a:pPr algn="l">
              <a:spcAft>
                <a:spcPts val="720"/>
              </a:spcAft>
            </a:pPr>
            <a:r>
              <a:rPr sz="1600" b="0">
                <a:solidFill>
                  <a:srgbClr val="2B2020"/>
                </a:solidFill>
                <a:latin typeface="ITC Avant Garde Gothic"/>
              </a:rPr>
              <a:t>•  ESP32, MLX90614, MAX30102, HC-SR04</a:t>
            </a:r>
          </a:p>
          <a:p>
            <a:pPr algn="l">
              <a:spcAft>
                <a:spcPts val="720"/>
              </a:spcAft>
            </a:pPr>
            <a:r>
              <a:rPr sz="1600" b="0">
                <a:solidFill>
                  <a:srgbClr val="2B2020"/>
                </a:solidFill>
                <a:latin typeface="ITC Avant Garde Gothic"/>
              </a:rPr>
              <a:t>•  OLED, DFPlayer, speaker, pain dial, button</a:t>
            </a:r>
          </a:p>
          <a:p>
            <a:pPr algn="l">
              <a:spcAft>
                <a:spcPts val="720"/>
              </a:spcAft>
            </a:pPr>
            <a:r>
              <a:rPr sz="1600" b="0">
                <a:solidFill>
                  <a:srgbClr val="2B2020"/>
                </a:solidFill>
                <a:latin typeface="ITC Avant Garde Gothic"/>
              </a:rPr>
              <a:t>•  Reference thermometer and pulse oximeter</a:t>
            </a:r>
          </a:p>
          <a:p>
            <a:pPr algn="l">
              <a:spcAft>
                <a:spcPts val="720"/>
              </a:spcAft>
            </a:pPr>
            <a:r>
              <a:rPr sz="1600" b="0">
                <a:solidFill>
                  <a:srgbClr val="2B2020"/>
                </a:solidFill>
                <a:latin typeface="ITC Avant Garde Gothic"/>
              </a:rPr>
              <a:t>•  Consenting volunteers (IRB-approved)</a:t>
            </a:r>
          </a:p>
        </p:txBody>
      </p:sp>
      <p:sp>
        <p:nvSpPr>
          <p:cNvPr id="26" name="Rectangle 25"/>
          <p:cNvSpPr/>
          <p:nvPr/>
        </p:nvSpPr>
        <p:spPr>
          <a:xfrm>
            <a:off x="6263640" y="2103120"/>
            <a:ext cx="5760720" cy="621792"/>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ITC Avant Garde Gothic"/>
              </a:rPr>
              <a:t>PROCESS</a:t>
            </a:r>
          </a:p>
        </p:txBody>
      </p:sp>
      <p:sp>
        <p:nvSpPr>
          <p:cNvPr id="27" name="Rectangle 26"/>
          <p:cNvSpPr/>
          <p:nvPr/>
        </p:nvSpPr>
        <p:spPr>
          <a:xfrm>
            <a:off x="6263640" y="2724912"/>
            <a:ext cx="5760720" cy="5230368"/>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59" y="2999232"/>
            <a:ext cx="5257800" cy="4773168"/>
          </a:xfrm>
          <a:prstGeom prst="rect">
            <a:avLst/>
          </a:prstGeom>
          <a:noFill/>
        </p:spPr>
        <p:txBody>
          <a:bodyPr wrap="square" anchor="t">
            <a:spAutoFit/>
          </a:bodyPr>
          <a:lstStyle/>
          <a:p>
            <a:pPr algn="l">
              <a:spcAft>
                <a:spcPts val="720"/>
              </a:spcAft>
            </a:pPr>
            <a:r>
              <a:rPr sz="1600" b="0">
                <a:solidFill>
                  <a:srgbClr val="2B2020"/>
                </a:solidFill>
                <a:latin typeface="ITC Avant Garde Gothic"/>
              </a:rPr>
              <a:t>1.  Sew and seal the inflatable body</a:t>
            </a:r>
          </a:p>
          <a:p>
            <a:pPr algn="l">
              <a:spcAft>
                <a:spcPts val="720"/>
              </a:spcAft>
            </a:pPr>
            <a:r>
              <a:rPr sz="1600" b="0">
                <a:solidFill>
                  <a:srgbClr val="2B2020"/>
                </a:solidFill>
                <a:latin typeface="ITC Avant Garde Gothic"/>
              </a:rPr>
              <a:t>2.  Wire sensors; program the state machine</a:t>
            </a:r>
          </a:p>
          <a:p>
            <a:pPr algn="l">
              <a:spcAft>
                <a:spcPts val="720"/>
              </a:spcAft>
            </a:pPr>
            <a:r>
              <a:rPr sz="1600" b="0">
                <a:solidFill>
                  <a:srgbClr val="2B2020"/>
                </a:solidFill>
                <a:latin typeface="ITC Avant Garde Gothic"/>
              </a:rPr>
              <a:t>3.  Calibrate on 10 volunteers</a:t>
            </a:r>
          </a:p>
          <a:p>
            <a:pPr algn="l">
              <a:spcAft>
                <a:spcPts val="720"/>
              </a:spcAft>
            </a:pPr>
            <a:r>
              <a:rPr sz="1600" b="0">
                <a:solidFill>
                  <a:srgbClr val="2B2020"/>
                </a:solidFill>
                <a:latin typeface="ITC Avant Garde Gothic"/>
              </a:rPr>
              <a:t>4.  Screen volunteers vs reference</a:t>
            </a:r>
          </a:p>
          <a:p>
            <a:pPr algn="l">
              <a:spcAft>
                <a:spcPts val="720"/>
              </a:spcAft>
            </a:pPr>
            <a:r>
              <a:rPr sz="1600" b="0">
                <a:solidFill>
                  <a:srgbClr val="2B2020"/>
                </a:solidFill>
                <a:latin typeface="ITC Avant Garde Gothic"/>
              </a:rPr>
              <a:t>5.  Logic tests; soft-vs-rigid usability</a:t>
            </a:r>
          </a:p>
          <a:p>
            <a:pPr algn="l">
              <a:spcAft>
                <a:spcPts val="720"/>
              </a:spcAft>
            </a:pPr>
            <a:r>
              <a:rPr sz="1600" b="0">
                <a:solidFill>
                  <a:srgbClr val="2B2020"/>
                </a:solidFill>
                <a:latin typeface="ITC Avant Garde Gothic"/>
              </a:rPr>
              <a:t>6.  Bland–Altman, t-test, Wilcoxon, cost</a:t>
            </a:r>
          </a:p>
        </p:txBody>
      </p:sp>
      <p:sp>
        <p:nvSpPr>
          <p:cNvPr id="29" name="Rectangle 28"/>
          <p:cNvSpPr/>
          <p:nvPr/>
        </p:nvSpPr>
        <p:spPr>
          <a:xfrm>
            <a:off x="12710160" y="2103120"/>
            <a:ext cx="4754880" cy="621792"/>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ITC Avant Garde Gothic"/>
              </a:rPr>
              <a:t>OUTPUT</a:t>
            </a:r>
          </a:p>
        </p:txBody>
      </p:sp>
      <p:sp>
        <p:nvSpPr>
          <p:cNvPr id="30" name="Rectangle 29"/>
          <p:cNvSpPr/>
          <p:nvPr/>
        </p:nvSpPr>
        <p:spPr>
          <a:xfrm>
            <a:off x="12710160" y="2724912"/>
            <a:ext cx="4754880" cy="5230368"/>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984480" y="2999232"/>
            <a:ext cx="4251960" cy="4773168"/>
          </a:xfrm>
          <a:prstGeom prst="rect">
            <a:avLst/>
          </a:prstGeom>
          <a:noFill/>
        </p:spPr>
        <p:txBody>
          <a:bodyPr wrap="square" anchor="t">
            <a:spAutoFit/>
          </a:bodyPr>
          <a:lstStyle/>
          <a:p>
            <a:pPr algn="l">
              <a:spcAft>
                <a:spcPts val="720"/>
              </a:spcAft>
            </a:pPr>
            <a:r>
              <a:rPr sz="1600" b="0">
                <a:solidFill>
                  <a:srgbClr val="2B2020"/>
                </a:solidFill>
                <a:latin typeface="ITC Avant Garde Gothic"/>
              </a:rPr>
              <a:t>•  ALAGA prototype</a:t>
            </a:r>
          </a:p>
          <a:p>
            <a:pPr algn="l">
              <a:spcAft>
                <a:spcPts val="720"/>
              </a:spcAft>
            </a:pPr>
            <a:r>
              <a:rPr sz="1600" b="0">
                <a:solidFill>
                  <a:srgbClr val="2B2020"/>
                </a:solidFill>
                <a:latin typeface="ITC Avant Garde Gothic"/>
              </a:rPr>
              <a:t>•  Bias, limits of agreement, Arms</a:t>
            </a:r>
          </a:p>
          <a:p>
            <a:pPr algn="l">
              <a:spcAft>
                <a:spcPts val="720"/>
              </a:spcAft>
            </a:pPr>
            <a:r>
              <a:rPr sz="1600" b="0">
                <a:solidFill>
                  <a:srgbClr val="2B2020"/>
                </a:solidFill>
                <a:latin typeface="ITC Avant Garde Gothic"/>
              </a:rPr>
              <a:t>•  Flag sensitivity, specificity</a:t>
            </a:r>
          </a:p>
          <a:p>
            <a:pPr algn="l">
              <a:spcAft>
                <a:spcPts val="720"/>
              </a:spcAft>
            </a:pPr>
            <a:r>
              <a:rPr sz="1600" b="0">
                <a:solidFill>
                  <a:srgbClr val="2B2020"/>
                </a:solidFill>
                <a:latin typeface="ITC Avant Garde Gothic"/>
              </a:rPr>
              <a:t>•  Screening time (s)</a:t>
            </a:r>
          </a:p>
          <a:p>
            <a:pPr algn="l">
              <a:spcAft>
                <a:spcPts val="720"/>
              </a:spcAft>
            </a:pPr>
            <a:r>
              <a:rPr sz="1600" b="0">
                <a:solidFill>
                  <a:srgbClr val="2B2020"/>
                </a:solidFill>
                <a:latin typeface="ITC Avant Garde Gothic"/>
              </a:rPr>
              <a:t>•  SUS and approachability</a:t>
            </a:r>
          </a:p>
          <a:p>
            <a:pPr algn="l">
              <a:spcAft>
                <a:spcPts val="720"/>
              </a:spcAft>
            </a:pPr>
            <a:r>
              <a:rPr sz="1600" b="0">
                <a:solidFill>
                  <a:srgbClr val="2B2020"/>
                </a:solidFill>
                <a:latin typeface="ITC Avant Garde Gothic"/>
              </a:rPr>
              <a:t>•  Cost per unit and per day</a:t>
            </a:r>
          </a:p>
        </p:txBody>
      </p:sp>
      <p:sp>
        <p:nvSpPr>
          <p:cNvPr id="32" name="Right Arrow 31"/>
          <p:cNvSpPr/>
          <p:nvPr/>
        </p:nvSpPr>
        <p:spPr>
          <a:xfrm>
            <a:off x="5715000" y="4956048"/>
            <a:ext cx="548640" cy="768096"/>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12161520" y="4956048"/>
            <a:ext cx="548640" cy="768096"/>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5087600" y="7955279"/>
            <a:ext cx="0" cy="493777"/>
          </a:xfrm>
          <a:prstGeom prst="line">
            <a:avLst/>
          </a:prstGeom>
          <a:ln w="25400">
            <a:solidFill>
              <a:srgbClr val="8B0707"/>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3200400" y="8449056"/>
            <a:ext cx="11887200" cy="0"/>
          </a:xfrm>
          <a:prstGeom prst="line">
            <a:avLst/>
          </a:prstGeom>
          <a:ln w="25400">
            <a:solidFill>
              <a:srgbClr val="8B0707"/>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200400" y="7973568"/>
            <a:ext cx="0" cy="475488"/>
          </a:xfrm>
          <a:prstGeom prst="line">
            <a:avLst/>
          </a:prstGeom>
          <a:ln w="25400">
            <a:solidFill>
              <a:srgbClr val="8B0707"/>
            </a:solidFill>
            <a:prstDash val="dash"/>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212080" y="8202168"/>
            <a:ext cx="7863840" cy="493776"/>
          </a:xfrm>
          <a:prstGeom prst="rect">
            <a:avLst/>
          </a:prstGeom>
          <a:solidFill>
            <a:srgbClr val="F8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1400" i="1" b="0">
                <a:solidFill>
                  <a:srgbClr val="8B0707"/>
                </a:solidFill>
                <a:latin typeface="ITC Avant Garde Gothic"/>
              </a:rPr>
              <a:t>Feedback: results tune the calibration offsets and flag limits</a:t>
            </a:r>
          </a:p>
        </p:txBody>
      </p:sp>
      <p:sp>
        <p:nvSpPr>
          <p:cNvPr id="38" name="TextBox 37"/>
          <p:cNvSpPr txBox="1"/>
          <p:nvPr/>
        </p:nvSpPr>
        <p:spPr>
          <a:xfrm>
            <a:off x="822960" y="8961120"/>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Figure 2. Conceptual paradigm of the study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6000">
                <a:solidFill>
                  <a:srgbClr val="FFFFFF"/>
                </a:solidFill>
                <a:latin typeface="ITC Avant Garde Gothic"/>
                <a:ea typeface="ITC Avant Garde Gothic"/>
                <a:cs typeface="ITC Avant Garde Gothic"/>
                <a:sym typeface="ITC Avant Garde Gothic"/>
              </a:rPr>
              <a:t>SIGNIFICANCE OF THE STUDY</a:t>
            </a: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7</a:t>
            </a:r>
            <a:endParaRPr lang="en-US" sz="1600" dirty="0">
              <a:latin typeface="ITC Avant Garde Gothic"/>
            </a:endParaRPr>
          </a:p>
        </p:txBody>
      </p:sp>
      <p:sp>
        <p:nvSpPr>
          <p:cNvPr id="23" name="Rectangle 22"/>
          <p:cNvSpPr/>
          <p:nvPr/>
        </p:nvSpPr>
        <p:spPr>
          <a:xfrm>
            <a:off x="822960" y="2103120"/>
            <a:ext cx="16642080" cy="653796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514600"/>
            <a:ext cx="7680960" cy="5989320"/>
          </a:xfrm>
          <a:prstGeom prst="rect">
            <a:avLst/>
          </a:prstGeom>
          <a:noFill/>
        </p:spPr>
        <p:txBody>
          <a:bodyPr wrap="square" anchor="t">
            <a:spAutoFit/>
          </a:bodyPr>
          <a:lstStyle/>
          <a:p>
            <a:pPr algn="l">
              <a:spcAft>
                <a:spcPts val="900"/>
              </a:spcAft>
            </a:pPr>
            <a:r>
              <a:rPr b="1" sz="2000">
                <a:solidFill>
                  <a:srgbClr val="8B0707"/>
                </a:solidFill>
                <a:latin typeface="ITC Avant Garde Gothic"/>
              </a:rPr>
              <a:t>Evacuees.</a:t>
            </a:r>
            <a:r>
              <a:rPr sz="2000" b="0">
                <a:solidFill>
                  <a:srgbClr val="2B2020"/>
                </a:solidFill>
                <a:latin typeface="ITC Avant Garde Gothic"/>
              </a:rPr>
              <a:t> Children and older adults are screened by a friendly, soft robot without a long wait.</a:t>
            </a:r>
          </a:p>
          <a:p>
            <a:pPr algn="l">
              <a:spcAft>
                <a:spcPts val="900"/>
              </a:spcAft>
            </a:pPr>
            <a:r>
              <a:rPr b="1" sz="2000">
                <a:solidFill>
                  <a:srgbClr val="8B0707"/>
                </a:solidFill>
                <a:latin typeface="ITC Avant Garde Gothic"/>
              </a:rPr>
              <a:t>Health workers.</a:t>
            </a:r>
            <a:r>
              <a:rPr sz="2000" b="0">
                <a:solidFill>
                  <a:srgbClr val="2B2020"/>
                </a:solidFill>
                <a:latin typeface="ITC Avant Garde Gothic"/>
              </a:rPr>
              <a:t> Routine checks are shared, so more time goes to evacuees flagged YELLOW or RED.</a:t>
            </a:r>
          </a:p>
          <a:p>
            <a:pPr algn="l">
              <a:spcAft>
                <a:spcPts val="900"/>
              </a:spcAft>
            </a:pPr>
            <a:r>
              <a:rPr b="1" sz="2000">
                <a:solidFill>
                  <a:srgbClr val="8B0707"/>
                </a:solidFill>
                <a:latin typeface="ITC Avant Garde Gothic"/>
              </a:rPr>
              <a:t>LGUs and the PDRRMO.</a:t>
            </a:r>
            <a:r>
              <a:rPr sz="2000" b="0">
                <a:solidFill>
                  <a:srgbClr val="2B2020"/>
                </a:solidFill>
                <a:latin typeface="ITC Avant Garde Gothic"/>
              </a:rPr>
              <a:t> An affordable screening aid for every evacuation center.</a:t>
            </a:r>
          </a:p>
        </p:txBody>
      </p:sp>
      <p:sp>
        <p:nvSpPr>
          <p:cNvPr id="25" name="TextBox 24"/>
          <p:cNvSpPr txBox="1"/>
          <p:nvPr/>
        </p:nvSpPr>
        <p:spPr>
          <a:xfrm>
            <a:off x="9326880" y="2514600"/>
            <a:ext cx="7680960" cy="5989320"/>
          </a:xfrm>
          <a:prstGeom prst="rect">
            <a:avLst/>
          </a:prstGeom>
          <a:noFill/>
        </p:spPr>
        <p:txBody>
          <a:bodyPr wrap="square" anchor="t">
            <a:spAutoFit/>
          </a:bodyPr>
          <a:lstStyle/>
          <a:p>
            <a:pPr algn="l">
              <a:spcAft>
                <a:spcPts val="900"/>
              </a:spcAft>
            </a:pPr>
            <a:r>
              <a:rPr b="1" sz="2000">
                <a:solidFill>
                  <a:srgbClr val="8B0707"/>
                </a:solidFill>
                <a:latin typeface="ITC Avant Garde Gothic"/>
              </a:rPr>
              <a:t>Schools used as shelters.</a:t>
            </a:r>
            <a:r>
              <a:rPr sz="2000" b="0">
                <a:solidFill>
                  <a:srgbClr val="2B2020"/>
                </a:solidFill>
                <a:latin typeface="ITC Avant Garde Gothic"/>
              </a:rPr>
              <a:t> The same robot serves the school clinic between disasters.</a:t>
            </a:r>
          </a:p>
          <a:p>
            <a:pPr algn="l">
              <a:spcAft>
                <a:spcPts val="900"/>
              </a:spcAft>
            </a:pPr>
            <a:r>
              <a:rPr b="1" sz="2000">
                <a:solidFill>
                  <a:srgbClr val="8B0707"/>
                </a:solidFill>
                <a:latin typeface="ITC Avant Garde Gothic"/>
              </a:rPr>
              <a:t>Future researchers.</a:t>
            </a:r>
            <a:r>
              <a:rPr sz="2000" b="0">
                <a:solidFill>
                  <a:srgbClr val="2B2020"/>
                </a:solidFill>
                <a:latin typeface="ITC Avant Garde Gothic"/>
              </a:rPr>
              <a:t> A tested open design and a way to validate low-cost sensors.</a:t>
            </a:r>
          </a:p>
        </p:txBody>
      </p:sp>
      <p:cxnSp>
        <p:nvCxnSpPr>
          <p:cNvPr id="26" name="Connector 25"/>
          <p:cNvCxnSpPr/>
          <p:nvPr/>
        </p:nvCxnSpPr>
        <p:spPr>
          <a:xfrm>
            <a:off x="9144000" y="2606040"/>
            <a:ext cx="0" cy="5532120"/>
          </a:xfrm>
          <a:prstGeom prst="line">
            <a:avLst/>
          </a:prstGeom>
          <a:ln>
            <a:solidFill>
              <a:srgbClr val="E3C9C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22960" y="8823960"/>
            <a:ext cx="16642080" cy="457200"/>
          </a:xfrm>
          <a:prstGeom prst="rect">
            <a:avLst/>
          </a:prstGeom>
          <a:noFill/>
        </p:spPr>
        <p:txBody>
          <a:bodyPr wrap="square" anchor="t">
            <a:spAutoFit/>
          </a:bodyPr>
          <a:lstStyle/>
          <a:p>
            <a:pPr algn="ctr">
              <a:spcAft>
                <a:spcPts val="720"/>
              </a:spcAft>
            </a:pPr>
            <a:r>
              <a:rPr sz="1600" b="0">
                <a:solidFill>
                  <a:srgbClr val="6A5656"/>
                </a:solidFill>
                <a:latin typeface="ITC Avant Garde Gothic"/>
              </a:rPr>
              <a:t>The study supports SDG 3 (good health), SDG 9 (innovation), and SDG 11.5 (fewer people affected by disasters).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6000">
                <a:solidFill>
                  <a:srgbClr val="FFFFFF"/>
                </a:solidFill>
                <a:latin typeface="ITC Avant Garde Gothic"/>
                <a:ea typeface="ITC Avant Garde Gothic"/>
                <a:cs typeface="ITC Avant Garde Gothic"/>
                <a:sym typeface="ITC Avant Garde Gothic"/>
              </a:rPr>
              <a:t>OBJECTIVES OF THE STUDY / SOP</a:t>
            </a: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8</a:t>
            </a:r>
            <a:endParaRPr lang="en-US" sz="1600" dirty="0">
              <a:latin typeface="ITC Avant Garde Gothic"/>
            </a:endParaRPr>
          </a:p>
        </p:txBody>
      </p:sp>
      <p:sp>
        <p:nvSpPr>
          <p:cNvPr id="23" name="Rectangle 22"/>
          <p:cNvSpPr/>
          <p:nvPr/>
        </p:nvSpPr>
        <p:spPr>
          <a:xfrm>
            <a:off x="822960" y="2103120"/>
            <a:ext cx="16642080" cy="1600200"/>
          </a:xfrm>
          <a:prstGeom prst="rect">
            <a:avLst/>
          </a:prstGeom>
          <a:solidFill>
            <a:srgbClr val="F8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176272"/>
            <a:ext cx="15819120" cy="1463040"/>
          </a:xfrm>
          <a:prstGeom prst="rect">
            <a:avLst/>
          </a:prstGeom>
          <a:noFill/>
        </p:spPr>
        <p:txBody>
          <a:bodyPr wrap="square" anchor="ctr">
            <a:spAutoFit/>
          </a:bodyPr>
          <a:lstStyle/>
          <a:p>
            <a:pPr algn="l">
              <a:spcAft>
                <a:spcPts val="855"/>
              </a:spcAft>
            </a:pPr>
            <a:r>
              <a:rPr b="1" sz="1900">
                <a:solidFill>
                  <a:srgbClr val="8B0707"/>
                </a:solidFill>
                <a:latin typeface="ITC Avant Garde Gothic"/>
              </a:rPr>
              <a:t>General objective.</a:t>
            </a:r>
            <a:r>
              <a:rPr sz="1900" b="0">
                <a:solidFill>
                  <a:srgbClr val="2B2020"/>
                </a:solidFill>
                <a:latin typeface="ITC Avant Garde Gothic"/>
              </a:rPr>
              <a:t> This study aimed to design, build, and evaluate ALAGA, a low-cost soft inflatable healthcare companion robot that screens temperature, pulse rate, SpO₂, and pain and flags evacuees who need a health worker.</a:t>
            </a:r>
          </a:p>
        </p:txBody>
      </p:sp>
      <p:sp>
        <p:nvSpPr>
          <p:cNvPr id="25" name="TextBox 24"/>
          <p:cNvSpPr txBox="1"/>
          <p:nvPr/>
        </p:nvSpPr>
        <p:spPr>
          <a:xfrm>
            <a:off x="822960" y="3840480"/>
            <a:ext cx="16642080" cy="457200"/>
          </a:xfrm>
          <a:prstGeom prst="rect">
            <a:avLst/>
          </a:prstGeom>
          <a:noFill/>
        </p:spPr>
        <p:txBody>
          <a:bodyPr wrap="square" anchor="t">
            <a:spAutoFit/>
          </a:bodyPr>
          <a:lstStyle/>
          <a:p>
            <a:pPr algn="l">
              <a:spcAft>
                <a:spcPts val="810"/>
              </a:spcAft>
            </a:pPr>
            <a:r>
              <a:rPr sz="1800">
                <a:solidFill>
                  <a:srgbClr val="6A5656"/>
                </a:solidFill>
                <a:latin typeface="ITC Avant Garde Gothic"/>
              </a:rPr>
              <a:t>Specifically, it seeks to answer the following questions:</a:t>
            </a:r>
          </a:p>
        </p:txBody>
      </p:sp>
      <p:sp>
        <p:nvSpPr>
          <p:cNvPr id="26" name="Rectangle 25"/>
          <p:cNvSpPr/>
          <p:nvPr/>
        </p:nvSpPr>
        <p:spPr>
          <a:xfrm>
            <a:off x="822960" y="4389120"/>
            <a:ext cx="8165592" cy="516636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308592" y="4389120"/>
            <a:ext cx="8165592" cy="516636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43000" y="4663440"/>
            <a:ext cx="7571231" cy="4754880"/>
          </a:xfrm>
          <a:prstGeom prst="rect">
            <a:avLst/>
          </a:prstGeom>
          <a:noFill/>
        </p:spPr>
        <p:txBody>
          <a:bodyPr wrap="square" anchor="t">
            <a:spAutoFit/>
          </a:bodyPr>
          <a:lstStyle/>
          <a:p>
            <a:pPr algn="l">
              <a:spcAft>
                <a:spcPts val="765"/>
              </a:spcAft>
            </a:pPr>
            <a:r>
              <a:rPr sz="1700" b="0">
                <a:solidFill>
                  <a:srgbClr val="2B2020"/>
                </a:solidFill>
                <a:latin typeface="ITC Avant Garde Gothic"/>
              </a:rPr>
              <a:t>1.  How closely do ALAGA's temperature, pulse rate, and SpO₂ readings agree with reference instruments (bias, limits of agreement, MAE, Arms)?</a:t>
            </a:r>
          </a:p>
          <a:p>
            <a:pPr algn="l">
              <a:spcAft>
                <a:spcPts val="765"/>
              </a:spcAft>
            </a:pPr>
            <a:r>
              <a:rPr sz="1700" b="0">
                <a:solidFill>
                  <a:srgbClr val="2B2020"/>
                </a:solidFill>
                <a:latin typeface="ITC Avant Garde Gothic"/>
              </a:rPr>
              <a:t>2.  How accurately does ALAGA flag readings outside the screening limits (sensitivity, specificity, accuracy)?</a:t>
            </a:r>
          </a:p>
          <a:p>
            <a:pPr algn="l">
              <a:spcAft>
                <a:spcPts val="765"/>
              </a:spcAft>
            </a:pPr>
            <a:r>
              <a:rPr sz="1700" b="0">
                <a:solidFill>
                  <a:srgbClr val="2B2020"/>
                </a:solidFill>
                <a:latin typeface="ITC Avant Garde Gothic"/>
              </a:rPr>
              <a:t>3.  How long does ALAGA take to complete one screening, from wake-up to spoken result?</a:t>
            </a:r>
          </a:p>
        </p:txBody>
      </p:sp>
      <p:sp>
        <p:nvSpPr>
          <p:cNvPr id="29" name="TextBox 28"/>
          <p:cNvSpPr txBox="1"/>
          <p:nvPr/>
        </p:nvSpPr>
        <p:spPr>
          <a:xfrm>
            <a:off x="9628632" y="4663440"/>
            <a:ext cx="7571231" cy="4754880"/>
          </a:xfrm>
          <a:prstGeom prst="rect">
            <a:avLst/>
          </a:prstGeom>
          <a:noFill/>
        </p:spPr>
        <p:txBody>
          <a:bodyPr wrap="square" anchor="t">
            <a:spAutoFit/>
          </a:bodyPr>
          <a:lstStyle/>
          <a:p>
            <a:pPr algn="l">
              <a:spcAft>
                <a:spcPts val="765"/>
              </a:spcAft>
            </a:pPr>
            <a:r>
              <a:rPr sz="1700" b="0">
                <a:solidFill>
                  <a:srgbClr val="2B2020"/>
                </a:solidFill>
                <a:latin typeface="ITC Avant Garde Gothic"/>
              </a:rPr>
              <a:t>4.  How do users rate ALAGA's usability, and is there a significant difference in approachability between the soft body and a rigid shell?</a:t>
            </a:r>
          </a:p>
          <a:p>
            <a:pPr algn="l">
              <a:spcAft>
                <a:spcPts val="765"/>
              </a:spcAft>
            </a:pPr>
            <a:r>
              <a:rPr sz="1700" b="0">
                <a:solidFill>
                  <a:srgbClr val="2B2020"/>
                </a:solidFill>
                <a:latin typeface="ITC Avant Garde Gothic"/>
              </a:rPr>
              <a:t>5.  How much does ALAGA cost to build and to run per 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HYPOTHESES</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Null Hypotheses</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9</a:t>
            </a:r>
            <a:endParaRPr lang="en-US" sz="1600" dirty="0">
              <a:latin typeface="ITC Avant Garde Gothic"/>
            </a:endParaRPr>
          </a:p>
        </p:txBody>
      </p:sp>
      <p:sp>
        <p:nvSpPr>
          <p:cNvPr id="23" name="TextBox 22"/>
          <p:cNvSpPr txBox="1"/>
          <p:nvPr/>
        </p:nvSpPr>
        <p:spPr>
          <a:xfrm>
            <a:off x="822960" y="2011680"/>
            <a:ext cx="16642080" cy="566928"/>
          </a:xfrm>
          <a:prstGeom prst="rect">
            <a:avLst/>
          </a:prstGeom>
          <a:noFill/>
        </p:spPr>
        <p:txBody>
          <a:bodyPr wrap="square" anchor="t">
            <a:spAutoFit/>
          </a:bodyPr>
          <a:lstStyle/>
          <a:p>
            <a:pPr algn="l">
              <a:spcAft>
                <a:spcPts val="765"/>
              </a:spcAft>
            </a:pPr>
            <a:r>
              <a:rPr sz="1700">
                <a:solidFill>
                  <a:srgbClr val="6A5656"/>
                </a:solidFill>
                <a:latin typeface="ITC Avant Garde Gothic"/>
              </a:rPr>
              <a:t>The hypotheses were stated before testing and are tested at the 0.05 level of significance.</a:t>
            </a:r>
          </a:p>
        </p:txBody>
      </p:sp>
      <p:graphicFrame>
        <p:nvGraphicFramePr>
          <p:cNvPr id="24" name="Table 23"/>
          <p:cNvGraphicFramePr>
            <a:graphicFrameLocks noGrp="1"/>
          </p:cNvGraphicFramePr>
          <p:nvPr/>
        </p:nvGraphicFramePr>
        <p:xfrm>
          <a:off x="822960" y="2670048"/>
          <a:ext cx="16642080" cy="3429000"/>
        </p:xfrm>
        <a:graphic>
          <a:graphicData uri="http://schemas.openxmlformats.org/drawingml/2006/table">
            <a:tbl>
              <a:tblPr firstRow="1" bandRow="1">
                <a:tableStyleId>{5C22544A-7EE6-4342-B048-85BDC9FD1C3A}</a:tableStyleId>
              </a:tblPr>
              <a:tblGrid>
                <a:gridCol w="1463040"/>
                <a:gridCol w="9692640"/>
                <a:gridCol w="5486400"/>
              </a:tblGrid>
              <a:tr h="502920">
                <a:tc>
                  <a:txBody>
                    <a:bodyPr/>
                    <a:lstStyle/>
                    <a:p>
                      <a:r>
                        <a:rPr sz="1800" b="1">
                          <a:solidFill>
                            <a:srgbClr val="FFFFFF"/>
                          </a:solidFill>
                          <a:latin typeface="ITC Avant Garde Gothic"/>
                        </a:rPr>
                        <a:t>Code</a:t>
                      </a:r>
                    </a:p>
                  </a:txBody>
                  <a:tcPr>
                    <a:solidFill>
                      <a:srgbClr val="8B0707"/>
                    </a:solidFill>
                  </a:tcPr>
                </a:tc>
                <a:tc>
                  <a:txBody>
                    <a:bodyPr/>
                    <a:lstStyle/>
                    <a:p>
                      <a:r>
                        <a:rPr sz="1800" b="1">
                          <a:solidFill>
                            <a:srgbClr val="FFFFFF"/>
                          </a:solidFill>
                          <a:latin typeface="ITC Avant Garde Gothic"/>
                        </a:rPr>
                        <a:t>Hypothesis</a:t>
                      </a:r>
                    </a:p>
                  </a:txBody>
                  <a:tcPr>
                    <a:solidFill>
                      <a:srgbClr val="8B0707"/>
                    </a:solidFill>
                  </a:tcPr>
                </a:tc>
                <a:tc>
                  <a:txBody>
                    <a:bodyPr/>
                    <a:lstStyle/>
                    <a:p>
                      <a:r>
                        <a:rPr sz="1800" b="1">
                          <a:solidFill>
                            <a:srgbClr val="FFFFFF"/>
                          </a:solidFill>
                          <a:latin typeface="ITC Avant Garde Gothic"/>
                        </a:rPr>
                        <a:t>Test or decision rule</a:t>
                      </a:r>
                    </a:p>
                  </a:txBody>
                  <a:tcPr>
                    <a:solidFill>
                      <a:srgbClr val="8B0707"/>
                    </a:solidFill>
                  </a:tcPr>
                </a:tc>
              </a:tr>
              <a:tr h="1463040">
                <a:tc>
                  <a:txBody>
                    <a:bodyPr/>
                    <a:lstStyle/>
                    <a:p>
                      <a:r>
                        <a:rPr sz="1800" b="0">
                          <a:solidFill>
                            <a:srgbClr val="8B0707"/>
                          </a:solidFill>
                          <a:latin typeface="ITC Avant Garde Gothic"/>
                        </a:rPr>
                        <a:t>H₀1</a:t>
                      </a:r>
                    </a:p>
                  </a:txBody>
                  <a:tcPr>
                    <a:solidFill>
                      <a:srgbClr val="FFFFFF"/>
                    </a:solidFill>
                  </a:tcPr>
                </a:tc>
                <a:tc>
                  <a:txBody>
                    <a:bodyPr/>
                    <a:lstStyle/>
                    <a:p>
                      <a:r>
                        <a:rPr sz="1800" b="0">
                          <a:solidFill>
                            <a:srgbClr val="2B2020"/>
                          </a:solidFill>
                          <a:latin typeface="ITC Avant Garde Gothic"/>
                        </a:rPr>
                        <a:t>There is no significant difference between ALAGA's readings and the reference readings for temperature, pulse rate, and SpO₂.</a:t>
                      </a:r>
                    </a:p>
                  </a:txBody>
                  <a:tcPr>
                    <a:solidFill>
                      <a:srgbClr val="FFFFFF"/>
                    </a:solidFill>
                  </a:tcPr>
                </a:tc>
                <a:tc>
                  <a:txBody>
                    <a:bodyPr/>
                    <a:lstStyle/>
                    <a:p>
                      <a:r>
                        <a:rPr sz="1800" b="0">
                          <a:solidFill>
                            <a:srgbClr val="2B2020"/>
                          </a:solidFill>
                          <a:latin typeface="ITC Avant Garde Gothic"/>
                        </a:rPr>
                        <a:t>Paired t-test; Bland–Altman bias and 95% limits of agreement</a:t>
                      </a:r>
                    </a:p>
                  </a:txBody>
                  <a:tcPr>
                    <a:solidFill>
                      <a:srgbClr val="FFFFFF"/>
                    </a:solidFill>
                  </a:tcPr>
                </a:tc>
              </a:tr>
              <a:tr h="1463040">
                <a:tc>
                  <a:txBody>
                    <a:bodyPr/>
                    <a:lstStyle/>
                    <a:p>
                      <a:r>
                        <a:rPr sz="1800" b="0">
                          <a:solidFill>
                            <a:srgbClr val="8B0707"/>
                          </a:solidFill>
                          <a:latin typeface="ITC Avant Garde Gothic"/>
                        </a:rPr>
                        <a:t>H₀2</a:t>
                      </a:r>
                    </a:p>
                  </a:txBody>
                  <a:tcPr>
                    <a:solidFill>
                      <a:srgbClr val="F8EAEA"/>
                    </a:solidFill>
                  </a:tcPr>
                </a:tc>
                <a:tc>
                  <a:txBody>
                    <a:bodyPr/>
                    <a:lstStyle/>
                    <a:p>
                      <a:r>
                        <a:rPr sz="1800" b="0">
                          <a:solidFill>
                            <a:srgbClr val="2B2020"/>
                          </a:solidFill>
                          <a:latin typeface="ITC Avant Garde Gothic"/>
                        </a:rPr>
                        <a:t>There is no significant difference in approachability ratings between the soft inflatable body and the rigid shell.</a:t>
                      </a:r>
                    </a:p>
                  </a:txBody>
                  <a:tcPr>
                    <a:solidFill>
                      <a:srgbClr val="F8EAEA"/>
                    </a:solidFill>
                  </a:tcPr>
                </a:tc>
                <a:tc>
                  <a:txBody>
                    <a:bodyPr/>
                    <a:lstStyle/>
                    <a:p>
                      <a:r>
                        <a:rPr sz="1800" b="0">
                          <a:solidFill>
                            <a:srgbClr val="2B2020"/>
                          </a:solidFill>
                          <a:latin typeface="ITC Avant Garde Gothic"/>
                        </a:rPr>
                        <a:t>Wilcoxon signed-rank test</a:t>
                      </a:r>
                    </a:p>
                  </a:txBody>
                  <a:tcPr>
                    <a:solidFill>
                      <a:srgbClr val="F8EAEA"/>
                    </a:solidFill>
                  </a:tcPr>
                </a:tc>
              </a:tr>
            </a:tbl>
          </a:graphicData>
        </a:graphic>
      </p:graphicFrame>
      <p:sp>
        <p:nvSpPr>
          <p:cNvPr id="25" name="TextBox 24"/>
          <p:cNvSpPr txBox="1"/>
          <p:nvPr/>
        </p:nvSpPr>
        <p:spPr>
          <a:xfrm>
            <a:off x="822960" y="9089136"/>
            <a:ext cx="16642080" cy="466344"/>
          </a:xfrm>
          <a:prstGeom prst="rect">
            <a:avLst/>
          </a:prstGeom>
          <a:noFill/>
        </p:spPr>
        <p:txBody>
          <a:bodyPr wrap="square" anchor="t">
            <a:spAutoFit/>
          </a:bodyPr>
          <a:lstStyle/>
          <a:p>
            <a:pPr algn="l">
              <a:spcAft>
                <a:spcPts val="720"/>
              </a:spcAft>
            </a:pPr>
            <a:r>
              <a:rPr sz="1600">
                <a:solidFill>
                  <a:srgbClr val="6A5656"/>
                </a:solidFill>
                <a:latin typeface="ITC Avant Garde Gothic"/>
              </a:rPr>
              <a:t>Reject H₀ when p &lt; 0.05.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6000">
                <a:solidFill>
                  <a:srgbClr val="FFFFFF"/>
                </a:solidFill>
                <a:latin typeface="ITC Avant Garde Gothic"/>
                <a:ea typeface="ITC Avant Garde Gothic"/>
                <a:cs typeface="ITC Avant Garde Gothic"/>
                <a:sym typeface="ITC Avant Garde Gothic"/>
              </a:rPr>
              <a:t>SCOPE AND DELIMITATION</a:t>
            </a: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10</a:t>
            </a:r>
            <a:endParaRPr lang="en-US" sz="1600" dirty="0">
              <a:latin typeface="ITC Avant Garde Gothic"/>
            </a:endParaRPr>
          </a:p>
        </p:txBody>
      </p:sp>
      <p:sp>
        <p:nvSpPr>
          <p:cNvPr id="23" name="Rectangle 22"/>
          <p:cNvSpPr/>
          <p:nvPr/>
        </p:nvSpPr>
        <p:spPr>
          <a:xfrm>
            <a:off x="822960" y="2103120"/>
            <a:ext cx="8165592" cy="406908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286000"/>
            <a:ext cx="7424927" cy="457200"/>
          </a:xfrm>
          <a:prstGeom prst="rect">
            <a:avLst/>
          </a:prstGeom>
          <a:noFill/>
        </p:spPr>
        <p:txBody>
          <a:bodyPr wrap="square" anchor="t">
            <a:spAutoFit/>
          </a:bodyPr>
          <a:lstStyle/>
          <a:p>
            <a:pPr algn="l">
              <a:spcAft>
                <a:spcPts val="900"/>
              </a:spcAft>
            </a:pPr>
            <a:r>
              <a:rPr sz="2000" b="1">
                <a:solidFill>
                  <a:srgbClr val="8B0707"/>
                </a:solidFill>
                <a:latin typeface="ITC Avant Garde Gothic"/>
              </a:rPr>
              <a:t>Scope</a:t>
            </a:r>
          </a:p>
        </p:txBody>
      </p:sp>
      <p:sp>
        <p:nvSpPr>
          <p:cNvPr id="25" name="TextBox 24"/>
          <p:cNvSpPr txBox="1"/>
          <p:nvPr/>
        </p:nvSpPr>
        <p:spPr>
          <a:xfrm>
            <a:off x="1234440" y="2834640"/>
            <a:ext cx="7424927" cy="3200400"/>
          </a:xfrm>
          <a:prstGeom prst="rect">
            <a:avLst/>
          </a:prstGeom>
          <a:noFill/>
        </p:spPr>
        <p:txBody>
          <a:bodyPr wrap="square" anchor="t">
            <a:spAutoFit/>
          </a:bodyPr>
          <a:lstStyle/>
          <a:p>
            <a:pPr algn="l">
              <a:spcAft>
                <a:spcPts val="720"/>
              </a:spcAft>
            </a:pPr>
            <a:r>
              <a:rPr sz="1600" b="0">
                <a:solidFill>
                  <a:srgbClr val="2B2020"/>
                </a:solidFill>
                <a:latin typeface="ITC Avant Garde Gothic"/>
              </a:rPr>
              <a:t>•  One stationary robot, about 1.1 m tall, fan-inflated</a:t>
            </a:r>
          </a:p>
          <a:p>
            <a:pPr algn="l">
              <a:spcAft>
                <a:spcPts val="720"/>
              </a:spcAft>
            </a:pPr>
            <a:r>
              <a:rPr sz="1600" b="0">
                <a:solidFill>
                  <a:srgbClr val="2B2020"/>
                </a:solidFill>
                <a:latin typeface="ITC Avant Garde Gothic"/>
              </a:rPr>
              <a:t>•  Forehead temperature, pulse rate, SpO₂, pain 0–10</a:t>
            </a:r>
          </a:p>
          <a:p>
            <a:pPr algn="l">
              <a:spcAft>
                <a:spcPts val="720"/>
              </a:spcAft>
            </a:pPr>
            <a:r>
              <a:rPr sz="1600" b="0">
                <a:solidFill>
                  <a:srgbClr val="2B2020"/>
                </a:solidFill>
                <a:latin typeface="ITC Avant Garde Gothic"/>
              </a:rPr>
              <a:t>•  Filipino and English prompts; chest display; log</a:t>
            </a:r>
          </a:p>
          <a:p>
            <a:pPr algn="l">
              <a:spcAft>
                <a:spcPts val="720"/>
              </a:spcAft>
            </a:pPr>
            <a:r>
              <a:rPr sz="1600" b="0">
                <a:solidFill>
                  <a:srgbClr val="2B2020"/>
                </a:solidFill>
                <a:latin typeface="ITC Avant Garde Gothic"/>
              </a:rPr>
              <a:t>•  Healthy volunteers aged 15+, after IRB approval</a:t>
            </a:r>
          </a:p>
          <a:p>
            <a:pPr algn="l">
              <a:spcAft>
                <a:spcPts val="720"/>
              </a:spcAft>
            </a:pPr>
            <a:r>
              <a:rPr sz="1600" b="0">
                <a:solidFill>
                  <a:srgbClr val="2B2020"/>
                </a:solidFill>
                <a:latin typeface="ITC Avant Garde Gothic"/>
              </a:rPr>
              <a:t>•  Water-bath bench test of the IR thermometer</a:t>
            </a:r>
          </a:p>
        </p:txBody>
      </p:sp>
      <p:sp>
        <p:nvSpPr>
          <p:cNvPr id="26" name="Rectangle 25"/>
          <p:cNvSpPr/>
          <p:nvPr/>
        </p:nvSpPr>
        <p:spPr>
          <a:xfrm>
            <a:off x="9308592" y="2103120"/>
            <a:ext cx="8165592" cy="406908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74352" y="2286000"/>
            <a:ext cx="7424927" cy="457200"/>
          </a:xfrm>
          <a:prstGeom prst="rect">
            <a:avLst/>
          </a:prstGeom>
          <a:noFill/>
        </p:spPr>
        <p:txBody>
          <a:bodyPr wrap="square" anchor="t">
            <a:spAutoFit/>
          </a:bodyPr>
          <a:lstStyle/>
          <a:p>
            <a:pPr algn="l">
              <a:spcAft>
                <a:spcPts val="900"/>
              </a:spcAft>
            </a:pPr>
            <a:r>
              <a:rPr sz="2000" b="1">
                <a:solidFill>
                  <a:srgbClr val="8B0707"/>
                </a:solidFill>
                <a:latin typeface="ITC Avant Garde Gothic"/>
              </a:rPr>
              <a:t>Delimitation</a:t>
            </a:r>
          </a:p>
        </p:txBody>
      </p:sp>
      <p:sp>
        <p:nvSpPr>
          <p:cNvPr id="28" name="TextBox 27"/>
          <p:cNvSpPr txBox="1"/>
          <p:nvPr/>
        </p:nvSpPr>
        <p:spPr>
          <a:xfrm>
            <a:off x="9720072" y="2834640"/>
            <a:ext cx="7424927" cy="3200400"/>
          </a:xfrm>
          <a:prstGeom prst="rect">
            <a:avLst/>
          </a:prstGeom>
          <a:noFill/>
        </p:spPr>
        <p:txBody>
          <a:bodyPr wrap="square" anchor="t">
            <a:spAutoFit/>
          </a:bodyPr>
          <a:lstStyle/>
          <a:p>
            <a:pPr algn="l">
              <a:spcAft>
                <a:spcPts val="720"/>
              </a:spcAft>
            </a:pPr>
            <a:r>
              <a:rPr sz="1600" b="0">
                <a:solidFill>
                  <a:srgbClr val="2B2020"/>
                </a:solidFill>
                <a:latin typeface="ITC Avant Garde Gothic"/>
              </a:rPr>
              <a:t>•  No walking, arms, or touching</a:t>
            </a:r>
          </a:p>
          <a:p>
            <a:pPr algn="l">
              <a:spcAft>
                <a:spcPts val="720"/>
              </a:spcAft>
            </a:pPr>
            <a:r>
              <a:rPr sz="1600" b="0">
                <a:solidFill>
                  <a:srgbClr val="2B2020"/>
                </a:solidFill>
                <a:latin typeface="ITC Avant Garde Gothic"/>
              </a:rPr>
              <a:t>•  Screens and refers only; not a medical device</a:t>
            </a:r>
          </a:p>
          <a:p>
            <a:pPr algn="l">
              <a:spcAft>
                <a:spcPts val="720"/>
              </a:spcAft>
            </a:pPr>
            <a:r>
              <a:rPr sz="1600" b="0">
                <a:solidFill>
                  <a:srgbClr val="2B2020"/>
                </a:solidFill>
                <a:latin typeface="ITC Avant Garde Gothic"/>
              </a:rPr>
              <a:t>•  No blood pressure or respiratory rate</a:t>
            </a:r>
          </a:p>
          <a:p>
            <a:pPr algn="l">
              <a:spcAft>
                <a:spcPts val="720"/>
              </a:spcAft>
            </a:pPr>
            <a:r>
              <a:rPr sz="1600" b="0">
                <a:solidFill>
                  <a:srgbClr val="2B2020"/>
                </a:solidFill>
                <a:latin typeface="ITC Avant Garde Gothic"/>
              </a:rPr>
              <a:t>•  Fever and low SpO₂ simulated, not from patients</a:t>
            </a:r>
          </a:p>
          <a:p>
            <a:pPr algn="l">
              <a:spcAft>
                <a:spcPts val="720"/>
              </a:spcAft>
            </a:pPr>
            <a:r>
              <a:rPr sz="1600" b="0">
                <a:solidFill>
                  <a:srgbClr val="2B2020"/>
                </a:solidFill>
                <a:latin typeface="ITC Avant Garde Gothic"/>
              </a:rPr>
              <a:t>•  Tested in school, not in a real evacuation center</a:t>
            </a:r>
          </a:p>
        </p:txBody>
      </p:sp>
      <p:sp>
        <p:nvSpPr>
          <p:cNvPr id="29" name="TextBox 28"/>
          <p:cNvSpPr txBox="1"/>
          <p:nvPr/>
        </p:nvSpPr>
        <p:spPr>
          <a:xfrm>
            <a:off x="822960" y="6355080"/>
            <a:ext cx="16642080" cy="384048"/>
          </a:xfrm>
          <a:prstGeom prst="rect">
            <a:avLst/>
          </a:prstGeom>
          <a:noFill/>
        </p:spPr>
        <p:txBody>
          <a:bodyPr wrap="square" anchor="t">
            <a:spAutoFit/>
          </a:bodyPr>
          <a:lstStyle/>
          <a:p>
            <a:pPr algn="l">
              <a:spcAft>
                <a:spcPts val="720"/>
              </a:spcAft>
            </a:pPr>
            <a:r>
              <a:rPr sz="1600" b="0">
                <a:solidFill>
                  <a:srgbClr val="6A5656"/>
                </a:solidFill>
                <a:latin typeface="ITC Avant Garde Gothic"/>
              </a:rPr>
              <a:t>Table 4. Trials Conducted in the Study</a:t>
            </a:r>
          </a:p>
        </p:txBody>
      </p:sp>
      <p:graphicFrame>
        <p:nvGraphicFramePr>
          <p:cNvPr id="30" name="Table 29"/>
          <p:cNvGraphicFramePr>
            <a:graphicFrameLocks noGrp="1"/>
          </p:cNvGraphicFramePr>
          <p:nvPr/>
        </p:nvGraphicFramePr>
        <p:xfrm>
          <a:off x="822960" y="6739128"/>
          <a:ext cx="16642080" cy="1920240"/>
        </p:xfrm>
        <a:graphic>
          <a:graphicData uri="http://schemas.openxmlformats.org/drawingml/2006/table">
            <a:tbl>
              <a:tblPr firstRow="1" bandRow="1">
                <a:tableStyleId>{5C22544A-7EE6-4342-B048-85BDC9FD1C3A}</a:tableStyleId>
              </a:tblPr>
              <a:tblGrid>
                <a:gridCol w="4160520"/>
                <a:gridCol w="4160520"/>
                <a:gridCol w="4160520"/>
                <a:gridCol w="4160520"/>
              </a:tblGrid>
              <a:tr h="384048">
                <a:tc>
                  <a:txBody>
                    <a:bodyPr/>
                    <a:lstStyle/>
                    <a:p>
                      <a:r>
                        <a:rPr sz="1400" b="0">
                          <a:solidFill>
                            <a:srgbClr val="FFFFFF"/>
                          </a:solidFill>
                          <a:latin typeface="ITC Avant Garde Gothic"/>
                        </a:rPr>
                        <a:t>Trial set</a:t>
                      </a:r>
                    </a:p>
                  </a:txBody>
                  <a:tcPr>
                    <a:solidFill>
                      <a:srgbClr val="8B0707"/>
                    </a:solidFill>
                  </a:tcPr>
                </a:tc>
                <a:tc>
                  <a:txBody>
                    <a:bodyPr/>
                    <a:lstStyle/>
                    <a:p>
                      <a:r>
                        <a:rPr sz="1400" b="0">
                          <a:solidFill>
                            <a:srgbClr val="FFFFFF"/>
                          </a:solidFill>
                          <a:latin typeface="ITC Avant Garde Gothic"/>
                        </a:rPr>
                        <a:t>Measures</a:t>
                      </a:r>
                    </a:p>
                  </a:txBody>
                  <a:tcPr>
                    <a:solidFill>
                      <a:srgbClr val="8B0707"/>
                    </a:solidFill>
                  </a:tcPr>
                </a:tc>
                <a:tc>
                  <a:txBody>
                    <a:bodyPr/>
                    <a:lstStyle/>
                    <a:p>
                      <a:r>
                        <a:rPr sz="1400" b="0">
                          <a:solidFill>
                            <a:srgbClr val="FFFFFF"/>
                          </a:solidFill>
                          <a:latin typeface="ITC Avant Garde Gothic"/>
                        </a:rPr>
                        <a:t>Number</a:t>
                      </a:r>
                    </a:p>
                  </a:txBody>
                  <a:tcPr>
                    <a:solidFill>
                      <a:srgbClr val="8B0707"/>
                    </a:solidFill>
                  </a:tcPr>
                </a:tc>
                <a:tc>
                  <a:txBody>
                    <a:bodyPr/>
                    <a:lstStyle/>
                    <a:p>
                      <a:r>
                        <a:rPr sz="1400" b="0">
                          <a:solidFill>
                            <a:srgbClr val="FFFFFF"/>
                          </a:solidFill>
                          <a:latin typeface="ITC Avant Garde Gothic"/>
                        </a:rPr>
                        <a:t>Reference</a:t>
                      </a:r>
                    </a:p>
                  </a:txBody>
                  <a:tcPr>
                    <a:solidFill>
                      <a:srgbClr val="8B0707"/>
                    </a:solidFill>
                  </a:tcPr>
                </a:tc>
              </a:tr>
              <a:tr h="384048">
                <a:tc>
                  <a:txBody>
                    <a:bodyPr/>
                    <a:lstStyle/>
                    <a:p>
                      <a:r>
                        <a:rPr sz="1400" b="0">
                          <a:solidFill>
                            <a:srgbClr val="8B0707"/>
                          </a:solidFill>
                          <a:latin typeface="ITC Avant Garde Gothic"/>
                        </a:rPr>
                        <a:t>Bench</a:t>
                      </a:r>
                    </a:p>
                  </a:txBody>
                  <a:tcPr>
                    <a:solidFill>
                      <a:srgbClr val="FFFFFF"/>
                    </a:solidFill>
                  </a:tcPr>
                </a:tc>
                <a:tc>
                  <a:txBody>
                    <a:bodyPr/>
                    <a:lstStyle/>
                    <a:p>
                      <a:r>
                        <a:rPr sz="1400" b="0">
                          <a:solidFill>
                            <a:srgbClr val="2B2020"/>
                          </a:solidFill>
                          <a:latin typeface="ITC Avant Garde Gothic"/>
                        </a:rPr>
                        <a:t>IR temperature, 35–40 °C target</a:t>
                      </a:r>
                    </a:p>
                  </a:txBody>
                  <a:tcPr>
                    <a:solidFill>
                      <a:srgbClr val="FFFFFF"/>
                    </a:solidFill>
                  </a:tcPr>
                </a:tc>
                <a:tc>
                  <a:txBody>
                    <a:bodyPr/>
                    <a:lstStyle/>
                    <a:p>
                      <a:r>
                        <a:rPr sz="1400" b="0">
                          <a:solidFill>
                            <a:srgbClr val="2B2020"/>
                          </a:solidFill>
                          <a:latin typeface="ITC Avant Garde Gothic"/>
                        </a:rPr>
                        <a:t>6 × 10</a:t>
                      </a:r>
                    </a:p>
                  </a:txBody>
                  <a:tcPr>
                    <a:solidFill>
                      <a:srgbClr val="FFFFFF"/>
                    </a:solidFill>
                  </a:tcPr>
                </a:tc>
                <a:tc>
                  <a:txBody>
                    <a:bodyPr/>
                    <a:lstStyle/>
                    <a:p>
                      <a:r>
                        <a:rPr sz="1400" b="0">
                          <a:solidFill>
                            <a:srgbClr val="2B2020"/>
                          </a:solidFill>
                          <a:latin typeface="ITC Avant Garde Gothic"/>
                        </a:rPr>
                        <a:t>Probe thermometer</a:t>
                      </a:r>
                    </a:p>
                  </a:txBody>
                  <a:tcPr>
                    <a:solidFill>
                      <a:srgbClr val="FFFFFF"/>
                    </a:solidFill>
                  </a:tcPr>
                </a:tc>
              </a:tr>
              <a:tr h="384048">
                <a:tc>
                  <a:txBody>
                    <a:bodyPr/>
                    <a:lstStyle/>
                    <a:p>
                      <a:r>
                        <a:rPr sz="1400" b="0">
                          <a:solidFill>
                            <a:srgbClr val="8B0707"/>
                          </a:solidFill>
                          <a:latin typeface="ITC Avant Garde Gothic"/>
                        </a:rPr>
                        <a:t>Calibration</a:t>
                      </a:r>
                    </a:p>
                  </a:txBody>
                  <a:tcPr>
                    <a:solidFill>
                      <a:srgbClr val="F8EAEA"/>
                    </a:solidFill>
                  </a:tcPr>
                </a:tc>
                <a:tc>
                  <a:txBody>
                    <a:bodyPr/>
                    <a:lstStyle/>
                    <a:p>
                      <a:r>
                        <a:rPr sz="1400" b="0">
                          <a:solidFill>
                            <a:srgbClr val="2B2020"/>
                          </a:solidFill>
                          <a:latin typeface="ITC Avant Garde Gothic"/>
                        </a:rPr>
                        <a:t>Temperature, PR, SpO₂</a:t>
                      </a:r>
                    </a:p>
                  </a:txBody>
                  <a:tcPr>
                    <a:solidFill>
                      <a:srgbClr val="F8EAEA"/>
                    </a:solidFill>
                  </a:tcPr>
                </a:tc>
                <a:tc>
                  <a:txBody>
                    <a:bodyPr/>
                    <a:lstStyle/>
                    <a:p>
                      <a:r>
                        <a:rPr sz="1400" b="0">
                          <a:solidFill>
                            <a:srgbClr val="2B2020"/>
                          </a:solidFill>
                          <a:latin typeface="ITC Avant Garde Gothic"/>
                        </a:rPr>
                        <a:t>10 volunteers</a:t>
                      </a:r>
                    </a:p>
                  </a:txBody>
                  <a:tcPr>
                    <a:solidFill>
                      <a:srgbClr val="F8EAEA"/>
                    </a:solidFill>
                  </a:tcPr>
                </a:tc>
                <a:tc>
                  <a:txBody>
                    <a:bodyPr/>
                    <a:lstStyle/>
                    <a:p>
                      <a:r>
                        <a:rPr sz="1400" b="0">
                          <a:solidFill>
                            <a:srgbClr val="2B2020"/>
                          </a:solidFill>
                          <a:latin typeface="ITC Avant Garde Gothic"/>
                        </a:rPr>
                        <a:t>Clinic instruments</a:t>
                      </a:r>
                    </a:p>
                  </a:txBody>
                  <a:tcPr>
                    <a:solidFill>
                      <a:srgbClr val="F8EAEA"/>
                    </a:solidFill>
                  </a:tcPr>
                </a:tc>
              </a:tr>
              <a:tr h="384048">
                <a:tc>
                  <a:txBody>
                    <a:bodyPr/>
                    <a:lstStyle/>
                    <a:p>
                      <a:r>
                        <a:rPr sz="1400" b="0">
                          <a:solidFill>
                            <a:srgbClr val="8B0707"/>
                          </a:solidFill>
                          <a:latin typeface="ITC Avant Garde Gothic"/>
                        </a:rPr>
                        <a:t>Validation</a:t>
                      </a:r>
                    </a:p>
                  </a:txBody>
                  <a:tcPr>
                    <a:solidFill>
                      <a:srgbClr val="FFFFFF"/>
                    </a:solidFill>
                  </a:tcPr>
                </a:tc>
                <a:tc>
                  <a:txBody>
                    <a:bodyPr/>
                    <a:lstStyle/>
                    <a:p>
                      <a:r>
                        <a:rPr sz="1400" b="0">
                          <a:solidFill>
                            <a:srgbClr val="2B2020"/>
                          </a:solidFill>
                          <a:latin typeface="ITC Avant Garde Gothic"/>
                        </a:rPr>
                        <a:t>Temperature, PR, SpO₂, time</a:t>
                      </a:r>
                    </a:p>
                  </a:txBody>
                  <a:tcPr>
                    <a:solidFill>
                      <a:srgbClr val="FFFFFF"/>
                    </a:solidFill>
                  </a:tcPr>
                </a:tc>
                <a:tc>
                  <a:txBody>
                    <a:bodyPr/>
                    <a:lstStyle/>
                    <a:p>
                      <a:r>
                        <a:rPr sz="1400" b="0">
                          <a:solidFill>
                            <a:srgbClr val="2B2020"/>
                          </a:solidFill>
                          <a:latin typeface="ITC Avant Garde Gothic"/>
                        </a:rPr>
                        <a:t>____ volunteers</a:t>
                      </a:r>
                    </a:p>
                  </a:txBody>
                  <a:tcPr>
                    <a:solidFill>
                      <a:srgbClr val="FFFFFF"/>
                    </a:solidFill>
                  </a:tcPr>
                </a:tc>
                <a:tc>
                  <a:txBody>
                    <a:bodyPr/>
                    <a:lstStyle/>
                    <a:p>
                      <a:r>
                        <a:rPr sz="1400" b="0">
                          <a:solidFill>
                            <a:srgbClr val="2B2020"/>
                          </a:solidFill>
                          <a:latin typeface="ITC Avant Garde Gothic"/>
                        </a:rPr>
                        <a:t>Clinic instruments</a:t>
                      </a:r>
                    </a:p>
                  </a:txBody>
                  <a:tcPr>
                    <a:solidFill>
                      <a:srgbClr val="FFFFFF"/>
                    </a:solidFill>
                  </a:tcPr>
                </a:tc>
              </a:tr>
              <a:tr h="384048">
                <a:tc>
                  <a:txBody>
                    <a:bodyPr/>
                    <a:lstStyle/>
                    <a:p>
                      <a:r>
                        <a:rPr sz="1400" b="0">
                          <a:solidFill>
                            <a:srgbClr val="8B0707"/>
                          </a:solidFill>
                          <a:latin typeface="ITC Avant Garde Gothic"/>
                        </a:rPr>
                        <a:t>Logic + usability</a:t>
                      </a:r>
                    </a:p>
                  </a:txBody>
                  <a:tcPr>
                    <a:solidFill>
                      <a:srgbClr val="F8EAEA"/>
                    </a:solidFill>
                  </a:tcPr>
                </a:tc>
                <a:tc>
                  <a:txBody>
                    <a:bodyPr/>
                    <a:lstStyle/>
                    <a:p>
                      <a:r>
                        <a:rPr sz="1400" b="0">
                          <a:solidFill>
                            <a:srgbClr val="2B2020"/>
                          </a:solidFill>
                          <a:latin typeface="ITC Avant Garde Gothic"/>
                        </a:rPr>
                        <a:t>Flags; SUS; approachability</a:t>
                      </a:r>
                    </a:p>
                  </a:txBody>
                  <a:tcPr>
                    <a:solidFill>
                      <a:srgbClr val="F8EAEA"/>
                    </a:solidFill>
                  </a:tcPr>
                </a:tc>
                <a:tc>
                  <a:txBody>
                    <a:bodyPr/>
                    <a:lstStyle/>
                    <a:p>
                      <a:r>
                        <a:rPr sz="1400" b="0">
                          <a:solidFill>
                            <a:srgbClr val="2B2020"/>
                          </a:solidFill>
                          <a:latin typeface="ITC Avant Garde Gothic"/>
                        </a:rPr>
                        <a:t>60 cases; ____ users</a:t>
                      </a:r>
                    </a:p>
                  </a:txBody>
                  <a:tcPr>
                    <a:solidFill>
                      <a:srgbClr val="F8EAEA"/>
                    </a:solidFill>
                  </a:tcPr>
                </a:tc>
                <a:tc>
                  <a:txBody>
                    <a:bodyPr/>
                    <a:lstStyle/>
                    <a:p>
                      <a:r>
                        <a:rPr sz="1400" b="0">
                          <a:solidFill>
                            <a:srgbClr val="2B2020"/>
                          </a:solidFill>
                          <a:latin typeface="ITC Avant Garde Gothic"/>
                        </a:rPr>
                        <a:t>Limits; soft vs rigid</a:t>
                      </a:r>
                    </a:p>
                  </a:txBody>
                  <a:tcPr>
                    <a:solidFill>
                      <a:srgbClr val="F8EAEA"/>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METHODOLOGY</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Research Design</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11</a:t>
            </a:r>
            <a:endParaRPr lang="en-US" sz="1600" dirty="0">
              <a:latin typeface="ITC Avant Garde Gothic"/>
            </a:endParaRPr>
          </a:p>
        </p:txBody>
      </p:sp>
      <p:sp>
        <p:nvSpPr>
          <p:cNvPr id="23" name="TextBox 22"/>
          <p:cNvSpPr txBox="1"/>
          <p:nvPr/>
        </p:nvSpPr>
        <p:spPr>
          <a:xfrm>
            <a:off x="822960" y="2011680"/>
            <a:ext cx="16642080" cy="1097280"/>
          </a:xfrm>
          <a:prstGeom prst="rect">
            <a:avLst/>
          </a:prstGeom>
          <a:noFill/>
        </p:spPr>
        <p:txBody>
          <a:bodyPr wrap="square" anchor="t">
            <a:spAutoFit/>
          </a:bodyPr>
          <a:lstStyle/>
          <a:p>
            <a:pPr algn="l">
              <a:spcAft>
                <a:spcPts val="765"/>
              </a:spcAft>
            </a:pPr>
            <a:r>
              <a:rPr sz="1700" b="0">
                <a:solidFill>
                  <a:srgbClr val="2B2020"/>
                </a:solidFill>
                <a:latin typeface="ITC Avant Garde Gothic"/>
              </a:rPr>
              <a:t>This is a quantitative developmental and method-comparison study. The robot is built and calibrated first; then its readings are compared with reference instruments, and users rate it.</a:t>
            </a:r>
          </a:p>
        </p:txBody>
      </p:sp>
      <p:sp>
        <p:nvSpPr>
          <p:cNvPr id="24" name="Rectangle 23"/>
          <p:cNvSpPr/>
          <p:nvPr/>
        </p:nvSpPr>
        <p:spPr>
          <a:xfrm>
            <a:off x="822960" y="3246120"/>
            <a:ext cx="3520440" cy="658368"/>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TC Avant Garde Gothic"/>
              </a:rPr>
              <a:t>1. Build and calibrate</a:t>
            </a:r>
          </a:p>
        </p:txBody>
      </p:sp>
      <p:sp>
        <p:nvSpPr>
          <p:cNvPr id="25" name="Right Arrow 24"/>
          <p:cNvSpPr/>
          <p:nvPr/>
        </p:nvSpPr>
        <p:spPr>
          <a:xfrm>
            <a:off x="4434840" y="3410712"/>
            <a:ext cx="685800" cy="329184"/>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193792" y="3246120"/>
            <a:ext cx="3520440" cy="658368"/>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TC Avant Garde Gothic"/>
              </a:rPr>
              <a:t>2. Program logic</a:t>
            </a:r>
          </a:p>
        </p:txBody>
      </p:sp>
      <p:sp>
        <p:nvSpPr>
          <p:cNvPr id="27" name="Right Arrow 26"/>
          <p:cNvSpPr/>
          <p:nvPr/>
        </p:nvSpPr>
        <p:spPr>
          <a:xfrm>
            <a:off x="8805672" y="3410712"/>
            <a:ext cx="685800" cy="329184"/>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64624" y="3246120"/>
            <a:ext cx="3520440" cy="658368"/>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0">
                <a:solidFill>
                  <a:srgbClr val="FFFFFF"/>
                </a:solidFill>
                <a:latin typeface="ITC Avant Garde Gothic"/>
              </a:rPr>
              <a:t>3. Screen volunteers</a:t>
            </a:r>
          </a:p>
        </p:txBody>
      </p:sp>
      <p:sp>
        <p:nvSpPr>
          <p:cNvPr id="29" name="Right Arrow 28"/>
          <p:cNvSpPr/>
          <p:nvPr/>
        </p:nvSpPr>
        <p:spPr>
          <a:xfrm>
            <a:off x="13176504" y="3410712"/>
            <a:ext cx="685800" cy="329184"/>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3935456" y="3246120"/>
            <a:ext cx="3520440" cy="658368"/>
          </a:xfrm>
          <a:prstGeom prst="rect">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TC Avant Garde Gothic"/>
              </a:rPr>
              <a:t>4. Analyze results</a:t>
            </a:r>
          </a:p>
        </p:txBody>
      </p:sp>
      <p:sp>
        <p:nvSpPr>
          <p:cNvPr id="31" name="TextBox 30"/>
          <p:cNvSpPr txBox="1"/>
          <p:nvPr/>
        </p:nvSpPr>
        <p:spPr>
          <a:xfrm>
            <a:off x="822960" y="4160520"/>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Table 5. Variables of the study</a:t>
            </a:r>
          </a:p>
        </p:txBody>
      </p:sp>
      <p:graphicFrame>
        <p:nvGraphicFramePr>
          <p:cNvPr id="32" name="Table 31"/>
          <p:cNvGraphicFramePr>
            <a:graphicFrameLocks noGrp="1"/>
          </p:cNvGraphicFramePr>
          <p:nvPr/>
        </p:nvGraphicFramePr>
        <p:xfrm>
          <a:off x="822960" y="4572000"/>
          <a:ext cx="16642080" cy="4434840"/>
        </p:xfrm>
        <a:graphic>
          <a:graphicData uri="http://schemas.openxmlformats.org/drawingml/2006/table">
            <a:tbl>
              <a:tblPr firstRow="1" bandRow="1">
                <a:tableStyleId>{5C22544A-7EE6-4342-B048-85BDC9FD1C3A}</a:tableStyleId>
              </a:tblPr>
              <a:tblGrid>
                <a:gridCol w="5547360"/>
                <a:gridCol w="5547360"/>
                <a:gridCol w="5547360"/>
              </a:tblGrid>
              <a:tr h="502920">
                <a:tc>
                  <a:txBody>
                    <a:bodyPr/>
                    <a:lstStyle/>
                    <a:p>
                      <a:r>
                        <a:rPr sz="1500" b="1">
                          <a:solidFill>
                            <a:srgbClr val="FFFFFF"/>
                          </a:solidFill>
                          <a:latin typeface="ITC Avant Garde Gothic"/>
                        </a:rPr>
                        <a:t>Independent (varied)</a:t>
                      </a:r>
                    </a:p>
                  </a:txBody>
                  <a:tcPr>
                    <a:solidFill>
                      <a:srgbClr val="8B0707"/>
                    </a:solidFill>
                  </a:tcPr>
                </a:tc>
                <a:tc>
                  <a:txBody>
                    <a:bodyPr/>
                    <a:lstStyle/>
                    <a:p>
                      <a:r>
                        <a:rPr sz="1500" b="1">
                          <a:solidFill>
                            <a:srgbClr val="FFFFFF"/>
                          </a:solidFill>
                          <a:latin typeface="ITC Avant Garde Gothic"/>
                        </a:rPr>
                        <a:t>Dependent (measured)</a:t>
                      </a:r>
                    </a:p>
                  </a:txBody>
                  <a:tcPr>
                    <a:solidFill>
                      <a:srgbClr val="8B0707"/>
                    </a:solidFill>
                  </a:tcPr>
                </a:tc>
                <a:tc>
                  <a:txBody>
                    <a:bodyPr/>
                    <a:lstStyle/>
                    <a:p>
                      <a:r>
                        <a:rPr sz="1500" b="1">
                          <a:solidFill>
                            <a:srgbClr val="FFFFFF"/>
                          </a:solidFill>
                          <a:latin typeface="ITC Avant Garde Gothic"/>
                        </a:rPr>
                        <a:t>Controlled (held fixed)</a:t>
                      </a:r>
                    </a:p>
                  </a:txBody>
                  <a:tcPr>
                    <a:solidFill>
                      <a:srgbClr val="8B0707"/>
                    </a:solidFill>
                  </a:tcPr>
                </a:tc>
              </a:tr>
              <a:tr h="3931920">
                <a:tc>
                  <a:txBody>
                    <a:bodyPr/>
                    <a:lstStyle/>
                    <a:p>
                      <a:r>
                        <a:rPr sz="1500" b="0">
                          <a:solidFill>
                            <a:srgbClr val="2B2020"/>
                          </a:solidFill>
                          <a:latin typeface="ITC Avant Garde Gothic"/>
                        </a:rPr>
                        <a:t>Measurement method (ALAGA; reference)</a:t>
                      </a:r>
                    </a:p>
                    <a:p>
                      <a:r>
                        <a:rPr sz="1500" b="0">
                          <a:solidFill>
                            <a:srgbClr val="2B2020"/>
                          </a:solidFill>
                          <a:latin typeface="ITC Avant Garde Gothic"/>
                        </a:rPr>
                        <a:t>Target temperature (°C)</a:t>
                      </a:r>
                    </a:p>
                    <a:p>
                      <a:r>
                        <a:rPr sz="1500" b="0">
                          <a:solidFill>
                            <a:srgbClr val="2B2020"/>
                          </a:solidFill>
                          <a:latin typeface="ITC Avant Garde Gothic"/>
                        </a:rPr>
                        <a:t>Body type (soft; rigid)</a:t>
                      </a:r>
                    </a:p>
                  </a:txBody>
                  <a:tcPr>
                    <a:solidFill>
                      <a:srgbClr val="FFFFFF"/>
                    </a:solidFill>
                  </a:tcPr>
                </a:tc>
                <a:tc>
                  <a:txBody>
                    <a:bodyPr/>
                    <a:lstStyle/>
                    <a:p>
                      <a:r>
                        <a:rPr sz="1500" b="0">
                          <a:solidFill>
                            <a:srgbClr val="2B2020"/>
                          </a:solidFill>
                          <a:latin typeface="ITC Avant Garde Gothic"/>
                        </a:rPr>
                        <a:t>Bias, LoA, MAE, Arms</a:t>
                      </a:r>
                    </a:p>
                    <a:p>
                      <a:r>
                        <a:rPr sz="1500" b="0">
                          <a:solidFill>
                            <a:srgbClr val="2B2020"/>
                          </a:solidFill>
                          <a:latin typeface="ITC Avant Garde Gothic"/>
                        </a:rPr>
                        <a:t>Sensitivity, specificity</a:t>
                      </a:r>
                    </a:p>
                    <a:p>
                      <a:r>
                        <a:rPr sz="1500" b="0">
                          <a:solidFill>
                            <a:srgbClr val="2B2020"/>
                          </a:solidFill>
                          <a:latin typeface="ITC Avant Garde Gothic"/>
                        </a:rPr>
                        <a:t>Screening time; SUS; approachability</a:t>
                      </a:r>
                    </a:p>
                  </a:txBody>
                  <a:tcPr>
                    <a:solidFill>
                      <a:srgbClr val="FFFFFF"/>
                    </a:solidFill>
                  </a:tcPr>
                </a:tc>
                <a:tc>
                  <a:txBody>
                    <a:bodyPr/>
                    <a:lstStyle/>
                    <a:p>
                      <a:r>
                        <a:rPr sz="1500" b="0">
                          <a:solidFill>
                            <a:srgbClr val="2B2020"/>
                          </a:solidFill>
                          <a:latin typeface="ITC Avant Garde Gothic"/>
                        </a:rPr>
                        <a:t>Room 26–30 °C; 5-min rest</a:t>
                      </a:r>
                    </a:p>
                    <a:p>
                      <a:r>
                        <a:rPr sz="1500" b="0">
                          <a:solidFill>
                            <a:srgbClr val="2B2020"/>
                          </a:solidFill>
                          <a:latin typeface="ITC Avant Garde Gothic"/>
                        </a:rPr>
                        <a:t>Forehead 3–5 cm; left index finger</a:t>
                      </a:r>
                    </a:p>
                    <a:p>
                      <a:r>
                        <a:rPr sz="1500" b="0">
                          <a:solidFill>
                            <a:srgbClr val="2B2020"/>
                          </a:solidFill>
                          <a:latin typeface="ITC Avant Garde Gothic"/>
                        </a:rPr>
                        <a:t>Same prompts; order alternated</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METHODOLOGY</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Materials and Device</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12</a:t>
            </a:r>
            <a:endParaRPr lang="en-US" sz="1600" dirty="0">
              <a:latin typeface="ITC Avant Garde Gothic"/>
            </a:endParaRPr>
          </a:p>
        </p:txBody>
      </p:sp>
      <p:sp>
        <p:nvSpPr>
          <p:cNvPr id="23" name="Rectangle 22"/>
          <p:cNvSpPr/>
          <p:nvPr/>
        </p:nvSpPr>
        <p:spPr>
          <a:xfrm>
            <a:off x="822960" y="2103120"/>
            <a:ext cx="6766560" cy="745236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2240280"/>
            <a:ext cx="6217920" cy="457200"/>
          </a:xfrm>
          <a:prstGeom prst="rect">
            <a:avLst/>
          </a:prstGeom>
          <a:noFill/>
        </p:spPr>
        <p:txBody>
          <a:bodyPr wrap="square" anchor="t">
            <a:spAutoFit/>
          </a:bodyPr>
          <a:lstStyle/>
          <a:p>
            <a:pPr algn="l">
              <a:spcAft>
                <a:spcPts val="855"/>
              </a:spcAft>
            </a:pPr>
            <a:r>
              <a:rPr sz="1900" b="1">
                <a:solidFill>
                  <a:srgbClr val="8B0707"/>
                </a:solidFill>
                <a:latin typeface="ITC Avant Garde Gothic"/>
              </a:rPr>
              <a:t>Device specification</a:t>
            </a:r>
          </a:p>
        </p:txBody>
      </p:sp>
      <p:sp>
        <p:nvSpPr>
          <p:cNvPr id="25" name="TextBox 24"/>
          <p:cNvSpPr txBox="1"/>
          <p:nvPr/>
        </p:nvSpPr>
        <p:spPr>
          <a:xfrm>
            <a:off x="1143000" y="2788920"/>
            <a:ext cx="6217920" cy="6675120"/>
          </a:xfrm>
          <a:prstGeom prst="rect">
            <a:avLst/>
          </a:prstGeom>
          <a:noFill/>
        </p:spPr>
        <p:txBody>
          <a:bodyPr wrap="square" anchor="t">
            <a:spAutoFit/>
          </a:bodyPr>
          <a:lstStyle/>
          <a:p>
            <a:pPr algn="l">
              <a:spcAft>
                <a:spcPts val="630"/>
              </a:spcAft>
            </a:pPr>
            <a:r>
              <a:rPr sz="1400" b="0">
                <a:solidFill>
                  <a:srgbClr val="2B2020"/>
                </a:solidFill>
                <a:latin typeface="ITC Avant Garde Gothic"/>
              </a:rPr>
              <a:t>•  Body: white ripstop nylon, about 1.1 m tall, kept inflated by a 12 V blower fan in the base.</a:t>
            </a:r>
          </a:p>
          <a:p>
            <a:pPr algn="l">
              <a:spcAft>
                <a:spcPts val="630"/>
              </a:spcAft>
            </a:pPr>
            <a:r>
              <a:rPr sz="1400" b="0">
                <a:solidFill>
                  <a:srgbClr val="2B2020"/>
                </a:solidFill>
                <a:latin typeface="ITC Avant Garde Gothic"/>
              </a:rPr>
              <a:t>•  Chest panel: MLX90614 and HC-SR04 at forehead height; MAX30102 finger cradle.</a:t>
            </a:r>
          </a:p>
          <a:p>
            <a:pPr algn="l">
              <a:spcAft>
                <a:spcPts val="630"/>
              </a:spcAft>
            </a:pPr>
            <a:r>
              <a:rPr sz="1400" b="0">
                <a:solidFill>
                  <a:srgbClr val="2B2020"/>
                </a:solidFill>
                <a:latin typeface="ITC Avant Garde Gothic"/>
              </a:rPr>
              <a:t>•  Controls: 0–10 pain dial, chest button, and a sound sensor that wakes ALAGA.</a:t>
            </a:r>
          </a:p>
          <a:p>
            <a:pPr algn="l">
              <a:spcAft>
                <a:spcPts val="630"/>
              </a:spcAft>
            </a:pPr>
            <a:r>
              <a:rPr sz="1400" b="0">
                <a:solidFill>
                  <a:srgbClr val="2B2020"/>
                </a:solidFill>
                <a:latin typeface="ITC Avant Garde Gothic"/>
              </a:rPr>
              <a:t>•  Voice and display: DFPlayer Mini with 3 W speaker; 0.96-in OLED on the chest.</a:t>
            </a:r>
          </a:p>
          <a:p>
            <a:pPr algn="l">
              <a:spcAft>
                <a:spcPts val="630"/>
              </a:spcAft>
            </a:pPr>
            <a:r>
              <a:rPr sz="1400" b="0">
                <a:solidFill>
                  <a:srgbClr val="2B2020"/>
                </a:solidFill>
                <a:latin typeface="ITC Avant Garde Gothic"/>
              </a:rPr>
              <a:t>•  Controller and power: ESP32 state machine; 12 V 7 Ah battery, 5 V regulator; CSV log.</a:t>
            </a:r>
          </a:p>
        </p:txBody>
      </p:sp>
      <p:sp>
        <p:nvSpPr>
          <p:cNvPr id="26" name="TextBox 25"/>
          <p:cNvSpPr txBox="1"/>
          <p:nvPr/>
        </p:nvSpPr>
        <p:spPr>
          <a:xfrm>
            <a:off x="7863840" y="2075688"/>
            <a:ext cx="9601200" cy="384048"/>
          </a:xfrm>
          <a:prstGeom prst="rect">
            <a:avLst/>
          </a:prstGeom>
          <a:noFill/>
        </p:spPr>
        <p:txBody>
          <a:bodyPr wrap="square" anchor="t">
            <a:spAutoFit/>
          </a:bodyPr>
          <a:lstStyle/>
          <a:p>
            <a:pPr algn="l">
              <a:spcAft>
                <a:spcPts val="630"/>
              </a:spcAft>
            </a:pPr>
            <a:r>
              <a:rPr sz="1400" b="0">
                <a:solidFill>
                  <a:srgbClr val="6A5656"/>
                </a:solidFill>
                <a:latin typeface="ITC Avant Garde Gothic"/>
              </a:rPr>
              <a:t>Table 6. Materials and Components of ALAGA</a:t>
            </a:r>
          </a:p>
        </p:txBody>
      </p:sp>
      <p:graphicFrame>
        <p:nvGraphicFramePr>
          <p:cNvPr id="27" name="Table 26"/>
          <p:cNvGraphicFramePr>
            <a:graphicFrameLocks noGrp="1"/>
          </p:cNvGraphicFramePr>
          <p:nvPr/>
        </p:nvGraphicFramePr>
        <p:xfrm>
          <a:off x="7863840" y="2514600"/>
          <a:ext cx="9601200" cy="6537960"/>
        </p:xfrm>
        <a:graphic>
          <a:graphicData uri="http://schemas.openxmlformats.org/drawingml/2006/table">
            <a:tbl>
              <a:tblPr firstRow="1" bandRow="1">
                <a:tableStyleId>{5C22544A-7EE6-4342-B048-85BDC9FD1C3A}</a:tableStyleId>
              </a:tblPr>
              <a:tblGrid>
                <a:gridCol w="3931920"/>
                <a:gridCol w="1554480"/>
                <a:gridCol w="4114800"/>
              </a:tblGrid>
              <a:tr h="502920">
                <a:tc>
                  <a:txBody>
                    <a:bodyPr/>
                    <a:lstStyle/>
                    <a:p>
                      <a:r>
                        <a:rPr sz="1200" b="1">
                          <a:solidFill>
                            <a:srgbClr val="FFFFFF"/>
                          </a:solidFill>
                          <a:latin typeface="ITC Avant Garde Gothic"/>
                        </a:rPr>
                        <a:t>Material / Component</a:t>
                      </a:r>
                    </a:p>
                  </a:txBody>
                  <a:tcPr>
                    <a:solidFill>
                      <a:srgbClr val="8B0707"/>
                    </a:solidFill>
                  </a:tcPr>
                </a:tc>
                <a:tc>
                  <a:txBody>
                    <a:bodyPr/>
                    <a:lstStyle/>
                    <a:p>
                      <a:r>
                        <a:rPr sz="1200" b="1">
                          <a:solidFill>
                            <a:srgbClr val="FFFFFF"/>
                          </a:solidFill>
                          <a:latin typeface="ITC Avant Garde Gothic"/>
                        </a:rPr>
                        <a:t>Quantity</a:t>
                      </a:r>
                    </a:p>
                  </a:txBody>
                  <a:tcPr>
                    <a:solidFill>
                      <a:srgbClr val="8B0707"/>
                    </a:solidFill>
                  </a:tcPr>
                </a:tc>
                <a:tc>
                  <a:txBody>
                    <a:bodyPr/>
                    <a:lstStyle/>
                    <a:p>
                      <a:r>
                        <a:rPr sz="1200" b="1">
                          <a:solidFill>
                            <a:srgbClr val="FFFFFF"/>
                          </a:solidFill>
                          <a:latin typeface="ITC Avant Garde Gothic"/>
                        </a:rPr>
                        <a:t>Purpose</a:t>
                      </a:r>
                    </a:p>
                  </a:txBody>
                  <a:tcPr>
                    <a:solidFill>
                      <a:srgbClr val="8B0707"/>
                    </a:solidFill>
                  </a:tcPr>
                </a:tc>
              </a:tr>
              <a:tr h="502920">
                <a:tc>
                  <a:txBody>
                    <a:bodyPr/>
                    <a:lstStyle/>
                    <a:p>
                      <a:r>
                        <a:rPr sz="1200" b="0">
                          <a:solidFill>
                            <a:srgbClr val="8B0707"/>
                          </a:solidFill>
                          <a:latin typeface="ITC Avant Garde Gothic"/>
                        </a:rPr>
                        <a:t>White 70D ripstop nylon, seam tape, zipper</a:t>
                      </a:r>
                    </a:p>
                  </a:txBody>
                  <a:tcPr>
                    <a:solidFill>
                      <a:srgbClr val="FFFFFF"/>
                    </a:solidFill>
                  </a:tcPr>
                </a:tc>
                <a:tc>
                  <a:txBody>
                    <a:bodyPr/>
                    <a:lstStyle/>
                    <a:p>
                      <a:r>
                        <a:rPr sz="1200" b="0">
                          <a:solidFill>
                            <a:srgbClr val="2B2020"/>
                          </a:solidFill>
                          <a:latin typeface="ITC Avant Garde Gothic"/>
                        </a:rPr>
                        <a:t>3 m; 1 set</a:t>
                      </a:r>
                    </a:p>
                  </a:txBody>
                  <a:tcPr>
                    <a:solidFill>
                      <a:srgbClr val="FFFFFF"/>
                    </a:solidFill>
                  </a:tcPr>
                </a:tc>
                <a:tc>
                  <a:txBody>
                    <a:bodyPr/>
                    <a:lstStyle/>
                    <a:p>
                      <a:r>
                        <a:rPr sz="1200" b="0">
                          <a:solidFill>
                            <a:srgbClr val="2B2020"/>
                          </a:solidFill>
                          <a:latin typeface="ITC Avant Garde Gothic"/>
                        </a:rPr>
                        <a:t>Inflatable body and head</a:t>
                      </a:r>
                    </a:p>
                  </a:txBody>
                  <a:tcPr>
                    <a:solidFill>
                      <a:srgbClr val="FFFFFF"/>
                    </a:solidFill>
                  </a:tcPr>
                </a:tc>
              </a:tr>
              <a:tr h="502920">
                <a:tc>
                  <a:txBody>
                    <a:bodyPr/>
                    <a:lstStyle/>
                    <a:p>
                      <a:r>
                        <a:rPr sz="1200" b="0">
                          <a:solidFill>
                            <a:srgbClr val="8B0707"/>
                          </a:solidFill>
                          <a:latin typeface="ITC Avant Garde Gothic"/>
                        </a:rPr>
                        <a:t>12 V DC blower fan with finger guard</a:t>
                      </a:r>
                    </a:p>
                  </a:txBody>
                  <a:tcPr>
                    <a:solidFill>
                      <a:srgbClr val="F8EAEA"/>
                    </a:solidFill>
                  </a:tcPr>
                </a:tc>
                <a:tc>
                  <a:txBody>
                    <a:bodyPr/>
                    <a:lstStyle/>
                    <a:p>
                      <a:r>
                        <a:rPr sz="1200" b="0">
                          <a:solidFill>
                            <a:srgbClr val="2B2020"/>
                          </a:solidFill>
                          <a:latin typeface="ITC Avant Garde Gothic"/>
                        </a:rPr>
                        <a:t>1</a:t>
                      </a:r>
                    </a:p>
                  </a:txBody>
                  <a:tcPr>
                    <a:solidFill>
                      <a:srgbClr val="F8EAEA"/>
                    </a:solidFill>
                  </a:tcPr>
                </a:tc>
                <a:tc>
                  <a:txBody>
                    <a:bodyPr/>
                    <a:lstStyle/>
                    <a:p>
                      <a:r>
                        <a:rPr sz="1200" b="0">
                          <a:solidFill>
                            <a:srgbClr val="2B2020"/>
                          </a:solidFill>
                          <a:latin typeface="ITC Avant Garde Gothic"/>
                        </a:rPr>
                        <a:t>Keeps the body inflated</a:t>
                      </a:r>
                    </a:p>
                  </a:txBody>
                  <a:tcPr>
                    <a:solidFill>
                      <a:srgbClr val="F8EAEA"/>
                    </a:solidFill>
                  </a:tcPr>
                </a:tc>
              </a:tr>
              <a:tr h="502920">
                <a:tc>
                  <a:txBody>
                    <a:bodyPr/>
                    <a:lstStyle/>
                    <a:p>
                      <a:r>
                        <a:rPr sz="1200" b="0">
                          <a:solidFill>
                            <a:srgbClr val="8B0707"/>
                          </a:solidFill>
                          <a:latin typeface="ITC Avant Garde Gothic"/>
                        </a:rPr>
                        <a:t>ESP32 development board</a:t>
                      </a:r>
                    </a:p>
                  </a:txBody>
                  <a:tcPr>
                    <a:solidFill>
                      <a:srgbClr val="FFFFFF"/>
                    </a:solidFill>
                  </a:tcPr>
                </a:tc>
                <a:tc>
                  <a:txBody>
                    <a:bodyPr/>
                    <a:lstStyle/>
                    <a:p>
                      <a:r>
                        <a:rPr sz="1200" b="0">
                          <a:solidFill>
                            <a:srgbClr val="2B2020"/>
                          </a:solidFill>
                          <a:latin typeface="ITC Avant Garde Gothic"/>
                        </a:rPr>
                        <a:t>1</a:t>
                      </a:r>
                    </a:p>
                  </a:txBody>
                  <a:tcPr>
                    <a:solidFill>
                      <a:srgbClr val="FFFFFF"/>
                    </a:solidFill>
                  </a:tcPr>
                </a:tc>
                <a:tc>
                  <a:txBody>
                    <a:bodyPr/>
                    <a:lstStyle/>
                    <a:p>
                      <a:r>
                        <a:rPr sz="1200" b="0">
                          <a:solidFill>
                            <a:srgbClr val="2B2020"/>
                          </a:solidFill>
                          <a:latin typeface="ITC Avant Garde Gothic"/>
                        </a:rPr>
                        <a:t>Controller</a:t>
                      </a:r>
                    </a:p>
                  </a:txBody>
                  <a:tcPr>
                    <a:solidFill>
                      <a:srgbClr val="FFFFFF"/>
                    </a:solidFill>
                  </a:tcPr>
                </a:tc>
              </a:tr>
              <a:tr h="502920">
                <a:tc>
                  <a:txBody>
                    <a:bodyPr/>
                    <a:lstStyle/>
                    <a:p>
                      <a:r>
                        <a:rPr sz="1200" b="0">
                          <a:solidFill>
                            <a:srgbClr val="8B0707"/>
                          </a:solidFill>
                          <a:latin typeface="ITC Avant Garde Gothic"/>
                        </a:rPr>
                        <a:t>MLX90614 (GY-906) infrared thermometer</a:t>
                      </a:r>
                    </a:p>
                  </a:txBody>
                  <a:tcPr>
                    <a:solidFill>
                      <a:srgbClr val="F8EAEA"/>
                    </a:solidFill>
                  </a:tcPr>
                </a:tc>
                <a:tc>
                  <a:txBody>
                    <a:bodyPr/>
                    <a:lstStyle/>
                    <a:p>
                      <a:r>
                        <a:rPr sz="1200" b="0">
                          <a:solidFill>
                            <a:srgbClr val="2B2020"/>
                          </a:solidFill>
                          <a:latin typeface="ITC Avant Garde Gothic"/>
                        </a:rPr>
                        <a:t>1</a:t>
                      </a:r>
                    </a:p>
                  </a:txBody>
                  <a:tcPr>
                    <a:solidFill>
                      <a:srgbClr val="F8EAEA"/>
                    </a:solidFill>
                  </a:tcPr>
                </a:tc>
                <a:tc>
                  <a:txBody>
                    <a:bodyPr/>
                    <a:lstStyle/>
                    <a:p>
                      <a:r>
                        <a:rPr sz="1200" b="0">
                          <a:solidFill>
                            <a:srgbClr val="2B2020"/>
                          </a:solidFill>
                          <a:latin typeface="ITC Avant Garde Gothic"/>
                        </a:rPr>
                        <a:t>Forehead temperature</a:t>
                      </a:r>
                    </a:p>
                  </a:txBody>
                  <a:tcPr>
                    <a:solidFill>
                      <a:srgbClr val="F8EAEA"/>
                    </a:solidFill>
                  </a:tcPr>
                </a:tc>
              </a:tr>
              <a:tr h="502920">
                <a:tc>
                  <a:txBody>
                    <a:bodyPr/>
                    <a:lstStyle/>
                    <a:p>
                      <a:r>
                        <a:rPr sz="1200" b="0">
                          <a:solidFill>
                            <a:srgbClr val="8B0707"/>
                          </a:solidFill>
                          <a:latin typeface="ITC Avant Garde Gothic"/>
                        </a:rPr>
                        <a:t>MAX30102 pulse oximeter module</a:t>
                      </a:r>
                    </a:p>
                  </a:txBody>
                  <a:tcPr>
                    <a:solidFill>
                      <a:srgbClr val="FFFFFF"/>
                    </a:solidFill>
                  </a:tcPr>
                </a:tc>
                <a:tc>
                  <a:txBody>
                    <a:bodyPr/>
                    <a:lstStyle/>
                    <a:p>
                      <a:r>
                        <a:rPr sz="1200" b="0">
                          <a:solidFill>
                            <a:srgbClr val="2B2020"/>
                          </a:solidFill>
                          <a:latin typeface="ITC Avant Garde Gothic"/>
                        </a:rPr>
                        <a:t>1</a:t>
                      </a:r>
                    </a:p>
                  </a:txBody>
                  <a:tcPr>
                    <a:solidFill>
                      <a:srgbClr val="FFFFFF"/>
                    </a:solidFill>
                  </a:tcPr>
                </a:tc>
                <a:tc>
                  <a:txBody>
                    <a:bodyPr/>
                    <a:lstStyle/>
                    <a:p>
                      <a:r>
                        <a:rPr sz="1200" b="0">
                          <a:solidFill>
                            <a:srgbClr val="2B2020"/>
                          </a:solidFill>
                          <a:latin typeface="ITC Avant Garde Gothic"/>
                        </a:rPr>
                        <a:t>Pulse rate and SpO₂</a:t>
                      </a:r>
                    </a:p>
                  </a:txBody>
                  <a:tcPr>
                    <a:solidFill>
                      <a:srgbClr val="FFFFFF"/>
                    </a:solidFill>
                  </a:tcPr>
                </a:tc>
              </a:tr>
              <a:tr h="502920">
                <a:tc>
                  <a:txBody>
                    <a:bodyPr/>
                    <a:lstStyle/>
                    <a:p>
                      <a:r>
                        <a:rPr sz="1200" b="0">
                          <a:solidFill>
                            <a:srgbClr val="8B0707"/>
                          </a:solidFill>
                          <a:latin typeface="ITC Avant Garde Gothic"/>
                        </a:rPr>
                        <a:t>HC-SR04 ultrasonic sensor</a:t>
                      </a:r>
                    </a:p>
                  </a:txBody>
                  <a:tcPr>
                    <a:solidFill>
                      <a:srgbClr val="F8EAEA"/>
                    </a:solidFill>
                  </a:tcPr>
                </a:tc>
                <a:tc>
                  <a:txBody>
                    <a:bodyPr/>
                    <a:lstStyle/>
                    <a:p>
                      <a:r>
                        <a:rPr sz="1200" b="0">
                          <a:solidFill>
                            <a:srgbClr val="2B2020"/>
                          </a:solidFill>
                          <a:latin typeface="ITC Avant Garde Gothic"/>
                        </a:rPr>
                        <a:t>1</a:t>
                      </a:r>
                    </a:p>
                  </a:txBody>
                  <a:tcPr>
                    <a:solidFill>
                      <a:srgbClr val="F8EAEA"/>
                    </a:solidFill>
                  </a:tcPr>
                </a:tc>
                <a:tc>
                  <a:txBody>
                    <a:bodyPr/>
                    <a:lstStyle/>
                    <a:p>
                      <a:r>
                        <a:rPr sz="1200" b="0">
                          <a:solidFill>
                            <a:srgbClr val="2B2020"/>
                          </a:solidFill>
                          <a:latin typeface="ITC Avant Garde Gothic"/>
                        </a:rPr>
                        <a:t>Forehead distance check</a:t>
                      </a:r>
                    </a:p>
                  </a:txBody>
                  <a:tcPr>
                    <a:solidFill>
                      <a:srgbClr val="F8EAEA"/>
                    </a:solidFill>
                  </a:tcPr>
                </a:tc>
              </a:tr>
              <a:tr h="502920">
                <a:tc>
                  <a:txBody>
                    <a:bodyPr/>
                    <a:lstStyle/>
                    <a:p>
                      <a:r>
                        <a:rPr sz="1200" b="0">
                          <a:solidFill>
                            <a:srgbClr val="8B0707"/>
                          </a:solidFill>
                          <a:latin typeface="ITC Avant Garde Gothic"/>
                        </a:rPr>
                        <a:t>0.96-in OLED display (SSD1306)</a:t>
                      </a:r>
                    </a:p>
                  </a:txBody>
                  <a:tcPr>
                    <a:solidFill>
                      <a:srgbClr val="FFFFFF"/>
                    </a:solidFill>
                  </a:tcPr>
                </a:tc>
                <a:tc>
                  <a:txBody>
                    <a:bodyPr/>
                    <a:lstStyle/>
                    <a:p>
                      <a:r>
                        <a:rPr sz="1200" b="0">
                          <a:solidFill>
                            <a:srgbClr val="2B2020"/>
                          </a:solidFill>
                          <a:latin typeface="ITC Avant Garde Gothic"/>
                        </a:rPr>
                        <a:t>1</a:t>
                      </a:r>
                    </a:p>
                  </a:txBody>
                  <a:tcPr>
                    <a:solidFill>
                      <a:srgbClr val="FFFFFF"/>
                    </a:solidFill>
                  </a:tcPr>
                </a:tc>
                <a:tc>
                  <a:txBody>
                    <a:bodyPr/>
                    <a:lstStyle/>
                    <a:p>
                      <a:r>
                        <a:rPr sz="1200" b="0">
                          <a:solidFill>
                            <a:srgbClr val="2B2020"/>
                          </a:solidFill>
                          <a:latin typeface="ITC Avant Garde Gothic"/>
                        </a:rPr>
                        <a:t>Chest display</a:t>
                      </a:r>
                    </a:p>
                  </a:txBody>
                  <a:tcPr>
                    <a:solidFill>
                      <a:srgbClr val="FFFFFF"/>
                    </a:solidFill>
                  </a:tcPr>
                </a:tc>
              </a:tr>
              <a:tr h="502920">
                <a:tc>
                  <a:txBody>
                    <a:bodyPr/>
                    <a:lstStyle/>
                    <a:p>
                      <a:r>
                        <a:rPr sz="1200" b="0">
                          <a:solidFill>
                            <a:srgbClr val="8B0707"/>
                          </a:solidFill>
                          <a:latin typeface="ITC Avant Garde Gothic"/>
                        </a:rPr>
                        <a:t>DFPlayer Mini, microSD card, 3 W speaker</a:t>
                      </a:r>
                    </a:p>
                  </a:txBody>
                  <a:tcPr>
                    <a:solidFill>
                      <a:srgbClr val="F8EAEA"/>
                    </a:solidFill>
                  </a:tcPr>
                </a:tc>
                <a:tc>
                  <a:txBody>
                    <a:bodyPr/>
                    <a:lstStyle/>
                    <a:p>
                      <a:r>
                        <a:rPr sz="1200" b="0">
                          <a:solidFill>
                            <a:srgbClr val="2B2020"/>
                          </a:solidFill>
                          <a:latin typeface="ITC Avant Garde Gothic"/>
                        </a:rPr>
                        <a:t>1 set</a:t>
                      </a:r>
                    </a:p>
                  </a:txBody>
                  <a:tcPr>
                    <a:solidFill>
                      <a:srgbClr val="F8EAEA"/>
                    </a:solidFill>
                  </a:tcPr>
                </a:tc>
                <a:tc>
                  <a:txBody>
                    <a:bodyPr/>
                    <a:lstStyle/>
                    <a:p>
                      <a:r>
                        <a:rPr sz="1200" b="0">
                          <a:solidFill>
                            <a:srgbClr val="2B2020"/>
                          </a:solidFill>
                          <a:latin typeface="ITC Avant Garde Gothic"/>
                        </a:rPr>
                        <a:t>Spoken prompts</a:t>
                      </a:r>
                    </a:p>
                  </a:txBody>
                  <a:tcPr>
                    <a:solidFill>
                      <a:srgbClr val="F8EAEA"/>
                    </a:solidFill>
                  </a:tcPr>
                </a:tc>
              </a:tr>
              <a:tr h="502920">
                <a:tc>
                  <a:txBody>
                    <a:bodyPr/>
                    <a:lstStyle/>
                    <a:p>
                      <a:r>
                        <a:rPr sz="1200" b="0">
                          <a:solidFill>
                            <a:srgbClr val="8B0707"/>
                          </a:solidFill>
                          <a:latin typeface="ITC Avant Garde Gothic"/>
                        </a:rPr>
                        <a:t>KY-037 sound sensor, push button, 10 kΩ dial</a:t>
                      </a:r>
                    </a:p>
                  </a:txBody>
                  <a:tcPr>
                    <a:solidFill>
                      <a:srgbClr val="FFFFFF"/>
                    </a:solidFill>
                  </a:tcPr>
                </a:tc>
                <a:tc>
                  <a:txBody>
                    <a:bodyPr/>
                    <a:lstStyle/>
                    <a:p>
                      <a:r>
                        <a:rPr sz="1200" b="0">
                          <a:solidFill>
                            <a:srgbClr val="2B2020"/>
                          </a:solidFill>
                          <a:latin typeface="ITC Avant Garde Gothic"/>
                        </a:rPr>
                        <a:t>1 each</a:t>
                      </a:r>
                    </a:p>
                  </a:txBody>
                  <a:tcPr>
                    <a:solidFill>
                      <a:srgbClr val="FFFFFF"/>
                    </a:solidFill>
                  </a:tcPr>
                </a:tc>
                <a:tc>
                  <a:txBody>
                    <a:bodyPr/>
                    <a:lstStyle/>
                    <a:p>
                      <a:r>
                        <a:rPr sz="1200" b="0">
                          <a:solidFill>
                            <a:srgbClr val="2B2020"/>
                          </a:solidFill>
                          <a:latin typeface="ITC Avant Garde Gothic"/>
                        </a:rPr>
                        <a:t>Wake-up and pain score</a:t>
                      </a:r>
                    </a:p>
                  </a:txBody>
                  <a:tcPr>
                    <a:solidFill>
                      <a:srgbClr val="FFFFFF"/>
                    </a:solidFill>
                  </a:tcPr>
                </a:tc>
              </a:tr>
              <a:tr h="502920">
                <a:tc>
                  <a:txBody>
                    <a:bodyPr/>
                    <a:lstStyle/>
                    <a:p>
                      <a:r>
                        <a:rPr sz="1200" b="0">
                          <a:solidFill>
                            <a:srgbClr val="8B0707"/>
                          </a:solidFill>
                          <a:latin typeface="ITC Avant Garde Gothic"/>
                        </a:rPr>
                        <a:t>12 V 7 Ah SLA battery, LM2596 regulator, fuse</a:t>
                      </a:r>
                    </a:p>
                  </a:txBody>
                  <a:tcPr>
                    <a:solidFill>
                      <a:srgbClr val="F8EAEA"/>
                    </a:solidFill>
                  </a:tcPr>
                </a:tc>
                <a:tc>
                  <a:txBody>
                    <a:bodyPr/>
                    <a:lstStyle/>
                    <a:p>
                      <a:r>
                        <a:rPr sz="1200" b="0">
                          <a:solidFill>
                            <a:srgbClr val="2B2020"/>
                          </a:solidFill>
                          <a:latin typeface="ITC Avant Garde Gothic"/>
                        </a:rPr>
                        <a:t>1 set</a:t>
                      </a:r>
                    </a:p>
                  </a:txBody>
                  <a:tcPr>
                    <a:solidFill>
                      <a:srgbClr val="F8EAEA"/>
                    </a:solidFill>
                  </a:tcPr>
                </a:tc>
                <a:tc>
                  <a:txBody>
                    <a:bodyPr/>
                    <a:lstStyle/>
                    <a:p>
                      <a:r>
                        <a:rPr sz="1200" b="0">
                          <a:solidFill>
                            <a:srgbClr val="2B2020"/>
                          </a:solidFill>
                          <a:latin typeface="ITC Avant Garde Gothic"/>
                        </a:rPr>
                        <a:t>Power</a:t>
                      </a:r>
                    </a:p>
                  </a:txBody>
                  <a:tcPr>
                    <a:solidFill>
                      <a:srgbClr val="F8EAEA"/>
                    </a:solidFill>
                  </a:tcPr>
                </a:tc>
              </a:tr>
              <a:tr h="502920">
                <a:tc>
                  <a:txBody>
                    <a:bodyPr/>
                    <a:lstStyle/>
                    <a:p>
                      <a:r>
                        <a:rPr sz="1200" b="0">
                          <a:solidFill>
                            <a:srgbClr val="8B0707"/>
                          </a:solidFill>
                          <a:latin typeface="ITC Avant Garde Gothic"/>
                        </a:rPr>
                        <a:t>IRF520 MOSFET module, wires, perfboard</a:t>
                      </a:r>
                    </a:p>
                  </a:txBody>
                  <a:tcPr>
                    <a:solidFill>
                      <a:srgbClr val="FFFFFF"/>
                    </a:solidFill>
                  </a:tcPr>
                </a:tc>
                <a:tc>
                  <a:txBody>
                    <a:bodyPr/>
                    <a:lstStyle/>
                    <a:p>
                      <a:r>
                        <a:rPr sz="1200" b="0">
                          <a:solidFill>
                            <a:srgbClr val="2B2020"/>
                          </a:solidFill>
                          <a:latin typeface="ITC Avant Garde Gothic"/>
                        </a:rPr>
                        <a:t>1 set</a:t>
                      </a:r>
                    </a:p>
                  </a:txBody>
                  <a:tcPr>
                    <a:solidFill>
                      <a:srgbClr val="FFFFFF"/>
                    </a:solidFill>
                  </a:tcPr>
                </a:tc>
                <a:tc>
                  <a:txBody>
                    <a:bodyPr/>
                    <a:lstStyle/>
                    <a:p>
                      <a:r>
                        <a:rPr sz="1200" b="0">
                          <a:solidFill>
                            <a:srgbClr val="2B2020"/>
                          </a:solidFill>
                          <a:latin typeface="ITC Avant Garde Gothic"/>
                        </a:rPr>
                        <a:t>Fan switch and wiring</a:t>
                      </a:r>
                    </a:p>
                  </a:txBody>
                  <a:tcPr>
                    <a:solidFill>
                      <a:srgbClr val="FFFFFF"/>
                    </a:solidFill>
                  </a:tcPr>
                </a:tc>
              </a:tr>
              <a:tr h="502920">
                <a:tc>
                  <a:txBody>
                    <a:bodyPr/>
                    <a:lstStyle/>
                    <a:p>
                      <a:r>
                        <a:rPr sz="1200" b="0">
                          <a:solidFill>
                            <a:srgbClr val="8B0707"/>
                          </a:solidFill>
                          <a:latin typeface="ITC Avant Garde Gothic"/>
                        </a:rPr>
                        <a:t>Reference forehead thermometer and pulse oximeter</a:t>
                      </a:r>
                    </a:p>
                  </a:txBody>
                  <a:tcPr>
                    <a:solidFill>
                      <a:srgbClr val="F8EAEA"/>
                    </a:solidFill>
                  </a:tcPr>
                </a:tc>
                <a:tc>
                  <a:txBody>
                    <a:bodyPr/>
                    <a:lstStyle/>
                    <a:p>
                      <a:r>
                        <a:rPr sz="1200" b="0">
                          <a:solidFill>
                            <a:srgbClr val="2B2020"/>
                          </a:solidFill>
                          <a:latin typeface="ITC Avant Garde Gothic"/>
                        </a:rPr>
                        <a:t>1 each</a:t>
                      </a:r>
                    </a:p>
                  </a:txBody>
                  <a:tcPr>
                    <a:solidFill>
                      <a:srgbClr val="F8EAEA"/>
                    </a:solidFill>
                  </a:tcPr>
                </a:tc>
                <a:tc>
                  <a:txBody>
                    <a:bodyPr/>
                    <a:lstStyle/>
                    <a:p>
                      <a:r>
                        <a:rPr sz="1200" b="0">
                          <a:solidFill>
                            <a:srgbClr val="2B2020"/>
                          </a:solidFill>
                          <a:latin typeface="ITC Avant Garde Gothic"/>
                        </a:rPr>
                        <a:t>Reference readings (borrowed)</a:t>
                      </a:r>
                    </a:p>
                  </a:txBody>
                  <a:tcPr>
                    <a:solidFill>
                      <a:srgbClr val="F8EAE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txBody>
          <a:bodyPr/>
          <a:p/>
        </p:txBody>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METHODOLOGY</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Data Gathering Procedure</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13</a:t>
            </a:r>
            <a:endParaRPr lang="en-US" sz="1600" dirty="0">
              <a:latin typeface="ITC Avant Garde Gothic"/>
            </a:endParaRPr>
          </a:p>
        </p:txBody>
      </p:sp>
      <p:sp>
        <p:nvSpPr>
          <p:cNvPr id="23" name="Rectangle 22"/>
          <p:cNvSpPr/>
          <p:nvPr/>
        </p:nvSpPr>
        <p:spPr>
          <a:xfrm>
            <a:off x="822960" y="2194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2331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1</a:t>
            </a:r>
          </a:p>
        </p:txBody>
      </p:sp>
      <p:sp>
        <p:nvSpPr>
          <p:cNvPr id="25" name="TextBox 24"/>
          <p:cNvSpPr txBox="1"/>
          <p:nvPr/>
        </p:nvSpPr>
        <p:spPr>
          <a:xfrm>
            <a:off x="1005840" y="2880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Secure IRB approval, consent</a:t>
            </a:r>
          </a:p>
        </p:txBody>
      </p:sp>
      <p:sp>
        <p:nvSpPr>
          <p:cNvPr id="26" name="Right Arrow 25"/>
          <p:cNvSpPr/>
          <p:nvPr/>
        </p:nvSpPr>
        <p:spPr>
          <a:xfrm>
            <a:off x="3950207" y="3383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06240" y="2194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0" y="2331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2</a:t>
            </a:r>
          </a:p>
        </p:txBody>
      </p:sp>
      <p:sp>
        <p:nvSpPr>
          <p:cNvPr id="29" name="TextBox 28"/>
          <p:cNvSpPr txBox="1"/>
          <p:nvPr/>
        </p:nvSpPr>
        <p:spPr>
          <a:xfrm>
            <a:off x="4389120" y="2880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Sew and seal the body</a:t>
            </a:r>
          </a:p>
        </p:txBody>
      </p:sp>
      <p:sp>
        <p:nvSpPr>
          <p:cNvPr id="30" name="Right Arrow 29"/>
          <p:cNvSpPr/>
          <p:nvPr/>
        </p:nvSpPr>
        <p:spPr>
          <a:xfrm>
            <a:off x="7333488" y="3383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89520" y="2194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0" y="2331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3</a:t>
            </a:r>
          </a:p>
        </p:txBody>
      </p:sp>
      <p:sp>
        <p:nvSpPr>
          <p:cNvPr id="33" name="TextBox 32"/>
          <p:cNvSpPr txBox="1"/>
          <p:nvPr/>
        </p:nvSpPr>
        <p:spPr>
          <a:xfrm>
            <a:off x="7772400" y="2880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Wire sensors, audio, fan</a:t>
            </a:r>
          </a:p>
        </p:txBody>
      </p:sp>
      <p:sp>
        <p:nvSpPr>
          <p:cNvPr id="34" name="Right Arrow 33"/>
          <p:cNvSpPr/>
          <p:nvPr/>
        </p:nvSpPr>
        <p:spPr>
          <a:xfrm>
            <a:off x="10716768" y="3383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972800" y="2194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155680" y="2331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4</a:t>
            </a:r>
          </a:p>
        </p:txBody>
      </p:sp>
      <p:sp>
        <p:nvSpPr>
          <p:cNvPr id="37" name="TextBox 36"/>
          <p:cNvSpPr txBox="1"/>
          <p:nvPr/>
        </p:nvSpPr>
        <p:spPr>
          <a:xfrm>
            <a:off x="11155680" y="2880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Program state machine</a:t>
            </a:r>
          </a:p>
        </p:txBody>
      </p:sp>
      <p:sp>
        <p:nvSpPr>
          <p:cNvPr id="38" name="Right Arrow 37"/>
          <p:cNvSpPr/>
          <p:nvPr/>
        </p:nvSpPr>
        <p:spPr>
          <a:xfrm>
            <a:off x="14100048" y="3383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4356080" y="2194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538960" y="2331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5</a:t>
            </a:r>
          </a:p>
        </p:txBody>
      </p:sp>
      <p:sp>
        <p:nvSpPr>
          <p:cNvPr id="41" name="TextBox 40"/>
          <p:cNvSpPr txBox="1"/>
          <p:nvPr/>
        </p:nvSpPr>
        <p:spPr>
          <a:xfrm>
            <a:off x="14538960" y="2880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Bench-test IR in water bath</a:t>
            </a:r>
          </a:p>
        </p:txBody>
      </p:sp>
      <p:sp>
        <p:nvSpPr>
          <p:cNvPr id="42" name="Rectangle 41"/>
          <p:cNvSpPr/>
          <p:nvPr/>
        </p:nvSpPr>
        <p:spPr>
          <a:xfrm>
            <a:off x="822960" y="5623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 y="5760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6</a:t>
            </a:r>
          </a:p>
        </p:txBody>
      </p:sp>
      <p:sp>
        <p:nvSpPr>
          <p:cNvPr id="44" name="TextBox 43"/>
          <p:cNvSpPr txBox="1"/>
          <p:nvPr/>
        </p:nvSpPr>
        <p:spPr>
          <a:xfrm>
            <a:off x="1005840" y="6309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Calibrate on 10 volunteers</a:t>
            </a:r>
          </a:p>
        </p:txBody>
      </p:sp>
      <p:sp>
        <p:nvSpPr>
          <p:cNvPr id="45" name="Right Arrow 44"/>
          <p:cNvSpPr/>
          <p:nvPr/>
        </p:nvSpPr>
        <p:spPr>
          <a:xfrm>
            <a:off x="3950207" y="6812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06240" y="5623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89120" y="5760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7</a:t>
            </a:r>
          </a:p>
        </p:txBody>
      </p:sp>
      <p:sp>
        <p:nvSpPr>
          <p:cNvPr id="48" name="TextBox 47"/>
          <p:cNvSpPr txBox="1"/>
          <p:nvPr/>
        </p:nvSpPr>
        <p:spPr>
          <a:xfrm>
            <a:off x="4389120" y="6309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Screen validation volunteers</a:t>
            </a:r>
          </a:p>
        </p:txBody>
      </p:sp>
      <p:sp>
        <p:nvSpPr>
          <p:cNvPr id="49" name="Right Arrow 48"/>
          <p:cNvSpPr/>
          <p:nvPr/>
        </p:nvSpPr>
        <p:spPr>
          <a:xfrm>
            <a:off x="7333488" y="6812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589520" y="5623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0" y="5760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8</a:t>
            </a:r>
          </a:p>
        </p:txBody>
      </p:sp>
      <p:sp>
        <p:nvSpPr>
          <p:cNvPr id="52" name="TextBox 51"/>
          <p:cNvSpPr txBox="1"/>
          <p:nvPr/>
        </p:nvSpPr>
        <p:spPr>
          <a:xfrm>
            <a:off x="7772400" y="6309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Run 60 logic test cases</a:t>
            </a:r>
          </a:p>
        </p:txBody>
      </p:sp>
      <p:sp>
        <p:nvSpPr>
          <p:cNvPr id="53" name="Right Arrow 52"/>
          <p:cNvSpPr/>
          <p:nvPr/>
        </p:nvSpPr>
        <p:spPr>
          <a:xfrm>
            <a:off x="10716768" y="6812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972800" y="5623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55680" y="5760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9</a:t>
            </a:r>
          </a:p>
        </p:txBody>
      </p:sp>
      <p:sp>
        <p:nvSpPr>
          <p:cNvPr id="56" name="TextBox 55"/>
          <p:cNvSpPr txBox="1"/>
          <p:nvPr/>
        </p:nvSpPr>
        <p:spPr>
          <a:xfrm>
            <a:off x="11155680" y="6309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Usability: soft vs rigid</a:t>
            </a:r>
          </a:p>
        </p:txBody>
      </p:sp>
      <p:sp>
        <p:nvSpPr>
          <p:cNvPr id="57" name="Right Arrow 56"/>
          <p:cNvSpPr/>
          <p:nvPr/>
        </p:nvSpPr>
        <p:spPr>
          <a:xfrm>
            <a:off x="14100048" y="6812280"/>
            <a:ext cx="237744" cy="365760"/>
          </a:xfrm>
          <a:prstGeom prst="rightArrow">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4356080" y="5623560"/>
            <a:ext cx="3108960" cy="2743200"/>
          </a:xfrm>
          <a:prstGeom prst="rect">
            <a:avLst/>
          </a:prstGeom>
          <a:solidFill>
            <a:srgbClr val="FFFFFF"/>
          </a:solidFill>
          <a:ln w="12700">
            <a:solidFill>
              <a:srgbClr val="8B07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538960" y="5760720"/>
            <a:ext cx="2743200" cy="457200"/>
          </a:xfrm>
          <a:prstGeom prst="rect">
            <a:avLst/>
          </a:prstGeom>
          <a:noFill/>
        </p:spPr>
        <p:txBody>
          <a:bodyPr wrap="square" anchor="t">
            <a:spAutoFit/>
          </a:bodyPr>
          <a:lstStyle/>
          <a:p>
            <a:pPr algn="l">
              <a:spcAft>
                <a:spcPts val="630"/>
              </a:spcAft>
            </a:pPr>
            <a:r>
              <a:rPr sz="1400" b="1">
                <a:solidFill>
                  <a:srgbClr val="8B0707"/>
                </a:solidFill>
                <a:latin typeface="ITC Avant Garde Gothic"/>
              </a:rPr>
              <a:t>Step 10</a:t>
            </a:r>
          </a:p>
        </p:txBody>
      </p:sp>
      <p:sp>
        <p:nvSpPr>
          <p:cNvPr id="60" name="TextBox 59"/>
          <p:cNvSpPr txBox="1"/>
          <p:nvPr/>
        </p:nvSpPr>
        <p:spPr>
          <a:xfrm>
            <a:off x="14538960" y="6309360"/>
            <a:ext cx="2743200" cy="1920240"/>
          </a:xfrm>
          <a:prstGeom prst="rect">
            <a:avLst/>
          </a:prstGeom>
          <a:noFill/>
        </p:spPr>
        <p:txBody>
          <a:bodyPr wrap="square" anchor="t">
            <a:spAutoFit/>
          </a:bodyPr>
          <a:lstStyle/>
          <a:p>
            <a:pPr algn="l">
              <a:spcAft>
                <a:spcPts val="810"/>
              </a:spcAft>
            </a:pPr>
            <a:r>
              <a:rPr sz="1800" b="0">
                <a:solidFill>
                  <a:srgbClr val="2B2020"/>
                </a:solidFill>
                <a:latin typeface="ITC Avant Garde Gothic"/>
              </a:rPr>
              <a:t>Bland–Altman, t-test, Wilcoxon</a:t>
            </a:r>
          </a:p>
        </p:txBody>
      </p:sp>
      <p:sp>
        <p:nvSpPr>
          <p:cNvPr id="61" name="TextBox 60"/>
          <p:cNvSpPr txBox="1"/>
          <p:nvPr/>
        </p:nvSpPr>
        <p:spPr>
          <a:xfrm>
            <a:off x="822960" y="9098280"/>
            <a:ext cx="16642080" cy="384048"/>
          </a:xfrm>
          <a:prstGeom prst="rect">
            <a:avLst/>
          </a:prstGeom>
          <a:noFill/>
        </p:spPr>
        <p:txBody>
          <a:bodyPr wrap="square" anchor="t">
            <a:spAutoFit/>
          </a:bodyPr>
          <a:lstStyle/>
          <a:p>
            <a:pPr algn="l">
              <a:spcAft>
                <a:spcPts val="720"/>
              </a:spcAft>
            </a:pPr>
            <a:r>
              <a:rPr sz="1600">
                <a:solidFill>
                  <a:srgbClr val="6A5656"/>
                </a:solidFill>
                <a:latin typeface="ITC Avant Garde Gothic"/>
              </a:rPr>
              <a:t>Figure 3. Data gathering procedure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METHODOLOGY</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Treatment of Data</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14</a:t>
            </a:r>
            <a:endParaRPr lang="en-US" sz="1600" dirty="0">
              <a:latin typeface="ITC Avant Garde Gothic"/>
            </a:endParaRPr>
          </a:p>
        </p:txBody>
      </p:sp>
      <p:sp>
        <p:nvSpPr>
          <p:cNvPr id="23" name="Rectangle 22"/>
          <p:cNvSpPr/>
          <p:nvPr/>
        </p:nvSpPr>
        <p:spPr>
          <a:xfrm>
            <a:off x="822960" y="2103120"/>
            <a:ext cx="8229600" cy="740664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2240280"/>
            <a:ext cx="7680960" cy="457200"/>
          </a:xfrm>
          <a:prstGeom prst="rect">
            <a:avLst/>
          </a:prstGeom>
          <a:noFill/>
        </p:spPr>
        <p:txBody>
          <a:bodyPr wrap="square" anchor="t">
            <a:spAutoFit/>
          </a:bodyPr>
          <a:lstStyle/>
          <a:p>
            <a:pPr algn="l">
              <a:spcAft>
                <a:spcPts val="855"/>
              </a:spcAft>
            </a:pPr>
            <a:r>
              <a:rPr sz="1900" b="1">
                <a:solidFill>
                  <a:srgbClr val="8B0707"/>
                </a:solidFill>
                <a:latin typeface="ITC Avant Garde Gothic"/>
              </a:rPr>
              <a:t>Formulas</a:t>
            </a:r>
          </a:p>
        </p:txBody>
      </p:sp>
      <p:sp>
        <p:nvSpPr>
          <p:cNvPr id="25" name="TextBox 24"/>
          <p:cNvSpPr txBox="1"/>
          <p:nvPr/>
        </p:nvSpPr>
        <p:spPr>
          <a:xfrm>
            <a:off x="1143000" y="2834640"/>
            <a:ext cx="7680960" cy="914400"/>
          </a:xfrm>
          <a:prstGeom prst="rect">
            <a:avLst/>
          </a:prstGeom>
          <a:noFill/>
        </p:spPr>
        <p:txBody>
          <a:bodyPr wrap="square" anchor="t">
            <a:spAutoFit/>
          </a:bodyPr>
          <a:lstStyle/>
          <a:p>
            <a:pPr algn="l">
              <a:spcAft>
                <a:spcPts val="765"/>
              </a:spcAft>
            </a:pPr>
            <a:r>
              <a:rPr sz="1700" b="0">
                <a:solidFill>
                  <a:srgbClr val="2B2020"/>
                </a:solidFill>
                <a:latin typeface="ITC Avant Garde Gothic"/>
              </a:rPr>
              <a:t>d = ALAGA − reference</a:t>
            </a:r>
          </a:p>
        </p:txBody>
      </p:sp>
      <p:sp>
        <p:nvSpPr>
          <p:cNvPr id="26" name="TextBox 25"/>
          <p:cNvSpPr txBox="1"/>
          <p:nvPr/>
        </p:nvSpPr>
        <p:spPr>
          <a:xfrm>
            <a:off x="1143000" y="3383280"/>
            <a:ext cx="7680960" cy="548640"/>
          </a:xfrm>
          <a:prstGeom prst="rect">
            <a:avLst/>
          </a:prstGeom>
          <a:noFill/>
        </p:spPr>
        <p:txBody>
          <a:bodyPr wrap="square" anchor="t">
            <a:spAutoFit/>
          </a:bodyPr>
          <a:lstStyle/>
          <a:p>
            <a:pPr algn="l">
              <a:spcAft>
                <a:spcPts val="585"/>
              </a:spcAft>
            </a:pPr>
            <a:r>
              <a:rPr sz="1300" b="0">
                <a:solidFill>
                  <a:srgbClr val="6A5656"/>
                </a:solidFill>
                <a:latin typeface="ITC Avant Garde Gothic"/>
              </a:rPr>
              <a:t>difference per paired reading</a:t>
            </a:r>
          </a:p>
        </p:txBody>
      </p:sp>
      <p:sp>
        <p:nvSpPr>
          <p:cNvPr id="27" name="TextBox 26"/>
          <p:cNvSpPr txBox="1"/>
          <p:nvPr/>
        </p:nvSpPr>
        <p:spPr>
          <a:xfrm>
            <a:off x="1143000" y="4297680"/>
            <a:ext cx="7680960" cy="914400"/>
          </a:xfrm>
          <a:prstGeom prst="rect">
            <a:avLst/>
          </a:prstGeom>
          <a:noFill/>
        </p:spPr>
        <p:txBody>
          <a:bodyPr wrap="square" anchor="t">
            <a:spAutoFit/>
          </a:bodyPr>
          <a:lstStyle/>
          <a:p>
            <a:pPr algn="l">
              <a:spcAft>
                <a:spcPts val="765"/>
              </a:spcAft>
            </a:pPr>
            <a:r>
              <a:rPr sz="1700" b="0">
                <a:solidFill>
                  <a:srgbClr val="2B2020"/>
                </a:solidFill>
                <a:latin typeface="ITC Avant Garde Gothic"/>
              </a:rPr>
              <a:t>Bias = Σd ÷ n;  LoA = Bias ± 1.96 SD</a:t>
            </a:r>
          </a:p>
        </p:txBody>
      </p:sp>
      <p:sp>
        <p:nvSpPr>
          <p:cNvPr id="28" name="TextBox 27"/>
          <p:cNvSpPr txBox="1"/>
          <p:nvPr/>
        </p:nvSpPr>
        <p:spPr>
          <a:xfrm>
            <a:off x="1143000" y="4846320"/>
            <a:ext cx="7680960" cy="548640"/>
          </a:xfrm>
          <a:prstGeom prst="rect">
            <a:avLst/>
          </a:prstGeom>
          <a:noFill/>
        </p:spPr>
        <p:txBody>
          <a:bodyPr wrap="square" anchor="t">
            <a:spAutoFit/>
          </a:bodyPr>
          <a:lstStyle/>
          <a:p>
            <a:pPr algn="l">
              <a:spcAft>
                <a:spcPts val="585"/>
              </a:spcAft>
            </a:pPr>
            <a:r>
              <a:rPr sz="1300" b="0">
                <a:solidFill>
                  <a:srgbClr val="6A5656"/>
                </a:solidFill>
                <a:latin typeface="ITC Avant Garde Gothic"/>
              </a:rPr>
              <a:t>mean bias, 95% limits of agreement</a:t>
            </a:r>
          </a:p>
        </p:txBody>
      </p:sp>
      <p:sp>
        <p:nvSpPr>
          <p:cNvPr id="29" name="TextBox 28"/>
          <p:cNvSpPr txBox="1"/>
          <p:nvPr/>
        </p:nvSpPr>
        <p:spPr>
          <a:xfrm>
            <a:off x="1143000" y="5760720"/>
            <a:ext cx="7680960" cy="914400"/>
          </a:xfrm>
          <a:prstGeom prst="rect">
            <a:avLst/>
          </a:prstGeom>
          <a:noFill/>
        </p:spPr>
        <p:txBody>
          <a:bodyPr wrap="square" anchor="t">
            <a:spAutoFit/>
          </a:bodyPr>
          <a:lstStyle/>
          <a:p>
            <a:pPr algn="l">
              <a:spcAft>
                <a:spcPts val="765"/>
              </a:spcAft>
            </a:pPr>
            <a:r>
              <a:rPr sz="1700" b="0">
                <a:solidFill>
                  <a:srgbClr val="2B2020"/>
                </a:solidFill>
                <a:latin typeface="ITC Avant Garde Gothic"/>
              </a:rPr>
              <a:t>Arms = √(Σd² ÷ n)</a:t>
            </a:r>
          </a:p>
        </p:txBody>
      </p:sp>
      <p:sp>
        <p:nvSpPr>
          <p:cNvPr id="30" name="TextBox 29"/>
          <p:cNvSpPr txBox="1"/>
          <p:nvPr/>
        </p:nvSpPr>
        <p:spPr>
          <a:xfrm>
            <a:off x="1143000" y="6309360"/>
            <a:ext cx="7680960" cy="548640"/>
          </a:xfrm>
          <a:prstGeom prst="rect">
            <a:avLst/>
          </a:prstGeom>
          <a:noFill/>
        </p:spPr>
        <p:txBody>
          <a:bodyPr wrap="square" anchor="t">
            <a:spAutoFit/>
          </a:bodyPr>
          <a:lstStyle/>
          <a:p>
            <a:pPr algn="l">
              <a:spcAft>
                <a:spcPts val="585"/>
              </a:spcAft>
            </a:pPr>
            <a:r>
              <a:rPr sz="1300" b="0">
                <a:solidFill>
                  <a:srgbClr val="6A5656"/>
                </a:solidFill>
                <a:latin typeface="ITC Avant Garde Gothic"/>
              </a:rPr>
              <a:t>SpO₂ root-mean-square error (≤ 4%)</a:t>
            </a:r>
          </a:p>
        </p:txBody>
      </p:sp>
      <p:sp>
        <p:nvSpPr>
          <p:cNvPr id="31" name="TextBox 30"/>
          <p:cNvSpPr txBox="1"/>
          <p:nvPr/>
        </p:nvSpPr>
        <p:spPr>
          <a:xfrm>
            <a:off x="1143000" y="7223760"/>
            <a:ext cx="7680960" cy="914400"/>
          </a:xfrm>
          <a:prstGeom prst="rect">
            <a:avLst/>
          </a:prstGeom>
          <a:noFill/>
        </p:spPr>
        <p:txBody>
          <a:bodyPr wrap="square" anchor="t">
            <a:spAutoFit/>
          </a:bodyPr>
          <a:lstStyle/>
          <a:p>
            <a:pPr algn="l">
              <a:spcAft>
                <a:spcPts val="765"/>
              </a:spcAft>
            </a:pPr>
            <a:r>
              <a:rPr sz="1700" b="0">
                <a:solidFill>
                  <a:srgbClr val="2B2020"/>
                </a:solidFill>
                <a:latin typeface="ITC Avant Garde Gothic"/>
              </a:rPr>
              <a:t>Sensitivity = TP ÷ (TP + FN)</a:t>
            </a:r>
          </a:p>
        </p:txBody>
      </p:sp>
      <p:sp>
        <p:nvSpPr>
          <p:cNvPr id="32" name="TextBox 31"/>
          <p:cNvSpPr txBox="1"/>
          <p:nvPr/>
        </p:nvSpPr>
        <p:spPr>
          <a:xfrm>
            <a:off x="1143000" y="7772400"/>
            <a:ext cx="7680960" cy="548640"/>
          </a:xfrm>
          <a:prstGeom prst="rect">
            <a:avLst/>
          </a:prstGeom>
          <a:noFill/>
        </p:spPr>
        <p:txBody>
          <a:bodyPr wrap="square" anchor="t">
            <a:spAutoFit/>
          </a:bodyPr>
          <a:lstStyle/>
          <a:p>
            <a:pPr algn="l">
              <a:spcAft>
                <a:spcPts val="585"/>
              </a:spcAft>
            </a:pPr>
            <a:r>
              <a:rPr sz="1300" b="0">
                <a:solidFill>
                  <a:srgbClr val="6A5656"/>
                </a:solidFill>
                <a:latin typeface="ITC Avant Garde Gothic"/>
              </a:rPr>
              <a:t>flags correctly raised</a:t>
            </a:r>
          </a:p>
        </p:txBody>
      </p:sp>
      <p:sp>
        <p:nvSpPr>
          <p:cNvPr id="33" name="TextBox 32"/>
          <p:cNvSpPr txBox="1"/>
          <p:nvPr/>
        </p:nvSpPr>
        <p:spPr>
          <a:xfrm>
            <a:off x="1143000" y="8686800"/>
            <a:ext cx="7680960" cy="914400"/>
          </a:xfrm>
          <a:prstGeom prst="rect">
            <a:avLst/>
          </a:prstGeom>
          <a:noFill/>
        </p:spPr>
        <p:txBody>
          <a:bodyPr wrap="square" anchor="t">
            <a:spAutoFit/>
          </a:bodyPr>
          <a:lstStyle/>
          <a:p>
            <a:pPr algn="l">
              <a:spcAft>
                <a:spcPts val="765"/>
              </a:spcAft>
            </a:pPr>
            <a:r>
              <a:rPr sz="1700" b="0">
                <a:solidFill>
                  <a:srgbClr val="2B2020"/>
                </a:solidFill>
                <a:latin typeface="ITC Avant Garde Gothic"/>
              </a:rPr>
              <a:t>Specificity = TN ÷ (TN + FP)</a:t>
            </a:r>
          </a:p>
        </p:txBody>
      </p:sp>
      <p:sp>
        <p:nvSpPr>
          <p:cNvPr id="34" name="TextBox 33"/>
          <p:cNvSpPr txBox="1"/>
          <p:nvPr/>
        </p:nvSpPr>
        <p:spPr>
          <a:xfrm>
            <a:off x="1143000" y="9235440"/>
            <a:ext cx="7680960" cy="548640"/>
          </a:xfrm>
          <a:prstGeom prst="rect">
            <a:avLst/>
          </a:prstGeom>
          <a:noFill/>
        </p:spPr>
        <p:txBody>
          <a:bodyPr wrap="square" anchor="t">
            <a:spAutoFit/>
          </a:bodyPr>
          <a:lstStyle/>
          <a:p>
            <a:pPr algn="l">
              <a:spcAft>
                <a:spcPts val="585"/>
              </a:spcAft>
            </a:pPr>
            <a:r>
              <a:rPr sz="1300" b="0">
                <a:solidFill>
                  <a:srgbClr val="6A5656"/>
                </a:solidFill>
                <a:latin typeface="ITC Avant Garde Gothic"/>
              </a:rPr>
              <a:t>normal results correctly passed</a:t>
            </a:r>
          </a:p>
        </p:txBody>
      </p:sp>
      <p:sp>
        <p:nvSpPr>
          <p:cNvPr id="35" name="TextBox 34"/>
          <p:cNvSpPr txBox="1"/>
          <p:nvPr/>
        </p:nvSpPr>
        <p:spPr>
          <a:xfrm>
            <a:off x="9326880" y="2075688"/>
            <a:ext cx="8138160" cy="384048"/>
          </a:xfrm>
          <a:prstGeom prst="rect">
            <a:avLst/>
          </a:prstGeom>
          <a:noFill/>
        </p:spPr>
        <p:txBody>
          <a:bodyPr wrap="square" anchor="t">
            <a:spAutoFit/>
          </a:bodyPr>
          <a:lstStyle/>
          <a:p>
            <a:pPr algn="l">
              <a:spcAft>
                <a:spcPts val="855"/>
              </a:spcAft>
            </a:pPr>
            <a:r>
              <a:rPr sz="1900" b="1">
                <a:solidFill>
                  <a:srgbClr val="8B0707"/>
                </a:solidFill>
                <a:latin typeface="ITC Avant Garde Gothic"/>
              </a:rPr>
              <a:t>Statistical treatment</a:t>
            </a:r>
          </a:p>
        </p:txBody>
      </p:sp>
      <p:graphicFrame>
        <p:nvGraphicFramePr>
          <p:cNvPr id="36" name="Table 35"/>
          <p:cNvGraphicFramePr>
            <a:graphicFrameLocks noGrp="1"/>
          </p:cNvGraphicFramePr>
          <p:nvPr/>
        </p:nvGraphicFramePr>
        <p:xfrm>
          <a:off x="9326880" y="2560320"/>
          <a:ext cx="8138160" cy="6446520"/>
        </p:xfrm>
        <a:graphic>
          <a:graphicData uri="http://schemas.openxmlformats.org/drawingml/2006/table">
            <a:tbl>
              <a:tblPr firstRow="1" bandRow="1">
                <a:tableStyleId>{5C22544A-7EE6-4342-B048-85BDC9FD1C3A}</a:tableStyleId>
              </a:tblPr>
              <a:tblGrid>
                <a:gridCol w="822960"/>
                <a:gridCol w="4846320"/>
                <a:gridCol w="2468880"/>
              </a:tblGrid>
              <a:tr h="502920">
                <a:tc>
                  <a:txBody>
                    <a:bodyPr/>
                    <a:lstStyle/>
                    <a:p>
                      <a:r>
                        <a:rPr sz="1200" b="1">
                          <a:solidFill>
                            <a:srgbClr val="FFFFFF"/>
                          </a:solidFill>
                          <a:latin typeface="ITC Avant Garde Gothic"/>
                        </a:rPr>
                        <a:t>SOP</a:t>
                      </a:r>
                    </a:p>
                  </a:txBody>
                  <a:tcPr>
                    <a:solidFill>
                      <a:srgbClr val="8B0707"/>
                    </a:solidFill>
                  </a:tcPr>
                </a:tc>
                <a:tc>
                  <a:txBody>
                    <a:bodyPr/>
                    <a:lstStyle/>
                    <a:p>
                      <a:r>
                        <a:rPr sz="1200" b="1">
                          <a:solidFill>
                            <a:srgbClr val="FFFFFF"/>
                          </a:solidFill>
                          <a:latin typeface="ITC Avant Garde Gothic"/>
                        </a:rPr>
                        <a:t>Question</a:t>
                      </a:r>
                    </a:p>
                  </a:txBody>
                  <a:tcPr>
                    <a:solidFill>
                      <a:srgbClr val="8B0707"/>
                    </a:solidFill>
                  </a:tcPr>
                </a:tc>
                <a:tc>
                  <a:txBody>
                    <a:bodyPr/>
                    <a:lstStyle/>
                    <a:p>
                      <a:r>
                        <a:rPr sz="1200" b="1">
                          <a:solidFill>
                            <a:srgbClr val="FFFFFF"/>
                          </a:solidFill>
                          <a:latin typeface="ITC Avant Garde Gothic"/>
                        </a:rPr>
                        <a:t>Tool</a:t>
                      </a:r>
                    </a:p>
                  </a:txBody>
                  <a:tcPr>
                    <a:solidFill>
                      <a:srgbClr val="8B0707"/>
                    </a:solidFill>
                  </a:tcPr>
                </a:tc>
              </a:tr>
              <a:tr h="1188720">
                <a:tc>
                  <a:txBody>
                    <a:bodyPr/>
                    <a:lstStyle/>
                    <a:p>
                      <a:r>
                        <a:rPr sz="1200" b="0">
                          <a:solidFill>
                            <a:srgbClr val="8B0707"/>
                          </a:solidFill>
                          <a:latin typeface="ITC Avant Garde Gothic"/>
                        </a:rPr>
                        <a:t>S1</a:t>
                      </a:r>
                    </a:p>
                  </a:txBody>
                  <a:tcPr>
                    <a:solidFill>
                      <a:srgbClr val="FFFFFF"/>
                    </a:solidFill>
                  </a:tcPr>
                </a:tc>
                <a:tc>
                  <a:txBody>
                    <a:bodyPr/>
                    <a:lstStyle/>
                    <a:p>
                      <a:r>
                        <a:rPr sz="1200" b="0">
                          <a:solidFill>
                            <a:srgbClr val="2B2020"/>
                          </a:solidFill>
                          <a:latin typeface="ITC Avant Garde Gothic"/>
                        </a:rPr>
                        <a:t>Agreement with reference instruments</a:t>
                      </a:r>
                    </a:p>
                  </a:txBody>
                  <a:tcPr>
                    <a:solidFill>
                      <a:srgbClr val="FFFFFF"/>
                    </a:solidFill>
                  </a:tcPr>
                </a:tc>
                <a:tc>
                  <a:txBody>
                    <a:bodyPr/>
                    <a:lstStyle/>
                    <a:p>
                      <a:r>
                        <a:rPr sz="1200" b="0">
                          <a:solidFill>
                            <a:srgbClr val="2B2020"/>
                          </a:solidFill>
                          <a:latin typeface="ITC Avant Garde Gothic"/>
                        </a:rPr>
                        <a:t>Bias, LoA, MAE, Arms; paired t-test</a:t>
                      </a:r>
                    </a:p>
                  </a:txBody>
                  <a:tcPr>
                    <a:solidFill>
                      <a:srgbClr val="FFFFFF"/>
                    </a:solidFill>
                  </a:tcPr>
                </a:tc>
              </a:tr>
              <a:tr h="1188720">
                <a:tc>
                  <a:txBody>
                    <a:bodyPr/>
                    <a:lstStyle/>
                    <a:p>
                      <a:r>
                        <a:rPr sz="1200" b="0">
                          <a:solidFill>
                            <a:srgbClr val="8B0707"/>
                          </a:solidFill>
                          <a:latin typeface="ITC Avant Garde Gothic"/>
                        </a:rPr>
                        <a:t>S2</a:t>
                      </a:r>
                    </a:p>
                  </a:txBody>
                  <a:tcPr>
                    <a:solidFill>
                      <a:srgbClr val="F8EAEA"/>
                    </a:solidFill>
                  </a:tcPr>
                </a:tc>
                <a:tc>
                  <a:txBody>
                    <a:bodyPr/>
                    <a:lstStyle/>
                    <a:p>
                      <a:r>
                        <a:rPr sz="1200" b="0">
                          <a:solidFill>
                            <a:srgbClr val="2B2020"/>
                          </a:solidFill>
                          <a:latin typeface="ITC Avant Garde Gothic"/>
                        </a:rPr>
                        <a:t>Accuracy of flags</a:t>
                      </a:r>
                    </a:p>
                  </a:txBody>
                  <a:tcPr>
                    <a:solidFill>
                      <a:srgbClr val="F8EAEA"/>
                    </a:solidFill>
                  </a:tcPr>
                </a:tc>
                <a:tc>
                  <a:txBody>
                    <a:bodyPr/>
                    <a:lstStyle/>
                    <a:p>
                      <a:r>
                        <a:rPr sz="1200" b="0">
                          <a:solidFill>
                            <a:srgbClr val="2B2020"/>
                          </a:solidFill>
                          <a:latin typeface="ITC Avant Garde Gothic"/>
                        </a:rPr>
                        <a:t>Confusion matrix; sensitivity, specificity</a:t>
                      </a:r>
                    </a:p>
                  </a:txBody>
                  <a:tcPr>
                    <a:solidFill>
                      <a:srgbClr val="F8EAEA"/>
                    </a:solidFill>
                  </a:tcPr>
                </a:tc>
              </a:tr>
              <a:tr h="1188720">
                <a:tc>
                  <a:txBody>
                    <a:bodyPr/>
                    <a:lstStyle/>
                    <a:p>
                      <a:r>
                        <a:rPr sz="1200" b="0">
                          <a:solidFill>
                            <a:srgbClr val="8B0707"/>
                          </a:solidFill>
                          <a:latin typeface="ITC Avant Garde Gothic"/>
                        </a:rPr>
                        <a:t>S3</a:t>
                      </a:r>
                    </a:p>
                  </a:txBody>
                  <a:tcPr>
                    <a:solidFill>
                      <a:srgbClr val="FFFFFF"/>
                    </a:solidFill>
                  </a:tcPr>
                </a:tc>
                <a:tc>
                  <a:txBody>
                    <a:bodyPr/>
                    <a:lstStyle/>
                    <a:p>
                      <a:r>
                        <a:rPr sz="1200" b="0">
                          <a:solidFill>
                            <a:srgbClr val="2B2020"/>
                          </a:solidFill>
                          <a:latin typeface="ITC Avant Garde Gothic"/>
                        </a:rPr>
                        <a:t>Screening time</a:t>
                      </a:r>
                    </a:p>
                  </a:txBody>
                  <a:tcPr>
                    <a:solidFill>
                      <a:srgbClr val="FFFFFF"/>
                    </a:solidFill>
                  </a:tcPr>
                </a:tc>
                <a:tc>
                  <a:txBody>
                    <a:bodyPr/>
                    <a:lstStyle/>
                    <a:p>
                      <a:r>
                        <a:rPr sz="1200" b="0">
                          <a:solidFill>
                            <a:srgbClr val="2B2020"/>
                          </a:solidFill>
                          <a:latin typeface="ITC Avant Garde Gothic"/>
                        </a:rPr>
                        <a:t>Mean ± SD</a:t>
                      </a:r>
                    </a:p>
                  </a:txBody>
                  <a:tcPr>
                    <a:solidFill>
                      <a:srgbClr val="FFFFFF"/>
                    </a:solidFill>
                  </a:tcPr>
                </a:tc>
              </a:tr>
              <a:tr h="1188720">
                <a:tc>
                  <a:txBody>
                    <a:bodyPr/>
                    <a:lstStyle/>
                    <a:p>
                      <a:r>
                        <a:rPr sz="1200" b="0">
                          <a:solidFill>
                            <a:srgbClr val="8B0707"/>
                          </a:solidFill>
                          <a:latin typeface="ITC Avant Garde Gothic"/>
                        </a:rPr>
                        <a:t>S4</a:t>
                      </a:r>
                    </a:p>
                  </a:txBody>
                  <a:tcPr>
                    <a:solidFill>
                      <a:srgbClr val="F8EAEA"/>
                    </a:solidFill>
                  </a:tcPr>
                </a:tc>
                <a:tc>
                  <a:txBody>
                    <a:bodyPr/>
                    <a:lstStyle/>
                    <a:p>
                      <a:r>
                        <a:rPr sz="1200" b="0">
                          <a:solidFill>
                            <a:srgbClr val="2B2020"/>
                          </a:solidFill>
                          <a:latin typeface="ITC Avant Garde Gothic"/>
                        </a:rPr>
                        <a:t>Usability and approachability</a:t>
                      </a:r>
                    </a:p>
                  </a:txBody>
                  <a:tcPr>
                    <a:solidFill>
                      <a:srgbClr val="F8EAEA"/>
                    </a:solidFill>
                  </a:tcPr>
                </a:tc>
                <a:tc>
                  <a:txBody>
                    <a:bodyPr/>
                    <a:lstStyle/>
                    <a:p>
                      <a:r>
                        <a:rPr sz="1200" b="0">
                          <a:solidFill>
                            <a:srgbClr val="2B2020"/>
                          </a:solidFill>
                          <a:latin typeface="ITC Avant Garde Gothic"/>
                        </a:rPr>
                        <a:t>SUS; Wilcoxon signed-rank</a:t>
                      </a:r>
                    </a:p>
                  </a:txBody>
                  <a:tcPr>
                    <a:solidFill>
                      <a:srgbClr val="F8EAEA"/>
                    </a:solidFill>
                  </a:tcPr>
                </a:tc>
              </a:tr>
              <a:tr h="1188720">
                <a:tc>
                  <a:txBody>
                    <a:bodyPr/>
                    <a:lstStyle/>
                    <a:p>
                      <a:r>
                        <a:rPr sz="1200" b="0">
                          <a:solidFill>
                            <a:srgbClr val="8B0707"/>
                          </a:solidFill>
                          <a:latin typeface="ITC Avant Garde Gothic"/>
                        </a:rPr>
                        <a:t>S5</a:t>
                      </a:r>
                    </a:p>
                  </a:txBody>
                  <a:tcPr>
                    <a:solidFill>
                      <a:srgbClr val="FFFFFF"/>
                    </a:solidFill>
                  </a:tcPr>
                </a:tc>
                <a:tc>
                  <a:txBody>
                    <a:bodyPr/>
                    <a:lstStyle/>
                    <a:p>
                      <a:r>
                        <a:rPr sz="1200" b="0">
                          <a:solidFill>
                            <a:srgbClr val="2B2020"/>
                          </a:solidFill>
                          <a:latin typeface="ITC Avant Garde Gothic"/>
                        </a:rPr>
                        <a:t>Cost to build and run</a:t>
                      </a:r>
                    </a:p>
                  </a:txBody>
                  <a:tcPr>
                    <a:solidFill>
                      <a:srgbClr val="FFFFFF"/>
                    </a:solidFill>
                  </a:tcPr>
                </a:tc>
                <a:tc>
                  <a:txBody>
                    <a:bodyPr/>
                    <a:lstStyle/>
                    <a:p>
                      <a:r>
                        <a:rPr sz="1200" b="0">
                          <a:solidFill>
                            <a:srgbClr val="2B2020"/>
                          </a:solidFill>
                          <a:latin typeface="ITC Avant Garde Gothic"/>
                        </a:rPr>
                        <a:t>Itemized cost; PHP per day</a:t>
                      </a:r>
                    </a:p>
                  </a:txBody>
                  <a:tcPr>
                    <a:solidFill>
                      <a:srgbClr val="FFFFFF"/>
                    </a:solidFill>
                  </a:tcPr>
                </a:tc>
              </a:tr>
            </a:tbl>
          </a:graphicData>
        </a:graphic>
      </p:graphicFrame>
      <p:sp>
        <p:nvSpPr>
          <p:cNvPr id="37" name="TextBox 36"/>
          <p:cNvSpPr txBox="1"/>
          <p:nvPr/>
        </p:nvSpPr>
        <p:spPr>
          <a:xfrm>
            <a:off x="9326880" y="8869680"/>
            <a:ext cx="8138160" cy="548640"/>
          </a:xfrm>
          <a:prstGeom prst="rect">
            <a:avLst/>
          </a:prstGeom>
          <a:noFill/>
        </p:spPr>
        <p:txBody>
          <a:bodyPr wrap="square" anchor="t">
            <a:spAutoFit/>
          </a:bodyPr>
          <a:lstStyle/>
          <a:p>
            <a:pPr algn="l">
              <a:spcAft>
                <a:spcPts val="630"/>
              </a:spcAft>
            </a:pPr>
            <a:r>
              <a:rPr sz="1400">
                <a:solidFill>
                  <a:srgbClr val="6A5656"/>
                </a:solidFill>
                <a:latin typeface="ITC Avant Garde Gothic"/>
              </a:rPr>
              <a:t>α = 0.05; software: Microsoft Excel and JASP.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2">
              <a:alphaModFix amt="26000"/>
            </a:blip>
            <a:stretch>
              <a:fillRect l="0" t="0" r="0" b="0"/>
            </a:stretch>
          </a:blipFill>
        </p:spPr>
      </p:sp>
      <p:grpSp>
        <p:nvGrpSpPr>
          <p:cNvPr name="Group 3" id="3"/>
          <p:cNvGrpSpPr/>
          <p:nvPr/>
        </p:nvGrpSpPr>
        <p:grpSpPr>
          <a:xfrm rot="0">
            <a:off x="-514350" y="-959494"/>
            <a:ext cx="19524889" cy="2664593"/>
            <a:chOff x="0" y="0"/>
            <a:chExt cx="5142358" cy="701786"/>
          </a:xfrm>
        </p:grpSpPr>
        <p:sp>
          <p:nvSpPr>
            <p:cNvPr name="Freeform 4" id="4"/>
            <p:cNvSpPr/>
            <p:nvPr/>
          </p:nvSpPr>
          <p:spPr>
            <a:xfrm flipH="false" flipV="false" rot="0">
              <a:off x="0" y="0"/>
              <a:ext cx="5142357" cy="701786"/>
            </a:xfrm>
            <a:custGeom>
              <a:avLst/>
              <a:gdLst/>
              <a:ahLst/>
              <a:cxnLst/>
              <a:rect r="r" b="b" t="t" l="l"/>
              <a:pathLst>
                <a:path h="701786" w="5142357">
                  <a:moveTo>
                    <a:pt x="0" y="0"/>
                  </a:moveTo>
                  <a:lnTo>
                    <a:pt x="5142357" y="0"/>
                  </a:lnTo>
                  <a:lnTo>
                    <a:pt x="5142357" y="701786"/>
                  </a:lnTo>
                  <a:lnTo>
                    <a:pt x="0" y="701786"/>
                  </a:lnTo>
                  <a:close/>
                </a:path>
              </a:pathLst>
            </a:custGeom>
            <a:solidFill>
              <a:srgbClr val="8B0707"/>
            </a:solidFill>
          </p:spPr>
        </p:sp>
        <p:sp>
          <p:nvSpPr>
            <p:cNvPr name="TextBox 5" id="5"/>
            <p:cNvSpPr txBox="true"/>
            <p:nvPr/>
          </p:nvSpPr>
          <p:spPr>
            <a:xfrm>
              <a:off x="0" y="-76200"/>
              <a:ext cx="5142358" cy="77798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3886" y="324392"/>
            <a:ext cx="17376398" cy="1229762"/>
          </a:xfrm>
          <a:prstGeom prst="rect">
            <a:avLst/>
          </a:prstGeom>
        </p:spPr>
        <p:txBody>
          <a:bodyPr anchor="t" rtlCol="false" tIns="0" lIns="0" bIns="0" rIns="0">
            <a:spAutoFit/>
          </a:bodyPr>
          <a:lstStyle/>
          <a:p>
            <a:pPr algn="l">
              <a:lnSpc>
                <a:spcPts val="7720"/>
              </a:lnSpc>
            </a:pPr>
            <a:r>
              <a:rPr lang="en-US" sz="8579">
                <a:solidFill>
                  <a:srgbClr val="FFFFFF"/>
                </a:solidFill>
                <a:latin typeface="ITC Avant Garde Gothic"/>
                <a:ea typeface="ITC Avant Garde Gothic"/>
                <a:cs typeface="ITC Avant Garde Gothic"/>
                <a:sym typeface="ITC Avant Garde Gothic"/>
              </a:rPr>
              <a:t>METHODOLOGY</a:t>
            </a:r>
          </a:p>
        </p:txBody>
      </p:sp>
      <p:sp>
        <p:nvSpPr>
          <p:cNvPr id="21" name="Subtitle"/>
          <p:cNvSpPr txBox="1"/>
          <p:nvPr/>
        </p:nvSpPr>
        <p:spPr>
          <a:xfrm>
            <a:off x="9509760" y="475488"/>
            <a:ext cx="8366760" cy="731520"/>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2600" dirty="0">
                <a:solidFill>
                  <a:srgbClr val="FFFFFF">
                    <a:alpha val="92000"/>
                  </a:srgbClr>
                </a:solidFill>
                <a:latin typeface="ITC Avant Garde Gothic"/>
                <a:ea typeface="ITC Avant Garde Gothic"/>
                <a:cs typeface="ITC Avant Garde Gothic"/>
                <a:sym typeface="ITC Avant Garde Gothic"/>
              </a:rPr>
              <a:t>Ethical Considerations and Safety</a:t>
            </a:r>
            <a:endParaRPr lang="en-US" sz="2600" dirty="0">
              <a:latin typeface="ITC Avant Garde Gothic"/>
            </a:endParaRPr>
          </a:p>
        </p:txBody>
      </p:sp>
      <p:sp>
        <p:nvSpPr>
          <p:cNvPr id="22" name="Slide number"/>
          <p:cNvSpPr txBox="1"/>
          <p:nvPr/>
        </p:nvSpPr>
        <p:spPr>
          <a:xfrm>
            <a:off x="17007840" y="9710928"/>
            <a:ext cx="914400" cy="384048"/>
          </a:xfrm>
          <a:prstGeom prst="rect">
            <a:avLst/>
          </a:prstGeom>
          <a:noFill/>
        </p:spPr>
        <p:txBody>
          <a:bodyPr wrap="square" lIns="0" tIns="0" rIns="0" bIns="0" anchor="ctr" rtlCol="0">
            <a:noAutofit/>
          </a:bodyPr>
          <a:lstStyle/>
          <a:p>
            <a:pPr algn="r">
              <a:lnSpc>
                <a:spcPct val="100000"/>
              </a:lnSpc>
              <a:spcBef>
                <a:spcPts val="0"/>
              </a:spcBef>
              <a:spcAft>
                <a:spcPts val="0"/>
              </a:spcAft>
              <a:buNone/>
            </a:pPr>
            <a:r>
              <a:rPr lang="en-US" sz="1600" dirty="0">
                <a:solidFill>
                  <a:srgbClr val="8B0707">
                    <a:alpha val="75000"/>
                  </a:srgbClr>
                </a:solidFill>
                <a:latin typeface="ITC Avant Garde Gothic"/>
                <a:ea typeface="ITC Avant Garde Gothic"/>
                <a:cs typeface="ITC Avant Garde Gothic"/>
                <a:sym typeface="ITC Avant Garde Gothic"/>
              </a:rPr>
              <a:t>15</a:t>
            </a:r>
            <a:endParaRPr lang="en-US" sz="1600" dirty="0">
              <a:latin typeface="ITC Avant Garde Gothic"/>
            </a:endParaRPr>
          </a:p>
        </p:txBody>
      </p:sp>
      <p:sp>
        <p:nvSpPr>
          <p:cNvPr id="23" name="Rectangle 22"/>
          <p:cNvSpPr/>
          <p:nvPr/>
        </p:nvSpPr>
        <p:spPr>
          <a:xfrm>
            <a:off x="822960" y="2103120"/>
            <a:ext cx="16642080" cy="7406640"/>
          </a:xfrm>
          <a:prstGeom prst="rect">
            <a:avLst/>
          </a:prstGeom>
          <a:solidFill>
            <a:srgbClr val="FFFFFF"/>
          </a:solidFill>
          <a:ln w="12700">
            <a:solidFill>
              <a:srgbClr val="E3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377440"/>
            <a:ext cx="7680960" cy="6949440"/>
          </a:xfrm>
          <a:prstGeom prst="rect">
            <a:avLst/>
          </a:prstGeom>
          <a:noFill/>
        </p:spPr>
        <p:txBody>
          <a:bodyPr wrap="square" anchor="t">
            <a:spAutoFit/>
          </a:bodyPr>
          <a:lstStyle/>
          <a:p>
            <a:pPr algn="l">
              <a:spcAft>
                <a:spcPts val="765"/>
              </a:spcAft>
            </a:pPr>
            <a:r>
              <a:rPr b="1" sz="1700">
                <a:solidFill>
                  <a:srgbClr val="8B0707"/>
                </a:solidFill>
                <a:latin typeface="ITC Avant Garde Gothic"/>
              </a:rPr>
              <a:t>Ethics.</a:t>
            </a:r>
            <a:r>
              <a:rPr sz="1700" b="0">
                <a:solidFill>
                  <a:srgbClr val="2B2020"/>
                </a:solidFill>
                <a:latin typeface="ITC Avant Garde Gothic"/>
              </a:rPr>
              <a:t/>
            </a:r>
          </a:p>
          <a:p>
            <a:pPr algn="l">
              <a:spcAft>
                <a:spcPts val="765"/>
              </a:spcAft>
            </a:pPr>
            <a:r>
              <a:rPr sz="1700" b="0">
                <a:solidFill>
                  <a:srgbClr val="2B2020"/>
                </a:solidFill>
                <a:latin typeface="ITC Avant Garde Gothic"/>
              </a:rPr>
              <a:t>Human participants: plan approved by the school IRB before testing (ISEF Form 4).</a:t>
            </a:r>
          </a:p>
          <a:p>
            <a:pPr algn="l">
              <a:spcAft>
                <a:spcPts val="765"/>
              </a:spcAft>
            </a:pPr>
            <a:r>
              <a:rPr sz="1700" b="0">
                <a:solidFill>
                  <a:srgbClr val="2B2020"/>
                </a:solidFill>
                <a:latin typeface="ITC Avant Garde Gothic"/>
              </a:rPr>
              <a:t>Informed consent; assent and parent consent for minors; may stop anytime.</a:t>
            </a:r>
          </a:p>
          <a:p>
            <a:pPr algn="l">
              <a:spcAft>
                <a:spcPts val="765"/>
              </a:spcAft>
            </a:pPr>
            <a:r>
              <a:rPr sz="1700" b="0">
                <a:solidFill>
                  <a:srgbClr val="2B2020"/>
                </a:solidFill>
                <a:latin typeface="ITC Avant Garde Gothic"/>
              </a:rPr>
              <a:t>Non-invasive only; codes, not names; flagged readings referred to the nurse.</a:t>
            </a:r>
          </a:p>
          <a:p>
            <a:pPr algn="l">
              <a:spcAft>
                <a:spcPts val="765"/>
              </a:spcAft>
            </a:pPr>
            <a:r>
              <a:rPr sz="1700" b="0">
                <a:solidFill>
                  <a:srgbClr val="2B2020"/>
                </a:solidFill>
                <a:latin typeface="ITC Avant Garde Gothic"/>
              </a:rPr>
              <a:t>ALAGA screens and refers; it gives no diagnosis. No data were fabricated.</a:t>
            </a:r>
          </a:p>
        </p:txBody>
      </p:sp>
      <p:cxnSp>
        <p:nvCxnSpPr>
          <p:cNvPr id="25" name="Connector 24"/>
          <p:cNvCxnSpPr/>
          <p:nvPr/>
        </p:nvCxnSpPr>
        <p:spPr>
          <a:xfrm>
            <a:off x="9144000" y="2468880"/>
            <a:ext cx="0" cy="6675120"/>
          </a:xfrm>
          <a:prstGeom prst="line">
            <a:avLst/>
          </a:prstGeom>
          <a:ln>
            <a:solidFill>
              <a:srgbClr val="E3C9C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418320" y="2377440"/>
            <a:ext cx="7680960" cy="6949440"/>
          </a:xfrm>
          <a:prstGeom prst="rect">
            <a:avLst/>
          </a:prstGeom>
          <a:noFill/>
        </p:spPr>
        <p:txBody>
          <a:bodyPr wrap="square" anchor="t">
            <a:spAutoFit/>
          </a:bodyPr>
          <a:lstStyle/>
          <a:p>
            <a:pPr algn="l">
              <a:spcAft>
                <a:spcPts val="765"/>
              </a:spcAft>
            </a:pPr>
            <a:r>
              <a:rPr b="1" sz="1700">
                <a:solidFill>
                  <a:srgbClr val="8B0707"/>
                </a:solidFill>
                <a:latin typeface="ITC Avant Garde Gothic"/>
              </a:rPr>
              <a:t>Risk and safety.</a:t>
            </a:r>
            <a:r>
              <a:rPr sz="1700" b="0">
                <a:solidFill>
                  <a:srgbClr val="2B2020"/>
                </a:solidFill>
                <a:latin typeface="ITC Avant Garde Gothic"/>
              </a:rPr>
              <a:t/>
            </a:r>
          </a:p>
          <a:p>
            <a:pPr algn="l">
              <a:spcAft>
                <a:spcPts val="765"/>
              </a:spcAft>
            </a:pPr>
            <a:r>
              <a:rPr sz="1700" b="0">
                <a:solidFill>
                  <a:srgbClr val="2B2020"/>
                </a:solidFill>
                <a:latin typeface="ITC Avant Garde Gothic"/>
              </a:rPr>
              <a:t>Blower fan: metal finger guard; fan sealed inside the base.</a:t>
            </a:r>
          </a:p>
          <a:p>
            <a:pPr algn="l">
              <a:spcAft>
                <a:spcPts val="765"/>
              </a:spcAft>
            </a:pPr>
            <a:r>
              <a:rPr sz="1700" b="0">
                <a:solidFill>
                  <a:srgbClr val="2B2020"/>
                </a:solidFill>
                <a:latin typeface="ITC Avant Garde Gothic"/>
              </a:rPr>
              <a:t>12 V battery: inline fuse; wiring in a closed box; supervised charging.</a:t>
            </a:r>
          </a:p>
          <a:p>
            <a:pPr algn="l">
              <a:spcAft>
                <a:spcPts val="765"/>
              </a:spcAft>
            </a:pPr>
            <a:r>
              <a:rPr sz="1700" b="0">
                <a:solidFill>
                  <a:srgbClr val="2B2020"/>
                </a:solidFill>
                <a:latin typeface="ITC Avant Garde Gothic"/>
              </a:rPr>
              <a:t>Shared sensors: wiped with 70% alcohol between volunteers.</a:t>
            </a:r>
          </a:p>
          <a:p>
            <a:pPr algn="l">
              <a:spcAft>
                <a:spcPts val="765"/>
              </a:spcAft>
            </a:pPr>
            <a:r>
              <a:rPr sz="1700" b="0">
                <a:solidFill>
                  <a:srgbClr val="2B2020"/>
                </a:solidFill>
                <a:latin typeface="ITC Avant Garde Gothic"/>
              </a:rPr>
              <a:t>Wrong reading: reference taken for every volunteer; nurse referral.</a:t>
            </a:r>
          </a:p>
          <a:p>
            <a:pPr algn="l">
              <a:spcAft>
                <a:spcPts val="765"/>
              </a:spcAft>
            </a:pPr>
            <a:r>
              <a:rPr sz="1700" b="0">
                <a:solidFill>
                  <a:srgbClr val="2B2020"/>
                </a:solidFill>
                <a:latin typeface="ITC Avant Garde Gothic"/>
              </a:rPr>
              <a:t>Personal data: password-protected and deleted after the fair.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8B0707"/>
        </a:solidFill>
      </p:bgPr>
    </p:bg>
    <p:spTree>
      <p:nvGrpSpPr>
        <p:cNvPr id="1" name=""/>
        <p:cNvGrpSpPr/>
        <p:nvPr/>
      </p:nvGrpSpPr>
      <p:grpSpPr>
        <a:xfrm>
          <a:off x="0" y="0"/>
          <a:ext cx="0" cy="0"/>
          <a:chOff x="0" y="0"/>
          <a:chExt cx="0" cy="0"/>
        </a:xfrm>
      </p:grpSpPr>
      <p:sp>
        <p:nvSpPr>
          <p:cNvPr name="Freeform 2" id="2"/>
          <p:cNvSpPr/>
          <p:nvPr/>
        </p:nvSpPr>
        <p:spPr>
          <a:xfrm flipH="false" flipV="true" rot="0">
            <a:off x="-308939" y="-440152"/>
            <a:ext cx="3942365" cy="3942365"/>
          </a:xfrm>
          <a:custGeom>
            <a:avLst/>
            <a:gdLst/>
            <a:ahLst/>
            <a:cxnLst/>
            <a:rect r="r" b="b" t="t" l="l"/>
            <a:pathLst>
              <a:path h="3942365" w="3942365">
                <a:moveTo>
                  <a:pt x="0" y="3942365"/>
                </a:moveTo>
                <a:lnTo>
                  <a:pt x="3942365" y="3942365"/>
                </a:lnTo>
                <a:lnTo>
                  <a:pt x="3942365" y="0"/>
                </a:lnTo>
                <a:lnTo>
                  <a:pt x="0" y="0"/>
                </a:lnTo>
                <a:lnTo>
                  <a:pt x="0" y="394236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71600" y="3089694"/>
            <a:ext cx="15544800" cy="4250486"/>
          </a:xfrm>
          <a:prstGeom prst="rect">
            <a:avLst/>
          </a:prstGeom>
        </p:spPr>
        <p:txBody>
          <a:bodyPr anchor="t" rtlCol="false" tIns="0" lIns="0" bIns="0" rIns="0">
            <a:spAutoFit/>
          </a:bodyPr>
          <a:lstStyle/>
          <a:p>
            <a:pPr algn="ctr">
              <a:lnSpc>
                <a:spcPts val="14833"/>
              </a:lnSpc>
            </a:pPr>
            <a:r>
              <a:rPr lang="en-US" sz="16481">
                <a:solidFill>
                  <a:srgbClr val="FFFFFF"/>
                </a:solidFill>
                <a:latin typeface="ITC Avant Garde Gothic"/>
                <a:ea typeface="ITC Avant Garde Gothic"/>
                <a:cs typeface="ITC Avant Garde Gothic"/>
                <a:sym typeface="ITC Avant Garde Gothic"/>
              </a:rPr>
              <a:t>QUESTIONS</a:t>
            </a:r>
          </a:p>
          <a:p>
            <a:pPr algn="ctr">
              <a:lnSpc>
                <a:spcPts val="14833"/>
              </a:lnSpc>
            </a:pPr>
            <a:r>
              <a:rPr lang="en-US" sz="16481">
                <a:solidFill>
                  <a:srgbClr val="FFFFFF"/>
                </a:solidFill>
                <a:latin typeface="ITC Avant Garde Gothic"/>
                <a:ea typeface="ITC Avant Garde Gothic"/>
                <a:cs typeface="ITC Avant Garde Gothic"/>
                <a:sym typeface="ITC Avant Garde Gothic"/>
              </a:rPr>
              <a:t>&amp; ANSWERS</a:t>
            </a:r>
          </a:p>
        </p:txBody>
      </p:sp>
      <p:sp>
        <p:nvSpPr>
          <p:cNvPr name="Freeform 4" id="4"/>
          <p:cNvSpPr/>
          <p:nvPr/>
        </p:nvSpPr>
        <p:spPr>
          <a:xfrm flipH="true" flipV="false" rot="0">
            <a:off x="15910979" y="7909979"/>
            <a:ext cx="2696641" cy="2696641"/>
          </a:xfrm>
          <a:custGeom>
            <a:avLst/>
            <a:gdLst/>
            <a:ahLst/>
            <a:cxnLst/>
            <a:rect r="r" b="b" t="t" l="l"/>
            <a:pathLst>
              <a:path h="2696641" w="2696641">
                <a:moveTo>
                  <a:pt x="2696642" y="0"/>
                </a:moveTo>
                <a:lnTo>
                  <a:pt x="0" y="0"/>
                </a:lnTo>
                <a:lnTo>
                  <a:pt x="0" y="2696642"/>
                </a:lnTo>
                <a:lnTo>
                  <a:pt x="2696642" y="2696642"/>
                </a:lnTo>
                <a:lnTo>
                  <a:pt x="26966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4">
              <a:alphaModFix amt="26000"/>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8B0707"/>
        </a:solidFill>
      </p:bgPr>
    </p:bg>
    <p:spTree>
      <p:nvGrpSpPr>
        <p:cNvPr id="1" name=""/>
        <p:cNvGrpSpPr/>
        <p:nvPr/>
      </p:nvGrpSpPr>
      <p:grpSpPr>
        <a:xfrm>
          <a:off x="0" y="0"/>
          <a:ext cx="0" cy="0"/>
          <a:chOff x="0" y="0"/>
          <a:chExt cx="0" cy="0"/>
        </a:xfrm>
      </p:grpSpPr>
      <p:sp>
        <p:nvSpPr>
          <p:cNvPr name="Freeform 2" id="2"/>
          <p:cNvSpPr/>
          <p:nvPr/>
        </p:nvSpPr>
        <p:spPr>
          <a:xfrm flipH="false" flipV="true" rot="0">
            <a:off x="-308939" y="-440152"/>
            <a:ext cx="3942365" cy="3942365"/>
          </a:xfrm>
          <a:custGeom>
            <a:avLst/>
            <a:gdLst/>
            <a:ahLst/>
            <a:cxnLst/>
            <a:rect r="r" b="b" t="t" l="l"/>
            <a:pathLst>
              <a:path h="3942365" w="3942365">
                <a:moveTo>
                  <a:pt x="0" y="3942365"/>
                </a:moveTo>
                <a:lnTo>
                  <a:pt x="3942365" y="3942365"/>
                </a:lnTo>
                <a:lnTo>
                  <a:pt x="3942365" y="0"/>
                </a:lnTo>
                <a:lnTo>
                  <a:pt x="0" y="0"/>
                </a:lnTo>
                <a:lnTo>
                  <a:pt x="0" y="394236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691817" y="4031050"/>
            <a:ext cx="12904366" cy="2367775"/>
          </a:xfrm>
          <a:prstGeom prst="rect">
            <a:avLst/>
          </a:prstGeom>
        </p:spPr>
        <p:txBody>
          <a:bodyPr anchor="t" rtlCol="false" tIns="0" lIns="0" bIns="0" rIns="0">
            <a:spAutoFit/>
          </a:bodyPr>
          <a:lstStyle/>
          <a:p>
            <a:pPr algn="ctr">
              <a:lnSpc>
                <a:spcPts val="14833"/>
              </a:lnSpc>
            </a:pPr>
            <a:r>
              <a:rPr lang="en-US" sz="16481">
                <a:solidFill>
                  <a:srgbClr val="FFFFFF"/>
                </a:solidFill>
                <a:latin typeface="ITC Avant Garde Gothic"/>
                <a:ea typeface="ITC Avant Garde Gothic"/>
                <a:cs typeface="ITC Avant Garde Gothic"/>
                <a:sym typeface="ITC Avant Garde Gothic"/>
              </a:rPr>
              <a:t>THANK YOU</a:t>
            </a:r>
          </a:p>
        </p:txBody>
      </p:sp>
      <p:sp>
        <p:nvSpPr>
          <p:cNvPr name="Freeform 4" id="4"/>
          <p:cNvSpPr/>
          <p:nvPr/>
        </p:nvSpPr>
        <p:spPr>
          <a:xfrm flipH="true" flipV="false" rot="0">
            <a:off x="15910979" y="7909979"/>
            <a:ext cx="2696641" cy="2696641"/>
          </a:xfrm>
          <a:custGeom>
            <a:avLst/>
            <a:gdLst/>
            <a:ahLst/>
            <a:cxnLst/>
            <a:rect r="r" b="b" t="t" l="l"/>
            <a:pathLst>
              <a:path h="2696641" w="2696641">
                <a:moveTo>
                  <a:pt x="2696642" y="0"/>
                </a:moveTo>
                <a:lnTo>
                  <a:pt x="0" y="0"/>
                </a:lnTo>
                <a:lnTo>
                  <a:pt x="0" y="2696642"/>
                </a:lnTo>
                <a:lnTo>
                  <a:pt x="2696642" y="2696642"/>
                </a:lnTo>
                <a:lnTo>
                  <a:pt x="26966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486400" y="7677223"/>
            <a:ext cx="7315200" cy="465513"/>
          </a:xfrm>
          <a:custGeom>
            <a:avLst/>
            <a:gdLst/>
            <a:ahLst/>
            <a:cxnLst/>
            <a:rect r="r" b="b" t="t" l="l"/>
            <a:pathLst>
              <a:path h="465513" w="7315200">
                <a:moveTo>
                  <a:pt x="0" y="0"/>
                </a:moveTo>
                <a:lnTo>
                  <a:pt x="7315200" y="0"/>
                </a:lnTo>
                <a:lnTo>
                  <a:pt x="7315200" y="465513"/>
                </a:lnTo>
                <a:lnTo>
                  <a:pt x="0" y="4655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534466" y="-2049686"/>
            <a:ext cx="3219068" cy="3219068"/>
          </a:xfrm>
          <a:custGeom>
            <a:avLst/>
            <a:gdLst/>
            <a:ahLst/>
            <a:cxnLst/>
            <a:rect r="r" b="b" t="t" l="l"/>
            <a:pathLst>
              <a:path h="3219068" w="3219068">
                <a:moveTo>
                  <a:pt x="0" y="0"/>
                </a:moveTo>
                <a:lnTo>
                  <a:pt x="3219068" y="0"/>
                </a:lnTo>
                <a:lnTo>
                  <a:pt x="3219068" y="3219068"/>
                </a:lnTo>
                <a:lnTo>
                  <a:pt x="0" y="3219068"/>
                </a:lnTo>
                <a:lnTo>
                  <a:pt x="0" y="0"/>
                </a:lnTo>
                <a:close/>
              </a:path>
            </a:pathLst>
          </a:custGeom>
          <a:blipFill>
            <a:blip r:embed="rId6">
              <a:alphaModFix amt="24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37818" y="7909979"/>
            <a:ext cx="3219068" cy="3219068"/>
          </a:xfrm>
          <a:custGeom>
            <a:avLst/>
            <a:gdLst/>
            <a:ahLst/>
            <a:cxnLst/>
            <a:rect r="r" b="b" t="t" l="l"/>
            <a:pathLst>
              <a:path h="3219068" w="3219068">
                <a:moveTo>
                  <a:pt x="0" y="0"/>
                </a:moveTo>
                <a:lnTo>
                  <a:pt x="3219068" y="0"/>
                </a:lnTo>
                <a:lnTo>
                  <a:pt x="3219068" y="3219069"/>
                </a:lnTo>
                <a:lnTo>
                  <a:pt x="0" y="3219069"/>
                </a:lnTo>
                <a:lnTo>
                  <a:pt x="0" y="0"/>
                </a:lnTo>
                <a:close/>
              </a:path>
            </a:pathLst>
          </a:custGeom>
          <a:blipFill>
            <a:blip r:embed="rId6">
              <a:alphaModFix amt="24000"/>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4983" y="0"/>
            <a:ext cx="18497965" cy="10416667"/>
          </a:xfrm>
          <a:custGeom>
            <a:avLst/>
            <a:gdLst/>
            <a:ahLst/>
            <a:cxnLst/>
            <a:rect r="r" b="b" t="t" l="l"/>
            <a:pathLst>
              <a:path h="10416667" w="18497965">
                <a:moveTo>
                  <a:pt x="0" y="0"/>
                </a:moveTo>
                <a:lnTo>
                  <a:pt x="18497966" y="0"/>
                </a:lnTo>
                <a:lnTo>
                  <a:pt x="18497966" y="10416667"/>
                </a:lnTo>
                <a:lnTo>
                  <a:pt x="0" y="10416667"/>
                </a:lnTo>
                <a:lnTo>
                  <a:pt x="0" y="0"/>
                </a:lnTo>
                <a:close/>
              </a:path>
            </a:pathLst>
          </a:custGeom>
          <a:blipFill>
            <a:blip r:embed="rId8">
              <a:alphaModFix amt="26000"/>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DAHXUrdeoSg</dc:identifier>
  <dcterms:modified xsi:type="dcterms:W3CDTF">2011-08-01T06:04:30Z</dcterms:modified>
  <cp:revision>1</cp:revision>
  <dc:title>ALAGA: A Low-Cost Soft Inflatable Healthcare Companion Robot with Non-Contact Temperature, Pulse Oximetry, and Pain-Scale Triage for Evacuation Centers</dc:title>
  <dc:creator>Brimbuela, P. J. A.; De Asis, D. J. Ll.; Shin, Y.</dc:creator>
  <dc:subject>Robotics and Intelligent Machines – Team (RIM-T)</dc:subject>
  <cp:keywords>Albay; informal public transport; accessibility; GTFS; hospital bed capacity</cp:keywords>
  <cp:lastModifiedBy>Brimbuela, De Asis, Shin</cp:lastModifiedBy>
</cp:coreProperties>
</file>