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6" r:id="rId17"/>
    <p:sldId id="267" r:id="rId18"/>
    <p:sldId id="258" r:id="rId4"/>
    <p:sldId id="268" r:id="rId19"/>
    <p:sldId id="259" r:id="rId5"/>
    <p:sldId id="269" r:id="rId20"/>
    <p:sldId id="260" r:id="rId6"/>
    <p:sldId id="261" r:id="rId7"/>
    <p:sldId id="270" r:id="rId21"/>
    <p:sldId id="262" r:id="rId8"/>
    <p:sldId id="263" r:id="rId9"/>
    <p:sldId id="271" r:id="rId22"/>
    <p:sldId id="272" r:id="rId23"/>
    <p:sldId id="273" r:id="rId24"/>
    <p:sldId id="274" r:id="rId25"/>
    <p:sldId id="275" r:id="rId26"/>
    <p:sldId id="276" r:id="rId27"/>
    <p:sldId id="277" r:id="rId28"/>
    <p:sldId id="278" r:id="rId29"/>
    <p:sldId id="279" r:id="rId30"/>
    <p:sldId id="280" r:id="rId31"/>
    <p:sldId id="264" r:id="rId10"/>
    <p:sldId id="265" r:id="rId11"/>
  </p:sldIdLst>
  <p:sldSz cx="18288000" cy="10287000"/>
  <p:notesSz cx="6858000" cy="9144000"/>
  <p:embeddedFontLst>
    <p:embeddedFont>
      <p:font typeface="ITC Avant Garde Gothic"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3" d="100"/>
          <a:sy n="63" d="100"/>
        </p:scale>
        <p:origin x="1194"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5.xml"/><Relationship Id="rId5" Type="http://schemas.openxmlformats.org/officeDocument/2006/relationships/slide" Target="slides/slide7.xml"/><Relationship Id="rId6" Type="http://schemas.openxmlformats.org/officeDocument/2006/relationships/slide" Target="slides/slide9.xml"/><Relationship Id="rId7" Type="http://schemas.openxmlformats.org/officeDocument/2006/relationships/slide" Target="slides/slide10.xml"/><Relationship Id="rId8" Type="http://schemas.openxmlformats.org/officeDocument/2006/relationships/slide" Target="slides/slide12.xml"/><Relationship Id="rId9" Type="http://schemas.openxmlformats.org/officeDocument/2006/relationships/slide" Target="slides/slide13.xml"/><Relationship Id="rId10" Type="http://schemas.openxmlformats.org/officeDocument/2006/relationships/slide" Target="slides/slide24.xml"/><Relationship Id="rId11" Type="http://schemas.openxmlformats.org/officeDocument/2006/relationships/slide" Target="slides/slide25.xml"/><Relationship Id="rId12" Type="http://schemas.openxmlformats.org/officeDocument/2006/relationships/font" Target="fonts/font1.fntdata"/><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6.xml"/><Relationship Id="rId20" Type="http://schemas.openxmlformats.org/officeDocument/2006/relationships/slide" Target="slides/slide8.xml"/><Relationship Id="rId21" Type="http://schemas.openxmlformats.org/officeDocument/2006/relationships/slide" Target="slides/slide11.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Non-school space</c:v>
                </c:pt>
              </c:strCache>
            </c:strRef>
          </c:tx>
          <c:spPr>
            <a:solidFill>
              <a:srgbClr val="2E7D5B"/>
            </a:solidFill>
          </c:spPr>
          <c:cat>
            <c:strRef>
              <c:f>Sheet1!$A$2:$A$3</c:f>
              <c:strCache>
                <c:ptCount val="2"/>
                <c:pt idx="0">
                  <c:v>School-preserving plan</c:v>
                </c:pt>
                <c:pt idx="1">
                  <c:v>Time-only plan</c:v>
                </c:pt>
              </c:strCache>
            </c:strRef>
          </c:cat>
          <c:val>
            <c:numRef>
              <c:f>Sheet1!$B$2:$B$3</c:f>
              <c:numCache>
                <c:formatCode>General</c:formatCode>
                <c:ptCount val="2"/>
                <c:pt idx="0">
                  <c:v>900</c:v>
                </c:pt>
                <c:pt idx="1">
                  <c:v>600</c:v>
                </c:pt>
              </c:numCache>
            </c:numRef>
          </c:val>
        </c:ser>
        <c:ser>
          <c:idx val="1"/>
          <c:order val="1"/>
          <c:tx>
            <c:strRef>
              <c:f>Sheet1!$C$1</c:f>
              <c:strCache>
                <c:ptCount val="1"/>
                <c:pt idx="0">
                  <c:v>School open space</c:v>
                </c:pt>
              </c:strCache>
            </c:strRef>
          </c:tx>
          <c:spPr>
            <a:solidFill>
              <a:srgbClr val="C98A12"/>
            </a:solidFill>
          </c:spPr>
          <c:cat>
            <c:strRef>
              <c:f>Sheet1!$A$2:$A$3</c:f>
              <c:strCache>
                <c:ptCount val="2"/>
                <c:pt idx="0">
                  <c:v>School-preserving plan</c:v>
                </c:pt>
                <c:pt idx="1">
                  <c:v>Time-only plan</c:v>
                </c:pt>
              </c:strCache>
            </c:strRef>
          </c:cat>
          <c:val>
            <c:numRef>
              <c:f>Sheet1!$C$2:$C$3</c:f>
              <c:numCache>
                <c:formatCode>General</c:formatCode>
                <c:ptCount val="2"/>
                <c:pt idx="0">
                  <c:v>420</c:v>
                </c:pt>
                <c:pt idx="1">
                  <c:v>240</c:v>
                </c:pt>
              </c:numCache>
            </c:numRef>
          </c:val>
        </c:ser>
        <c:ser>
          <c:idx val="2"/>
          <c:order val="2"/>
          <c:tx>
            <c:strRef>
              <c:f>Sheet1!$D$1</c:f>
              <c:strCache>
                <c:ptCount val="1"/>
                <c:pt idx="0">
                  <c:v>Classrooms</c:v>
                </c:pt>
              </c:strCache>
            </c:strRef>
          </c:tx>
          <c:spPr>
            <a:solidFill>
              <a:srgbClr val="8B0707"/>
            </a:solidFill>
          </c:spPr>
          <c:cat>
            <c:strRef>
              <c:f>Sheet1!$A$2:$A$3</c:f>
              <c:strCache>
                <c:ptCount val="2"/>
                <c:pt idx="0">
                  <c:v>School-preserving plan</c:v>
                </c:pt>
                <c:pt idx="1">
                  <c:v>Time-only plan</c:v>
                </c:pt>
              </c:strCache>
            </c:strRef>
          </c:cat>
          <c:val>
            <c:numRef>
              <c:f>Sheet1!$D$2:$D$3</c:f>
              <c:numCache>
                <c:formatCode>General</c:formatCode>
                <c:ptCount val="2"/>
                <c:pt idx="0">
                  <c:v>240</c:v>
                </c:pt>
                <c:pt idx="1">
                  <c:v>720</c:v>
                </c:pt>
              </c:numCache>
            </c:numRef>
          </c:val>
        </c:ser>
        <c:dLbls>
          <c:numFmt formatCode="#,##0" sourceLinked="0"/>
          <c:txPr>
            <a:bodyPr/>
            <a:lstStyle/>
            <a:p>
              <a:pPr>
                <a:defRPr sz="1800" b="1">
                  <a:solidFill>
                    <a:srgbClr val="FFFFFF"/>
                  </a:solidFill>
                </a:defRPr>
              </a:pPr>
            </a:p>
          </c:txPr>
          <c:dLblPos val="ctr"/>
          <c:showLegendKey val="0"/>
          <c:showVal val="1"/>
          <c:showCatName val="0"/>
          <c:showSerName val="0"/>
          <c:showPercent val="0"/>
          <c:showBubbleSize val="0"/>
          <c:showLeaderLines val="1"/>
        </c:dLbls>
        <c:gapWidth val="55"/>
        <c:overlap val="100"/>
        <c:axId val="-2068027336"/>
        <c:axId val="-2113994440"/>
      </c:barChart>
      <c:catAx>
        <c:axId val="-2068027336"/>
        <c:scaling>
          <c:orientation val="minMax"/>
        </c:scaling>
        <c:delete val="0"/>
        <c:axPos val="l"/>
        <c:majorTickMark val="out"/>
        <c:minorTickMark val="none"/>
        <c:tickLblPos val="nextTo"/>
        <c:spPr>
          <a:ln>
            <a:solidFill>
              <a:srgbClr val="BBBBBB"/>
            </a:solidFill>
          </a:ln>
        </c:spPr>
        <c:txPr>
          <a:bodyPr/>
          <a:lstStyle/>
          <a:p>
            <a:pPr>
              <a:defRPr sz="1600"/>
            </a:pPr>
          </a:p>
        </c:txPr>
        <c:crossAx val="-2113994440"/>
        <c:crosses val="autoZero"/>
        <c:auto val="1"/>
        <c:lblAlgn val="ctr"/>
        <c:lblOffset val="100"/>
        <c:noMultiLvlLbl val="0"/>
      </c:catAx>
      <c:valAx>
        <c:axId val="-2113994440"/>
        <c:scaling>
          <c:max val="1600.0"/>
          <c:min val="0.0"/>
        </c:scaling>
        <c:delete val="0"/>
        <c:axPos val="b"/>
        <c:majorGridlines>
          <c:spPr>
            <a:ln>
              <a:solidFill>
                <a:srgbClr val="E3E3E3"/>
              </a:solidFill>
            </a:ln>
          </c:spPr>
        </c:majorGridlines>
        <c:numFmt formatCode="#,##0" sourceLinked="0"/>
        <c:majorTickMark val="out"/>
        <c:minorTickMark val="none"/>
        <c:tickLblPos val="nextTo"/>
        <c:spPr>
          <a:ln>
            <a:noFill/>
          </a:ln>
        </c:spPr>
        <c:txPr>
          <a:bodyPr/>
          <a:lstStyle/>
          <a:p>
            <a:pPr>
              <a:defRPr sz="1400">
                <a:solidFill>
                  <a:srgbClr val="5E5E5E"/>
                </a:solidFill>
              </a:defRPr>
            </a:pPr>
          </a:p>
        </c:txPr>
        <c:crossAx val="-2068027336"/>
        <c:crosses val="autoZero"/>
        <c:majorUnit val="400.0"/>
      </c:valAx>
    </c:plotArea>
    <c:legend>
      <c:legendPos val="b"/>
      <c:overlay val="0"/>
      <c:txPr>
        <a:bodyPr/>
        <a:lstStyle/>
        <a:p>
          <a:pPr>
            <a:defRPr sz="1600"/>
          </a:pPr>
        </a:p>
      </c:txPr>
    </c:legend>
    <c:dispBlanksAs val="gap"/>
  </c:chart>
  <c:txPr>
    <a:bodyPr/>
    <a:lstStyle/>
    <a:p>
      <a:pPr>
        <a:defRPr sz="1600">
          <a:solidFill>
            <a:srgbClr val="262626"/>
          </a:solidFill>
          <a:latin typeface="ITC Avant Garde Gothic"/>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Gain</c:v>
                </c:pt>
              </c:strCache>
            </c:strRef>
          </c:tx>
          <c:spPr>
            <a:solidFill>
              <a:srgbClr val="C98C8C"/>
            </a:solidFill>
          </c:spPr>
          <c:dPt>
            <c:idx val="4"/>
            <c:spPr>
              <a:solidFill>
                <a:srgbClr val="8B0707"/>
              </a:solidFill>
            </c:spPr>
          </c:dPt>
          <c:cat>
            <c:strRef>
              <c:f>Sheet1!$A$2:$A$6</c:f>
              <c:strCache>
                <c:ptCount val="5"/>
                <c:pt idx="0">
                  <c:v>Southeast city</c:v>
                </c:pt>
                <c:pt idx="1">
                  <c:v>East town</c:v>
                </c:pt>
                <c:pt idx="2">
                  <c:v>Southwest town</c:v>
                </c:pt>
                <c:pt idx="3">
                  <c:v>Northeast town</c:v>
                </c:pt>
                <c:pt idx="4">
                  <c:v>South town</c:v>
                </c:pt>
              </c:strCache>
            </c:strRef>
          </c:cat>
          <c:val>
            <c:numRef>
              <c:f>Sheet1!$B$2:$B$6</c:f>
              <c:numCache>
                <c:formatCode>General</c:formatCode>
                <c:ptCount val="5"/>
                <c:pt idx="0">
                  <c:v>0</c:v>
                </c:pt>
                <c:pt idx="1">
                  <c:v>30</c:v>
                </c:pt>
                <c:pt idx="2">
                  <c:v>150</c:v>
                </c:pt>
                <c:pt idx="3">
                  <c:v>350</c:v>
                </c:pt>
                <c:pt idx="4">
                  <c:v>400</c:v>
                </c:pt>
              </c:numCache>
            </c:numRef>
          </c:val>
        </c:ser>
        <c:dLbls>
          <c:numFmt formatCode="#,##0" sourceLinked="0"/>
          <c:txPr>
            <a:bodyPr/>
            <a:lstStyle/>
            <a:p>
              <a:pPr>
                <a:defRPr sz="1600" b="1">
                  <a:solidFill>
                    <a:srgbClr val="262626"/>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BBBBBB"/>
            </a:solidFill>
          </a:ln>
        </c:spPr>
        <c:txPr>
          <a:bodyPr/>
          <a:lstStyle/>
          <a:p>
            <a:pPr>
              <a:defRPr sz="1500"/>
            </a:pPr>
          </a:p>
        </c:txPr>
        <c:crossAx val="-2113994440"/>
        <c:crosses val="autoZero"/>
        <c:auto val="1"/>
        <c:lblAlgn val="ctr"/>
        <c:lblOffset val="100"/>
        <c:noMultiLvlLbl val="0"/>
      </c:catAx>
      <c:valAx>
        <c:axId val="-2113994440"/>
        <c:scaling>
          <c:max val="480.0"/>
          <c:min val="0.0"/>
        </c:scaling>
        <c:delete/>
        <c:axPos val="b"/>
        <c:majorTickMark val="out"/>
        <c:minorTickMark val="none"/>
        <c:tickLblPos val="nextTo"/>
        <c:crossAx val="-2068027336"/>
        <c:crosses val="autoZero"/>
      </c:valAx>
    </c:plotArea>
    <c:dispBlanksAs val="gap"/>
  </c:chart>
  <c:txPr>
    <a:bodyPr/>
    <a:lstStyle/>
    <a:p>
      <a:pPr>
        <a:defRPr sz="1500">
          <a:solidFill>
            <a:srgbClr val="262626"/>
          </a:solidFill>
          <a:latin typeface="ITC Avant Garde Gothic"/>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Persons in classrooms</c:v>
                </c:pt>
              </c:strCache>
            </c:strRef>
          </c:tx>
          <c:spPr>
            <a:solidFill>
              <a:srgbClr val="8B0707"/>
            </a:solidFill>
          </c:spPr>
          <c:cat>
            <c:strRef>
              <c:f>Sheet1!$A$2:$A$5</c:f>
              <c:strCache>
                <c:ptCount val="4"/>
                <c:pt idx="0">
                  <c:v>k = 0</c:v>
                </c:pt>
                <c:pt idx="1">
                  <c:v>k = 1</c:v>
                </c:pt>
                <c:pt idx="2">
                  <c:v>k = 2</c:v>
                </c:pt>
                <c:pt idx="3">
                  <c:v>k = 3</c:v>
                </c:pt>
              </c:strCache>
            </c:strRef>
          </c:cat>
          <c:val>
            <c:numRef>
              <c:f>Sheet1!$B$2:$B$5</c:f>
              <c:numCache>
                <c:formatCode>General</c:formatCode>
                <c:ptCount val="4"/>
                <c:pt idx="0">
                  <c:v>920</c:v>
                </c:pt>
                <c:pt idx="1">
                  <c:v>920</c:v>
                </c:pt>
                <c:pt idx="2">
                  <c:v>570</c:v>
                </c:pt>
                <c:pt idx="3">
                  <c:v>360</c:v>
                </c:pt>
              </c:numCache>
            </c:numRef>
          </c:val>
        </c:ser>
        <c:dLbls>
          <c:numFmt formatCode="#,##0" sourceLinked="0"/>
          <c:txPr>
            <a:bodyPr/>
            <a:lstStyle/>
            <a:p>
              <a:pPr>
                <a:defRPr sz="16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500"/>
            </a:pPr>
          </a:p>
        </c:txPr>
        <c:crossAx val="-2113994440"/>
        <c:crosses val="autoZero"/>
        <c:auto val="1"/>
        <c:lblAlgn val="ctr"/>
        <c:lblOffset val="100"/>
        <c:noMultiLvlLbl val="0"/>
      </c:catAx>
      <c:valAx>
        <c:axId val="-2113994440"/>
        <c:scaling>
          <c:max val="1100.0"/>
          <c:min val="0.0"/>
        </c:scaling>
        <c:delete/>
        <c:axPos val="l"/>
        <c:majorTickMark val="out"/>
        <c:minorTickMark val="none"/>
        <c:tickLblPos val="nextTo"/>
        <c:crossAx val="-2068027336"/>
        <c:crosses val="autoZero"/>
      </c:valAx>
    </c:plotArea>
    <c:dispBlanksAs val="gap"/>
  </c:chart>
  <c:txPr>
    <a:bodyPr/>
    <a:lstStyle/>
    <a:p>
      <a:pPr>
        <a:defRPr sz="1500">
          <a:solidFill>
            <a:srgbClr val="262626"/>
          </a:solidFill>
          <a:latin typeface="ITC Avant Garde Gothic"/>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honorable judges. We are the LIGTA-S team from Legazpi City Science High School. I am Dave Justin De Asis, the lead researcher, with Peter John Brimbuela and Yeaseong Shin, under our research adviser, Dick Anthony M. Calleja. LIGTA-S is said like the Filipino word ligtas, which means safe.</a:t>
            </a:r>
          </a:p>
          <a:p/>
          <a:p>
            <a:r>
              <a:t>Our study is titled Safe Shelter, Open Schools: A Verified Network-Flow Model for Planning Evacuations in Albay by Hazard Zone, Shelter Capacity, and Vulnerability While Keeping Classrooms Open.</a:t>
            </a:r>
          </a:p>
          <a:p/>
          <a:p>
            <a:r>
              <a:t>In one sentence: we built a planning model that gives every evacuee a shelter with room, protects vulnerable residents first, and uses classrooms only when nothing else is left, and we proved and then tested that it behaves the way the law intends.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year showed the problem clearly. On January 6, 2026, PHIVOLCS raised Mayon Volcano to Alert Level 3, and Albay ordered the preemptive evacuation of the six-kilometer Permanent Danger Zone. In January, 608 learners were displaced from the danger zone and 3,424 more were affected because four schools became evacuation centers; some schools moved to modular and blended learning. By May, 34 classrooms in three Camalig schools were sheltering 488 families, about 1,315 people, and ashfall reached up to 132 schools.</a:t>
            </a:r>
          </a:p>
          <a:p/>
          <a:p>
            <a:r>
              <a:t>This is not new. In the June 2023 unrest, more than 19,000 people from 26 barangays stayed in 26 evacuation centers. In 2006, Typhoon Reming brought Mayon lahars that left about 1,200 dead and missing in Albay. Albay has 18 cities and municipalities, 720 barangays, and about 1.37 million residents.</a:t>
            </a:r>
          </a:p>
          <a:p/>
          <a:p>
            <a:r>
              <a:t>Evacuation saves lives. Our question is how to evacuate while losing as few class days as possible.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law already sets the order. Republic Act 10821, the Children's Emergency Relief and Protection Act, allows schools to be used as evacuation centers only when no other suitable space exists. DepEd guidance asks that gyms and open spaces be used before classrooms, which are the last resort, and limits school use to fifteen days for medium- and long-term displacement unless the local government documents the need.</a:t>
            </a:r>
          </a:p>
          <a:p/>
          <a:p>
            <a:r>
              <a:t>Republic Act 12076, the Ligtas Pinoy Centers Act signed on December 6, 2024, requires an evacuation center in every city and municipality.</a:t>
            </a:r>
          </a:p>
          <a:p/>
          <a:p>
            <a:r>
              <a:t>For space we use the Sphere Handbook indicator of 3.5 square meters of covered living space per person. A standard DepEd classroom is 7 by 9 meters, or 63 square meters, so it holds 18 evacuees.</a:t>
            </a:r>
          </a:p>
          <a:p/>
          <a:p>
            <a:r>
              <a:t>What no one can compute yet is the missing number at the bottom: how many classrooms an evacuation truly needs, who should go where so the fewest close, and where a new center would free the most.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framed the situation as eight concrete problems, seen from the evacuee and from the school.</a:t>
            </a:r>
          </a:p>
          <a:p/>
          <a:p>
            <a:r>
              <a:t>Families arrive at a full center and must travel again. Classrooms are opened before gyms and halls. Evacuees are spread over more rooms than needed. Vulnerable residents reach shelters they cannot use. No one knows how long the evacuation will take, so the order may come too late. A lahar takes out bridges. A higher alert level brings more evacuees than the plan expected. And local governments must build Ligtas Pinoy Centers without knowing where.</a:t>
            </a:r>
          </a:p>
          <a:p/>
          <a:p>
            <a:r>
              <a:t>The last column names the part of our model that answers each problem. The rest of the presentation follows these components.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review covered eight areas. Evacuation is classically modeled as a network flow, as surveyed by Hamacher and Tjandra. Ford and Fulkerson showed that flows over time can be computed on a time-expanded network, which we use for the clearance time. Shelter location models, such as those of Sherali and colleagues, Kongsomsaksakul and colleagues, and Bayram and colleagues, assign evacuees to shelters but treat each shelter as one block of capacity.</a:t>
            </a:r>
          </a:p>
          <a:p/>
          <a:p>
            <a:r>
              <a:t>Church and ReVelle's maximal covering problem, Gale's flow theorem, Edmonds' polymatroids, and the result of Nemhauser and colleagues on submodular functions give our siting guarantee. Sphere and DepEd give the space standard; Philippine laws and DepEd guidance give the order of priorities; and the theory of network flows guarantees plans in whole persons.</a:t>
            </a:r>
          </a:p>
          <a:p/>
          <a:p>
            <a:r>
              <a:t>For the local setting we use the PSA census, news and ReliefWeb reports on Mayon, and the road layer of our companion study.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gaps remain. First, no model counts classrooms. Second, no plan turns the legal order of priorities into mathematics that can be checked. Third, there is no open clearance-time model for Albay that accounts for lahar-damaged bridges. Fourth, RA 12076 requires new evacuation centers but gives no method for placing them. Fifth, planners have no proof that a plan behaves sensibly, for example that a higher alert never makes the plan look better and a closed road never shortens the evacuation. Sixth, shelter data are scattered across agencies.</a:t>
            </a:r>
          </a:p>
          <a:p/>
          <a:p>
            <a:r>
              <a:t>The bottom line of each card names the contribution of our study that closes that gap.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conceptual framework has three layers. The blue data layer builds the hazard scenarios, the origins with their vulnerable residents, the road network with travel times and capacities, and the shelters sized by the Sphere standard; together they decide which shelters each person may use.</a:t>
            </a:r>
          </a:p>
          <a:p/>
          <a:p>
            <a:r>
              <a:t>The orange planning layer computes the school-preserving plan and counts the classrooms closed and the learners displaced.</a:t>
            </a:r>
          </a:p>
          <a:p/>
          <a:p>
            <a:r>
              <a:t>The green layer adds time and siting: the time-expanded network gives the clearance time, closure scenarios test the lahar bridges, and greedy siting proposes Ligtas Pinoy Centers.</a:t>
            </a:r>
          </a:p>
          <a:p/>
          <a:p>
            <a:r>
              <a:t>Four established theories hold it up: network flows over time, total unimodularity, the max-flow min-cut theorem, and submodular maximization.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research paradigm: the inputs are public registers, namely PHIVOLCS hazard zones, the PSA census, OpenStreetMap roads, DepEd and LGU shelter lists, and the Sphere standard.</a:t>
            </a:r>
          </a:p>
          <a:p/>
          <a:p>
            <a:r>
              <a:t>The process is our three algorithms plus verification: the lexicographic minimum-cost flow, packing into full classrooms, the time-expanded network with bisection, closure of whole lahar channels, and greedy siting. Each proven property is checked against independently written code.</a:t>
            </a:r>
          </a:p>
          <a:p/>
          <a:p>
            <a:r>
              <a:t>The outputs are a plan of who goes where, the classrooms closed and learners displaced, the clearance time and the bridges that matter, and ranked sites for new centers, offered as advice to PDRRMO, APSEMO, and DepEd.</a:t>
            </a:r>
          </a:p>
          <a:p/>
          <a:p>
            <a:r>
              <a:t>The feedback loop matters: once verified inventories exist, they replace our synthetic inputs without any change to the mathematics.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is meant to help six groups. Families can know before an alert where their barangay goes, how long the trip is, and whether the shelter is accessible for an older or disabled member. Learners and teachers lose fewer class days. School heads and barangay captains can see in advance how many classrooms may be needed. The disaster offices can recompute the plan in seconds when a shelter fills or a bridge fails, and know how early the order must be given. LGU planners can rank sites for Ligtas Pinoy Centers. Future researchers get an open, verified pipeline.</a:t>
            </a:r>
          </a:p>
          <a:p/>
          <a:p>
            <a:r>
              <a:t>The work relates to SDG targets 4.a, 10.2, 11.5, and 13.1. These are likely uses of the work, not outcomes we have demonstrated.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general objective was to construct a network model, prove it correct, and verify it by computation: a model that sends every evacuee to a reachable shelter with room, serves vulnerable residents first, closes as few classrooms as possible, and measures the clearance time and the value of new evacuation centers.</a:t>
            </a:r>
          </a:p>
          <a:p/>
          <a:p>
            <a:r>
              <a:t>Specifically, we set out to: one, build the inputs from open data; two, write the shelter plan as a minimum-cost flow that follows RA 10821 and prove its key properties; three, bound the classrooms closed and prove that higher alerts never free classrooms; four, compute the exact clearance time with a quick lower bound; five, measure the effect of bridge closures and new shelters; six, site Ligtas Pinoy Centers with a guarantee; seven, check every property against independent code; and eight, run the whole pipeline on a synthetic test network and fix our hypotheses for Albay in advance.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question asks how every evacuee can be assigned to a shelter so that vulnerable residents come first, everyone is sheltered, and the fewest classrooms close, and how long such an evacuation takes.</a:t>
            </a:r>
          </a:p>
          <a:p/>
          <a:p>
            <a:r>
              <a:t>Eight sub-questions follow the objectives one by one, from whether open data are enough, Q1, to whether the proven properties survive independent testing, Q8.</a:t>
            </a:r>
          </a:p>
          <a:p/>
          <a:p>
            <a:r>
              <a:t>Q3 deserves a note: we asked whether protecting vulnerable residents first could ever cost someone else a place. Proposition 2 shows that it never does.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the Albay open-data instance will be reported separately, so we fixed eight model hypotheses and their decision rules before running anything on it; that way the results cannot shape the questions.</a:t>
            </a:r>
          </a:p>
          <a:p/>
          <a:p>
            <a:r>
              <a:t>M1 and M2 measure the trade-off: fewer than half the classrooms, for less than ten extra minutes of travel. M3 tests whether the habit of going to the nearest shelter overfills shelters. M4 is guaranteed by our proofs, so a violation would flag a data error. M5 looks for barangays trapped by lahar closures. M6 tests whether two new centers cut classroom use by 30 percent. M7 checks that every vulnerable resident fits in an accessible shelter, and M8 checks that the ranking of municipalities survives a stricter space standard.</a:t>
            </a:r>
          </a:p>
          <a:p/>
          <a:p>
            <a:r>
              <a:t>The statistics are fixed too: percentile bootstrap intervals, the Wilcoxon signed-rank test, the Mann-Whitney U test, and Spearman's rank correlation.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design is fully computational. No evacuation center was visited and no one was interviewed; every number comes from a proof, a synthetic test network, or a public register.</a:t>
            </a:r>
          </a:p>
          <a:p/>
          <a:p>
            <a:r>
              <a:t>The work ran in eight stages. Stages one to four build the data: hazard scenarios, origins, the road network, and the shelter inventory. Stage five computes the shelter plan, stage six the evacuation over time, stage seven the siting of new centers, and stage eight verifies everything against independently written code.</a:t>
            </a:r>
          </a:p>
          <a:p/>
          <a:p>
            <a:r>
              <a:t>We used Python with NetworkX, and SciPy's HiGHS solver for the reference linear and integer programs, with one fixed random seed so that every number can be reproduced.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model. Every shelter is split into three tiers: tier zero is non-school space, tier one is school open space such as gyms and covered courts, and tier two is classrooms, at 18 persons per room.</a:t>
            </a:r>
          </a:p>
          <a:p/>
          <a:p>
            <a:r>
              <a:t>The plan follows a strict order: first place as many vulnerable residents as possible, then as many people as possible, then put the fewest persons in classrooms, then the fewest in school open spaces, and only then minimize travel. We impose this order with two large penalties, M sub O and M sub Y, chosen so that moving one person out of a classroom always outweighs any amount of travel or open-space use. Proposition 3 proves that the order is met exactly.</a:t>
            </a:r>
          </a:p>
          <a:p/>
          <a:p>
            <a:r>
              <a:t>Because the problem is a network flow, the solution is in whole persons, Proposition 1, and placing the vulnerable first never costs anyone a place, Proposition 2. Finally, evacuees in a school are packed room by room, and Proposition 4 proves this closes at most one extra classroom per school in use.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know how long an evacuation takes, we copy the road network once per minute, as Ford and Fulkerson did. A person moving along a road jumps forward by its travel time; a person waiting moves to the next minute. The clearance time T star is the first minute by which everyone can be inside a shelter, and bisection finds it with only a few maximum-flow computations. We also prove a lower bound that needs only one static flow.</a:t>
            </a:r>
          </a:p>
          <a:p/>
          <a:p>
            <a:r>
              <a:t>For bridges, we measure how much the clearance time grows when a whole lahar channel closes. Proposition 9 proves that closures never shorten the evacuation.</a:t>
            </a:r>
          </a:p>
          <a:p/>
          <a:p>
            <a:r>
              <a:t>For Ligtas Pinoy Centers, the gain of a set of new sites is monotone and submodular, so the simple greedy rule is guaranteed to reach at least 63.2 percent of the best possible gain.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exercise every part of the pipeline, we built a small synthetic volcano we call test network E1. It is not Albay data; the towns are only positions on the compass. It has six barangay clusters with 2,690 residents, six shelters with 900 places in non-school space, 420 in school open space, and 64 classrooms, and two lahar channels crossed by seven bridges.</a:t>
            </a:r>
          </a:p>
          <a:p/>
          <a:p>
            <a:r>
              <a:t>The three scenarios are Alert Level 3 with 1,560 evacuees, Alert Level 4 with 2,390, and Alert Level 4 with a lahar, with 2,690.</a:t>
            </a:r>
          </a:p>
          <a:p/>
          <a:p>
            <a:r>
              <a:t>Separately, the verification ran on random synthetic instances, where each answer was compared with reference code written independently: linear and integer programs solved with HiGHS, the Ford-Fulkerson formula, a minute-by-minute scan, and exhaustive search.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main result on the test network at Alert Level 3. Both plans shelter all 1,560 evacuees, including all 342 vulnerable residents.</a:t>
            </a:r>
          </a:p>
          <a:p/>
          <a:p>
            <a:r>
              <a:t>The time-only plan fills the nearby classrooms and closes 40 rooms, displacing 1,702 learners. The school-preserving plan fills every non-school space and school open space first and closes only 14 classrooms, displacing 532 learners, at a cost of 1.70 minutes of extra average travel. Over a fifteen-day stay, that is 17,550 learner-days of face-to-face classes kept.</a:t>
            </a:r>
          </a:p>
          <a:p/>
          <a:p>
            <a:r>
              <a:t>For comparison, if every barangay simply went to its nearest site, 298 people would arrive at full shelters.</a:t>
            </a:r>
          </a:p>
          <a:p/>
          <a:p>
            <a:r>
              <a:t>At Alert Level 4 the shelters are 97 percent full and both plans close 60 classrooms: when space itself is short, only new shelters help. These are test-network numbers, not estimates for Albay.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Alert Level 3 the last evacuee on the test network is sheltered after 53 minutes. Our lower bound gives 34 minutes without building the time-expanded network at all. The curves show the pattern: nobody arrives until the shortest trips end, then arrivals climb as fast as the busiest roads allow, and flatten as the longest trips finish.</a:t>
            </a:r>
          </a:p>
          <a:p/>
          <a:p>
            <a:r>
              <a:t>For bridges: closed one at a time, the seven bridges barely matter, because the network has alternatives; six leave the clearance time at 53 minutes and one adds a minute. But a lahar closes every bridge over its channel at once. Losing channel A adds 42 minutes, channel B adds 21, and losing both cuts off a southern pocket where 450 residents can no longer be sheltered at all.</a:t>
            </a:r>
          </a:p>
          <a:p/>
          <a:p>
            <a:r>
              <a:t>So the model gives a concrete warning: that pocket must be evacuated before lahar-producing rain, or it needs a shelter of its own. Again, these are test-network results.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hardest scenario, Alert Level 4 with a lahar, 450 residents have nowhere to go. We offered five candidate sites, one per town, and measured how many more evacuees each set of sites could shelter outside classrooms within 30 minutes. Alone, the sites would add 400, 350, 150, 30, and 0.</a:t>
            </a:r>
          </a:p>
          <a:p/>
          <a:p>
            <a:r>
              <a:t>The greedy rule picks the south town first, which lies inside the trapped pocket and shelters 400 of the 450. The second site cuts the persons in classrooms from 920 to 570, from 52 classrooms to 32, and the third cuts it to 360 persons in 20 classrooms.</a:t>
            </a:r>
          </a:p>
          <a:p/>
          <a:p>
            <a:r>
              <a:t>For one to three sites, the greedy choice matched the best set found by exhaustive search. The southeast city gains nothing because its existing shelters already cover everyone who can reach it in half an hour.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result was first proven and then checked numerically against code written separately, so that a coding mistake could not slip into our results.</a:t>
            </a:r>
          </a:p>
          <a:p/>
          <a:p>
            <a:r>
              <a:t>The plan matched five sequential linear programs at all five levels in 300 of 300 instances, or 1,500 values. The classroom bound held in all 150 exact comparisons, and packing was exactly optimal in 144. The time-expanded network agreed with the Ford-Fulkerson formula in 660 of 660 tests, and bisection matched a minute-by-minute scan in all 79 instances with about five times fewer maximum-flow computations. The lower bound was never violated. There were no monotonicity violations, and none in 4,796 submodularity checks.</a:t>
            </a:r>
          </a:p>
          <a:p/>
          <a:p>
            <a:r>
              <a:t>Greedy siting never fell below 89 percent of the optimum, averaged 99.7 percent, and was exactly optimal in 94.7 percent of 320 cases, far above the guaranteed 63.2 percent.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conclude five things. First, the legal order of priorities can be written as one minimum-cost flow and solved exactly in seconds on a laptop. Second, classrooms can be counted and bounded, and since a higher alert never frees classrooms, local governments can sign school agreements once, for the highest alert they plan for. Third, clearance time can be computed exactly, and whole lahar channels, not single bridges, decide it. Fourth, Ligtas Pinoy Center siting has a proven guarantee. Fifth, every result passed independent checks.</a:t>
            </a:r>
          </a:p>
          <a:p/>
          <a:p>
            <a:r>
              <a:t>On the test network, that meant 14 classrooms instead of 40 and 532 learners displaced instead of 1,702, for 1.70 more minutes of average travel.</a:t>
            </a:r>
          </a:p>
          <a:p/>
          <a:p>
            <a:r>
              <a:t>Our limits are clear: the worked results come from a synthetic test network and say nothing yet about real schools; road capacities are declared; everyone is assumed to leave at once; floor areas are not yet surveyed; and ashfall on shelters is not modeled.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recommend four steps toward use. First, an inventory of every evacuation center and school in the danger-zone municipalities, with floor areas, accessibility, and contact persons. Second, field validation: calibrate road capacities from evacuation drills, and replay the January and May 2026 evacuations using DSWD records to ask how many classrooms the plan would have kept open. Third, a pilot by the Provincial Government and DepEd Albay, with PDRRMO, APSEMO, and the Schools Division Offices, where the plan is advice to the officer who signs the evacuation order, never an automatic order. Fourth, local governments can rank candidate lots for Ligtas Pinoy Centers by the classrooms they would free, then weigh land, cost, and hazard.</a:t>
            </a:r>
          </a:p>
          <a:p/>
          <a:p>
            <a:r>
              <a:t>Future researchers can add departure waves, keep families together, and route vehicles for vulnerable residents. Because the inputs are public, other provinces that shelter evacuees in schools can adopt the model.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key sources behind the facts and methods we presented. The full list, including every law, guideline, and news report we cited, is in the reference section of our paper.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We are happy to answer your questions.</a:t>
            </a:r>
          </a:p>
          <a:p/>
          <a:p>
            <a:r>
              <a:t>Points to keep ready:</a:t>
            </a:r>
          </a:p>
          <a:p>
            <a:r>
              <a:t>- Why a synthetic test network? The worked instance shows that the pipeline obeys its own rules; it is not an estimate for Albay. Verified inventories will replace it without any change to the mathematics.</a:t>
            </a:r>
          </a:p>
          <a:p>
            <a:r>
              <a:t>- Why penalties instead of five separate programs? One minimum-cost flow with the penalties gives exactly the same plan (Proposition 3), and it matched five sequential linear programs in all 300 tests.</a:t>
            </a:r>
          </a:p>
          <a:p>
            <a:r>
              <a:t>- Is 18 per classroom realistic? It follows the Sphere indicator of 3.5 square meters on a 63-square-meter DepEd classroom; the planned sweeps repeat everything at 4.5 square meters.</a:t>
            </a:r>
          </a:p>
          <a:p>
            <a:r>
              <a:t>- Why not minimize classrooms exactly? That is an integer program; packing is provably within one room per school in use, and it was exact in 144 of 150 tests.</a:t>
            </a:r>
          </a:p>
          <a:p>
            <a:r>
              <a:t>- Does the model order evacuations? No. It plans; the decision stays with the PDRRMO, APSEMO, DepEd, and the Provincial Government.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behalf of the LIGTA-S team, thank you. Safe shelter for every family, and open schools for every learner.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14.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27.png"/><Relationship Id="rId7" Type="http://schemas.openxmlformats.org/officeDocument/2006/relationships/image" Target="../media/image14.png"/><Relationship Id="rId8" Type="http://schemas.openxmlformats.org/officeDocument/2006/relationships/image" Target="../media/image28.png"/><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18.png"/><Relationship Id="rId9" Type="http://schemas.openxmlformats.org/officeDocument/2006/relationships/image" Target="../media/image14.png"/><Relationship Id="rId10" Type="http://schemas.openxmlformats.org/officeDocument/2006/relationships/image" Target="../media/image33.png"/><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11.png"/><Relationship Id="rId8" Type="http://schemas.openxmlformats.org/officeDocument/2006/relationships/image" Target="../media/image41.png"/><Relationship Id="rId9" Type="http://schemas.openxmlformats.org/officeDocument/2006/relationships/image" Target="../media/image14.png"/><Relationship Id="rId10" Type="http://schemas.openxmlformats.org/officeDocument/2006/relationships/image" Target="../media/image42.png"/><Relationship Id="rId11" Type="http://schemas.openxmlformats.org/officeDocument/2006/relationships/image" Target="../media/image43.png"/><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image" Target="../media/image7.png"/><Relationship Id="rId5" Type="http://schemas.openxmlformats.org/officeDocument/2006/relationships/image" Target="../media/image46.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7.png"/><Relationship Id="rId4" Type="http://schemas.openxmlformats.org/officeDocument/2006/relationships/image" Target="../media/image11.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18.png"/><Relationship Id="rId6" Type="http://schemas.openxmlformats.org/officeDocument/2006/relationships/image" Target="../media/image14.png"/><Relationship Id="rId7" Type="http://schemas.openxmlformats.org/officeDocument/2006/relationships/image" Target="../media/image33.png"/><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1.png"/><Relationship Id="rId4" Type="http://schemas.openxmlformats.org/officeDocument/2006/relationships/image" Target="../media/image45.png"/><Relationship Id="rId5" Type="http://schemas.openxmlformats.org/officeDocument/2006/relationships/image" Target="../media/image48.png"/><Relationship Id="rId6" Type="http://schemas.openxmlformats.org/officeDocument/2006/relationships/image" Target="../media/image14.png"/><Relationship Id="rId7" Type="http://schemas.openxmlformats.org/officeDocument/2006/relationships/image" Target="../media/image28.png"/><Relationship Id="rId8" Type="http://schemas.openxmlformats.org/officeDocument/2006/relationships/image" Target="../media/image49.png"/><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0.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
        <p:cNvGrpSpPr/>
        <p:nvPr/>
      </p:nvGrpSpPr>
      <p:grpSpPr>
        <a:xfrm>
          <a:off x="0" y="0"/>
          <a:ext cx="0" cy="0"/>
          <a:chOff x="0" y="0"/>
          <a:chExt cx="0" cy="0"/>
        </a:xfrm>
      </p:grpSpPr>
      <p:sp>
        <p:nvSpPr>
          <p:cNvPr id="2" name="Freeform 2"/>
          <p:cNvSpPr/>
          <p:nvPr/>
        </p:nvSpPr>
        <p:spPr>
          <a:xfrm flipV="1">
            <a:off x="-308939" y="-440152"/>
            <a:ext cx="3942365" cy="3942365"/>
          </a:xfrm>
          <a:custGeom>
            <a:avLst/>
            <a:gdLst/>
            <a:ahLst/>
            <a:cxnLst/>
            <a:rect l="l" t="t" r="r" b="b"/>
            <a:pathLst>
              <a:path w="3942365" h="3942365">
                <a:moveTo>
                  <a:pt x="0" y="3942365"/>
                </a:moveTo>
                <a:lnTo>
                  <a:pt x="3942365" y="3942365"/>
                </a:lnTo>
                <a:lnTo>
                  <a:pt x="3942365" y="0"/>
                </a:lnTo>
                <a:lnTo>
                  <a:pt x="0" y="0"/>
                </a:lnTo>
                <a:lnTo>
                  <a:pt x="0" y="3942365"/>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3" name="Freeform 3"/>
          <p:cNvSpPr/>
          <p:nvPr/>
        </p:nvSpPr>
        <p:spPr>
          <a:xfrm flipH="1">
            <a:off x="15910979" y="7909979"/>
            <a:ext cx="2696641" cy="2696641"/>
          </a:xfrm>
          <a:custGeom>
            <a:avLst/>
            <a:gdLst/>
            <a:ahLst/>
            <a:cxnLst/>
            <a:rect l="l" t="t" r="r" b="b"/>
            <a:pathLst>
              <a:path w="2696641" h="2696641">
                <a:moveTo>
                  <a:pt x="2696642" y="0"/>
                </a:moveTo>
                <a:lnTo>
                  <a:pt x="0" y="0"/>
                </a:lnTo>
                <a:lnTo>
                  <a:pt x="0" y="2696642"/>
                </a:lnTo>
                <a:lnTo>
                  <a:pt x="2696642" y="2696642"/>
                </a:lnTo>
                <a:lnTo>
                  <a:pt x="269664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3">
              <a:alphaModFix amt="26000"/>
            </a:blip>
            <a:stretch>
              <a:fillRect/>
            </a:stretch>
          </a:blipFill>
        </p:spPr>
        <p:txBody>
          <a:bodyPr/>
          <a:lstStyle/>
          <a:p>
            <a:endParaRPr lang="en-PH" dirty="0"/>
          </a:p>
        </p:txBody>
      </p:sp>
      <p:sp>
        <p:nvSpPr>
          <p:cNvPr id="5" name="Freeform 5"/>
          <p:cNvSpPr/>
          <p:nvPr/>
        </p:nvSpPr>
        <p:spPr>
          <a:xfrm>
            <a:off x="699585" y="546888"/>
            <a:ext cx="2392319" cy="2426082"/>
          </a:xfrm>
          <a:custGeom>
            <a:avLst/>
            <a:gdLst/>
            <a:ahLst/>
            <a:cxnLst/>
            <a:rect l="l" t="t" r="r" b="b"/>
            <a:pathLst>
              <a:path w="2392319" h="2426082">
                <a:moveTo>
                  <a:pt x="0" y="0"/>
                </a:moveTo>
                <a:lnTo>
                  <a:pt x="2392319" y="0"/>
                </a:lnTo>
                <a:lnTo>
                  <a:pt x="2392319" y="2426082"/>
                </a:lnTo>
                <a:lnTo>
                  <a:pt x="0" y="2426082"/>
                </a:lnTo>
                <a:lnTo>
                  <a:pt x="0" y="0"/>
                </a:lnTo>
                <a:close/>
              </a:path>
            </a:pathLst>
          </a:custGeom>
          <a:blipFill>
            <a:blip r:embed="rId4"/>
            <a:stretch>
              <a:fillRect/>
            </a:stretch>
          </a:blipFill>
        </p:spPr>
        <p:txBody>
          <a:bodyPr/>
          <a:lstStyle/>
          <a:p>
            <a:endParaRPr lang="en-PH"/>
          </a:p>
        </p:txBody>
      </p:sp>
      <p:sp>
        <p:nvSpPr>
          <p:cNvPr id="7" name="AutoShape 7"/>
          <p:cNvSpPr/>
          <p:nvPr/>
        </p:nvSpPr>
        <p:spPr>
          <a:xfrm>
            <a:off x="3200400" y="6309360"/>
            <a:ext cx="11887200" cy="0"/>
          </a:xfrm>
          <a:prstGeom prst="line">
            <a:avLst/>
          </a:prstGeom>
          <a:ln w="38100" cap="flat">
            <a:solidFill>
              <a:srgbClr val="FFFFFF"/>
            </a:solidFill>
            <a:prstDash val="solid"/>
            <a:headEnd type="none" w="sm" len="sm"/>
            <a:tailEnd type="none" w="sm" len="sm"/>
          </a:ln>
        </p:spPr>
        <p:txBody>
          <a:bodyPr/>
          <a:lstStyle/>
          <a:p>
            <a:endParaRPr lang="en-PH" dirty="0"/>
          </a:p>
        </p:txBody>
      </p:sp>
      <p:sp>
        <p:nvSpPr>
          <p:cNvPr id="8" name="AutoShape 8"/>
          <p:cNvSpPr/>
          <p:nvPr/>
        </p:nvSpPr>
        <p:spPr>
          <a:xfrm>
            <a:off x="3200400" y="8046720"/>
            <a:ext cx="11887200" cy="0"/>
          </a:xfrm>
          <a:prstGeom prst="line">
            <a:avLst/>
          </a:prstGeom>
          <a:ln w="38100" cap="flat">
            <a:solidFill>
              <a:srgbClr val="FFFFFF"/>
            </a:solidFill>
            <a:prstDash val="solid"/>
            <a:headEnd type="none" w="sm" len="sm"/>
            <a:tailEnd type="none" w="sm" len="sm"/>
          </a:ln>
        </p:spPr>
        <p:txBody>
          <a:bodyPr/>
          <a:lstStyle/>
          <a:p>
            <a:endParaRPr lang="en-PH"/>
          </a:p>
        </p:txBody>
      </p:sp>
      <p:sp>
        <p:nvSpPr>
          <p:cNvPr id="9" name="Acronym"/>
          <p:cNvSpPr txBox="1"/>
          <p:nvPr/>
        </p:nvSpPr>
        <p:spPr>
          <a:xfrm>
            <a:off x="3108960" y="640080"/>
            <a:ext cx="12070080" cy="2194560"/>
          </a:xfrm>
          <a:prstGeom prst="rect">
            <a:avLst/>
          </a:prstGeom>
          <a:noFill/>
        </p:spPr>
        <p:txBody>
          <a:bodyPr wrap="square" lIns="0" tIns="0" rIns="0" bIns="0" anchor="b">
            <a:noAutofit/>
          </a:bodyPr>
          <a:lstStyle/>
          <a:p>
            <a:pPr algn="ctr">
              <a:lnSpc>
                <a:spcPct val="100000"/>
              </a:lnSpc>
            </a:pPr>
            <a:r>
              <a:rPr sz="16000" b="1" i="0">
                <a:solidFill>
                  <a:srgbClr val="F0C04A"/>
                </a:solidFill>
                <a:latin typeface="Times New Roman"/>
                <a:ea typeface="Times New Roman"/>
                <a:cs typeface="Times New Roman"/>
              </a:rPr>
              <a:t>LIGTA-S</a:t>
            </a:r>
          </a:p>
        </p:txBody>
      </p:sp>
      <p:sp>
        <p:nvSpPr>
          <p:cNvPr id="10" name="TextBox 9"/>
          <p:cNvSpPr txBox="1"/>
          <p:nvPr/>
        </p:nvSpPr>
        <p:spPr>
          <a:xfrm>
            <a:off x="3108960" y="2852928"/>
            <a:ext cx="12070080" cy="457200"/>
          </a:xfrm>
          <a:prstGeom prst="rect">
            <a:avLst/>
          </a:prstGeom>
          <a:noFill/>
        </p:spPr>
        <p:txBody>
          <a:bodyPr wrap="square" lIns="0" tIns="0" rIns="0" bIns="0" anchor="ctr">
            <a:noAutofit/>
          </a:bodyPr>
          <a:lstStyle/>
          <a:p>
            <a:pPr algn="ctr">
              <a:lnSpc>
                <a:spcPct val="100000"/>
              </a:lnSpc>
            </a:pPr>
            <a:r>
              <a:rPr sz="2400" b="0" i="0">
                <a:solidFill>
                  <a:srgbClr val="F6E3B4"/>
                </a:solidFill>
                <a:latin typeface="Times New Roman"/>
                <a:ea typeface="Times New Roman"/>
                <a:cs typeface="Times New Roman"/>
              </a:rPr>
              <a:t>Say it like </a:t>
            </a:r>
            <a:r>
              <a:rPr sz="2400" b="0" i="1">
                <a:solidFill>
                  <a:srgbClr val="F6E3B4"/>
                </a:solidFill>
                <a:latin typeface="Times New Roman"/>
                <a:ea typeface="Times New Roman"/>
                <a:cs typeface="Times New Roman"/>
              </a:rPr>
              <a:t>ligtas</a:t>
            </a:r>
            <a:r>
              <a:rPr sz="2400" b="0" i="0">
                <a:solidFill>
                  <a:srgbClr val="F6E3B4"/>
                </a:solidFill>
                <a:latin typeface="Times New Roman"/>
                <a:ea typeface="Times New Roman"/>
                <a:cs typeface="Times New Roman"/>
              </a:rPr>
              <a:t> (LIG-tas), the Filipino word for safe</a:t>
            </a:r>
          </a:p>
        </p:txBody>
      </p:sp>
      <p:sp>
        <p:nvSpPr>
          <p:cNvPr id="11" name="Title"/>
          <p:cNvSpPr txBox="1"/>
          <p:nvPr/>
        </p:nvSpPr>
        <p:spPr>
          <a:xfrm>
            <a:off x="914400" y="3474720"/>
            <a:ext cx="16459200" cy="2606040"/>
          </a:xfrm>
          <a:prstGeom prst="rect">
            <a:avLst/>
          </a:prstGeom>
          <a:noFill/>
        </p:spPr>
        <p:txBody>
          <a:bodyPr wrap="square" lIns="0" tIns="0" rIns="0" bIns="0" anchor="ctr">
            <a:noAutofit/>
          </a:bodyPr>
          <a:lstStyle/>
          <a:p>
            <a:pPr algn="ctr">
              <a:lnSpc>
                <a:spcPct val="100000"/>
              </a:lnSpc>
            </a:pPr>
            <a:r>
              <a:rPr sz="4200" b="1" i="0">
                <a:solidFill>
                  <a:srgbClr val="FFFFFF"/>
                </a:solidFill>
                <a:latin typeface="Times New Roman"/>
                <a:ea typeface="Times New Roman"/>
                <a:cs typeface="Times New Roman"/>
              </a:rPr>
              <a:t>Safe Shelter, Open Schools: A Verified Network-Flow Model for Planning Evacuations in Albay by Hazard Zone, Shelter Capacity, and Vulnerability While Keeping Classrooms Open</a:t>
            </a:r>
          </a:p>
        </p:txBody>
      </p:sp>
      <p:sp>
        <p:nvSpPr>
          <p:cNvPr id="12" name="TextBox 11"/>
          <p:cNvSpPr txBox="1"/>
          <p:nvPr/>
        </p:nvSpPr>
        <p:spPr>
          <a:xfrm>
            <a:off x="3200400" y="6409944"/>
            <a:ext cx="11887200" cy="585216"/>
          </a:xfrm>
          <a:prstGeom prst="rect">
            <a:avLst/>
          </a:prstGeom>
          <a:noFill/>
        </p:spPr>
        <p:txBody>
          <a:bodyPr wrap="square" lIns="0" tIns="0" rIns="0" bIns="0" anchor="ctr">
            <a:noAutofit/>
          </a:bodyPr>
          <a:lstStyle/>
          <a:p>
            <a:pPr algn="ctr">
              <a:lnSpc>
                <a:spcPct val="100000"/>
              </a:lnSpc>
            </a:pPr>
            <a:r>
              <a:rPr sz="3600" b="1" i="0">
                <a:solidFill>
                  <a:srgbClr val="F0C04A"/>
                </a:solidFill>
                <a:latin typeface="Times New Roman"/>
                <a:ea typeface="Times New Roman"/>
                <a:cs typeface="Times New Roman"/>
              </a:rPr>
              <a:t>De Asis, Dave Justin Ll.</a:t>
            </a:r>
          </a:p>
        </p:txBody>
      </p:sp>
      <p:sp>
        <p:nvSpPr>
          <p:cNvPr id="13" name="TextBox 12"/>
          <p:cNvSpPr txBox="1"/>
          <p:nvPr/>
        </p:nvSpPr>
        <p:spPr>
          <a:xfrm>
            <a:off x="3200400" y="6995160"/>
            <a:ext cx="11887200" cy="329184"/>
          </a:xfrm>
          <a:prstGeom prst="rect">
            <a:avLst/>
          </a:prstGeom>
          <a:noFill/>
        </p:spPr>
        <p:txBody>
          <a:bodyPr wrap="square" lIns="0" tIns="0" rIns="0" bIns="0" anchor="ctr">
            <a:noAutofit/>
          </a:bodyPr>
          <a:lstStyle/>
          <a:p>
            <a:pPr algn="ctr">
              <a:lnSpc>
                <a:spcPct val="100000"/>
              </a:lnSpc>
            </a:pPr>
            <a:r>
              <a:rPr sz="1500" b="0" i="0">
                <a:solidFill>
                  <a:srgbClr val="F0C04A"/>
                </a:solidFill>
                <a:latin typeface="Times New Roman"/>
                <a:ea typeface="Times New Roman"/>
                <a:cs typeface="Times New Roman"/>
              </a:rPr>
              <a:t>◆   LEAD RESEARCHER  ·  FOUNDER OF THE LIGTA-S RESEARCH &amp; APPLICATION   ◆</a:t>
            </a:r>
          </a:p>
        </p:txBody>
      </p:sp>
      <p:sp>
        <p:nvSpPr>
          <p:cNvPr id="14" name="TextBox 13"/>
          <p:cNvSpPr txBox="1"/>
          <p:nvPr/>
        </p:nvSpPr>
        <p:spPr>
          <a:xfrm>
            <a:off x="3200400" y="7397496"/>
            <a:ext cx="11887200" cy="502920"/>
          </a:xfrm>
          <a:prstGeom prst="rect">
            <a:avLst/>
          </a:prstGeom>
          <a:noFill/>
        </p:spPr>
        <p:txBody>
          <a:bodyPr wrap="square" lIns="0" tIns="0" rIns="0" bIns="0" anchor="ctr">
            <a:noAutofit/>
          </a:bodyPr>
          <a:lstStyle/>
          <a:p>
            <a:pPr algn="ctr">
              <a:lnSpc>
                <a:spcPct val="100000"/>
              </a:lnSpc>
            </a:pPr>
            <a:r>
              <a:rPr sz="2800" b="0" i="0">
                <a:solidFill>
                  <a:srgbClr val="FFFFFF"/>
                </a:solidFill>
                <a:latin typeface="Times New Roman"/>
                <a:ea typeface="Times New Roman"/>
                <a:cs typeface="Times New Roman"/>
              </a:rPr>
              <a:t>Brimbuela, Peter John A.     •     Shin, Yeaseong</a:t>
            </a:r>
          </a:p>
        </p:txBody>
      </p:sp>
      <p:sp>
        <p:nvSpPr>
          <p:cNvPr id="15" name="TextBox 14"/>
          <p:cNvSpPr txBox="1"/>
          <p:nvPr/>
        </p:nvSpPr>
        <p:spPr>
          <a:xfrm>
            <a:off x="2743200" y="8202168"/>
            <a:ext cx="12801600" cy="438912"/>
          </a:xfrm>
          <a:prstGeom prst="rect">
            <a:avLst/>
          </a:prstGeom>
          <a:noFill/>
        </p:spPr>
        <p:txBody>
          <a:bodyPr wrap="square" lIns="0" tIns="0" rIns="0" bIns="0" anchor="ctr">
            <a:noAutofit/>
          </a:bodyPr>
          <a:lstStyle/>
          <a:p>
            <a:pPr algn="ctr">
              <a:lnSpc>
                <a:spcPct val="100000"/>
              </a:lnSpc>
            </a:pPr>
            <a:r>
              <a:rPr sz="2200" b="1" i="0">
                <a:solidFill>
                  <a:srgbClr val="FFFFFF"/>
                </a:solidFill>
                <a:latin typeface="Times New Roman"/>
                <a:ea typeface="Times New Roman"/>
                <a:cs typeface="Times New Roman"/>
              </a:rPr>
              <a:t>Research Adviser: </a:t>
            </a:r>
            <a:r>
              <a:rPr sz="2200" b="0" i="0">
                <a:solidFill>
                  <a:srgbClr val="FFFFFF"/>
                </a:solidFill>
                <a:latin typeface="Times New Roman"/>
                <a:ea typeface="Times New Roman"/>
                <a:cs typeface="Times New Roman"/>
              </a:rPr>
              <a:t>Calleja, Dick Anthony M.</a:t>
            </a:r>
          </a:p>
        </p:txBody>
      </p:sp>
      <p:sp>
        <p:nvSpPr>
          <p:cNvPr id="16" name="TextBox 15"/>
          <p:cNvSpPr txBox="1"/>
          <p:nvPr/>
        </p:nvSpPr>
        <p:spPr>
          <a:xfrm>
            <a:off x="2743200" y="8659368"/>
            <a:ext cx="12801600" cy="411480"/>
          </a:xfrm>
          <a:prstGeom prst="rect">
            <a:avLst/>
          </a:prstGeom>
          <a:noFill/>
        </p:spPr>
        <p:txBody>
          <a:bodyPr wrap="square" lIns="0" tIns="0" rIns="0" bIns="0" anchor="ctr">
            <a:noAutofit/>
          </a:bodyPr>
          <a:lstStyle/>
          <a:p>
            <a:pPr algn="ctr">
              <a:lnSpc>
                <a:spcPct val="100000"/>
              </a:lnSpc>
            </a:pPr>
            <a:r>
              <a:rPr sz="1800" b="0" i="0">
                <a:solidFill>
                  <a:srgbClr val="F2E6E6"/>
                </a:solidFill>
                <a:latin typeface="Times New Roman"/>
                <a:ea typeface="Times New Roman"/>
                <a:cs typeface="Times New Roman"/>
              </a:rPr>
              <a:t>Legazpi City Science High School  •  Legazpi City, Albay  •  Mathematics and Computational Sciences, Team (MCS-T)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372205"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INTRODUCTION</a:t>
            </a:r>
          </a:p>
        </p:txBody>
      </p:sp>
      <p:sp>
        <p:nvSpPr>
          <p:cNvPr id="8" name="Subtitle"/>
          <p:cNvSpPr txBox="1"/>
          <p:nvPr/>
        </p:nvSpPr>
        <p:spPr>
          <a:xfrm>
            <a:off x="13997654" y="18288"/>
            <a:ext cx="3878866"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Background of the Study</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Mayon's 2026 alerts turned schools into shelters, and learners paid in lost class days</a:t>
            </a:r>
          </a:p>
        </p:txBody>
      </p:sp>
      <p:sp>
        <p:nvSpPr>
          <p:cNvPr id="10" name="Rounded Rectangle 9"/>
          <p:cNvSpPr/>
          <p:nvPr/>
        </p:nvSpPr>
        <p:spPr>
          <a:xfrm>
            <a:off x="548640" y="2697480"/>
            <a:ext cx="4023360" cy="4343400"/>
          </a:xfrm>
          <a:prstGeom prst="roundRect">
            <a:avLst>
              <a:gd name="adj" fmla="val 3181"/>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Oval 10"/>
          <p:cNvSpPr/>
          <p:nvPr/>
        </p:nvSpPr>
        <p:spPr>
          <a:xfrm>
            <a:off x="822960" y="2990088"/>
            <a:ext cx="868680" cy="868680"/>
          </a:xfrm>
          <a:prstGeom prst="ellipse">
            <a:avLst/>
          </a:prstGeom>
          <a:solidFill>
            <a:srgbClr val="8B0707"/>
          </a:solidFill>
          <a:ln>
            <a:noFill/>
          </a:ln>
          <a:effectLst/>
        </p:spPr>
        <p:txBody>
          <a:bodyPr rtlCol="0" anchor="ctr"/>
          <a:lstStyle/>
          <a:p>
            <a:pPr algn="ctr"/>
          </a:p>
        </p:txBody>
      </p:sp>
      <p:pic>
        <p:nvPicPr>
          <p:cNvPr id="12" name="Picture 11" descr="w_volcano.png"/>
          <p:cNvPicPr>
            <a:picLocks noChangeAspect="1"/>
          </p:cNvPicPr>
          <p:nvPr/>
        </p:nvPicPr>
        <p:blipFill>
          <a:blip r:embed="rId3"/>
          <a:stretch>
            <a:fillRect/>
          </a:stretch>
        </p:blipFill>
        <p:spPr>
          <a:xfrm>
            <a:off x="996696" y="3163824"/>
            <a:ext cx="521208" cy="521208"/>
          </a:xfrm>
          <a:prstGeom prst="rect">
            <a:avLst/>
          </a:prstGeom>
        </p:spPr>
      </p:pic>
      <p:sp>
        <p:nvSpPr>
          <p:cNvPr id="13" name="TextBox 12"/>
          <p:cNvSpPr txBox="1"/>
          <p:nvPr/>
        </p:nvSpPr>
        <p:spPr>
          <a:xfrm>
            <a:off x="1828800" y="2898648"/>
            <a:ext cx="2606040" cy="1051560"/>
          </a:xfrm>
          <a:prstGeom prst="rect">
            <a:avLst/>
          </a:prstGeom>
          <a:noFill/>
        </p:spPr>
        <p:txBody>
          <a:bodyPr wrap="square" lIns="0" tIns="0" rIns="0" bIns="0" anchor="ctr">
            <a:noAutofit/>
          </a:bodyPr>
          <a:lstStyle/>
          <a:p>
            <a:pPr algn="l">
              <a:lnSpc>
                <a:spcPct val="100000"/>
              </a:lnSpc>
            </a:pPr>
            <a:r>
              <a:rPr sz="5400" b="1" i="0">
                <a:solidFill>
                  <a:srgbClr val="8B0707"/>
                </a:solidFill>
                <a:latin typeface="ITC Avant Garde Gothic"/>
                <a:ea typeface="ITC Avant Garde Gothic"/>
                <a:cs typeface="ITC Avant Garde Gothic"/>
              </a:rPr>
              <a:t>Jan 6</a:t>
            </a:r>
          </a:p>
        </p:txBody>
      </p:sp>
      <p:sp>
        <p:nvSpPr>
          <p:cNvPr id="14" name="TextBox 13"/>
          <p:cNvSpPr txBox="1"/>
          <p:nvPr/>
        </p:nvSpPr>
        <p:spPr>
          <a:xfrm>
            <a:off x="822960" y="4069080"/>
            <a:ext cx="3474720" cy="457200"/>
          </a:xfrm>
          <a:prstGeom prst="rect">
            <a:avLst/>
          </a:prstGeom>
          <a:noFill/>
        </p:spPr>
        <p:txBody>
          <a:bodyPr wrap="square" lIns="0" tIns="0" rIns="0" bIns="0" anchor="t">
            <a:noAutofit/>
          </a:bodyPr>
          <a:lstStyle/>
          <a:p>
            <a:pPr algn="l">
              <a:lnSpc>
                <a:spcPct val="100000"/>
              </a:lnSpc>
            </a:pPr>
            <a:r>
              <a:rPr sz="2000" b="1" i="0">
                <a:solidFill>
                  <a:srgbClr val="262626"/>
                </a:solidFill>
                <a:latin typeface="ITC Avant Garde Gothic"/>
                <a:ea typeface="ITC Avant Garde Gothic"/>
                <a:cs typeface="ITC Avant Garde Gothic"/>
              </a:rPr>
              <a:t>Alert Level 3</a:t>
            </a:r>
          </a:p>
        </p:txBody>
      </p:sp>
      <p:sp>
        <p:nvSpPr>
          <p:cNvPr id="15" name="TextBox 14"/>
          <p:cNvSpPr txBox="1"/>
          <p:nvPr/>
        </p:nvSpPr>
        <p:spPr>
          <a:xfrm>
            <a:off x="822960" y="4572000"/>
            <a:ext cx="3474720" cy="1828800"/>
          </a:xfrm>
          <a:prstGeom prst="rect">
            <a:avLst/>
          </a:prstGeom>
          <a:noFill/>
        </p:spPr>
        <p:txBody>
          <a:bodyPr wrap="square" lIns="0" tIns="0" rIns="0" bIns="0" anchor="t">
            <a:noAutofit/>
          </a:bodyPr>
          <a:lstStyle/>
          <a:p>
            <a:pPr algn="l">
              <a:lnSpc>
                <a:spcPct val="105000"/>
              </a:lnSpc>
            </a:pPr>
            <a:r>
              <a:rPr sz="1700" b="0" i="0">
                <a:solidFill>
                  <a:srgbClr val="262626"/>
                </a:solidFill>
                <a:latin typeface="ITC Avant Garde Gothic"/>
                <a:ea typeface="ITC Avant Garde Gothic"/>
                <a:cs typeface="ITC Avant Garde Gothic"/>
              </a:rPr>
              <a:t>PHIVOLCS raised Mayon to Alert Level 3; Albay ordered the preemptive evacuation of the Permanent Danger Zone (6 km).</a:t>
            </a:r>
          </a:p>
        </p:txBody>
      </p:sp>
      <p:sp>
        <p:nvSpPr>
          <p:cNvPr id="16" name="TextBox 15"/>
          <p:cNvSpPr txBox="1"/>
          <p:nvPr/>
        </p:nvSpPr>
        <p:spPr>
          <a:xfrm>
            <a:off x="822960" y="6464808"/>
            <a:ext cx="3474720" cy="41148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Interaksyon/Philstar, 2026</a:t>
            </a:r>
          </a:p>
        </p:txBody>
      </p:sp>
      <p:sp>
        <p:nvSpPr>
          <p:cNvPr id="17" name="Rounded Rectangle 16"/>
          <p:cNvSpPr/>
          <p:nvPr/>
        </p:nvSpPr>
        <p:spPr>
          <a:xfrm>
            <a:off x="4937760" y="2697480"/>
            <a:ext cx="4023360" cy="4343400"/>
          </a:xfrm>
          <a:prstGeom prst="roundRect">
            <a:avLst>
              <a:gd name="adj" fmla="val 3181"/>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8" name="Oval 17"/>
          <p:cNvSpPr/>
          <p:nvPr/>
        </p:nvSpPr>
        <p:spPr>
          <a:xfrm>
            <a:off x="5212080" y="2990088"/>
            <a:ext cx="868680" cy="868680"/>
          </a:xfrm>
          <a:prstGeom prst="ellipse">
            <a:avLst/>
          </a:prstGeom>
          <a:solidFill>
            <a:srgbClr val="8B0707"/>
          </a:solidFill>
          <a:ln>
            <a:noFill/>
          </a:ln>
          <a:effectLst/>
        </p:spPr>
        <p:txBody>
          <a:bodyPr rtlCol="0" anchor="ctr"/>
          <a:lstStyle/>
          <a:p>
            <a:pPr algn="ctr"/>
          </a:p>
        </p:txBody>
      </p:sp>
      <p:pic>
        <p:nvPicPr>
          <p:cNvPr id="19" name="Picture 18" descr="w_school.png"/>
          <p:cNvPicPr>
            <a:picLocks noChangeAspect="1"/>
          </p:cNvPicPr>
          <p:nvPr/>
        </p:nvPicPr>
        <p:blipFill>
          <a:blip r:embed="rId4"/>
          <a:stretch>
            <a:fillRect/>
          </a:stretch>
        </p:blipFill>
        <p:spPr>
          <a:xfrm>
            <a:off x="5385816" y="3163824"/>
            <a:ext cx="521208" cy="521208"/>
          </a:xfrm>
          <a:prstGeom prst="rect">
            <a:avLst/>
          </a:prstGeom>
        </p:spPr>
      </p:pic>
      <p:sp>
        <p:nvSpPr>
          <p:cNvPr id="20" name="TextBox 19"/>
          <p:cNvSpPr txBox="1"/>
          <p:nvPr/>
        </p:nvSpPr>
        <p:spPr>
          <a:xfrm>
            <a:off x="6217920" y="2898648"/>
            <a:ext cx="2606040" cy="1051560"/>
          </a:xfrm>
          <a:prstGeom prst="rect">
            <a:avLst/>
          </a:prstGeom>
          <a:noFill/>
        </p:spPr>
        <p:txBody>
          <a:bodyPr wrap="square" lIns="0" tIns="0" rIns="0" bIns="0" anchor="ctr">
            <a:noAutofit/>
          </a:bodyPr>
          <a:lstStyle/>
          <a:p>
            <a:pPr algn="l">
              <a:lnSpc>
                <a:spcPct val="100000"/>
              </a:lnSpc>
            </a:pPr>
            <a:r>
              <a:rPr sz="5400" b="1" i="0">
                <a:solidFill>
                  <a:srgbClr val="8B0707"/>
                </a:solidFill>
                <a:latin typeface="ITC Avant Garde Gothic"/>
                <a:ea typeface="ITC Avant Garde Gothic"/>
                <a:cs typeface="ITC Avant Garde Gothic"/>
              </a:rPr>
              <a:t>608</a:t>
            </a:r>
          </a:p>
        </p:txBody>
      </p:sp>
      <p:sp>
        <p:nvSpPr>
          <p:cNvPr id="21" name="TextBox 20"/>
          <p:cNvSpPr txBox="1"/>
          <p:nvPr/>
        </p:nvSpPr>
        <p:spPr>
          <a:xfrm>
            <a:off x="5212080" y="4069080"/>
            <a:ext cx="3474720" cy="457200"/>
          </a:xfrm>
          <a:prstGeom prst="rect">
            <a:avLst/>
          </a:prstGeom>
          <a:noFill/>
        </p:spPr>
        <p:txBody>
          <a:bodyPr wrap="square" lIns="0" tIns="0" rIns="0" bIns="0" anchor="t">
            <a:noAutofit/>
          </a:bodyPr>
          <a:lstStyle/>
          <a:p>
            <a:pPr algn="l">
              <a:lnSpc>
                <a:spcPct val="100000"/>
              </a:lnSpc>
            </a:pPr>
            <a:r>
              <a:rPr sz="2000" b="1" i="0">
                <a:solidFill>
                  <a:srgbClr val="262626"/>
                </a:solidFill>
                <a:latin typeface="ITC Avant Garde Gothic"/>
                <a:ea typeface="ITC Avant Garde Gothic"/>
                <a:cs typeface="ITC Avant Garde Gothic"/>
              </a:rPr>
              <a:t>learners displaced</a:t>
            </a:r>
          </a:p>
        </p:txBody>
      </p:sp>
      <p:sp>
        <p:nvSpPr>
          <p:cNvPr id="22" name="TextBox 21"/>
          <p:cNvSpPr txBox="1"/>
          <p:nvPr/>
        </p:nvSpPr>
        <p:spPr>
          <a:xfrm>
            <a:off x="5212080" y="4572000"/>
            <a:ext cx="3474720" cy="1828800"/>
          </a:xfrm>
          <a:prstGeom prst="rect">
            <a:avLst/>
          </a:prstGeom>
          <a:noFill/>
        </p:spPr>
        <p:txBody>
          <a:bodyPr wrap="square" lIns="0" tIns="0" rIns="0" bIns="0" anchor="t">
            <a:noAutofit/>
          </a:bodyPr>
          <a:lstStyle/>
          <a:p>
            <a:pPr algn="l">
              <a:lnSpc>
                <a:spcPct val="105000"/>
              </a:lnSpc>
            </a:pPr>
            <a:r>
              <a:rPr sz="1700" b="0" i="0">
                <a:solidFill>
                  <a:srgbClr val="262626"/>
                </a:solidFill>
                <a:latin typeface="ITC Avant Garde Gothic"/>
                <a:ea typeface="ITC Avant Garde Gothic"/>
                <a:cs typeface="ITC Avant Garde Gothic"/>
              </a:rPr>
              <a:t>from the danger zone in January 2026; 3,424 more were affected as four schools became evacuation centers.</a:t>
            </a:r>
          </a:p>
        </p:txBody>
      </p:sp>
      <p:sp>
        <p:nvSpPr>
          <p:cNvPr id="23" name="TextBox 22"/>
          <p:cNvSpPr txBox="1"/>
          <p:nvPr/>
        </p:nvSpPr>
        <p:spPr>
          <a:xfrm>
            <a:off x="5212080" y="6464808"/>
            <a:ext cx="3474720" cy="41148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Philippine Daily Inquirer, 2026</a:t>
            </a:r>
          </a:p>
        </p:txBody>
      </p:sp>
      <p:sp>
        <p:nvSpPr>
          <p:cNvPr id="24" name="Rounded Rectangle 23"/>
          <p:cNvSpPr/>
          <p:nvPr/>
        </p:nvSpPr>
        <p:spPr>
          <a:xfrm>
            <a:off x="9326880" y="2697480"/>
            <a:ext cx="4023360" cy="4343400"/>
          </a:xfrm>
          <a:prstGeom prst="roundRect">
            <a:avLst>
              <a:gd name="adj" fmla="val 3181"/>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5" name="Oval 24"/>
          <p:cNvSpPr/>
          <p:nvPr/>
        </p:nvSpPr>
        <p:spPr>
          <a:xfrm>
            <a:off x="9601200" y="2990088"/>
            <a:ext cx="868680" cy="868680"/>
          </a:xfrm>
          <a:prstGeom prst="ellipse">
            <a:avLst/>
          </a:prstGeom>
          <a:solidFill>
            <a:srgbClr val="8B0707"/>
          </a:solidFill>
          <a:ln>
            <a:noFill/>
          </a:ln>
          <a:effectLst/>
        </p:spPr>
        <p:txBody>
          <a:bodyPr rtlCol="0" anchor="ctr"/>
          <a:lstStyle/>
          <a:p>
            <a:pPr algn="ctr"/>
          </a:p>
        </p:txBody>
      </p:sp>
      <p:pic>
        <p:nvPicPr>
          <p:cNvPr id="26" name="Picture 25" descr="w_meeting_room.png"/>
          <p:cNvPicPr>
            <a:picLocks noChangeAspect="1"/>
          </p:cNvPicPr>
          <p:nvPr/>
        </p:nvPicPr>
        <p:blipFill>
          <a:blip r:embed="rId5"/>
          <a:stretch>
            <a:fillRect/>
          </a:stretch>
        </p:blipFill>
        <p:spPr>
          <a:xfrm>
            <a:off x="9774936" y="3163824"/>
            <a:ext cx="521208" cy="521208"/>
          </a:xfrm>
          <a:prstGeom prst="rect">
            <a:avLst/>
          </a:prstGeom>
        </p:spPr>
      </p:pic>
      <p:sp>
        <p:nvSpPr>
          <p:cNvPr id="27" name="TextBox 26"/>
          <p:cNvSpPr txBox="1"/>
          <p:nvPr/>
        </p:nvSpPr>
        <p:spPr>
          <a:xfrm>
            <a:off x="10607040" y="2898648"/>
            <a:ext cx="2606040" cy="1051560"/>
          </a:xfrm>
          <a:prstGeom prst="rect">
            <a:avLst/>
          </a:prstGeom>
          <a:noFill/>
        </p:spPr>
        <p:txBody>
          <a:bodyPr wrap="square" lIns="0" tIns="0" rIns="0" bIns="0" anchor="ctr">
            <a:noAutofit/>
          </a:bodyPr>
          <a:lstStyle/>
          <a:p>
            <a:pPr algn="l">
              <a:lnSpc>
                <a:spcPct val="100000"/>
              </a:lnSpc>
            </a:pPr>
            <a:r>
              <a:rPr sz="5400" b="1" i="0">
                <a:solidFill>
                  <a:srgbClr val="8B0707"/>
                </a:solidFill>
                <a:latin typeface="ITC Avant Garde Gothic"/>
                <a:ea typeface="ITC Avant Garde Gothic"/>
                <a:cs typeface="ITC Avant Garde Gothic"/>
              </a:rPr>
              <a:t>34</a:t>
            </a:r>
          </a:p>
        </p:txBody>
      </p:sp>
      <p:sp>
        <p:nvSpPr>
          <p:cNvPr id="28" name="TextBox 27"/>
          <p:cNvSpPr txBox="1"/>
          <p:nvPr/>
        </p:nvSpPr>
        <p:spPr>
          <a:xfrm>
            <a:off x="9601200" y="4069080"/>
            <a:ext cx="3474720" cy="457200"/>
          </a:xfrm>
          <a:prstGeom prst="rect">
            <a:avLst/>
          </a:prstGeom>
          <a:noFill/>
        </p:spPr>
        <p:txBody>
          <a:bodyPr wrap="square" lIns="0" tIns="0" rIns="0" bIns="0" anchor="t">
            <a:noAutofit/>
          </a:bodyPr>
          <a:lstStyle/>
          <a:p>
            <a:pPr algn="l">
              <a:lnSpc>
                <a:spcPct val="100000"/>
              </a:lnSpc>
            </a:pPr>
            <a:r>
              <a:rPr sz="2000" b="1" i="0">
                <a:solidFill>
                  <a:srgbClr val="262626"/>
                </a:solidFill>
                <a:latin typeface="ITC Avant Garde Gothic"/>
                <a:ea typeface="ITC Avant Garde Gothic"/>
                <a:cs typeface="ITC Avant Garde Gothic"/>
              </a:rPr>
              <a:t>classrooms used</a:t>
            </a:r>
          </a:p>
        </p:txBody>
      </p:sp>
      <p:sp>
        <p:nvSpPr>
          <p:cNvPr id="29" name="TextBox 28"/>
          <p:cNvSpPr txBox="1"/>
          <p:nvPr/>
        </p:nvSpPr>
        <p:spPr>
          <a:xfrm>
            <a:off x="9601200" y="4572000"/>
            <a:ext cx="3474720" cy="1828800"/>
          </a:xfrm>
          <a:prstGeom prst="rect">
            <a:avLst/>
          </a:prstGeom>
          <a:noFill/>
        </p:spPr>
        <p:txBody>
          <a:bodyPr wrap="square" lIns="0" tIns="0" rIns="0" bIns="0" anchor="t">
            <a:noAutofit/>
          </a:bodyPr>
          <a:lstStyle/>
          <a:p>
            <a:pPr algn="l">
              <a:lnSpc>
                <a:spcPct val="105000"/>
              </a:lnSpc>
            </a:pPr>
            <a:r>
              <a:rPr sz="1700" b="0" i="0">
                <a:solidFill>
                  <a:srgbClr val="262626"/>
                </a:solidFill>
                <a:latin typeface="ITC Avant Garde Gothic"/>
                <a:ea typeface="ITC Avant Garde Gothic"/>
                <a:cs typeface="ITC Avant Garde Gothic"/>
              </a:rPr>
              <a:t>in three Camalig schools sheltered 488 families, about 1,315 people, in May 2026.</a:t>
            </a:r>
          </a:p>
        </p:txBody>
      </p:sp>
      <p:sp>
        <p:nvSpPr>
          <p:cNvPr id="30" name="TextBox 29"/>
          <p:cNvSpPr txBox="1"/>
          <p:nvPr/>
        </p:nvSpPr>
        <p:spPr>
          <a:xfrm>
            <a:off x="9601200" y="6464808"/>
            <a:ext cx="3474720" cy="41148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Daily Tribune, May 4, 2026</a:t>
            </a:r>
          </a:p>
        </p:txBody>
      </p:sp>
      <p:sp>
        <p:nvSpPr>
          <p:cNvPr id="31" name="Rounded Rectangle 30"/>
          <p:cNvSpPr/>
          <p:nvPr/>
        </p:nvSpPr>
        <p:spPr>
          <a:xfrm>
            <a:off x="13716000" y="2697480"/>
            <a:ext cx="4023360" cy="4343400"/>
          </a:xfrm>
          <a:prstGeom prst="roundRect">
            <a:avLst>
              <a:gd name="adj" fmla="val 3181"/>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2" name="Oval 31"/>
          <p:cNvSpPr/>
          <p:nvPr/>
        </p:nvSpPr>
        <p:spPr>
          <a:xfrm>
            <a:off x="13990320" y="2990088"/>
            <a:ext cx="868680" cy="868680"/>
          </a:xfrm>
          <a:prstGeom prst="ellipse">
            <a:avLst/>
          </a:prstGeom>
          <a:solidFill>
            <a:srgbClr val="8B0707"/>
          </a:solidFill>
          <a:ln>
            <a:noFill/>
          </a:ln>
          <a:effectLst/>
        </p:spPr>
        <p:txBody>
          <a:bodyPr rtlCol="0" anchor="ctr"/>
          <a:lstStyle/>
          <a:p>
            <a:pPr algn="ctr"/>
          </a:p>
        </p:txBody>
      </p:sp>
      <p:pic>
        <p:nvPicPr>
          <p:cNvPr id="33" name="Picture 32" descr="w_crisis_alert.png"/>
          <p:cNvPicPr>
            <a:picLocks noChangeAspect="1"/>
          </p:cNvPicPr>
          <p:nvPr/>
        </p:nvPicPr>
        <p:blipFill>
          <a:blip r:embed="rId6"/>
          <a:stretch>
            <a:fillRect/>
          </a:stretch>
        </p:blipFill>
        <p:spPr>
          <a:xfrm>
            <a:off x="14164056" y="3163824"/>
            <a:ext cx="521208" cy="521208"/>
          </a:xfrm>
          <a:prstGeom prst="rect">
            <a:avLst/>
          </a:prstGeom>
        </p:spPr>
      </p:pic>
      <p:sp>
        <p:nvSpPr>
          <p:cNvPr id="34" name="TextBox 33"/>
          <p:cNvSpPr txBox="1"/>
          <p:nvPr/>
        </p:nvSpPr>
        <p:spPr>
          <a:xfrm>
            <a:off x="14996160" y="2898648"/>
            <a:ext cx="2606040" cy="1051560"/>
          </a:xfrm>
          <a:prstGeom prst="rect">
            <a:avLst/>
          </a:prstGeom>
          <a:noFill/>
        </p:spPr>
        <p:txBody>
          <a:bodyPr wrap="square" lIns="0" tIns="0" rIns="0" bIns="0" anchor="ctr">
            <a:noAutofit/>
          </a:bodyPr>
          <a:lstStyle/>
          <a:p>
            <a:pPr algn="l">
              <a:lnSpc>
                <a:spcPct val="100000"/>
              </a:lnSpc>
            </a:pPr>
            <a:r>
              <a:rPr sz="5400" b="1" i="0">
                <a:solidFill>
                  <a:srgbClr val="8B0707"/>
                </a:solidFill>
                <a:latin typeface="ITC Avant Garde Gothic"/>
                <a:ea typeface="ITC Avant Garde Gothic"/>
                <a:cs typeface="ITC Avant Garde Gothic"/>
              </a:rPr>
              <a:t>132</a:t>
            </a:r>
          </a:p>
        </p:txBody>
      </p:sp>
      <p:sp>
        <p:nvSpPr>
          <p:cNvPr id="35" name="TextBox 34"/>
          <p:cNvSpPr txBox="1"/>
          <p:nvPr/>
        </p:nvSpPr>
        <p:spPr>
          <a:xfrm>
            <a:off x="13990320" y="4069080"/>
            <a:ext cx="3474720" cy="457200"/>
          </a:xfrm>
          <a:prstGeom prst="rect">
            <a:avLst/>
          </a:prstGeom>
          <a:noFill/>
        </p:spPr>
        <p:txBody>
          <a:bodyPr wrap="square" lIns="0" tIns="0" rIns="0" bIns="0" anchor="t">
            <a:noAutofit/>
          </a:bodyPr>
          <a:lstStyle/>
          <a:p>
            <a:pPr algn="l">
              <a:lnSpc>
                <a:spcPct val="100000"/>
              </a:lnSpc>
            </a:pPr>
            <a:r>
              <a:rPr sz="2000" b="1" i="0">
                <a:solidFill>
                  <a:srgbClr val="262626"/>
                </a:solidFill>
                <a:latin typeface="ITC Avant Garde Gothic"/>
                <a:ea typeface="ITC Avant Garde Gothic"/>
                <a:cs typeface="ITC Avant Garde Gothic"/>
              </a:rPr>
              <a:t>schools hit by ashfall</a:t>
            </a:r>
          </a:p>
        </p:txBody>
      </p:sp>
      <p:sp>
        <p:nvSpPr>
          <p:cNvPr id="36" name="TextBox 35"/>
          <p:cNvSpPr txBox="1"/>
          <p:nvPr/>
        </p:nvSpPr>
        <p:spPr>
          <a:xfrm>
            <a:off x="13990320" y="4572000"/>
            <a:ext cx="3474720" cy="1828800"/>
          </a:xfrm>
          <a:prstGeom prst="rect">
            <a:avLst/>
          </a:prstGeom>
          <a:noFill/>
        </p:spPr>
        <p:txBody>
          <a:bodyPr wrap="square" lIns="0" tIns="0" rIns="0" bIns="0" anchor="t">
            <a:noAutofit/>
          </a:bodyPr>
          <a:lstStyle/>
          <a:p>
            <a:pPr algn="l">
              <a:lnSpc>
                <a:spcPct val="105000"/>
              </a:lnSpc>
            </a:pPr>
            <a:r>
              <a:rPr sz="1700" b="0" i="0">
                <a:solidFill>
                  <a:srgbClr val="262626"/>
                </a:solidFill>
                <a:latin typeface="ITC Avant Garde Gothic"/>
                <a:ea typeface="ITC Avant Garde Gothic"/>
                <a:cs typeface="ITC Avant Garde Gothic"/>
              </a:rPr>
              <a:t>Ashfall from Mayon reached up to 132 schools in May 2026.</a:t>
            </a:r>
          </a:p>
        </p:txBody>
      </p:sp>
      <p:sp>
        <p:nvSpPr>
          <p:cNvPr id="37" name="TextBox 36"/>
          <p:cNvSpPr txBox="1"/>
          <p:nvPr/>
        </p:nvSpPr>
        <p:spPr>
          <a:xfrm>
            <a:off x="13990320" y="6464808"/>
            <a:ext cx="3474720" cy="41148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Philippine Star, May 6, 2026</a:t>
            </a:r>
          </a:p>
        </p:txBody>
      </p:sp>
      <p:sp>
        <p:nvSpPr>
          <p:cNvPr id="38" name="Rounded Rectangle 37"/>
          <p:cNvSpPr/>
          <p:nvPr/>
        </p:nvSpPr>
        <p:spPr>
          <a:xfrm>
            <a:off x="548640" y="7360920"/>
            <a:ext cx="5486400" cy="2468880"/>
          </a:xfrm>
          <a:prstGeom prst="roundRect">
            <a:avLst>
              <a:gd name="adj" fmla="val 5185"/>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9" name="Oval 38"/>
          <p:cNvSpPr/>
          <p:nvPr/>
        </p:nvSpPr>
        <p:spPr>
          <a:xfrm>
            <a:off x="777240" y="7635240"/>
            <a:ext cx="731520" cy="731520"/>
          </a:xfrm>
          <a:prstGeom prst="ellipse">
            <a:avLst/>
          </a:prstGeom>
          <a:solidFill>
            <a:srgbClr val="8B0707"/>
          </a:solidFill>
          <a:ln>
            <a:noFill/>
          </a:ln>
          <a:effectLst/>
        </p:spPr>
        <p:txBody>
          <a:bodyPr rtlCol="0" anchor="ctr"/>
          <a:lstStyle/>
          <a:p>
            <a:pPr algn="ctr"/>
          </a:p>
        </p:txBody>
      </p:sp>
      <p:pic>
        <p:nvPicPr>
          <p:cNvPr id="40" name="Picture 39" descr="w_groups.png"/>
          <p:cNvPicPr>
            <a:picLocks noChangeAspect="1"/>
          </p:cNvPicPr>
          <p:nvPr/>
        </p:nvPicPr>
        <p:blipFill>
          <a:blip r:embed="rId7"/>
          <a:stretch>
            <a:fillRect/>
          </a:stretch>
        </p:blipFill>
        <p:spPr>
          <a:xfrm>
            <a:off x="923544" y="7781544"/>
            <a:ext cx="438912" cy="438912"/>
          </a:xfrm>
          <a:prstGeom prst="rect">
            <a:avLst/>
          </a:prstGeom>
        </p:spPr>
      </p:pic>
      <p:sp>
        <p:nvSpPr>
          <p:cNvPr id="41" name="TextBox 40"/>
          <p:cNvSpPr txBox="1"/>
          <p:nvPr/>
        </p:nvSpPr>
        <p:spPr>
          <a:xfrm>
            <a:off x="1691640" y="7589520"/>
            <a:ext cx="416052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June 2023 unrest</a:t>
            </a:r>
          </a:p>
        </p:txBody>
      </p:sp>
      <p:sp>
        <p:nvSpPr>
          <p:cNvPr id="42" name="TextBox 41"/>
          <p:cNvSpPr txBox="1"/>
          <p:nvPr/>
        </p:nvSpPr>
        <p:spPr>
          <a:xfrm>
            <a:off x="822960" y="8476488"/>
            <a:ext cx="4983480" cy="868680"/>
          </a:xfrm>
          <a:prstGeom prst="rect">
            <a:avLst/>
          </a:prstGeom>
          <a:noFill/>
        </p:spPr>
        <p:txBody>
          <a:bodyPr wrap="square" lIns="0" tIns="0" rIns="0" bIns="0" anchor="t">
            <a:noAutofit/>
          </a:bodyPr>
          <a:lstStyle/>
          <a:p>
            <a:pPr algn="l">
              <a:lnSpc>
                <a:spcPct val="100000"/>
              </a:lnSpc>
            </a:pPr>
            <a:r>
              <a:rPr sz="1700" b="0" i="0">
                <a:solidFill>
                  <a:srgbClr val="262626"/>
                </a:solidFill>
                <a:latin typeface="ITC Avant Garde Gothic"/>
                <a:ea typeface="ITC Avant Garde Gothic"/>
                <a:cs typeface="ITC Avant Garde Gothic"/>
              </a:rPr>
              <a:t>More than 19,000 people from 26 barangays stayed in 26 evacuation centers.</a:t>
            </a:r>
          </a:p>
        </p:txBody>
      </p:sp>
      <p:sp>
        <p:nvSpPr>
          <p:cNvPr id="43" name="TextBox 42"/>
          <p:cNvSpPr txBox="1"/>
          <p:nvPr/>
        </p:nvSpPr>
        <p:spPr>
          <a:xfrm>
            <a:off x="822960" y="9354312"/>
            <a:ext cx="4983480" cy="36576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ReliefWeb, 2023</a:t>
            </a:r>
          </a:p>
        </p:txBody>
      </p:sp>
      <p:sp>
        <p:nvSpPr>
          <p:cNvPr id="44" name="Rounded Rectangle 43"/>
          <p:cNvSpPr/>
          <p:nvPr/>
        </p:nvSpPr>
        <p:spPr>
          <a:xfrm>
            <a:off x="6400800" y="7360920"/>
            <a:ext cx="5486400" cy="2468880"/>
          </a:xfrm>
          <a:prstGeom prst="roundRect">
            <a:avLst>
              <a:gd name="adj" fmla="val 5185"/>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45" name="Oval 44"/>
          <p:cNvSpPr/>
          <p:nvPr/>
        </p:nvSpPr>
        <p:spPr>
          <a:xfrm>
            <a:off x="6629400" y="7635240"/>
            <a:ext cx="731520" cy="731520"/>
          </a:xfrm>
          <a:prstGeom prst="ellipse">
            <a:avLst/>
          </a:prstGeom>
          <a:solidFill>
            <a:srgbClr val="8B0707"/>
          </a:solidFill>
          <a:ln>
            <a:noFill/>
          </a:ln>
          <a:effectLst/>
        </p:spPr>
        <p:txBody>
          <a:bodyPr rtlCol="0" anchor="ctr"/>
          <a:lstStyle/>
          <a:p>
            <a:pPr algn="ctr"/>
          </a:p>
        </p:txBody>
      </p:sp>
      <p:pic>
        <p:nvPicPr>
          <p:cNvPr id="46" name="Picture 45" descr="w_landslide.png"/>
          <p:cNvPicPr>
            <a:picLocks noChangeAspect="1"/>
          </p:cNvPicPr>
          <p:nvPr/>
        </p:nvPicPr>
        <p:blipFill>
          <a:blip r:embed="rId8"/>
          <a:stretch>
            <a:fillRect/>
          </a:stretch>
        </p:blipFill>
        <p:spPr>
          <a:xfrm>
            <a:off x="6775704" y="7781544"/>
            <a:ext cx="438912" cy="438912"/>
          </a:xfrm>
          <a:prstGeom prst="rect">
            <a:avLst/>
          </a:prstGeom>
        </p:spPr>
      </p:pic>
      <p:sp>
        <p:nvSpPr>
          <p:cNvPr id="47" name="TextBox 46"/>
          <p:cNvSpPr txBox="1"/>
          <p:nvPr/>
        </p:nvSpPr>
        <p:spPr>
          <a:xfrm>
            <a:off x="7543800" y="7589520"/>
            <a:ext cx="416052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Typhoon Durian (Reming), 2006</a:t>
            </a:r>
          </a:p>
        </p:txBody>
      </p:sp>
      <p:sp>
        <p:nvSpPr>
          <p:cNvPr id="48" name="TextBox 47"/>
          <p:cNvSpPr txBox="1"/>
          <p:nvPr/>
        </p:nvSpPr>
        <p:spPr>
          <a:xfrm>
            <a:off x="6675120" y="8476488"/>
            <a:ext cx="4983480" cy="868680"/>
          </a:xfrm>
          <a:prstGeom prst="rect">
            <a:avLst/>
          </a:prstGeom>
          <a:noFill/>
        </p:spPr>
        <p:txBody>
          <a:bodyPr wrap="square" lIns="0" tIns="0" rIns="0" bIns="0" anchor="t">
            <a:noAutofit/>
          </a:bodyPr>
          <a:lstStyle/>
          <a:p>
            <a:pPr algn="l">
              <a:lnSpc>
                <a:spcPct val="100000"/>
              </a:lnSpc>
            </a:pPr>
            <a:r>
              <a:rPr sz="1700" b="0" i="0">
                <a:solidFill>
                  <a:srgbClr val="262626"/>
                </a:solidFill>
                <a:latin typeface="ITC Avant Garde Gothic"/>
                <a:ea typeface="ITC Avant Garde Gothic"/>
                <a:cs typeface="ITC Avant Garde Gothic"/>
              </a:rPr>
              <a:t>Mayon lahars left about 1,200 dead and missing in Albay.</a:t>
            </a:r>
          </a:p>
        </p:txBody>
      </p:sp>
      <p:sp>
        <p:nvSpPr>
          <p:cNvPr id="49" name="TextBox 48"/>
          <p:cNvSpPr txBox="1"/>
          <p:nvPr/>
        </p:nvSpPr>
        <p:spPr>
          <a:xfrm>
            <a:off x="6675120" y="9354312"/>
            <a:ext cx="4983480" cy="36576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Philippine Daily Inquirer, 2016</a:t>
            </a:r>
          </a:p>
        </p:txBody>
      </p:sp>
      <p:sp>
        <p:nvSpPr>
          <p:cNvPr id="50" name="Rounded Rectangle 49"/>
          <p:cNvSpPr/>
          <p:nvPr/>
        </p:nvSpPr>
        <p:spPr>
          <a:xfrm>
            <a:off x="12252960" y="7360920"/>
            <a:ext cx="5486400" cy="2468880"/>
          </a:xfrm>
          <a:prstGeom prst="roundRect">
            <a:avLst>
              <a:gd name="adj" fmla="val 5185"/>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51" name="Oval 50"/>
          <p:cNvSpPr/>
          <p:nvPr/>
        </p:nvSpPr>
        <p:spPr>
          <a:xfrm>
            <a:off x="12481560" y="7635240"/>
            <a:ext cx="731520" cy="731520"/>
          </a:xfrm>
          <a:prstGeom prst="ellipse">
            <a:avLst/>
          </a:prstGeom>
          <a:solidFill>
            <a:srgbClr val="8B0707"/>
          </a:solidFill>
          <a:ln>
            <a:noFill/>
          </a:ln>
          <a:effectLst/>
        </p:spPr>
        <p:txBody>
          <a:bodyPr rtlCol="0" anchor="ctr"/>
          <a:lstStyle/>
          <a:p>
            <a:pPr algn="ctr"/>
          </a:p>
        </p:txBody>
      </p:sp>
      <p:pic>
        <p:nvPicPr>
          <p:cNvPr id="52" name="Picture 51" descr="w_location_city.png"/>
          <p:cNvPicPr>
            <a:picLocks noChangeAspect="1"/>
          </p:cNvPicPr>
          <p:nvPr/>
        </p:nvPicPr>
        <p:blipFill>
          <a:blip r:embed="rId9"/>
          <a:stretch>
            <a:fillRect/>
          </a:stretch>
        </p:blipFill>
        <p:spPr>
          <a:xfrm>
            <a:off x="12627864" y="7781544"/>
            <a:ext cx="438912" cy="438912"/>
          </a:xfrm>
          <a:prstGeom prst="rect">
            <a:avLst/>
          </a:prstGeom>
        </p:spPr>
      </p:pic>
      <p:sp>
        <p:nvSpPr>
          <p:cNvPr id="53" name="TextBox 52"/>
          <p:cNvSpPr txBox="1"/>
          <p:nvPr/>
        </p:nvSpPr>
        <p:spPr>
          <a:xfrm>
            <a:off x="13395960" y="7589520"/>
            <a:ext cx="416052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The setting: Albay</a:t>
            </a:r>
          </a:p>
        </p:txBody>
      </p:sp>
      <p:sp>
        <p:nvSpPr>
          <p:cNvPr id="54" name="TextBox 53"/>
          <p:cNvSpPr txBox="1"/>
          <p:nvPr/>
        </p:nvSpPr>
        <p:spPr>
          <a:xfrm>
            <a:off x="12527280" y="8476488"/>
            <a:ext cx="4983480" cy="868680"/>
          </a:xfrm>
          <a:prstGeom prst="rect">
            <a:avLst/>
          </a:prstGeom>
          <a:noFill/>
        </p:spPr>
        <p:txBody>
          <a:bodyPr wrap="square" lIns="0" tIns="0" rIns="0" bIns="0" anchor="t">
            <a:noAutofit/>
          </a:bodyPr>
          <a:lstStyle/>
          <a:p>
            <a:pPr algn="l">
              <a:lnSpc>
                <a:spcPct val="100000"/>
              </a:lnSpc>
            </a:pPr>
            <a:r>
              <a:rPr sz="1700" b="0" i="0">
                <a:solidFill>
                  <a:srgbClr val="262626"/>
                </a:solidFill>
                <a:latin typeface="ITC Avant Garde Gothic"/>
                <a:ea typeface="ITC Avant Garde Gothic"/>
                <a:cs typeface="ITC Avant Garde Gothic"/>
              </a:rPr>
              <a:t>18 cities and municipalities, 720 barangays, 1,374,768 residents.</a:t>
            </a:r>
          </a:p>
        </p:txBody>
      </p:sp>
      <p:sp>
        <p:nvSpPr>
          <p:cNvPr id="55" name="TextBox 54"/>
          <p:cNvSpPr txBox="1"/>
          <p:nvPr/>
        </p:nvSpPr>
        <p:spPr>
          <a:xfrm>
            <a:off x="12527280" y="9354312"/>
            <a:ext cx="4983480" cy="36576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PSA 2020 census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4274389"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INTRODUCTION</a:t>
            </a:r>
          </a:p>
        </p:txBody>
      </p:sp>
      <p:sp>
        <p:nvSpPr>
          <p:cNvPr id="8" name="Subtitle"/>
          <p:cNvSpPr txBox="1"/>
          <p:nvPr/>
        </p:nvSpPr>
        <p:spPr>
          <a:xfrm>
            <a:off x="14899838" y="18288"/>
            <a:ext cx="2976682"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What the Law Asks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The law sets the order; no tool yet says how many classrooms an evacuation truly needs</a:t>
            </a:r>
          </a:p>
        </p:txBody>
      </p:sp>
      <p:sp>
        <p:nvSpPr>
          <p:cNvPr id="10" name="Rounded Rectangle 9"/>
          <p:cNvSpPr/>
          <p:nvPr/>
        </p:nvSpPr>
        <p:spPr>
          <a:xfrm>
            <a:off x="548640" y="2697480"/>
            <a:ext cx="5455920" cy="4892040"/>
          </a:xfrm>
          <a:prstGeom prst="roundRect">
            <a:avLst>
              <a:gd name="adj" fmla="val 2616"/>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Rounded Rectangle 10"/>
          <p:cNvSpPr/>
          <p:nvPr/>
        </p:nvSpPr>
        <p:spPr>
          <a:xfrm>
            <a:off x="548640" y="2697480"/>
            <a:ext cx="5455920" cy="1051560"/>
          </a:xfrm>
          <a:prstGeom prst="roundRect">
            <a:avLst>
              <a:gd name="adj" fmla="val 12173"/>
            </a:avLst>
          </a:prstGeom>
          <a:solidFill>
            <a:srgbClr val="8B0707"/>
          </a:solidFill>
          <a:ln>
            <a:noFill/>
          </a:ln>
          <a:effectLst/>
        </p:spPr>
        <p:txBody>
          <a:bodyPr rtlCol="0" anchor="ctr"/>
          <a:lstStyle/>
          <a:p>
            <a:pPr algn="ctr"/>
          </a:p>
        </p:txBody>
      </p:sp>
      <p:sp>
        <p:nvSpPr>
          <p:cNvPr id="12" name="Rectangle 11"/>
          <p:cNvSpPr/>
          <p:nvPr/>
        </p:nvSpPr>
        <p:spPr>
          <a:xfrm>
            <a:off x="548640" y="3223260"/>
            <a:ext cx="5455920" cy="525780"/>
          </a:xfrm>
          <a:prstGeom prst="rect">
            <a:avLst/>
          </a:prstGeom>
          <a:solidFill>
            <a:srgbClr val="8B0707"/>
          </a:solidFill>
          <a:ln>
            <a:noFill/>
          </a:ln>
          <a:effectLst/>
        </p:spPr>
        <p:txBody>
          <a:bodyPr rtlCol="0" anchor="ctr"/>
          <a:lstStyle/>
          <a:p>
            <a:pPr algn="ctr"/>
          </a:p>
        </p:txBody>
      </p:sp>
      <p:pic>
        <p:nvPicPr>
          <p:cNvPr id="13" name="Picture 12" descr="w_gavel.png"/>
          <p:cNvPicPr>
            <a:picLocks noChangeAspect="1"/>
          </p:cNvPicPr>
          <p:nvPr/>
        </p:nvPicPr>
        <p:blipFill>
          <a:blip r:embed="rId3"/>
          <a:stretch>
            <a:fillRect/>
          </a:stretch>
        </p:blipFill>
        <p:spPr>
          <a:xfrm>
            <a:off x="713232" y="2798064"/>
            <a:ext cx="850392" cy="850392"/>
          </a:xfrm>
          <a:prstGeom prst="rect">
            <a:avLst/>
          </a:prstGeom>
        </p:spPr>
      </p:pic>
      <p:sp>
        <p:nvSpPr>
          <p:cNvPr id="14" name="TextBox 13"/>
          <p:cNvSpPr txBox="1"/>
          <p:nvPr/>
        </p:nvSpPr>
        <p:spPr>
          <a:xfrm>
            <a:off x="1700784" y="2697480"/>
            <a:ext cx="4212336" cy="1051560"/>
          </a:xfrm>
          <a:prstGeom prst="rect">
            <a:avLst/>
          </a:prstGeom>
          <a:noFill/>
        </p:spPr>
        <p:txBody>
          <a:bodyPr wrap="square" lIns="0" tIns="0" rIns="0" bIns="0" anchor="ctr">
            <a:noAutofit/>
          </a:bodyPr>
          <a:lstStyle/>
          <a:p>
            <a:pPr algn="l">
              <a:lnSpc>
                <a:spcPct val="100000"/>
              </a:lnSpc>
            </a:pPr>
            <a:r>
              <a:rPr sz="2100" b="1" i="0">
                <a:solidFill>
                  <a:srgbClr val="FFFFFF"/>
                </a:solidFill>
                <a:latin typeface="ITC Avant Garde Gothic"/>
                <a:ea typeface="ITC Avant Garde Gothic"/>
                <a:cs typeface="ITC Avant Garde Gothic"/>
              </a:rPr>
              <a:t>RA 10821 (2016)</a:t>
            </a:r>
          </a:p>
          <a:p>
            <a:pPr algn="l">
              <a:lnSpc>
                <a:spcPct val="100000"/>
              </a:lnSpc>
            </a:pPr>
            <a:r>
              <a:rPr sz="1600" b="0" i="0">
                <a:solidFill>
                  <a:srgbClr val="FFFFFF"/>
                </a:solidFill>
                <a:latin typeface="ITC Avant Garde Gothic"/>
                <a:ea typeface="ITC Avant Garde Gothic"/>
                <a:cs typeface="ITC Avant Garde Gothic"/>
              </a:rPr>
              <a:t>Children's Emergency Relief and Protection Act</a:t>
            </a:r>
          </a:p>
        </p:txBody>
      </p:sp>
      <p:sp>
        <p:nvSpPr>
          <p:cNvPr id="15" name="TextBox 14"/>
          <p:cNvSpPr txBox="1"/>
          <p:nvPr/>
        </p:nvSpPr>
        <p:spPr>
          <a:xfrm>
            <a:off x="822960" y="3977640"/>
            <a:ext cx="4953000" cy="3429000"/>
          </a:xfrm>
          <a:prstGeom prst="rect">
            <a:avLst/>
          </a:prstGeom>
          <a:noFill/>
        </p:spPr>
        <p:txBody>
          <a:bodyPr wrap="square" lIns="45720" tIns="27432" rIns="45720" bIns="27432" anchor="t">
            <a:noAutofit/>
          </a:bodyPr>
          <a:lstStyle/>
          <a:p>
            <a:pPr algn="l" marL="329184" indent="-329184">
              <a:lnSpc>
                <a:spcPct val="100000"/>
              </a:lnSpc>
              <a:spcAft>
                <a:spcPts val="1000"/>
              </a:spcAft>
              <a:buClr>
                <a:srgbClr val="8B0707"/>
              </a:buClr>
              <a:buSzPct val="100000"/>
              <a:buFont typeface="Arial"/>
              <a:buChar char="•"/>
            </a:pPr>
            <a:r>
              <a:rPr sz="1800" b="0" i="0">
                <a:solidFill>
                  <a:srgbClr val="262626"/>
                </a:solidFill>
                <a:latin typeface="ITC Avant Garde Gothic"/>
                <a:ea typeface="ITC Avant Garde Gothic"/>
                <a:cs typeface="ITC Avant Garde Gothic"/>
              </a:rPr>
              <a:t>Schools may be evacuation centers only when no other suitable space exists</a:t>
            </a:r>
          </a:p>
          <a:p>
            <a:pPr algn="l" marL="329184" indent="-329184">
              <a:lnSpc>
                <a:spcPct val="100000"/>
              </a:lnSpc>
              <a:spcAft>
                <a:spcPts val="1000"/>
              </a:spcAft>
              <a:buClr>
                <a:srgbClr val="8B0707"/>
              </a:buClr>
              <a:buSzPct val="100000"/>
              <a:buFont typeface="Arial"/>
              <a:buChar char="•"/>
            </a:pPr>
            <a:r>
              <a:rPr sz="1800" b="0" i="0">
                <a:solidFill>
                  <a:srgbClr val="262626"/>
                </a:solidFill>
                <a:latin typeface="ITC Avant Garde Gothic"/>
                <a:ea typeface="ITC Avant Garde Gothic"/>
                <a:cs typeface="ITC Avant Garde Gothic"/>
              </a:rPr>
              <a:t>DepEd guidance: gyms and open spaces before classrooms; classrooms are the last resort</a:t>
            </a:r>
          </a:p>
          <a:p>
            <a:pPr algn="l" marL="329184" indent="-329184">
              <a:lnSpc>
                <a:spcPct val="100000"/>
              </a:lnSpc>
              <a:buClr>
                <a:srgbClr val="8B0707"/>
              </a:buClr>
              <a:buSzPct val="100000"/>
              <a:buFont typeface="Arial"/>
              <a:buChar char="•"/>
            </a:pPr>
            <a:r>
              <a:rPr sz="1800" b="0" i="0">
                <a:solidFill>
                  <a:srgbClr val="262626"/>
                </a:solidFill>
                <a:latin typeface="ITC Avant Garde Gothic"/>
                <a:ea typeface="ITC Avant Garde Gothic"/>
                <a:cs typeface="ITC Avant Garde Gothic"/>
              </a:rPr>
              <a:t>School use limited to 15 days for longer displacement unless the LGU documents the need</a:t>
            </a:r>
          </a:p>
        </p:txBody>
      </p:sp>
      <p:sp>
        <p:nvSpPr>
          <p:cNvPr id="16" name="Rounded Rectangle 15"/>
          <p:cNvSpPr/>
          <p:nvPr/>
        </p:nvSpPr>
        <p:spPr>
          <a:xfrm>
            <a:off x="6416040" y="2697480"/>
            <a:ext cx="5455920" cy="4892040"/>
          </a:xfrm>
          <a:prstGeom prst="roundRect">
            <a:avLst>
              <a:gd name="adj" fmla="val 2616"/>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7" name="Rounded Rectangle 16"/>
          <p:cNvSpPr/>
          <p:nvPr/>
        </p:nvSpPr>
        <p:spPr>
          <a:xfrm>
            <a:off x="6416040" y="2697480"/>
            <a:ext cx="5455920" cy="1051560"/>
          </a:xfrm>
          <a:prstGeom prst="roundRect">
            <a:avLst>
              <a:gd name="adj" fmla="val 12173"/>
            </a:avLst>
          </a:prstGeom>
          <a:solidFill>
            <a:srgbClr val="8B0707"/>
          </a:solidFill>
          <a:ln>
            <a:noFill/>
          </a:ln>
          <a:effectLst/>
        </p:spPr>
        <p:txBody>
          <a:bodyPr rtlCol="0" anchor="ctr"/>
          <a:lstStyle/>
          <a:p>
            <a:pPr algn="ctr"/>
          </a:p>
        </p:txBody>
      </p:sp>
      <p:sp>
        <p:nvSpPr>
          <p:cNvPr id="18" name="Rectangle 17"/>
          <p:cNvSpPr/>
          <p:nvPr/>
        </p:nvSpPr>
        <p:spPr>
          <a:xfrm>
            <a:off x="6416040" y="3223260"/>
            <a:ext cx="5455920" cy="525780"/>
          </a:xfrm>
          <a:prstGeom prst="rect">
            <a:avLst/>
          </a:prstGeom>
          <a:solidFill>
            <a:srgbClr val="8B0707"/>
          </a:solidFill>
          <a:ln>
            <a:noFill/>
          </a:ln>
          <a:effectLst/>
        </p:spPr>
        <p:txBody>
          <a:bodyPr rtlCol="0" anchor="ctr"/>
          <a:lstStyle/>
          <a:p>
            <a:pPr algn="ctr"/>
          </a:p>
        </p:txBody>
      </p:sp>
      <p:pic>
        <p:nvPicPr>
          <p:cNvPr id="19" name="Picture 18" descr="w_night_shelter.png"/>
          <p:cNvPicPr>
            <a:picLocks noChangeAspect="1"/>
          </p:cNvPicPr>
          <p:nvPr/>
        </p:nvPicPr>
        <p:blipFill>
          <a:blip r:embed="rId4"/>
          <a:stretch>
            <a:fillRect/>
          </a:stretch>
        </p:blipFill>
        <p:spPr>
          <a:xfrm>
            <a:off x="6580632" y="2798064"/>
            <a:ext cx="850392" cy="850392"/>
          </a:xfrm>
          <a:prstGeom prst="rect">
            <a:avLst/>
          </a:prstGeom>
        </p:spPr>
      </p:pic>
      <p:sp>
        <p:nvSpPr>
          <p:cNvPr id="20" name="TextBox 19"/>
          <p:cNvSpPr txBox="1"/>
          <p:nvPr/>
        </p:nvSpPr>
        <p:spPr>
          <a:xfrm>
            <a:off x="7568184" y="2697480"/>
            <a:ext cx="4212336" cy="1051560"/>
          </a:xfrm>
          <a:prstGeom prst="rect">
            <a:avLst/>
          </a:prstGeom>
          <a:noFill/>
        </p:spPr>
        <p:txBody>
          <a:bodyPr wrap="square" lIns="0" tIns="0" rIns="0" bIns="0" anchor="ctr">
            <a:noAutofit/>
          </a:bodyPr>
          <a:lstStyle/>
          <a:p>
            <a:pPr algn="l">
              <a:lnSpc>
                <a:spcPct val="100000"/>
              </a:lnSpc>
            </a:pPr>
            <a:r>
              <a:rPr sz="2100" b="1" i="0">
                <a:solidFill>
                  <a:srgbClr val="FFFFFF"/>
                </a:solidFill>
                <a:latin typeface="ITC Avant Garde Gothic"/>
                <a:ea typeface="ITC Avant Garde Gothic"/>
                <a:cs typeface="ITC Avant Garde Gothic"/>
              </a:rPr>
              <a:t>RA 12076 (2024)</a:t>
            </a:r>
          </a:p>
          <a:p>
            <a:pPr algn="l">
              <a:lnSpc>
                <a:spcPct val="100000"/>
              </a:lnSpc>
            </a:pPr>
            <a:r>
              <a:rPr sz="1600" b="0" i="0">
                <a:solidFill>
                  <a:srgbClr val="FFFFFF"/>
                </a:solidFill>
                <a:latin typeface="ITC Avant Garde Gothic"/>
                <a:ea typeface="ITC Avant Garde Gothic"/>
                <a:cs typeface="ITC Avant Garde Gothic"/>
              </a:rPr>
              <a:t>Ligtas Pinoy Centers Act</a:t>
            </a:r>
          </a:p>
        </p:txBody>
      </p:sp>
      <p:sp>
        <p:nvSpPr>
          <p:cNvPr id="21" name="TextBox 20"/>
          <p:cNvSpPr txBox="1"/>
          <p:nvPr/>
        </p:nvSpPr>
        <p:spPr>
          <a:xfrm>
            <a:off x="6690360" y="3977640"/>
            <a:ext cx="4953000" cy="3429000"/>
          </a:xfrm>
          <a:prstGeom prst="rect">
            <a:avLst/>
          </a:prstGeom>
          <a:noFill/>
        </p:spPr>
        <p:txBody>
          <a:bodyPr wrap="square" lIns="45720" tIns="27432" rIns="45720" bIns="27432" anchor="t">
            <a:noAutofit/>
          </a:bodyPr>
          <a:lstStyle/>
          <a:p>
            <a:pPr algn="l" marL="329184" indent="-329184">
              <a:lnSpc>
                <a:spcPct val="100000"/>
              </a:lnSpc>
              <a:spcAft>
                <a:spcPts val="1000"/>
              </a:spcAft>
              <a:buClr>
                <a:srgbClr val="8B0707"/>
              </a:buClr>
              <a:buSzPct val="100000"/>
              <a:buFont typeface="Arial"/>
              <a:buChar char="•"/>
            </a:pPr>
            <a:r>
              <a:rPr sz="1800" b="0" i="0">
                <a:solidFill>
                  <a:srgbClr val="262626"/>
                </a:solidFill>
                <a:latin typeface="ITC Avant Garde Gothic"/>
                <a:ea typeface="ITC Avant Garde Gothic"/>
                <a:cs typeface="ITC Avant Garde Gothic"/>
              </a:rPr>
              <a:t>Signed December 6, 2024</a:t>
            </a:r>
          </a:p>
          <a:p>
            <a:pPr algn="l" marL="329184" indent="-329184">
              <a:lnSpc>
                <a:spcPct val="100000"/>
              </a:lnSpc>
              <a:spcAft>
                <a:spcPts val="1000"/>
              </a:spcAft>
              <a:buClr>
                <a:srgbClr val="8B0707"/>
              </a:buClr>
              <a:buSzPct val="100000"/>
              <a:buFont typeface="Arial"/>
              <a:buChar char="•"/>
            </a:pPr>
            <a:r>
              <a:rPr sz="1800" b="0" i="0">
                <a:solidFill>
                  <a:srgbClr val="262626"/>
                </a:solidFill>
                <a:latin typeface="ITC Avant Garde Gothic"/>
                <a:ea typeface="ITC Avant Garde Gothic"/>
                <a:cs typeface="ITC Avant Garde Gothic"/>
              </a:rPr>
              <a:t>An evacuation center in every city and municipality</a:t>
            </a:r>
          </a:p>
          <a:p>
            <a:pPr algn="l" marL="329184" indent="-329184">
              <a:lnSpc>
                <a:spcPct val="100000"/>
              </a:lnSpc>
              <a:buClr>
                <a:srgbClr val="8B0707"/>
              </a:buClr>
              <a:buSzPct val="100000"/>
              <a:buFont typeface="Arial"/>
              <a:buChar char="•"/>
            </a:pPr>
            <a:r>
              <a:rPr sz="1800" b="0" i="0">
                <a:solidFill>
                  <a:srgbClr val="262626"/>
                </a:solidFill>
                <a:latin typeface="ITC Avant Garde Gothic"/>
                <a:ea typeface="ITC Avant Garde Gothic"/>
                <a:cs typeface="ITC Avant Garde Gothic"/>
              </a:rPr>
              <a:t>Open question: where would each new center free the most classrooms?</a:t>
            </a:r>
          </a:p>
        </p:txBody>
      </p:sp>
      <p:sp>
        <p:nvSpPr>
          <p:cNvPr id="22" name="Rounded Rectangle 21"/>
          <p:cNvSpPr/>
          <p:nvPr/>
        </p:nvSpPr>
        <p:spPr>
          <a:xfrm>
            <a:off x="12283440" y="2697480"/>
            <a:ext cx="5455920" cy="4892040"/>
          </a:xfrm>
          <a:prstGeom prst="roundRect">
            <a:avLst>
              <a:gd name="adj" fmla="val 2616"/>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3" name="Rounded Rectangle 22"/>
          <p:cNvSpPr/>
          <p:nvPr/>
        </p:nvSpPr>
        <p:spPr>
          <a:xfrm>
            <a:off x="12283440" y="2697480"/>
            <a:ext cx="5455920" cy="1051560"/>
          </a:xfrm>
          <a:prstGeom prst="roundRect">
            <a:avLst>
              <a:gd name="adj" fmla="val 12173"/>
            </a:avLst>
          </a:prstGeom>
          <a:solidFill>
            <a:srgbClr val="8B0707"/>
          </a:solidFill>
          <a:ln>
            <a:noFill/>
          </a:ln>
          <a:effectLst/>
        </p:spPr>
        <p:txBody>
          <a:bodyPr rtlCol="0" anchor="ctr"/>
          <a:lstStyle/>
          <a:p>
            <a:pPr algn="ctr"/>
          </a:p>
        </p:txBody>
      </p:sp>
      <p:sp>
        <p:nvSpPr>
          <p:cNvPr id="24" name="Rectangle 23"/>
          <p:cNvSpPr/>
          <p:nvPr/>
        </p:nvSpPr>
        <p:spPr>
          <a:xfrm>
            <a:off x="12283440" y="3223260"/>
            <a:ext cx="5455920" cy="525780"/>
          </a:xfrm>
          <a:prstGeom prst="rect">
            <a:avLst/>
          </a:prstGeom>
          <a:solidFill>
            <a:srgbClr val="8B0707"/>
          </a:solidFill>
          <a:ln>
            <a:noFill/>
          </a:ln>
          <a:effectLst/>
        </p:spPr>
        <p:txBody>
          <a:bodyPr rtlCol="0" anchor="ctr"/>
          <a:lstStyle/>
          <a:p>
            <a:pPr algn="ctr"/>
          </a:p>
        </p:txBody>
      </p:sp>
      <p:pic>
        <p:nvPicPr>
          <p:cNvPr id="25" name="Picture 24" descr="w_straighten.png"/>
          <p:cNvPicPr>
            <a:picLocks noChangeAspect="1"/>
          </p:cNvPicPr>
          <p:nvPr/>
        </p:nvPicPr>
        <p:blipFill>
          <a:blip r:embed="rId5"/>
          <a:stretch>
            <a:fillRect/>
          </a:stretch>
        </p:blipFill>
        <p:spPr>
          <a:xfrm>
            <a:off x="12448032" y="2798064"/>
            <a:ext cx="850392" cy="850392"/>
          </a:xfrm>
          <a:prstGeom prst="rect">
            <a:avLst/>
          </a:prstGeom>
        </p:spPr>
      </p:pic>
      <p:sp>
        <p:nvSpPr>
          <p:cNvPr id="26" name="TextBox 25"/>
          <p:cNvSpPr txBox="1"/>
          <p:nvPr/>
        </p:nvSpPr>
        <p:spPr>
          <a:xfrm>
            <a:off x="13435584" y="2697480"/>
            <a:ext cx="4212336" cy="1051560"/>
          </a:xfrm>
          <a:prstGeom prst="rect">
            <a:avLst/>
          </a:prstGeom>
          <a:noFill/>
        </p:spPr>
        <p:txBody>
          <a:bodyPr wrap="square" lIns="0" tIns="0" rIns="0" bIns="0" anchor="ctr">
            <a:noAutofit/>
          </a:bodyPr>
          <a:lstStyle/>
          <a:p>
            <a:pPr algn="l">
              <a:lnSpc>
                <a:spcPct val="100000"/>
              </a:lnSpc>
            </a:pPr>
            <a:r>
              <a:rPr sz="2100" b="1" i="0">
                <a:solidFill>
                  <a:srgbClr val="FFFFFF"/>
                </a:solidFill>
                <a:latin typeface="ITC Avant Garde Gothic"/>
                <a:ea typeface="ITC Avant Garde Gothic"/>
                <a:cs typeface="ITC Avant Garde Gothic"/>
              </a:rPr>
              <a:t>Sphere Handbook (2018)</a:t>
            </a:r>
          </a:p>
          <a:p>
            <a:pPr algn="l">
              <a:lnSpc>
                <a:spcPct val="100000"/>
              </a:lnSpc>
            </a:pPr>
            <a:r>
              <a:rPr sz="1600" b="0" i="0">
                <a:solidFill>
                  <a:srgbClr val="FFFFFF"/>
                </a:solidFill>
                <a:latin typeface="ITC Avant Garde Gothic"/>
                <a:ea typeface="ITC Avant Garde Gothic"/>
                <a:cs typeface="ITC Avant Garde Gothic"/>
              </a:rPr>
              <a:t>3.5 m² of covered space per person</a:t>
            </a:r>
          </a:p>
        </p:txBody>
      </p:sp>
      <p:sp>
        <p:nvSpPr>
          <p:cNvPr id="27" name="Rectangle 26"/>
          <p:cNvSpPr/>
          <p:nvPr/>
        </p:nvSpPr>
        <p:spPr>
          <a:xfrm>
            <a:off x="12969240" y="4206240"/>
            <a:ext cx="3840480" cy="2240280"/>
          </a:xfrm>
          <a:prstGeom prst="rect">
            <a:avLst/>
          </a:prstGeom>
          <a:solidFill>
            <a:srgbClr val="FBF3F3"/>
          </a:solidFill>
          <a:ln w="28575">
            <a:solidFill>
              <a:srgbClr val="8B0707"/>
            </a:solidFill>
          </a:ln>
          <a:effectLst/>
        </p:spPr>
        <p:txBody>
          <a:bodyPr rtlCol="0" anchor="ctr"/>
          <a:lstStyle/>
          <a:p>
            <a:pPr algn="ctr"/>
          </a:p>
        </p:txBody>
      </p:sp>
      <p:sp>
        <p:nvSpPr>
          <p:cNvPr id="28" name="Rectangle 27"/>
          <p:cNvSpPr/>
          <p:nvPr/>
        </p:nvSpPr>
        <p:spPr>
          <a:xfrm>
            <a:off x="12969240" y="4206240"/>
            <a:ext cx="640080" cy="746760"/>
          </a:xfrm>
          <a:prstGeom prst="rect">
            <a:avLst/>
          </a:prstGeom>
          <a:noFill/>
          <a:ln w="9525">
            <a:solidFill>
              <a:srgbClr val="D9B3B3"/>
            </a:solidFill>
          </a:ln>
          <a:effectLst/>
        </p:spPr>
        <p:txBody>
          <a:bodyPr rtlCol="0" anchor="ctr"/>
          <a:lstStyle/>
          <a:p>
            <a:pPr algn="ctr"/>
          </a:p>
        </p:txBody>
      </p:sp>
      <p:pic>
        <p:nvPicPr>
          <p:cNvPr id="29" name="Picture 28" descr="c_person.png"/>
          <p:cNvPicPr>
            <a:picLocks noChangeAspect="1"/>
          </p:cNvPicPr>
          <p:nvPr/>
        </p:nvPicPr>
        <p:blipFill>
          <a:blip r:embed="rId6"/>
          <a:stretch>
            <a:fillRect/>
          </a:stretch>
        </p:blipFill>
        <p:spPr>
          <a:xfrm>
            <a:off x="13069824" y="4360164"/>
            <a:ext cx="438912" cy="438912"/>
          </a:xfrm>
          <a:prstGeom prst="rect">
            <a:avLst/>
          </a:prstGeom>
        </p:spPr>
      </p:pic>
      <p:sp>
        <p:nvSpPr>
          <p:cNvPr id="30" name="Rectangle 29"/>
          <p:cNvSpPr/>
          <p:nvPr/>
        </p:nvSpPr>
        <p:spPr>
          <a:xfrm>
            <a:off x="13609320" y="4206240"/>
            <a:ext cx="640080" cy="746760"/>
          </a:xfrm>
          <a:prstGeom prst="rect">
            <a:avLst/>
          </a:prstGeom>
          <a:noFill/>
          <a:ln w="9525">
            <a:solidFill>
              <a:srgbClr val="D9B3B3"/>
            </a:solidFill>
          </a:ln>
          <a:effectLst/>
        </p:spPr>
        <p:txBody>
          <a:bodyPr rtlCol="0" anchor="ctr"/>
          <a:lstStyle/>
          <a:p>
            <a:pPr algn="ctr"/>
          </a:p>
        </p:txBody>
      </p:sp>
      <p:pic>
        <p:nvPicPr>
          <p:cNvPr id="31" name="Picture 30" descr="c_person.png"/>
          <p:cNvPicPr>
            <a:picLocks noChangeAspect="1"/>
          </p:cNvPicPr>
          <p:nvPr/>
        </p:nvPicPr>
        <p:blipFill>
          <a:blip r:embed="rId6"/>
          <a:stretch>
            <a:fillRect/>
          </a:stretch>
        </p:blipFill>
        <p:spPr>
          <a:xfrm>
            <a:off x="13709904" y="4360164"/>
            <a:ext cx="438912" cy="438912"/>
          </a:xfrm>
          <a:prstGeom prst="rect">
            <a:avLst/>
          </a:prstGeom>
        </p:spPr>
      </p:pic>
      <p:sp>
        <p:nvSpPr>
          <p:cNvPr id="32" name="Rectangle 31"/>
          <p:cNvSpPr/>
          <p:nvPr/>
        </p:nvSpPr>
        <p:spPr>
          <a:xfrm>
            <a:off x="14249400" y="4206240"/>
            <a:ext cx="640080" cy="746760"/>
          </a:xfrm>
          <a:prstGeom prst="rect">
            <a:avLst/>
          </a:prstGeom>
          <a:noFill/>
          <a:ln w="9525">
            <a:solidFill>
              <a:srgbClr val="D9B3B3"/>
            </a:solidFill>
          </a:ln>
          <a:effectLst/>
        </p:spPr>
        <p:txBody>
          <a:bodyPr rtlCol="0" anchor="ctr"/>
          <a:lstStyle/>
          <a:p>
            <a:pPr algn="ctr"/>
          </a:p>
        </p:txBody>
      </p:sp>
      <p:pic>
        <p:nvPicPr>
          <p:cNvPr id="33" name="Picture 32" descr="c_person.png"/>
          <p:cNvPicPr>
            <a:picLocks noChangeAspect="1"/>
          </p:cNvPicPr>
          <p:nvPr/>
        </p:nvPicPr>
        <p:blipFill>
          <a:blip r:embed="rId6"/>
          <a:stretch>
            <a:fillRect/>
          </a:stretch>
        </p:blipFill>
        <p:spPr>
          <a:xfrm>
            <a:off x="14349984" y="4360164"/>
            <a:ext cx="438912" cy="438912"/>
          </a:xfrm>
          <a:prstGeom prst="rect">
            <a:avLst/>
          </a:prstGeom>
        </p:spPr>
      </p:pic>
      <p:sp>
        <p:nvSpPr>
          <p:cNvPr id="34" name="Rectangle 33"/>
          <p:cNvSpPr/>
          <p:nvPr/>
        </p:nvSpPr>
        <p:spPr>
          <a:xfrm>
            <a:off x="14889480" y="4206240"/>
            <a:ext cx="640080" cy="746760"/>
          </a:xfrm>
          <a:prstGeom prst="rect">
            <a:avLst/>
          </a:prstGeom>
          <a:noFill/>
          <a:ln w="9525">
            <a:solidFill>
              <a:srgbClr val="D9B3B3"/>
            </a:solidFill>
          </a:ln>
          <a:effectLst/>
        </p:spPr>
        <p:txBody>
          <a:bodyPr rtlCol="0" anchor="ctr"/>
          <a:lstStyle/>
          <a:p>
            <a:pPr algn="ctr"/>
          </a:p>
        </p:txBody>
      </p:sp>
      <p:pic>
        <p:nvPicPr>
          <p:cNvPr id="35" name="Picture 34" descr="c_person.png"/>
          <p:cNvPicPr>
            <a:picLocks noChangeAspect="1"/>
          </p:cNvPicPr>
          <p:nvPr/>
        </p:nvPicPr>
        <p:blipFill>
          <a:blip r:embed="rId6"/>
          <a:stretch>
            <a:fillRect/>
          </a:stretch>
        </p:blipFill>
        <p:spPr>
          <a:xfrm>
            <a:off x="14990064" y="4360164"/>
            <a:ext cx="438912" cy="438912"/>
          </a:xfrm>
          <a:prstGeom prst="rect">
            <a:avLst/>
          </a:prstGeom>
        </p:spPr>
      </p:pic>
      <p:sp>
        <p:nvSpPr>
          <p:cNvPr id="36" name="Rectangle 35"/>
          <p:cNvSpPr/>
          <p:nvPr/>
        </p:nvSpPr>
        <p:spPr>
          <a:xfrm>
            <a:off x="15529560" y="4206240"/>
            <a:ext cx="640080" cy="746760"/>
          </a:xfrm>
          <a:prstGeom prst="rect">
            <a:avLst/>
          </a:prstGeom>
          <a:noFill/>
          <a:ln w="9525">
            <a:solidFill>
              <a:srgbClr val="D9B3B3"/>
            </a:solidFill>
          </a:ln>
          <a:effectLst/>
        </p:spPr>
        <p:txBody>
          <a:bodyPr rtlCol="0" anchor="ctr"/>
          <a:lstStyle/>
          <a:p>
            <a:pPr algn="ctr"/>
          </a:p>
        </p:txBody>
      </p:sp>
      <p:pic>
        <p:nvPicPr>
          <p:cNvPr id="37" name="Picture 36" descr="c_person.png"/>
          <p:cNvPicPr>
            <a:picLocks noChangeAspect="1"/>
          </p:cNvPicPr>
          <p:nvPr/>
        </p:nvPicPr>
        <p:blipFill>
          <a:blip r:embed="rId6"/>
          <a:stretch>
            <a:fillRect/>
          </a:stretch>
        </p:blipFill>
        <p:spPr>
          <a:xfrm>
            <a:off x="15630144" y="4360164"/>
            <a:ext cx="438912" cy="438912"/>
          </a:xfrm>
          <a:prstGeom prst="rect">
            <a:avLst/>
          </a:prstGeom>
        </p:spPr>
      </p:pic>
      <p:sp>
        <p:nvSpPr>
          <p:cNvPr id="38" name="Rectangle 37"/>
          <p:cNvSpPr/>
          <p:nvPr/>
        </p:nvSpPr>
        <p:spPr>
          <a:xfrm>
            <a:off x="16169640" y="4206240"/>
            <a:ext cx="640080" cy="746760"/>
          </a:xfrm>
          <a:prstGeom prst="rect">
            <a:avLst/>
          </a:prstGeom>
          <a:noFill/>
          <a:ln w="9525">
            <a:solidFill>
              <a:srgbClr val="D9B3B3"/>
            </a:solidFill>
          </a:ln>
          <a:effectLst/>
        </p:spPr>
        <p:txBody>
          <a:bodyPr rtlCol="0" anchor="ctr"/>
          <a:lstStyle/>
          <a:p>
            <a:pPr algn="ctr"/>
          </a:p>
        </p:txBody>
      </p:sp>
      <p:pic>
        <p:nvPicPr>
          <p:cNvPr id="39" name="Picture 38" descr="c_person.png"/>
          <p:cNvPicPr>
            <a:picLocks noChangeAspect="1"/>
          </p:cNvPicPr>
          <p:nvPr/>
        </p:nvPicPr>
        <p:blipFill>
          <a:blip r:embed="rId6"/>
          <a:stretch>
            <a:fillRect/>
          </a:stretch>
        </p:blipFill>
        <p:spPr>
          <a:xfrm>
            <a:off x="16270224" y="4360164"/>
            <a:ext cx="438912" cy="438912"/>
          </a:xfrm>
          <a:prstGeom prst="rect">
            <a:avLst/>
          </a:prstGeom>
        </p:spPr>
      </p:pic>
      <p:sp>
        <p:nvSpPr>
          <p:cNvPr id="40" name="Rectangle 39"/>
          <p:cNvSpPr/>
          <p:nvPr/>
        </p:nvSpPr>
        <p:spPr>
          <a:xfrm>
            <a:off x="12969240" y="4953000"/>
            <a:ext cx="640080" cy="746760"/>
          </a:xfrm>
          <a:prstGeom prst="rect">
            <a:avLst/>
          </a:prstGeom>
          <a:noFill/>
          <a:ln w="9525">
            <a:solidFill>
              <a:srgbClr val="D9B3B3"/>
            </a:solidFill>
          </a:ln>
          <a:effectLst/>
        </p:spPr>
        <p:txBody>
          <a:bodyPr rtlCol="0" anchor="ctr"/>
          <a:lstStyle/>
          <a:p>
            <a:pPr algn="ctr"/>
          </a:p>
        </p:txBody>
      </p:sp>
      <p:pic>
        <p:nvPicPr>
          <p:cNvPr id="41" name="Picture 40" descr="c_person.png"/>
          <p:cNvPicPr>
            <a:picLocks noChangeAspect="1"/>
          </p:cNvPicPr>
          <p:nvPr/>
        </p:nvPicPr>
        <p:blipFill>
          <a:blip r:embed="rId6"/>
          <a:stretch>
            <a:fillRect/>
          </a:stretch>
        </p:blipFill>
        <p:spPr>
          <a:xfrm>
            <a:off x="13069824" y="5106924"/>
            <a:ext cx="438912" cy="438912"/>
          </a:xfrm>
          <a:prstGeom prst="rect">
            <a:avLst/>
          </a:prstGeom>
        </p:spPr>
      </p:pic>
      <p:sp>
        <p:nvSpPr>
          <p:cNvPr id="42" name="Rectangle 41"/>
          <p:cNvSpPr/>
          <p:nvPr/>
        </p:nvSpPr>
        <p:spPr>
          <a:xfrm>
            <a:off x="13609320" y="4953000"/>
            <a:ext cx="640080" cy="746760"/>
          </a:xfrm>
          <a:prstGeom prst="rect">
            <a:avLst/>
          </a:prstGeom>
          <a:noFill/>
          <a:ln w="9525">
            <a:solidFill>
              <a:srgbClr val="D9B3B3"/>
            </a:solidFill>
          </a:ln>
          <a:effectLst/>
        </p:spPr>
        <p:txBody>
          <a:bodyPr rtlCol="0" anchor="ctr"/>
          <a:lstStyle/>
          <a:p>
            <a:pPr algn="ctr"/>
          </a:p>
        </p:txBody>
      </p:sp>
      <p:pic>
        <p:nvPicPr>
          <p:cNvPr id="43" name="Picture 42" descr="c_person.png"/>
          <p:cNvPicPr>
            <a:picLocks noChangeAspect="1"/>
          </p:cNvPicPr>
          <p:nvPr/>
        </p:nvPicPr>
        <p:blipFill>
          <a:blip r:embed="rId6"/>
          <a:stretch>
            <a:fillRect/>
          </a:stretch>
        </p:blipFill>
        <p:spPr>
          <a:xfrm>
            <a:off x="13709904" y="5106924"/>
            <a:ext cx="438912" cy="438912"/>
          </a:xfrm>
          <a:prstGeom prst="rect">
            <a:avLst/>
          </a:prstGeom>
        </p:spPr>
      </p:pic>
      <p:sp>
        <p:nvSpPr>
          <p:cNvPr id="44" name="Rectangle 43"/>
          <p:cNvSpPr/>
          <p:nvPr/>
        </p:nvSpPr>
        <p:spPr>
          <a:xfrm>
            <a:off x="14249400" y="4953000"/>
            <a:ext cx="640080" cy="746760"/>
          </a:xfrm>
          <a:prstGeom prst="rect">
            <a:avLst/>
          </a:prstGeom>
          <a:noFill/>
          <a:ln w="9525">
            <a:solidFill>
              <a:srgbClr val="D9B3B3"/>
            </a:solidFill>
          </a:ln>
          <a:effectLst/>
        </p:spPr>
        <p:txBody>
          <a:bodyPr rtlCol="0" anchor="ctr"/>
          <a:lstStyle/>
          <a:p>
            <a:pPr algn="ctr"/>
          </a:p>
        </p:txBody>
      </p:sp>
      <p:pic>
        <p:nvPicPr>
          <p:cNvPr id="45" name="Picture 44" descr="c_person.png"/>
          <p:cNvPicPr>
            <a:picLocks noChangeAspect="1"/>
          </p:cNvPicPr>
          <p:nvPr/>
        </p:nvPicPr>
        <p:blipFill>
          <a:blip r:embed="rId6"/>
          <a:stretch>
            <a:fillRect/>
          </a:stretch>
        </p:blipFill>
        <p:spPr>
          <a:xfrm>
            <a:off x="14349984" y="5106924"/>
            <a:ext cx="438912" cy="438912"/>
          </a:xfrm>
          <a:prstGeom prst="rect">
            <a:avLst/>
          </a:prstGeom>
        </p:spPr>
      </p:pic>
      <p:sp>
        <p:nvSpPr>
          <p:cNvPr id="46" name="Rectangle 45"/>
          <p:cNvSpPr/>
          <p:nvPr/>
        </p:nvSpPr>
        <p:spPr>
          <a:xfrm>
            <a:off x="14889480" y="4953000"/>
            <a:ext cx="640080" cy="746760"/>
          </a:xfrm>
          <a:prstGeom prst="rect">
            <a:avLst/>
          </a:prstGeom>
          <a:noFill/>
          <a:ln w="9525">
            <a:solidFill>
              <a:srgbClr val="D9B3B3"/>
            </a:solidFill>
          </a:ln>
          <a:effectLst/>
        </p:spPr>
        <p:txBody>
          <a:bodyPr rtlCol="0" anchor="ctr"/>
          <a:lstStyle/>
          <a:p>
            <a:pPr algn="ctr"/>
          </a:p>
        </p:txBody>
      </p:sp>
      <p:pic>
        <p:nvPicPr>
          <p:cNvPr id="47" name="Picture 46" descr="c_person.png"/>
          <p:cNvPicPr>
            <a:picLocks noChangeAspect="1"/>
          </p:cNvPicPr>
          <p:nvPr/>
        </p:nvPicPr>
        <p:blipFill>
          <a:blip r:embed="rId6"/>
          <a:stretch>
            <a:fillRect/>
          </a:stretch>
        </p:blipFill>
        <p:spPr>
          <a:xfrm>
            <a:off x="14990064" y="5106924"/>
            <a:ext cx="438912" cy="438912"/>
          </a:xfrm>
          <a:prstGeom prst="rect">
            <a:avLst/>
          </a:prstGeom>
        </p:spPr>
      </p:pic>
      <p:sp>
        <p:nvSpPr>
          <p:cNvPr id="48" name="Rectangle 47"/>
          <p:cNvSpPr/>
          <p:nvPr/>
        </p:nvSpPr>
        <p:spPr>
          <a:xfrm>
            <a:off x="15529560" y="4953000"/>
            <a:ext cx="640080" cy="746760"/>
          </a:xfrm>
          <a:prstGeom prst="rect">
            <a:avLst/>
          </a:prstGeom>
          <a:noFill/>
          <a:ln w="9525">
            <a:solidFill>
              <a:srgbClr val="D9B3B3"/>
            </a:solidFill>
          </a:ln>
          <a:effectLst/>
        </p:spPr>
        <p:txBody>
          <a:bodyPr rtlCol="0" anchor="ctr"/>
          <a:lstStyle/>
          <a:p>
            <a:pPr algn="ctr"/>
          </a:p>
        </p:txBody>
      </p:sp>
      <p:pic>
        <p:nvPicPr>
          <p:cNvPr id="49" name="Picture 48" descr="c_person.png"/>
          <p:cNvPicPr>
            <a:picLocks noChangeAspect="1"/>
          </p:cNvPicPr>
          <p:nvPr/>
        </p:nvPicPr>
        <p:blipFill>
          <a:blip r:embed="rId6"/>
          <a:stretch>
            <a:fillRect/>
          </a:stretch>
        </p:blipFill>
        <p:spPr>
          <a:xfrm>
            <a:off x="15630144" y="5106924"/>
            <a:ext cx="438912" cy="438912"/>
          </a:xfrm>
          <a:prstGeom prst="rect">
            <a:avLst/>
          </a:prstGeom>
        </p:spPr>
      </p:pic>
      <p:sp>
        <p:nvSpPr>
          <p:cNvPr id="50" name="Rectangle 49"/>
          <p:cNvSpPr/>
          <p:nvPr/>
        </p:nvSpPr>
        <p:spPr>
          <a:xfrm>
            <a:off x="16169640" y="4953000"/>
            <a:ext cx="640080" cy="746760"/>
          </a:xfrm>
          <a:prstGeom prst="rect">
            <a:avLst/>
          </a:prstGeom>
          <a:noFill/>
          <a:ln w="9525">
            <a:solidFill>
              <a:srgbClr val="D9B3B3"/>
            </a:solidFill>
          </a:ln>
          <a:effectLst/>
        </p:spPr>
        <p:txBody>
          <a:bodyPr rtlCol="0" anchor="ctr"/>
          <a:lstStyle/>
          <a:p>
            <a:pPr algn="ctr"/>
          </a:p>
        </p:txBody>
      </p:sp>
      <p:pic>
        <p:nvPicPr>
          <p:cNvPr id="51" name="Picture 50" descr="c_person.png"/>
          <p:cNvPicPr>
            <a:picLocks noChangeAspect="1"/>
          </p:cNvPicPr>
          <p:nvPr/>
        </p:nvPicPr>
        <p:blipFill>
          <a:blip r:embed="rId6"/>
          <a:stretch>
            <a:fillRect/>
          </a:stretch>
        </p:blipFill>
        <p:spPr>
          <a:xfrm>
            <a:off x="16270224" y="5106924"/>
            <a:ext cx="438912" cy="438912"/>
          </a:xfrm>
          <a:prstGeom prst="rect">
            <a:avLst/>
          </a:prstGeom>
        </p:spPr>
      </p:pic>
      <p:sp>
        <p:nvSpPr>
          <p:cNvPr id="52" name="Rectangle 51"/>
          <p:cNvSpPr/>
          <p:nvPr/>
        </p:nvSpPr>
        <p:spPr>
          <a:xfrm>
            <a:off x="12969240" y="5699760"/>
            <a:ext cx="640080" cy="746760"/>
          </a:xfrm>
          <a:prstGeom prst="rect">
            <a:avLst/>
          </a:prstGeom>
          <a:noFill/>
          <a:ln w="9525">
            <a:solidFill>
              <a:srgbClr val="D9B3B3"/>
            </a:solidFill>
          </a:ln>
          <a:effectLst/>
        </p:spPr>
        <p:txBody>
          <a:bodyPr rtlCol="0" anchor="ctr"/>
          <a:lstStyle/>
          <a:p>
            <a:pPr algn="ctr"/>
          </a:p>
        </p:txBody>
      </p:sp>
      <p:pic>
        <p:nvPicPr>
          <p:cNvPr id="53" name="Picture 52" descr="c_person.png"/>
          <p:cNvPicPr>
            <a:picLocks noChangeAspect="1"/>
          </p:cNvPicPr>
          <p:nvPr/>
        </p:nvPicPr>
        <p:blipFill>
          <a:blip r:embed="rId6"/>
          <a:stretch>
            <a:fillRect/>
          </a:stretch>
        </p:blipFill>
        <p:spPr>
          <a:xfrm>
            <a:off x="13069824" y="5853684"/>
            <a:ext cx="438912" cy="438912"/>
          </a:xfrm>
          <a:prstGeom prst="rect">
            <a:avLst/>
          </a:prstGeom>
        </p:spPr>
      </p:pic>
      <p:sp>
        <p:nvSpPr>
          <p:cNvPr id="54" name="Rectangle 53"/>
          <p:cNvSpPr/>
          <p:nvPr/>
        </p:nvSpPr>
        <p:spPr>
          <a:xfrm>
            <a:off x="13609320" y="5699760"/>
            <a:ext cx="640080" cy="746760"/>
          </a:xfrm>
          <a:prstGeom prst="rect">
            <a:avLst/>
          </a:prstGeom>
          <a:noFill/>
          <a:ln w="9525">
            <a:solidFill>
              <a:srgbClr val="D9B3B3"/>
            </a:solidFill>
          </a:ln>
          <a:effectLst/>
        </p:spPr>
        <p:txBody>
          <a:bodyPr rtlCol="0" anchor="ctr"/>
          <a:lstStyle/>
          <a:p>
            <a:pPr algn="ctr"/>
          </a:p>
        </p:txBody>
      </p:sp>
      <p:pic>
        <p:nvPicPr>
          <p:cNvPr id="55" name="Picture 54" descr="c_person.png"/>
          <p:cNvPicPr>
            <a:picLocks noChangeAspect="1"/>
          </p:cNvPicPr>
          <p:nvPr/>
        </p:nvPicPr>
        <p:blipFill>
          <a:blip r:embed="rId6"/>
          <a:stretch>
            <a:fillRect/>
          </a:stretch>
        </p:blipFill>
        <p:spPr>
          <a:xfrm>
            <a:off x="13709904" y="5853684"/>
            <a:ext cx="438912" cy="438912"/>
          </a:xfrm>
          <a:prstGeom prst="rect">
            <a:avLst/>
          </a:prstGeom>
        </p:spPr>
      </p:pic>
      <p:sp>
        <p:nvSpPr>
          <p:cNvPr id="56" name="Rectangle 55"/>
          <p:cNvSpPr/>
          <p:nvPr/>
        </p:nvSpPr>
        <p:spPr>
          <a:xfrm>
            <a:off x="14249400" y="5699760"/>
            <a:ext cx="640080" cy="746760"/>
          </a:xfrm>
          <a:prstGeom prst="rect">
            <a:avLst/>
          </a:prstGeom>
          <a:noFill/>
          <a:ln w="9525">
            <a:solidFill>
              <a:srgbClr val="D9B3B3"/>
            </a:solidFill>
          </a:ln>
          <a:effectLst/>
        </p:spPr>
        <p:txBody>
          <a:bodyPr rtlCol="0" anchor="ctr"/>
          <a:lstStyle/>
          <a:p>
            <a:pPr algn="ctr"/>
          </a:p>
        </p:txBody>
      </p:sp>
      <p:pic>
        <p:nvPicPr>
          <p:cNvPr id="57" name="Picture 56" descr="c_person.png"/>
          <p:cNvPicPr>
            <a:picLocks noChangeAspect="1"/>
          </p:cNvPicPr>
          <p:nvPr/>
        </p:nvPicPr>
        <p:blipFill>
          <a:blip r:embed="rId6"/>
          <a:stretch>
            <a:fillRect/>
          </a:stretch>
        </p:blipFill>
        <p:spPr>
          <a:xfrm>
            <a:off x="14349984" y="5853684"/>
            <a:ext cx="438912" cy="438912"/>
          </a:xfrm>
          <a:prstGeom prst="rect">
            <a:avLst/>
          </a:prstGeom>
        </p:spPr>
      </p:pic>
      <p:sp>
        <p:nvSpPr>
          <p:cNvPr id="58" name="Rectangle 57"/>
          <p:cNvSpPr/>
          <p:nvPr/>
        </p:nvSpPr>
        <p:spPr>
          <a:xfrm>
            <a:off x="14889480" y="5699760"/>
            <a:ext cx="640080" cy="746760"/>
          </a:xfrm>
          <a:prstGeom prst="rect">
            <a:avLst/>
          </a:prstGeom>
          <a:noFill/>
          <a:ln w="9525">
            <a:solidFill>
              <a:srgbClr val="D9B3B3"/>
            </a:solidFill>
          </a:ln>
          <a:effectLst/>
        </p:spPr>
        <p:txBody>
          <a:bodyPr rtlCol="0" anchor="ctr"/>
          <a:lstStyle/>
          <a:p>
            <a:pPr algn="ctr"/>
          </a:p>
        </p:txBody>
      </p:sp>
      <p:pic>
        <p:nvPicPr>
          <p:cNvPr id="59" name="Picture 58" descr="c_person.png"/>
          <p:cNvPicPr>
            <a:picLocks noChangeAspect="1"/>
          </p:cNvPicPr>
          <p:nvPr/>
        </p:nvPicPr>
        <p:blipFill>
          <a:blip r:embed="rId6"/>
          <a:stretch>
            <a:fillRect/>
          </a:stretch>
        </p:blipFill>
        <p:spPr>
          <a:xfrm>
            <a:off x="14990064" y="5853684"/>
            <a:ext cx="438912" cy="438912"/>
          </a:xfrm>
          <a:prstGeom prst="rect">
            <a:avLst/>
          </a:prstGeom>
        </p:spPr>
      </p:pic>
      <p:sp>
        <p:nvSpPr>
          <p:cNvPr id="60" name="Rectangle 59"/>
          <p:cNvSpPr/>
          <p:nvPr/>
        </p:nvSpPr>
        <p:spPr>
          <a:xfrm>
            <a:off x="15529560" y="5699760"/>
            <a:ext cx="640080" cy="746760"/>
          </a:xfrm>
          <a:prstGeom prst="rect">
            <a:avLst/>
          </a:prstGeom>
          <a:noFill/>
          <a:ln w="9525">
            <a:solidFill>
              <a:srgbClr val="D9B3B3"/>
            </a:solidFill>
          </a:ln>
          <a:effectLst/>
        </p:spPr>
        <p:txBody>
          <a:bodyPr rtlCol="0" anchor="ctr"/>
          <a:lstStyle/>
          <a:p>
            <a:pPr algn="ctr"/>
          </a:p>
        </p:txBody>
      </p:sp>
      <p:pic>
        <p:nvPicPr>
          <p:cNvPr id="61" name="Picture 60" descr="c_person.png"/>
          <p:cNvPicPr>
            <a:picLocks noChangeAspect="1"/>
          </p:cNvPicPr>
          <p:nvPr/>
        </p:nvPicPr>
        <p:blipFill>
          <a:blip r:embed="rId6"/>
          <a:stretch>
            <a:fillRect/>
          </a:stretch>
        </p:blipFill>
        <p:spPr>
          <a:xfrm>
            <a:off x="15630144" y="5853684"/>
            <a:ext cx="438912" cy="438912"/>
          </a:xfrm>
          <a:prstGeom prst="rect">
            <a:avLst/>
          </a:prstGeom>
        </p:spPr>
      </p:pic>
      <p:sp>
        <p:nvSpPr>
          <p:cNvPr id="62" name="Rectangle 61"/>
          <p:cNvSpPr/>
          <p:nvPr/>
        </p:nvSpPr>
        <p:spPr>
          <a:xfrm>
            <a:off x="16169640" y="5699760"/>
            <a:ext cx="640080" cy="746760"/>
          </a:xfrm>
          <a:prstGeom prst="rect">
            <a:avLst/>
          </a:prstGeom>
          <a:noFill/>
          <a:ln w="9525">
            <a:solidFill>
              <a:srgbClr val="D9B3B3"/>
            </a:solidFill>
          </a:ln>
          <a:effectLst/>
        </p:spPr>
        <p:txBody>
          <a:bodyPr rtlCol="0" anchor="ctr"/>
          <a:lstStyle/>
          <a:p>
            <a:pPr algn="ctr"/>
          </a:p>
        </p:txBody>
      </p:sp>
      <p:pic>
        <p:nvPicPr>
          <p:cNvPr id="63" name="Picture 62" descr="c_person.png"/>
          <p:cNvPicPr>
            <a:picLocks noChangeAspect="1"/>
          </p:cNvPicPr>
          <p:nvPr/>
        </p:nvPicPr>
        <p:blipFill>
          <a:blip r:embed="rId6"/>
          <a:stretch>
            <a:fillRect/>
          </a:stretch>
        </p:blipFill>
        <p:spPr>
          <a:xfrm>
            <a:off x="16270224" y="5853684"/>
            <a:ext cx="438912" cy="438912"/>
          </a:xfrm>
          <a:prstGeom prst="rect">
            <a:avLst/>
          </a:prstGeom>
        </p:spPr>
      </p:pic>
      <p:sp>
        <p:nvSpPr>
          <p:cNvPr id="64" name="TextBox 63"/>
          <p:cNvSpPr txBox="1"/>
          <p:nvPr/>
        </p:nvSpPr>
        <p:spPr>
          <a:xfrm>
            <a:off x="12969240" y="3822192"/>
            <a:ext cx="3840480" cy="347472"/>
          </a:xfrm>
          <a:prstGeom prst="rect">
            <a:avLst/>
          </a:prstGeom>
          <a:noFill/>
        </p:spPr>
        <p:txBody>
          <a:bodyPr wrap="square" lIns="0" tIns="0" rIns="0" bIns="0" anchor="t">
            <a:noAutofit/>
          </a:bodyPr>
          <a:lstStyle/>
          <a:p>
            <a:pPr algn="ctr">
              <a:lnSpc>
                <a:spcPct val="100000"/>
              </a:lnSpc>
            </a:pPr>
            <a:r>
              <a:rPr sz="1500" b="0" i="0">
                <a:solidFill>
                  <a:srgbClr val="262626"/>
                </a:solidFill>
                <a:latin typeface="ITC Avant Garde Gothic"/>
                <a:ea typeface="ITC Avant Garde Gothic"/>
                <a:cs typeface="ITC Avant Garde Gothic"/>
              </a:rPr>
              <a:t>9 m</a:t>
            </a:r>
          </a:p>
        </p:txBody>
      </p:sp>
      <p:sp>
        <p:nvSpPr>
          <p:cNvPr id="65" name="TextBox 64"/>
          <p:cNvSpPr txBox="1"/>
          <p:nvPr/>
        </p:nvSpPr>
        <p:spPr>
          <a:xfrm>
            <a:off x="12402312" y="4206240"/>
            <a:ext cx="502920" cy="2240280"/>
          </a:xfrm>
          <a:prstGeom prst="rect">
            <a:avLst/>
          </a:prstGeom>
          <a:noFill/>
        </p:spPr>
        <p:txBody>
          <a:bodyPr wrap="square" lIns="0" tIns="0" rIns="0" bIns="0" anchor="ctr">
            <a:noAutofit/>
          </a:bodyPr>
          <a:lstStyle/>
          <a:p>
            <a:pPr algn="r">
              <a:lnSpc>
                <a:spcPct val="100000"/>
              </a:lnSpc>
            </a:pPr>
            <a:r>
              <a:rPr sz="1500" b="0" i="0">
                <a:solidFill>
                  <a:srgbClr val="262626"/>
                </a:solidFill>
                <a:latin typeface="ITC Avant Garde Gothic"/>
                <a:ea typeface="ITC Avant Garde Gothic"/>
                <a:cs typeface="ITC Avant Garde Gothic"/>
              </a:rPr>
              <a:t>7 m</a:t>
            </a:r>
          </a:p>
        </p:txBody>
      </p:sp>
      <p:sp>
        <p:nvSpPr>
          <p:cNvPr id="66" name="TextBox 65"/>
          <p:cNvSpPr txBox="1"/>
          <p:nvPr/>
        </p:nvSpPr>
        <p:spPr>
          <a:xfrm>
            <a:off x="12512040" y="6629400"/>
            <a:ext cx="4998720" cy="868680"/>
          </a:xfrm>
          <a:prstGeom prst="rect">
            <a:avLst/>
          </a:prstGeom>
          <a:noFill/>
        </p:spPr>
        <p:txBody>
          <a:bodyPr wrap="square" lIns="0" tIns="0" rIns="0" bIns="0" anchor="ctr">
            <a:noAutofit/>
          </a:bodyPr>
          <a:lstStyle/>
          <a:p>
            <a:pPr algn="ctr">
              <a:lnSpc>
                <a:spcPct val="100000"/>
              </a:lnSpc>
            </a:pPr>
            <a:r>
              <a:rPr sz="1700" b="0" i="0">
                <a:solidFill>
                  <a:srgbClr val="262626"/>
                </a:solidFill>
                <a:latin typeface="ITC Avant Garde Gothic"/>
                <a:ea typeface="ITC Avant Garde Gothic"/>
                <a:cs typeface="ITC Avant Garde Gothic"/>
              </a:rPr>
              <a:t>63 m² ÷ 3.5 m² = </a:t>
            </a:r>
            <a:r>
              <a:rPr sz="1700" b="1" i="0">
                <a:solidFill>
                  <a:srgbClr val="8B0707"/>
                </a:solidFill>
                <a:latin typeface="ITC Avant Garde Gothic"/>
                <a:ea typeface="ITC Avant Garde Gothic"/>
                <a:cs typeface="ITC Avant Garde Gothic"/>
              </a:rPr>
              <a:t>18 evacuees</a:t>
            </a:r>
            <a:r>
              <a:rPr sz="1700" b="0" i="0">
                <a:solidFill>
                  <a:srgbClr val="262626"/>
                </a:solidFill>
                <a:latin typeface="ITC Avant Garde Gothic"/>
                <a:ea typeface="ITC Avant Garde Gothic"/>
                <a:cs typeface="ITC Avant Garde Gothic"/>
              </a:rPr>
              <a:t> per standard DepEd classroom</a:t>
            </a:r>
          </a:p>
        </p:txBody>
      </p:sp>
      <p:sp>
        <p:nvSpPr>
          <p:cNvPr id="67" name="Rounded Rectangle 66"/>
          <p:cNvSpPr/>
          <p:nvPr/>
        </p:nvSpPr>
        <p:spPr>
          <a:xfrm>
            <a:off x="548640" y="7955280"/>
            <a:ext cx="17190720" cy="1874520"/>
          </a:xfrm>
          <a:prstGeom prst="roundRect">
            <a:avLst>
              <a:gd name="adj" fmla="val 6829"/>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68" name="Oval 67"/>
          <p:cNvSpPr/>
          <p:nvPr/>
        </p:nvSpPr>
        <p:spPr>
          <a:xfrm>
            <a:off x="868680" y="8366760"/>
            <a:ext cx="1051560" cy="1051560"/>
          </a:xfrm>
          <a:prstGeom prst="ellipse">
            <a:avLst/>
          </a:prstGeom>
          <a:solidFill>
            <a:srgbClr val="A82A2A"/>
          </a:solidFill>
          <a:ln>
            <a:noFill/>
          </a:ln>
          <a:effectLst/>
        </p:spPr>
        <p:txBody>
          <a:bodyPr rtlCol="0" anchor="ctr"/>
          <a:lstStyle/>
          <a:p>
            <a:pPr algn="ctr"/>
          </a:p>
        </p:txBody>
      </p:sp>
      <p:pic>
        <p:nvPicPr>
          <p:cNvPr id="69" name="Picture 68" descr="w_help.png"/>
          <p:cNvPicPr>
            <a:picLocks noChangeAspect="1"/>
          </p:cNvPicPr>
          <p:nvPr/>
        </p:nvPicPr>
        <p:blipFill>
          <a:blip r:embed="rId7"/>
          <a:stretch>
            <a:fillRect/>
          </a:stretch>
        </p:blipFill>
        <p:spPr>
          <a:xfrm>
            <a:off x="1078992" y="8577072"/>
            <a:ext cx="630936" cy="630936"/>
          </a:xfrm>
          <a:prstGeom prst="rect">
            <a:avLst/>
          </a:prstGeom>
        </p:spPr>
      </p:pic>
      <p:sp>
        <p:nvSpPr>
          <p:cNvPr id="70" name="TextBox 69"/>
          <p:cNvSpPr txBox="1"/>
          <p:nvPr/>
        </p:nvSpPr>
        <p:spPr>
          <a:xfrm>
            <a:off x="2194560" y="8001000"/>
            <a:ext cx="15270480" cy="1783080"/>
          </a:xfrm>
          <a:prstGeom prst="rect">
            <a:avLst/>
          </a:prstGeom>
          <a:noFill/>
        </p:spPr>
        <p:txBody>
          <a:bodyPr wrap="square" lIns="0" tIns="0" rIns="0" bIns="0" anchor="ctr">
            <a:noAutofit/>
          </a:bodyPr>
          <a:lstStyle/>
          <a:p>
            <a:pPr algn="l">
              <a:lnSpc>
                <a:spcPct val="100000"/>
              </a:lnSpc>
              <a:spcAft>
                <a:spcPts val="400"/>
              </a:spcAft>
            </a:pPr>
            <a:r>
              <a:rPr sz="2200" b="1" i="0">
                <a:solidFill>
                  <a:srgbClr val="F0C04A"/>
                </a:solidFill>
                <a:latin typeface="ITC Avant Garde Gothic"/>
                <a:ea typeface="ITC Avant Garde Gothic"/>
                <a:cs typeface="ITC Avant Garde Gothic"/>
              </a:rPr>
              <a:t>The missing number</a:t>
            </a:r>
          </a:p>
          <a:p>
            <a:pPr algn="l">
              <a:lnSpc>
                <a:spcPct val="100000"/>
              </a:lnSpc>
            </a:pPr>
            <a:r>
              <a:rPr sz="2100" b="0" i="0">
                <a:solidFill>
                  <a:srgbClr val="FFFFFF"/>
                </a:solidFill>
                <a:latin typeface="ITC Avant Garde Gothic"/>
                <a:ea typeface="ITC Avant Garde Gothic"/>
                <a:cs typeface="ITC Avant Garde Gothic"/>
              </a:rPr>
              <a:t>How many classrooms does an evacuation truly need, who should go where so that the fewest close, and where would a new Ligtas Pinoy Center free the most?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225901"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INTRODUCTION</a:t>
            </a:r>
          </a:p>
        </p:txBody>
      </p:sp>
      <p:sp>
        <p:nvSpPr>
          <p:cNvPr id="8" name="Subtitle"/>
          <p:cNvSpPr txBox="1"/>
          <p:nvPr/>
        </p:nvSpPr>
        <p:spPr>
          <a:xfrm>
            <a:off x="13851350" y="18288"/>
            <a:ext cx="402517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Statement of the Problem</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Eight problems in an Albay evacuation, each answered by one part of the model</a:t>
            </a:r>
          </a:p>
        </p:txBody>
      </p:sp>
      <p:graphicFrame>
        <p:nvGraphicFramePr>
          <p:cNvPr id="10" name="Table 9"/>
          <p:cNvGraphicFramePr>
            <a:graphicFrameLocks noGrp="1"/>
          </p:cNvGraphicFramePr>
          <p:nvPr/>
        </p:nvGraphicFramePr>
        <p:xfrm>
          <a:off x="548640" y="2697480"/>
          <a:ext cx="17190720" cy="6858000"/>
        </p:xfrm>
        <a:graphic>
          <a:graphicData uri="http://schemas.openxmlformats.org/drawingml/2006/table">
            <a:tbl>
              <a:tblPr firstRow="1" bandRow="0">
                <a:tableStyleId>{5C22544A-7EE6-4342-B048-85BDC9FD1C3A}</a:tableStyleId>
              </a:tblPr>
              <a:tblGrid>
                <a:gridCol w="914400"/>
                <a:gridCol w="5760720"/>
                <a:gridCol w="4937760"/>
                <a:gridCol w="5577840"/>
              </a:tblGrid>
              <a:tr h="566928">
                <a:tc>
                  <a:txBody>
                    <a:bodyPr wrap="square"/>
                    <a:lstStyle/>
                    <a:p>
                      <a:pPr algn="ctr"/>
                      <a:r>
                        <a:rPr sz="1700" b="1" i="0">
                          <a:solidFill>
                            <a:srgbClr val="FFFFFF"/>
                          </a:solidFill>
                          <a:latin typeface="ITC Avant Garde Gothic"/>
                          <a:ea typeface="ITC Avant Garde Gothic"/>
                          <a:cs typeface="ITC Avant Garde Gothic"/>
                        </a:rPr>
                        <a:t>No.</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Problem</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What happens</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Model component that responds</a:t>
                      </a:r>
                    </a:p>
                  </a:txBody>
                  <a:tcPr marL="91440" marT="36576" marR="91440" marB="36576" anchor="ctr">
                    <a:solidFill>
                      <a:srgbClr val="8B0707"/>
                    </a:solidFill>
                  </a:tcPr>
                </a:tc>
              </a:tr>
              <a:tr h="786384">
                <a:tc>
                  <a:txBody>
                    <a:bodyPr wrap="square"/>
                    <a:lstStyle/>
                    <a:p>
                      <a:pPr algn="ctr"/>
                      <a:r>
                        <a:rPr sz="1600" b="1" i="0">
                          <a:solidFill>
                            <a:srgbClr val="8B0707"/>
                          </a:solidFill>
                          <a:latin typeface="ITC Avant Garde Gothic"/>
                          <a:ea typeface="ITC Avant Garde Gothic"/>
                          <a:cs typeface="ITC Avant Garde Gothic"/>
                        </a:rPr>
                        <a:t>P1</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The nearest evacuation center is already full</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Families are turned away and travel again</a:t>
                      </a:r>
                    </a:p>
                  </a:txBody>
                  <a:tcPr marL="91440" marT="36576" marR="91440" marB="36576" anchor="ctr">
                    <a:solidFill>
                      <a:srgbClr val="FFFFFF"/>
                    </a:solidFill>
                  </a:tcPr>
                </a:tc>
                <a:tc>
                  <a:txBody>
                    <a:bodyPr wrap="square"/>
                    <a:lstStyle/>
                    <a:p>
                      <a:pPr algn="l"/>
                      <a:r>
                        <a:rPr sz="1600" b="0" i="0">
                          <a:solidFill>
                            <a:srgbClr val="5A0505"/>
                          </a:solidFill>
                          <a:latin typeface="ITC Avant Garde Gothic"/>
                          <a:ea typeface="ITC Avant Garde Gothic"/>
                          <a:cs typeface="ITC Avant Garde Gothic"/>
                        </a:rPr>
                        <a:t>Shelter capacity from floor area (Sphere)</a:t>
                      </a:r>
                    </a:p>
                  </a:txBody>
                  <a:tcPr marL="91440" marT="36576" marR="91440" marB="36576" anchor="ctr">
                    <a:solidFill>
                      <a:srgbClr val="FFFFFF"/>
                    </a:solidFill>
                  </a:tcPr>
                </a:tc>
              </a:tr>
              <a:tr h="786384">
                <a:tc>
                  <a:txBody>
                    <a:bodyPr wrap="square"/>
                    <a:lstStyle/>
                    <a:p>
                      <a:pPr algn="ctr"/>
                      <a:r>
                        <a:rPr sz="1600" b="1" i="0">
                          <a:solidFill>
                            <a:srgbClr val="8B0707"/>
                          </a:solidFill>
                          <a:latin typeface="ITC Avant Garde Gothic"/>
                          <a:ea typeface="ITC Avant Garde Gothic"/>
                          <a:cs typeface="ITC Avant Garde Gothic"/>
                        </a:rPr>
                        <a:t>P2</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Classrooms are opened before gyms and halls</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Learners lose class days a better plan would keep</a:t>
                      </a:r>
                    </a:p>
                  </a:txBody>
                  <a:tcPr marL="91440" marT="36576" marR="91440" marB="36576" anchor="ctr">
                    <a:solidFill>
                      <a:srgbClr val="FBF3F3"/>
                    </a:solidFill>
                  </a:tcPr>
                </a:tc>
                <a:tc>
                  <a:txBody>
                    <a:bodyPr wrap="square"/>
                    <a:lstStyle/>
                    <a:p>
                      <a:pPr algn="l"/>
                      <a:r>
                        <a:rPr sz="1600" b="0" i="0">
                          <a:solidFill>
                            <a:srgbClr val="5A0505"/>
                          </a:solidFill>
                          <a:latin typeface="ITC Avant Garde Gothic"/>
                          <a:ea typeface="ITC Avant Garde Gothic"/>
                          <a:cs typeface="ITC Avant Garde Gothic"/>
                        </a:rPr>
                        <a:t>Shelter tiers and the lexicographic plan</a:t>
                      </a:r>
                    </a:p>
                  </a:txBody>
                  <a:tcPr marL="91440" marT="36576" marR="91440" marB="36576" anchor="ctr">
                    <a:solidFill>
                      <a:srgbClr val="FBF3F3"/>
                    </a:solidFill>
                  </a:tcPr>
                </a:tc>
              </a:tr>
              <a:tr h="786384">
                <a:tc>
                  <a:txBody>
                    <a:bodyPr wrap="square"/>
                    <a:lstStyle/>
                    <a:p>
                      <a:pPr algn="ctr"/>
                      <a:r>
                        <a:rPr sz="1600" b="1" i="0">
                          <a:solidFill>
                            <a:srgbClr val="8B0707"/>
                          </a:solidFill>
                          <a:latin typeface="ITC Avant Garde Gothic"/>
                          <a:ea typeface="ITC Avant Garde Gothic"/>
                          <a:cs typeface="ITC Avant Garde Gothic"/>
                        </a:rPr>
                        <a:t>P3</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Evacuees are spread thinly over many classrooms</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More rooms close than the evacuees require</a:t>
                      </a:r>
                    </a:p>
                  </a:txBody>
                  <a:tcPr marL="91440" marT="36576" marR="91440" marB="36576" anchor="ctr">
                    <a:solidFill>
                      <a:srgbClr val="FFFFFF"/>
                    </a:solidFill>
                  </a:tcPr>
                </a:tc>
                <a:tc>
                  <a:txBody>
                    <a:bodyPr wrap="square"/>
                    <a:lstStyle/>
                    <a:p>
                      <a:pPr algn="l"/>
                      <a:r>
                        <a:rPr sz="1600" b="0" i="0">
                          <a:solidFill>
                            <a:srgbClr val="5A0505"/>
                          </a:solidFill>
                          <a:latin typeface="ITC Avant Garde Gothic"/>
                          <a:ea typeface="ITC Avant Garde Gothic"/>
                          <a:cs typeface="ITC Avant Garde Gothic"/>
                        </a:rPr>
                        <a:t>Classroom packing and its proven bound</a:t>
                      </a:r>
                    </a:p>
                  </a:txBody>
                  <a:tcPr marL="91440" marT="36576" marR="91440" marB="36576" anchor="ctr">
                    <a:solidFill>
                      <a:srgbClr val="FFFFFF"/>
                    </a:solidFill>
                  </a:tcPr>
                </a:tc>
              </a:tr>
              <a:tr h="786384">
                <a:tc>
                  <a:txBody>
                    <a:bodyPr wrap="square"/>
                    <a:lstStyle/>
                    <a:p>
                      <a:pPr algn="ctr"/>
                      <a:r>
                        <a:rPr sz="1600" b="1" i="0">
                          <a:solidFill>
                            <a:srgbClr val="8B0707"/>
                          </a:solidFill>
                          <a:latin typeface="ITC Avant Garde Gothic"/>
                          <a:ea typeface="ITC Avant Garde Gothic"/>
                          <a:cs typeface="ITC Avant Garde Gothic"/>
                        </a:rPr>
                        <a:t>P4</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Vulnerable residents reach a shelter they cannot use</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They wait or are moved twice</a:t>
                      </a:r>
                    </a:p>
                  </a:txBody>
                  <a:tcPr marL="91440" marT="36576" marR="91440" marB="36576" anchor="ctr">
                    <a:solidFill>
                      <a:srgbClr val="FBF3F3"/>
                    </a:solidFill>
                  </a:tcPr>
                </a:tc>
                <a:tc>
                  <a:txBody>
                    <a:bodyPr wrap="square"/>
                    <a:lstStyle/>
                    <a:p>
                      <a:pPr algn="l"/>
                      <a:r>
                        <a:rPr sz="1600" b="0" i="0">
                          <a:solidFill>
                            <a:srgbClr val="5A0505"/>
                          </a:solidFill>
                          <a:latin typeface="ITC Avant Garde Gothic"/>
                          <a:ea typeface="ITC Avant Garde Gothic"/>
                          <a:cs typeface="ITC Avant Garde Gothic"/>
                        </a:rPr>
                        <a:t>Vulnerable-first level; accessible shelters only</a:t>
                      </a:r>
                    </a:p>
                  </a:txBody>
                  <a:tcPr marL="91440" marT="36576" marR="91440" marB="36576" anchor="ctr">
                    <a:solidFill>
                      <a:srgbClr val="FBF3F3"/>
                    </a:solidFill>
                  </a:tcPr>
                </a:tc>
              </a:tr>
              <a:tr h="786384">
                <a:tc>
                  <a:txBody>
                    <a:bodyPr wrap="square"/>
                    <a:lstStyle/>
                    <a:p>
                      <a:pPr algn="ctr"/>
                      <a:r>
                        <a:rPr sz="1600" b="1" i="0">
                          <a:solidFill>
                            <a:srgbClr val="8B0707"/>
                          </a:solidFill>
                          <a:latin typeface="ITC Avant Garde Gothic"/>
                          <a:ea typeface="ITC Avant Garde Gothic"/>
                          <a:cs typeface="ITC Avant Garde Gothic"/>
                        </a:rPr>
                        <a:t>P5</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No one knows how long the evacuation will take</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The order to leave comes too late</a:t>
                      </a:r>
                    </a:p>
                  </a:txBody>
                  <a:tcPr marL="91440" marT="36576" marR="91440" marB="36576" anchor="ctr">
                    <a:solidFill>
                      <a:srgbClr val="FFFFFF"/>
                    </a:solidFill>
                  </a:tcPr>
                </a:tc>
                <a:tc>
                  <a:txBody>
                    <a:bodyPr wrap="square"/>
                    <a:lstStyle/>
                    <a:p>
                      <a:pPr algn="l"/>
                      <a:r>
                        <a:rPr sz="1600" b="0" i="0">
                          <a:solidFill>
                            <a:srgbClr val="5A0505"/>
                          </a:solidFill>
                          <a:latin typeface="ITC Avant Garde Gothic"/>
                          <a:ea typeface="ITC Avant Garde Gothic"/>
                          <a:cs typeface="ITC Avant Garde Gothic"/>
                        </a:rPr>
                        <a:t>Time-expanded network and clearance time</a:t>
                      </a:r>
                    </a:p>
                  </a:txBody>
                  <a:tcPr marL="91440" marT="36576" marR="91440" marB="36576" anchor="ctr">
                    <a:solidFill>
                      <a:srgbClr val="FFFFFF"/>
                    </a:solidFill>
                  </a:tcPr>
                </a:tc>
              </a:tr>
              <a:tr h="786384">
                <a:tc>
                  <a:txBody>
                    <a:bodyPr wrap="square"/>
                    <a:lstStyle/>
                    <a:p>
                      <a:pPr algn="ctr"/>
                      <a:r>
                        <a:rPr sz="1600" b="1" i="0">
                          <a:solidFill>
                            <a:srgbClr val="8B0707"/>
                          </a:solidFill>
                          <a:latin typeface="ITC Avant Garde Gothic"/>
                          <a:ea typeface="ITC Avant Garde Gothic"/>
                          <a:cs typeface="ITC Avant Garde Gothic"/>
                        </a:rPr>
                        <a:t>P6</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A lahar takes out a bridge</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Residents are cut off or must detour</a:t>
                      </a:r>
                    </a:p>
                  </a:txBody>
                  <a:tcPr marL="91440" marT="36576" marR="91440" marB="36576" anchor="ctr">
                    <a:solidFill>
                      <a:srgbClr val="FBF3F3"/>
                    </a:solidFill>
                  </a:tcPr>
                </a:tc>
                <a:tc>
                  <a:txBody>
                    <a:bodyPr wrap="square"/>
                    <a:lstStyle/>
                    <a:p>
                      <a:pPr algn="l"/>
                      <a:r>
                        <a:rPr sz="1600" b="0" i="0">
                          <a:solidFill>
                            <a:srgbClr val="5A0505"/>
                          </a:solidFill>
                          <a:latin typeface="ITC Avant Garde Gothic"/>
                          <a:ea typeface="ITC Avant Garde Gothic"/>
                          <a:cs typeface="ITC Avant Garde Gothic"/>
                        </a:rPr>
                        <a:t>Closure scenarios for whole lahar channels</a:t>
                      </a:r>
                    </a:p>
                  </a:txBody>
                  <a:tcPr marL="91440" marT="36576" marR="91440" marB="36576" anchor="ctr">
                    <a:solidFill>
                      <a:srgbClr val="FBF3F3"/>
                    </a:solidFill>
                  </a:tcPr>
                </a:tc>
              </a:tr>
              <a:tr h="786384">
                <a:tc>
                  <a:txBody>
                    <a:bodyPr wrap="square"/>
                    <a:lstStyle/>
                    <a:p>
                      <a:pPr algn="ctr"/>
                      <a:r>
                        <a:rPr sz="1600" b="1" i="0">
                          <a:solidFill>
                            <a:srgbClr val="8B0707"/>
                          </a:solidFill>
                          <a:latin typeface="ITC Avant Garde Gothic"/>
                          <a:ea typeface="ITC Avant Garde Gothic"/>
                          <a:cs typeface="ITC Avant Garde Gothic"/>
                        </a:rPr>
                        <a:t>P7</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A higher alert level brings more evacuees</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A plan for one level fails at the next</a:t>
                      </a:r>
                    </a:p>
                  </a:txBody>
                  <a:tcPr marL="91440" marT="36576" marR="91440" marB="36576" anchor="ctr">
                    <a:solidFill>
                      <a:srgbClr val="FFFFFF"/>
                    </a:solidFill>
                  </a:tcPr>
                </a:tc>
                <a:tc>
                  <a:txBody>
                    <a:bodyPr wrap="square"/>
                    <a:lstStyle/>
                    <a:p>
                      <a:pPr algn="l"/>
                      <a:r>
                        <a:rPr sz="1600" b="0" i="0">
                          <a:solidFill>
                            <a:srgbClr val="5A0505"/>
                          </a:solidFill>
                          <a:latin typeface="ITC Avant Garde Gothic"/>
                          <a:ea typeface="ITC Avant Garde Gothic"/>
                          <a:cs typeface="ITC Avant Garde Gothic"/>
                        </a:rPr>
                        <a:t>Nested scenarios; alert-level monotonicity</a:t>
                      </a:r>
                    </a:p>
                  </a:txBody>
                  <a:tcPr marL="91440" marT="36576" marR="91440" marB="36576" anchor="ctr">
                    <a:solidFill>
                      <a:srgbClr val="FFFFFF"/>
                    </a:solidFill>
                  </a:tcPr>
                </a:tc>
              </a:tr>
              <a:tr h="786384">
                <a:tc>
                  <a:txBody>
                    <a:bodyPr wrap="square"/>
                    <a:lstStyle/>
                    <a:p>
                      <a:pPr algn="ctr"/>
                      <a:r>
                        <a:rPr sz="1600" b="1" i="0">
                          <a:solidFill>
                            <a:srgbClr val="8B0707"/>
                          </a:solidFill>
                          <a:latin typeface="ITC Avant Garde Gothic"/>
                          <a:ea typeface="ITC Avant Garde Gothic"/>
                          <a:cs typeface="ITC Avant Garde Gothic"/>
                        </a:rPr>
                        <a:t>P8</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LGUs must build Ligtas Pinoy Centers but do not know where</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Money goes where it frees few classrooms</a:t>
                      </a:r>
                    </a:p>
                  </a:txBody>
                  <a:tcPr marL="91440" marT="36576" marR="91440" marB="36576" anchor="ctr">
                    <a:solidFill>
                      <a:srgbClr val="FBF3F3"/>
                    </a:solidFill>
                  </a:tcPr>
                </a:tc>
                <a:tc>
                  <a:txBody>
                    <a:bodyPr wrap="square"/>
                    <a:lstStyle/>
                    <a:p>
                      <a:pPr algn="l"/>
                      <a:r>
                        <a:rPr sz="1600" b="0" i="0">
                          <a:solidFill>
                            <a:srgbClr val="5A0505"/>
                          </a:solidFill>
                          <a:latin typeface="ITC Avant Garde Gothic"/>
                          <a:ea typeface="ITC Avant Garde Gothic"/>
                          <a:cs typeface="ITC Avant Garde Gothic"/>
                        </a:rPr>
                        <a:t>Coverage function and greedy siting</a:t>
                      </a:r>
                    </a:p>
                  </a:txBody>
                  <a:tcPr marL="91440" marT="36576" marR="91440" marB="36576" anchor="ctr">
                    <a:solidFill>
                      <a:srgbClr val="FBF3F3"/>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2599870"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RRL/RRS</a:t>
            </a:r>
          </a:p>
        </p:txBody>
      </p:sp>
      <p:sp>
        <p:nvSpPr>
          <p:cNvPr id="8" name="Subtitle"/>
          <p:cNvSpPr txBox="1"/>
          <p:nvPr/>
        </p:nvSpPr>
        <p:spPr>
          <a:xfrm>
            <a:off x="13225320" y="18288"/>
            <a:ext cx="465120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Related Literature and Studies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Evacuation models exist, but none treats a classroom as a resource with a cost to learners</a:t>
            </a:r>
          </a:p>
        </p:txBody>
      </p:sp>
      <p:graphicFrame>
        <p:nvGraphicFramePr>
          <p:cNvPr id="10" name="Table 9"/>
          <p:cNvGraphicFramePr>
            <a:graphicFrameLocks noGrp="1"/>
          </p:cNvGraphicFramePr>
          <p:nvPr/>
        </p:nvGraphicFramePr>
        <p:xfrm>
          <a:off x="548640" y="2697480"/>
          <a:ext cx="17190720" cy="6858000"/>
        </p:xfrm>
        <a:graphic>
          <a:graphicData uri="http://schemas.openxmlformats.org/drawingml/2006/table">
            <a:tbl>
              <a:tblPr firstRow="1" bandRow="0">
                <a:tableStyleId>{5C22544A-7EE6-4342-B048-85BDC9FD1C3A}</a:tableStyleId>
              </a:tblPr>
              <a:tblGrid>
                <a:gridCol w="3931920"/>
                <a:gridCol w="6949440"/>
                <a:gridCol w="6309360"/>
              </a:tblGrid>
              <a:tr h="566928">
                <a:tc>
                  <a:txBody>
                    <a:bodyPr wrap="square"/>
                    <a:lstStyle/>
                    <a:p>
                      <a:pPr algn="l"/>
                      <a:r>
                        <a:rPr sz="1700" b="1" i="0">
                          <a:solidFill>
                            <a:srgbClr val="FFFFFF"/>
                          </a:solidFill>
                          <a:latin typeface="ITC Avant Garde Gothic"/>
                          <a:ea typeface="ITC Avant Garde Gothic"/>
                          <a:cs typeface="ITC Avant Garde Gothic"/>
                        </a:rPr>
                        <a:t>Area</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Key sources</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Use in this study</a:t>
                      </a:r>
                    </a:p>
                  </a:txBody>
                  <a:tcPr marL="91440" marT="36576" marR="91440" marB="36576" anchor="ctr">
                    <a:solidFill>
                      <a:srgbClr val="8B0707"/>
                    </a:solidFill>
                  </a:tcPr>
                </a:tc>
              </a:tr>
              <a:tr h="786384">
                <a:tc>
                  <a:txBody>
                    <a:bodyPr wrap="square"/>
                    <a:lstStyle/>
                    <a:p>
                      <a:pPr algn="l"/>
                      <a:r>
                        <a:rPr sz="1600" b="1" i="0">
                          <a:solidFill>
                            <a:srgbClr val="8B0707"/>
                          </a:solidFill>
                          <a:latin typeface="ITC Avant Garde Gothic"/>
                          <a:ea typeface="ITC Avant Garde Gothic"/>
                          <a:cs typeface="ITC Avant Garde Gothic"/>
                        </a:rPr>
                        <a:t>Evacuation as a network</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Hamacher &amp; Tjandra (2002)</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Barangays, roads, and shelters form one flow network</a:t>
                      </a:r>
                    </a:p>
                  </a:txBody>
                  <a:tcPr marL="91440" marT="36576" marR="91440" marB="36576" anchor="ctr">
                    <a:solidFill>
                      <a:srgbClr val="FFFFFF"/>
                    </a:solidFill>
                  </a:tcPr>
                </a:tc>
              </a:tr>
              <a:tr h="786384">
                <a:tc>
                  <a:txBody>
                    <a:bodyPr wrap="square"/>
                    <a:lstStyle/>
                    <a:p>
                      <a:pPr algn="l"/>
                      <a:r>
                        <a:rPr sz="1600" b="1" i="0">
                          <a:solidFill>
                            <a:srgbClr val="8B0707"/>
                          </a:solidFill>
                          <a:latin typeface="ITC Avant Garde Gothic"/>
                          <a:ea typeface="ITC Avant Garde Gothic"/>
                          <a:cs typeface="ITC Avant Garde Gothic"/>
                        </a:rPr>
                        <a:t>Flows over time</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Ford &amp; Fulkerson (1958, 1962); Hoppe &amp; Tardos (2000); Skutella (2009)</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Time-expanded network gives the exact clearance time</a:t>
                      </a:r>
                    </a:p>
                  </a:txBody>
                  <a:tcPr marL="91440" marT="36576" marR="91440" marB="36576" anchor="ctr">
                    <a:solidFill>
                      <a:srgbClr val="FBF3F3"/>
                    </a:solidFill>
                  </a:tcPr>
                </a:tc>
              </a:tr>
              <a:tr h="786384">
                <a:tc>
                  <a:txBody>
                    <a:bodyPr wrap="square"/>
                    <a:lstStyle/>
                    <a:p>
                      <a:pPr algn="l"/>
                      <a:r>
                        <a:rPr sz="1600" b="1" i="0">
                          <a:solidFill>
                            <a:srgbClr val="8B0707"/>
                          </a:solidFill>
                          <a:latin typeface="ITC Avant Garde Gothic"/>
                          <a:ea typeface="ITC Avant Garde Gothic"/>
                          <a:cs typeface="ITC Avant Garde Gothic"/>
                        </a:rPr>
                        <a:t>Shelter location and allocation</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Sherali et al. (1991); Kongsomsaksakul et al. (2005); Bayram et al. (2015)</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Assign evacuees to shelters; none splits off classrooms</a:t>
                      </a:r>
                    </a:p>
                  </a:txBody>
                  <a:tcPr marL="91440" marT="36576" marR="91440" marB="36576" anchor="ctr">
                    <a:solidFill>
                      <a:srgbClr val="FFFFFF"/>
                    </a:solidFill>
                  </a:tcPr>
                </a:tc>
              </a:tr>
              <a:tr h="786384">
                <a:tc>
                  <a:txBody>
                    <a:bodyPr wrap="square"/>
                    <a:lstStyle/>
                    <a:p>
                      <a:pPr algn="l"/>
                      <a:r>
                        <a:rPr sz="1600" b="1" i="0">
                          <a:solidFill>
                            <a:srgbClr val="8B0707"/>
                          </a:solidFill>
                          <a:latin typeface="ITC Avant Garde Gothic"/>
                          <a:ea typeface="ITC Avant Garde Gothic"/>
                          <a:cs typeface="ITC Avant Garde Gothic"/>
                        </a:rPr>
                        <a:t>Coverage and submodularity</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Church &amp; ReVelle (1974); Gale (1957); Edmonds (1970); Nemhauser et al. (1978)</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Ligtas Pinoy Center siting with a 63.2% guarantee</a:t>
                      </a:r>
                    </a:p>
                  </a:txBody>
                  <a:tcPr marL="91440" marT="36576" marR="91440" marB="36576" anchor="ctr">
                    <a:solidFill>
                      <a:srgbClr val="FBF3F3"/>
                    </a:solidFill>
                  </a:tcPr>
                </a:tc>
              </a:tr>
              <a:tr h="786384">
                <a:tc>
                  <a:txBody>
                    <a:bodyPr wrap="square"/>
                    <a:lstStyle/>
                    <a:p>
                      <a:pPr algn="l"/>
                      <a:r>
                        <a:rPr sz="1600" b="1" i="0">
                          <a:solidFill>
                            <a:srgbClr val="8B0707"/>
                          </a:solidFill>
                          <a:latin typeface="ITC Avant Garde Gothic"/>
                          <a:ea typeface="ITC Avant Garde Gothic"/>
                          <a:cs typeface="ITC Avant Garde Gothic"/>
                        </a:rPr>
                        <a:t>Space standards</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Sphere Association (2018); DepEd (2010)</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3.5 m² per person; 18 per 7 m × 9 m classroom</a:t>
                      </a:r>
                    </a:p>
                  </a:txBody>
                  <a:tcPr marL="91440" marT="36576" marR="91440" marB="36576" anchor="ctr">
                    <a:solidFill>
                      <a:srgbClr val="FFFFFF"/>
                    </a:solidFill>
                  </a:tcPr>
                </a:tc>
              </a:tr>
              <a:tr h="786384">
                <a:tc>
                  <a:txBody>
                    <a:bodyPr wrap="square"/>
                    <a:lstStyle/>
                    <a:p>
                      <a:pPr algn="l"/>
                      <a:r>
                        <a:rPr sz="1600" b="1" i="0">
                          <a:solidFill>
                            <a:srgbClr val="8B0707"/>
                          </a:solidFill>
                          <a:latin typeface="ITC Avant Garde Gothic"/>
                          <a:ea typeface="ITC Avant Garde Gothic"/>
                          <a:cs typeface="ITC Avant Garde Gothic"/>
                        </a:rPr>
                        <a:t>Schools as evacuation centers</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RA 10121 (2010); RA 10821 (2016); RA 12076 (2024); SDO Muntinlupa (2026)</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The legal order of priorities the plan follows</a:t>
                      </a:r>
                    </a:p>
                  </a:txBody>
                  <a:tcPr marL="91440" marT="36576" marR="91440" marB="36576" anchor="ctr">
                    <a:solidFill>
                      <a:srgbClr val="FBF3F3"/>
                    </a:solidFill>
                  </a:tcPr>
                </a:tc>
              </a:tr>
              <a:tr h="786384">
                <a:tc>
                  <a:txBody>
                    <a:bodyPr wrap="square"/>
                    <a:lstStyle/>
                    <a:p>
                      <a:pPr algn="l"/>
                      <a:r>
                        <a:rPr sz="1600" b="1" i="0">
                          <a:solidFill>
                            <a:srgbClr val="8B0707"/>
                          </a:solidFill>
                          <a:latin typeface="ITC Avant Garde Gothic"/>
                          <a:ea typeface="ITC Avant Garde Gothic"/>
                          <a:cs typeface="ITC Avant Garde Gothic"/>
                        </a:rPr>
                        <a:t>Lexicographic and integral flows</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Ahuja et al. (1993); Schrijver (2003)</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Whole-person plans; priorities imposed by penalties</a:t>
                      </a:r>
                    </a:p>
                  </a:txBody>
                  <a:tcPr marL="91440" marT="36576" marR="91440" marB="36576" anchor="ctr">
                    <a:solidFill>
                      <a:srgbClr val="FFFFFF"/>
                    </a:solidFill>
                  </a:tcPr>
                </a:tc>
              </a:tr>
              <a:tr h="786384">
                <a:tc>
                  <a:txBody>
                    <a:bodyPr wrap="square"/>
                    <a:lstStyle/>
                    <a:p>
                      <a:pPr algn="l"/>
                      <a:r>
                        <a:rPr sz="1600" b="1" i="0">
                          <a:solidFill>
                            <a:srgbClr val="8B0707"/>
                          </a:solidFill>
                          <a:latin typeface="ITC Avant Garde Gothic"/>
                          <a:ea typeface="ITC Avant Garde Gothic"/>
                          <a:cs typeface="ITC Avant Garde Gothic"/>
                        </a:rPr>
                        <a:t>Albay setting (RRS)</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PSA (2021); Inquirer (2016, 2026); ReliefWeb (2023); Brimbuela et al. (2026)</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Population, Mayon history, and the companion road layer</a:t>
                      </a:r>
                    </a:p>
                  </a:txBody>
                  <a:tcPr marL="91440" marT="36576" marR="91440" marB="36576" anchor="ctr">
                    <a:solidFill>
                      <a:srgbClr val="FBF3F3"/>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4875750"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RRL/RRS</a:t>
            </a:r>
          </a:p>
        </p:txBody>
      </p:sp>
      <p:sp>
        <p:nvSpPr>
          <p:cNvPr id="8" name="Subtitle"/>
          <p:cNvSpPr txBox="1"/>
          <p:nvPr/>
        </p:nvSpPr>
        <p:spPr>
          <a:xfrm>
            <a:off x="15501199" y="18288"/>
            <a:ext cx="2375321"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Research Gap</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Six gaps remain after the review, and each one is answered by a contribution of this study</a:t>
            </a:r>
          </a:p>
        </p:txBody>
      </p:sp>
      <p:sp>
        <p:nvSpPr>
          <p:cNvPr id="10" name="Rounded Rectangle 9"/>
          <p:cNvSpPr/>
          <p:nvPr/>
        </p:nvSpPr>
        <p:spPr>
          <a:xfrm>
            <a:off x="548640" y="2697480"/>
            <a:ext cx="5486400" cy="3383280"/>
          </a:xfrm>
          <a:prstGeom prst="roundRect">
            <a:avLst>
              <a:gd name="adj" fmla="val 378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Oval 10"/>
          <p:cNvSpPr/>
          <p:nvPr/>
        </p:nvSpPr>
        <p:spPr>
          <a:xfrm>
            <a:off x="804672" y="2971800"/>
            <a:ext cx="868680" cy="868680"/>
          </a:xfrm>
          <a:prstGeom prst="ellipse">
            <a:avLst/>
          </a:prstGeom>
          <a:solidFill>
            <a:srgbClr val="8B0707"/>
          </a:solidFill>
          <a:ln>
            <a:noFill/>
          </a:ln>
          <a:effectLst/>
        </p:spPr>
        <p:txBody>
          <a:bodyPr rtlCol="0" anchor="ctr"/>
          <a:lstStyle/>
          <a:p>
            <a:pPr algn="ctr"/>
          </a:p>
        </p:txBody>
      </p:sp>
      <p:pic>
        <p:nvPicPr>
          <p:cNvPr id="12" name="Picture 11" descr="w_meeting_room.png"/>
          <p:cNvPicPr>
            <a:picLocks noChangeAspect="1"/>
          </p:cNvPicPr>
          <p:nvPr/>
        </p:nvPicPr>
        <p:blipFill>
          <a:blip r:embed="rId3"/>
          <a:stretch>
            <a:fillRect/>
          </a:stretch>
        </p:blipFill>
        <p:spPr>
          <a:xfrm>
            <a:off x="978408" y="3145536"/>
            <a:ext cx="521208" cy="521208"/>
          </a:xfrm>
          <a:prstGeom prst="rect">
            <a:avLst/>
          </a:prstGeom>
        </p:spPr>
      </p:pic>
      <p:sp>
        <p:nvSpPr>
          <p:cNvPr id="13" name="TextBox 12"/>
          <p:cNvSpPr txBox="1"/>
          <p:nvPr/>
        </p:nvSpPr>
        <p:spPr>
          <a:xfrm>
            <a:off x="1828800" y="2916936"/>
            <a:ext cx="4023360" cy="100584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G1  </a:t>
            </a:r>
            <a:r>
              <a:rPr sz="1900" b="1" i="0">
                <a:solidFill>
                  <a:srgbClr val="262626"/>
                </a:solidFill>
                <a:latin typeface="ITC Avant Garde Gothic"/>
                <a:ea typeface="ITC Avant Garde Gothic"/>
                <a:cs typeface="ITC Avant Garde Gothic"/>
              </a:rPr>
              <a:t>No model counts classrooms</a:t>
            </a:r>
          </a:p>
        </p:txBody>
      </p:sp>
      <p:sp>
        <p:nvSpPr>
          <p:cNvPr id="14" name="TextBox 13"/>
          <p:cNvSpPr txBox="1"/>
          <p:nvPr/>
        </p:nvSpPr>
        <p:spPr>
          <a:xfrm>
            <a:off x="822960" y="3995928"/>
            <a:ext cx="4983480" cy="137160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Shelters are one block of capacity; none separates a gym from a classroom.</a:t>
            </a:r>
          </a:p>
        </p:txBody>
      </p:sp>
      <p:sp>
        <p:nvSpPr>
          <p:cNvPr id="15" name="Rounded Rectangle 14"/>
          <p:cNvSpPr/>
          <p:nvPr/>
        </p:nvSpPr>
        <p:spPr>
          <a:xfrm>
            <a:off x="822960" y="5422392"/>
            <a:ext cx="4937760" cy="457200"/>
          </a:xfrm>
          <a:prstGeom prst="roundRect">
            <a:avLst>
              <a:gd name="adj" fmla="val 24000"/>
            </a:avLst>
          </a:prstGeom>
          <a:solidFill>
            <a:srgbClr val="FBF3F3"/>
          </a:solidFill>
          <a:ln>
            <a:noFill/>
          </a:ln>
          <a:effectLst/>
        </p:spPr>
        <p:txBody>
          <a:bodyPr rtlCol="0" anchor="ctr"/>
          <a:lstStyle/>
          <a:p>
            <a:pPr algn="ctr"/>
          </a:p>
        </p:txBody>
      </p:sp>
      <p:sp>
        <p:nvSpPr>
          <p:cNvPr id="16" name="TextBox 15"/>
          <p:cNvSpPr txBox="1"/>
          <p:nvPr/>
        </p:nvSpPr>
        <p:spPr>
          <a:xfrm>
            <a:off x="960120" y="5422392"/>
            <a:ext cx="4709160" cy="457200"/>
          </a:xfrm>
          <a:prstGeom prst="rect">
            <a:avLst/>
          </a:prstGeom>
          <a:noFill/>
        </p:spPr>
        <p:txBody>
          <a:bodyPr wrap="square" lIns="0" tIns="0" rIns="0" bIns="0" anchor="ctr">
            <a:noAutofit/>
          </a:bodyPr>
          <a:lstStyle/>
          <a:p>
            <a:pPr algn="l">
              <a:lnSpc>
                <a:spcPct val="100000"/>
              </a:lnSpc>
            </a:pPr>
            <a:r>
              <a:rPr sz="1500" b="1" i="0">
                <a:solidFill>
                  <a:srgbClr val="5A0505"/>
                </a:solidFill>
                <a:latin typeface="ITC Avant Garde Gothic"/>
                <a:ea typeface="ITC Avant Garde Gothic"/>
                <a:cs typeface="ITC Avant Garde Gothic"/>
              </a:rPr>
              <a:t>Answered by: </a:t>
            </a:r>
            <a:r>
              <a:rPr sz="1500" b="0" i="0">
                <a:solidFill>
                  <a:srgbClr val="5A0505"/>
                </a:solidFill>
                <a:latin typeface="ITC Avant Garde Gothic"/>
                <a:ea typeface="ITC Avant Garde Gothic"/>
                <a:cs typeface="ITC Avant Garde Gothic"/>
              </a:rPr>
              <a:t>Shelter tiers (C1)</a:t>
            </a:r>
          </a:p>
        </p:txBody>
      </p:sp>
      <p:sp>
        <p:nvSpPr>
          <p:cNvPr id="17" name="Rounded Rectangle 16"/>
          <p:cNvSpPr/>
          <p:nvPr/>
        </p:nvSpPr>
        <p:spPr>
          <a:xfrm>
            <a:off x="6400800" y="2697480"/>
            <a:ext cx="5486400" cy="3383280"/>
          </a:xfrm>
          <a:prstGeom prst="roundRect">
            <a:avLst>
              <a:gd name="adj" fmla="val 378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8" name="Oval 17"/>
          <p:cNvSpPr/>
          <p:nvPr/>
        </p:nvSpPr>
        <p:spPr>
          <a:xfrm>
            <a:off x="6656832" y="2971800"/>
            <a:ext cx="868680" cy="868680"/>
          </a:xfrm>
          <a:prstGeom prst="ellipse">
            <a:avLst/>
          </a:prstGeom>
          <a:solidFill>
            <a:srgbClr val="8B0707"/>
          </a:solidFill>
          <a:ln>
            <a:noFill/>
          </a:ln>
          <a:effectLst/>
        </p:spPr>
        <p:txBody>
          <a:bodyPr rtlCol="0" anchor="ctr"/>
          <a:lstStyle/>
          <a:p>
            <a:pPr algn="ctr"/>
          </a:p>
        </p:txBody>
      </p:sp>
      <p:pic>
        <p:nvPicPr>
          <p:cNvPr id="19" name="Picture 18" descr="w_gavel.png"/>
          <p:cNvPicPr>
            <a:picLocks noChangeAspect="1"/>
          </p:cNvPicPr>
          <p:nvPr/>
        </p:nvPicPr>
        <p:blipFill>
          <a:blip r:embed="rId4"/>
          <a:stretch>
            <a:fillRect/>
          </a:stretch>
        </p:blipFill>
        <p:spPr>
          <a:xfrm>
            <a:off x="6830568" y="3145536"/>
            <a:ext cx="521208" cy="521208"/>
          </a:xfrm>
          <a:prstGeom prst="rect">
            <a:avLst/>
          </a:prstGeom>
        </p:spPr>
      </p:pic>
      <p:sp>
        <p:nvSpPr>
          <p:cNvPr id="20" name="TextBox 19"/>
          <p:cNvSpPr txBox="1"/>
          <p:nvPr/>
        </p:nvSpPr>
        <p:spPr>
          <a:xfrm>
            <a:off x="7680960" y="2916936"/>
            <a:ext cx="4023360" cy="100584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G2  </a:t>
            </a:r>
            <a:r>
              <a:rPr sz="1900" b="1" i="0">
                <a:solidFill>
                  <a:srgbClr val="262626"/>
                </a:solidFill>
                <a:latin typeface="ITC Avant Garde Gothic"/>
                <a:ea typeface="ITC Avant Garde Gothic"/>
                <a:cs typeface="ITC Avant Garde Gothic"/>
              </a:rPr>
              <a:t>No plan follows the legal order</a:t>
            </a:r>
          </a:p>
        </p:txBody>
      </p:sp>
      <p:sp>
        <p:nvSpPr>
          <p:cNvPr id="21" name="TextBox 20"/>
          <p:cNvSpPr txBox="1"/>
          <p:nvPr/>
        </p:nvSpPr>
        <p:spPr>
          <a:xfrm>
            <a:off x="6675120" y="3995928"/>
            <a:ext cx="4983480" cy="137160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Vulnerable first, non-school before school, open space before classrooms: never written as checkable math.</a:t>
            </a:r>
          </a:p>
        </p:txBody>
      </p:sp>
      <p:sp>
        <p:nvSpPr>
          <p:cNvPr id="22" name="Rounded Rectangle 21"/>
          <p:cNvSpPr/>
          <p:nvPr/>
        </p:nvSpPr>
        <p:spPr>
          <a:xfrm>
            <a:off x="6675120" y="5422392"/>
            <a:ext cx="4937760" cy="457200"/>
          </a:xfrm>
          <a:prstGeom prst="roundRect">
            <a:avLst>
              <a:gd name="adj" fmla="val 24000"/>
            </a:avLst>
          </a:prstGeom>
          <a:solidFill>
            <a:srgbClr val="FBF3F3"/>
          </a:solidFill>
          <a:ln>
            <a:noFill/>
          </a:ln>
          <a:effectLst/>
        </p:spPr>
        <p:txBody>
          <a:bodyPr rtlCol="0" anchor="ctr"/>
          <a:lstStyle/>
          <a:p>
            <a:pPr algn="ctr"/>
          </a:p>
        </p:txBody>
      </p:sp>
      <p:sp>
        <p:nvSpPr>
          <p:cNvPr id="23" name="TextBox 22"/>
          <p:cNvSpPr txBox="1"/>
          <p:nvPr/>
        </p:nvSpPr>
        <p:spPr>
          <a:xfrm>
            <a:off x="6812280" y="5422392"/>
            <a:ext cx="4709160" cy="457200"/>
          </a:xfrm>
          <a:prstGeom prst="rect">
            <a:avLst/>
          </a:prstGeom>
          <a:noFill/>
        </p:spPr>
        <p:txBody>
          <a:bodyPr wrap="square" lIns="0" tIns="0" rIns="0" bIns="0" anchor="ctr">
            <a:noAutofit/>
          </a:bodyPr>
          <a:lstStyle/>
          <a:p>
            <a:pPr algn="l">
              <a:lnSpc>
                <a:spcPct val="100000"/>
              </a:lnSpc>
            </a:pPr>
            <a:r>
              <a:rPr sz="1500" b="1" i="0">
                <a:solidFill>
                  <a:srgbClr val="5A0505"/>
                </a:solidFill>
                <a:latin typeface="ITC Avant Garde Gothic"/>
                <a:ea typeface="ITC Avant Garde Gothic"/>
                <a:cs typeface="ITC Avant Garde Gothic"/>
              </a:rPr>
              <a:t>Answered by: </a:t>
            </a:r>
            <a:r>
              <a:rPr sz="1500" b="0" i="0">
                <a:solidFill>
                  <a:srgbClr val="5A0505"/>
                </a:solidFill>
                <a:latin typeface="ITC Avant Garde Gothic"/>
                <a:ea typeface="ITC Avant Garde Gothic"/>
                <a:cs typeface="ITC Avant Garde Gothic"/>
              </a:rPr>
              <a:t>Lexicographic flow (C2)</a:t>
            </a:r>
          </a:p>
        </p:txBody>
      </p:sp>
      <p:sp>
        <p:nvSpPr>
          <p:cNvPr id="24" name="Rounded Rectangle 23"/>
          <p:cNvSpPr/>
          <p:nvPr/>
        </p:nvSpPr>
        <p:spPr>
          <a:xfrm>
            <a:off x="12252960" y="2697480"/>
            <a:ext cx="5486400" cy="3383280"/>
          </a:xfrm>
          <a:prstGeom prst="roundRect">
            <a:avLst>
              <a:gd name="adj" fmla="val 378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5" name="Oval 24"/>
          <p:cNvSpPr/>
          <p:nvPr/>
        </p:nvSpPr>
        <p:spPr>
          <a:xfrm>
            <a:off x="12508992" y="2971800"/>
            <a:ext cx="868680" cy="868680"/>
          </a:xfrm>
          <a:prstGeom prst="ellipse">
            <a:avLst/>
          </a:prstGeom>
          <a:solidFill>
            <a:srgbClr val="8B0707"/>
          </a:solidFill>
          <a:ln>
            <a:noFill/>
          </a:ln>
          <a:effectLst/>
        </p:spPr>
        <p:txBody>
          <a:bodyPr rtlCol="0" anchor="ctr"/>
          <a:lstStyle/>
          <a:p>
            <a:pPr algn="ctr"/>
          </a:p>
        </p:txBody>
      </p:sp>
      <p:pic>
        <p:nvPicPr>
          <p:cNvPr id="26" name="Picture 25" descr="w_timer.png"/>
          <p:cNvPicPr>
            <a:picLocks noChangeAspect="1"/>
          </p:cNvPicPr>
          <p:nvPr/>
        </p:nvPicPr>
        <p:blipFill>
          <a:blip r:embed="rId5"/>
          <a:stretch>
            <a:fillRect/>
          </a:stretch>
        </p:blipFill>
        <p:spPr>
          <a:xfrm>
            <a:off x="12682728" y="3145536"/>
            <a:ext cx="521208" cy="521208"/>
          </a:xfrm>
          <a:prstGeom prst="rect">
            <a:avLst/>
          </a:prstGeom>
        </p:spPr>
      </p:pic>
      <p:sp>
        <p:nvSpPr>
          <p:cNvPr id="27" name="TextBox 26"/>
          <p:cNvSpPr txBox="1"/>
          <p:nvPr/>
        </p:nvSpPr>
        <p:spPr>
          <a:xfrm>
            <a:off x="13533120" y="2916936"/>
            <a:ext cx="4023360" cy="100584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G3  </a:t>
            </a:r>
            <a:r>
              <a:rPr sz="1900" b="1" i="0">
                <a:solidFill>
                  <a:srgbClr val="262626"/>
                </a:solidFill>
                <a:latin typeface="ITC Avant Garde Gothic"/>
                <a:ea typeface="ITC Avant Garde Gothic"/>
                <a:cs typeface="ITC Avant Garde Gothic"/>
              </a:rPr>
              <a:t>No clearance time for Albay</a:t>
            </a:r>
          </a:p>
        </p:txBody>
      </p:sp>
      <p:sp>
        <p:nvSpPr>
          <p:cNvPr id="28" name="TextBox 27"/>
          <p:cNvSpPr txBox="1"/>
          <p:nvPr/>
        </p:nvSpPr>
        <p:spPr>
          <a:xfrm>
            <a:off x="12527280" y="3995928"/>
            <a:ext cx="4983480" cy="137160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No open model says how long moving everyone takes, with or without lahar-damaged bridges.</a:t>
            </a:r>
          </a:p>
        </p:txBody>
      </p:sp>
      <p:sp>
        <p:nvSpPr>
          <p:cNvPr id="29" name="Rounded Rectangle 28"/>
          <p:cNvSpPr/>
          <p:nvPr/>
        </p:nvSpPr>
        <p:spPr>
          <a:xfrm>
            <a:off x="12527280" y="5422392"/>
            <a:ext cx="4937760" cy="457200"/>
          </a:xfrm>
          <a:prstGeom prst="roundRect">
            <a:avLst>
              <a:gd name="adj" fmla="val 24000"/>
            </a:avLst>
          </a:prstGeom>
          <a:solidFill>
            <a:srgbClr val="FBF3F3"/>
          </a:solidFill>
          <a:ln>
            <a:noFill/>
          </a:ln>
          <a:effectLst/>
        </p:spPr>
        <p:txBody>
          <a:bodyPr rtlCol="0" anchor="ctr"/>
          <a:lstStyle/>
          <a:p>
            <a:pPr algn="ctr"/>
          </a:p>
        </p:txBody>
      </p:sp>
      <p:sp>
        <p:nvSpPr>
          <p:cNvPr id="30" name="TextBox 29"/>
          <p:cNvSpPr txBox="1"/>
          <p:nvPr/>
        </p:nvSpPr>
        <p:spPr>
          <a:xfrm>
            <a:off x="12664440" y="5422392"/>
            <a:ext cx="4709160" cy="457200"/>
          </a:xfrm>
          <a:prstGeom prst="rect">
            <a:avLst/>
          </a:prstGeom>
          <a:noFill/>
        </p:spPr>
        <p:txBody>
          <a:bodyPr wrap="square" lIns="0" tIns="0" rIns="0" bIns="0" anchor="ctr">
            <a:noAutofit/>
          </a:bodyPr>
          <a:lstStyle/>
          <a:p>
            <a:pPr algn="l">
              <a:lnSpc>
                <a:spcPct val="100000"/>
              </a:lnSpc>
            </a:pPr>
            <a:r>
              <a:rPr sz="1500" b="1" i="0">
                <a:solidFill>
                  <a:srgbClr val="5A0505"/>
                </a:solidFill>
                <a:latin typeface="ITC Avant Garde Gothic"/>
                <a:ea typeface="ITC Avant Garde Gothic"/>
                <a:cs typeface="ITC Avant Garde Gothic"/>
              </a:rPr>
              <a:t>Answered by: </a:t>
            </a:r>
            <a:r>
              <a:rPr sz="1500" b="0" i="0">
                <a:solidFill>
                  <a:srgbClr val="5A0505"/>
                </a:solidFill>
                <a:latin typeface="ITC Avant Garde Gothic"/>
                <a:ea typeface="ITC Avant Garde Gothic"/>
                <a:cs typeface="ITC Avant Garde Gothic"/>
              </a:rPr>
              <a:t>Time-expanded network (C4)</a:t>
            </a:r>
          </a:p>
        </p:txBody>
      </p:sp>
      <p:sp>
        <p:nvSpPr>
          <p:cNvPr id="31" name="Rounded Rectangle 30"/>
          <p:cNvSpPr/>
          <p:nvPr/>
        </p:nvSpPr>
        <p:spPr>
          <a:xfrm>
            <a:off x="548640" y="6400800"/>
            <a:ext cx="5486400" cy="3383280"/>
          </a:xfrm>
          <a:prstGeom prst="roundRect">
            <a:avLst>
              <a:gd name="adj" fmla="val 378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2" name="Oval 31"/>
          <p:cNvSpPr/>
          <p:nvPr/>
        </p:nvSpPr>
        <p:spPr>
          <a:xfrm>
            <a:off x="804672" y="6675120"/>
            <a:ext cx="868680" cy="868680"/>
          </a:xfrm>
          <a:prstGeom prst="ellipse">
            <a:avLst/>
          </a:prstGeom>
          <a:solidFill>
            <a:srgbClr val="8B0707"/>
          </a:solidFill>
          <a:ln>
            <a:noFill/>
          </a:ln>
          <a:effectLst/>
        </p:spPr>
        <p:txBody>
          <a:bodyPr rtlCol="0" anchor="ctr"/>
          <a:lstStyle/>
          <a:p>
            <a:pPr algn="ctr"/>
          </a:p>
        </p:txBody>
      </p:sp>
      <p:pic>
        <p:nvPicPr>
          <p:cNvPr id="33" name="Picture 32" descr="w_night_shelter.png"/>
          <p:cNvPicPr>
            <a:picLocks noChangeAspect="1"/>
          </p:cNvPicPr>
          <p:nvPr/>
        </p:nvPicPr>
        <p:blipFill>
          <a:blip r:embed="rId6"/>
          <a:stretch>
            <a:fillRect/>
          </a:stretch>
        </p:blipFill>
        <p:spPr>
          <a:xfrm>
            <a:off x="978408" y="6848856"/>
            <a:ext cx="521208" cy="521208"/>
          </a:xfrm>
          <a:prstGeom prst="rect">
            <a:avLst/>
          </a:prstGeom>
        </p:spPr>
      </p:pic>
      <p:sp>
        <p:nvSpPr>
          <p:cNvPr id="34" name="TextBox 33"/>
          <p:cNvSpPr txBox="1"/>
          <p:nvPr/>
        </p:nvSpPr>
        <p:spPr>
          <a:xfrm>
            <a:off x="1828800" y="6620256"/>
            <a:ext cx="4023360" cy="100584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G4  </a:t>
            </a:r>
            <a:r>
              <a:rPr sz="1900" b="1" i="0">
                <a:solidFill>
                  <a:srgbClr val="262626"/>
                </a:solidFill>
                <a:latin typeface="ITC Avant Garde Gothic"/>
                <a:ea typeface="ITC Avant Garde Gothic"/>
                <a:cs typeface="ITC Avant Garde Gothic"/>
              </a:rPr>
              <a:t>No siting method for RA 12076</a:t>
            </a:r>
          </a:p>
        </p:txBody>
      </p:sp>
      <p:sp>
        <p:nvSpPr>
          <p:cNvPr id="35" name="TextBox 34"/>
          <p:cNvSpPr txBox="1"/>
          <p:nvPr/>
        </p:nvSpPr>
        <p:spPr>
          <a:xfrm>
            <a:off x="822960" y="7699248"/>
            <a:ext cx="4983480" cy="137160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New centers are required, but nothing says where they would free the most classrooms.</a:t>
            </a:r>
          </a:p>
        </p:txBody>
      </p:sp>
      <p:sp>
        <p:nvSpPr>
          <p:cNvPr id="36" name="Rounded Rectangle 35"/>
          <p:cNvSpPr/>
          <p:nvPr/>
        </p:nvSpPr>
        <p:spPr>
          <a:xfrm>
            <a:off x="822960" y="9125712"/>
            <a:ext cx="4937760" cy="457200"/>
          </a:xfrm>
          <a:prstGeom prst="roundRect">
            <a:avLst>
              <a:gd name="adj" fmla="val 24000"/>
            </a:avLst>
          </a:prstGeom>
          <a:solidFill>
            <a:srgbClr val="FBF3F3"/>
          </a:solidFill>
          <a:ln>
            <a:noFill/>
          </a:ln>
          <a:effectLst/>
        </p:spPr>
        <p:txBody>
          <a:bodyPr rtlCol="0" anchor="ctr"/>
          <a:lstStyle/>
          <a:p>
            <a:pPr algn="ctr"/>
          </a:p>
        </p:txBody>
      </p:sp>
      <p:sp>
        <p:nvSpPr>
          <p:cNvPr id="37" name="TextBox 36"/>
          <p:cNvSpPr txBox="1"/>
          <p:nvPr/>
        </p:nvSpPr>
        <p:spPr>
          <a:xfrm>
            <a:off x="960120" y="9125712"/>
            <a:ext cx="4709160" cy="457200"/>
          </a:xfrm>
          <a:prstGeom prst="rect">
            <a:avLst/>
          </a:prstGeom>
          <a:noFill/>
        </p:spPr>
        <p:txBody>
          <a:bodyPr wrap="square" lIns="0" tIns="0" rIns="0" bIns="0" anchor="ctr">
            <a:noAutofit/>
          </a:bodyPr>
          <a:lstStyle/>
          <a:p>
            <a:pPr algn="l">
              <a:lnSpc>
                <a:spcPct val="100000"/>
              </a:lnSpc>
            </a:pPr>
            <a:r>
              <a:rPr sz="1500" b="1" i="0">
                <a:solidFill>
                  <a:srgbClr val="5A0505"/>
                </a:solidFill>
                <a:latin typeface="ITC Avant Garde Gothic"/>
                <a:ea typeface="ITC Avant Garde Gothic"/>
                <a:cs typeface="ITC Avant Garde Gothic"/>
              </a:rPr>
              <a:t>Answered by: </a:t>
            </a:r>
            <a:r>
              <a:rPr sz="1500" b="0" i="0">
                <a:solidFill>
                  <a:srgbClr val="5A0505"/>
                </a:solidFill>
                <a:latin typeface="ITC Avant Garde Gothic"/>
                <a:ea typeface="ITC Avant Garde Gothic"/>
                <a:cs typeface="ITC Avant Garde Gothic"/>
              </a:rPr>
              <a:t>Greedy siting with a guarantee (C6)</a:t>
            </a:r>
          </a:p>
        </p:txBody>
      </p:sp>
      <p:sp>
        <p:nvSpPr>
          <p:cNvPr id="38" name="Rounded Rectangle 37"/>
          <p:cNvSpPr/>
          <p:nvPr/>
        </p:nvSpPr>
        <p:spPr>
          <a:xfrm>
            <a:off x="6400800" y="6400800"/>
            <a:ext cx="5486400" cy="3383280"/>
          </a:xfrm>
          <a:prstGeom prst="roundRect">
            <a:avLst>
              <a:gd name="adj" fmla="val 378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9" name="Oval 38"/>
          <p:cNvSpPr/>
          <p:nvPr/>
        </p:nvSpPr>
        <p:spPr>
          <a:xfrm>
            <a:off x="6656832" y="6675120"/>
            <a:ext cx="868680" cy="868680"/>
          </a:xfrm>
          <a:prstGeom prst="ellipse">
            <a:avLst/>
          </a:prstGeom>
          <a:solidFill>
            <a:srgbClr val="8B0707"/>
          </a:solidFill>
          <a:ln>
            <a:noFill/>
          </a:ln>
          <a:effectLst/>
        </p:spPr>
        <p:txBody>
          <a:bodyPr rtlCol="0" anchor="ctr"/>
          <a:lstStyle/>
          <a:p>
            <a:pPr algn="ctr"/>
          </a:p>
        </p:txBody>
      </p:sp>
      <p:pic>
        <p:nvPicPr>
          <p:cNvPr id="40" name="Picture 39" descr="w_functions.png"/>
          <p:cNvPicPr>
            <a:picLocks noChangeAspect="1"/>
          </p:cNvPicPr>
          <p:nvPr/>
        </p:nvPicPr>
        <p:blipFill>
          <a:blip r:embed="rId7"/>
          <a:stretch>
            <a:fillRect/>
          </a:stretch>
        </p:blipFill>
        <p:spPr>
          <a:xfrm>
            <a:off x="6830568" y="6848856"/>
            <a:ext cx="521208" cy="521208"/>
          </a:xfrm>
          <a:prstGeom prst="rect">
            <a:avLst/>
          </a:prstGeom>
        </p:spPr>
      </p:pic>
      <p:sp>
        <p:nvSpPr>
          <p:cNvPr id="41" name="TextBox 40"/>
          <p:cNvSpPr txBox="1"/>
          <p:nvPr/>
        </p:nvSpPr>
        <p:spPr>
          <a:xfrm>
            <a:off x="7680960" y="6620256"/>
            <a:ext cx="4023360" cy="100584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G5  </a:t>
            </a:r>
            <a:r>
              <a:rPr sz="1900" b="1" i="0">
                <a:solidFill>
                  <a:srgbClr val="262626"/>
                </a:solidFill>
                <a:latin typeface="ITC Avant Garde Gothic"/>
                <a:ea typeface="ITC Avant Garde Gothic"/>
                <a:cs typeface="ITC Avant Garde Gothic"/>
              </a:rPr>
              <a:t>No proof that plans behave sensibly</a:t>
            </a:r>
          </a:p>
        </p:txBody>
      </p:sp>
      <p:sp>
        <p:nvSpPr>
          <p:cNvPr id="42" name="TextBox 41"/>
          <p:cNvSpPr txBox="1"/>
          <p:nvPr/>
        </p:nvSpPr>
        <p:spPr>
          <a:xfrm>
            <a:off x="6675120" y="7699248"/>
            <a:ext cx="4983480" cy="137160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A higher alert should never look better; a closed road should never shorten the evacuation.</a:t>
            </a:r>
          </a:p>
        </p:txBody>
      </p:sp>
      <p:sp>
        <p:nvSpPr>
          <p:cNvPr id="43" name="Rounded Rectangle 42"/>
          <p:cNvSpPr/>
          <p:nvPr/>
        </p:nvSpPr>
        <p:spPr>
          <a:xfrm>
            <a:off x="6675120" y="9125712"/>
            <a:ext cx="4937760" cy="457200"/>
          </a:xfrm>
          <a:prstGeom prst="roundRect">
            <a:avLst>
              <a:gd name="adj" fmla="val 24000"/>
            </a:avLst>
          </a:prstGeom>
          <a:solidFill>
            <a:srgbClr val="FBF3F3"/>
          </a:solidFill>
          <a:ln>
            <a:noFill/>
          </a:ln>
          <a:effectLst/>
        </p:spPr>
        <p:txBody>
          <a:bodyPr rtlCol="0" anchor="ctr"/>
          <a:lstStyle/>
          <a:p>
            <a:pPr algn="ctr"/>
          </a:p>
        </p:txBody>
      </p:sp>
      <p:sp>
        <p:nvSpPr>
          <p:cNvPr id="44" name="TextBox 43"/>
          <p:cNvSpPr txBox="1"/>
          <p:nvPr/>
        </p:nvSpPr>
        <p:spPr>
          <a:xfrm>
            <a:off x="6812280" y="9125712"/>
            <a:ext cx="4709160" cy="457200"/>
          </a:xfrm>
          <a:prstGeom prst="rect">
            <a:avLst/>
          </a:prstGeom>
          <a:noFill/>
        </p:spPr>
        <p:txBody>
          <a:bodyPr wrap="square" lIns="0" tIns="0" rIns="0" bIns="0" anchor="ctr">
            <a:noAutofit/>
          </a:bodyPr>
          <a:lstStyle/>
          <a:p>
            <a:pPr algn="l">
              <a:lnSpc>
                <a:spcPct val="100000"/>
              </a:lnSpc>
            </a:pPr>
            <a:r>
              <a:rPr sz="1500" b="1" i="0">
                <a:solidFill>
                  <a:srgbClr val="5A0505"/>
                </a:solidFill>
                <a:latin typeface="ITC Avant Garde Gothic"/>
                <a:ea typeface="ITC Avant Garde Gothic"/>
                <a:cs typeface="ITC Avant Garde Gothic"/>
              </a:rPr>
              <a:t>Answered by: </a:t>
            </a:r>
            <a:r>
              <a:rPr sz="1500" b="0" i="0">
                <a:solidFill>
                  <a:srgbClr val="5A0505"/>
                </a:solidFill>
                <a:latin typeface="ITC Avant Garde Gothic"/>
                <a:ea typeface="ITC Avant Garde Gothic"/>
                <a:cs typeface="ITC Avant Garde Gothic"/>
              </a:rPr>
              <a:t>Propositions 5 and 9 (C3, C5)</a:t>
            </a:r>
          </a:p>
        </p:txBody>
      </p:sp>
      <p:sp>
        <p:nvSpPr>
          <p:cNvPr id="45" name="Rounded Rectangle 44"/>
          <p:cNvSpPr/>
          <p:nvPr/>
        </p:nvSpPr>
        <p:spPr>
          <a:xfrm>
            <a:off x="12252960" y="6400800"/>
            <a:ext cx="5486400" cy="3383280"/>
          </a:xfrm>
          <a:prstGeom prst="roundRect">
            <a:avLst>
              <a:gd name="adj" fmla="val 378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46" name="Oval 45"/>
          <p:cNvSpPr/>
          <p:nvPr/>
        </p:nvSpPr>
        <p:spPr>
          <a:xfrm>
            <a:off x="12508992" y="6675120"/>
            <a:ext cx="868680" cy="868680"/>
          </a:xfrm>
          <a:prstGeom prst="ellipse">
            <a:avLst/>
          </a:prstGeom>
          <a:solidFill>
            <a:srgbClr val="8B0707"/>
          </a:solidFill>
          <a:ln>
            <a:noFill/>
          </a:ln>
          <a:effectLst/>
        </p:spPr>
        <p:txBody>
          <a:bodyPr rtlCol="0" anchor="ctr"/>
          <a:lstStyle/>
          <a:p>
            <a:pPr algn="ctr"/>
          </a:p>
        </p:txBody>
      </p:sp>
      <p:pic>
        <p:nvPicPr>
          <p:cNvPr id="47" name="Picture 46" descr="w_database.png"/>
          <p:cNvPicPr>
            <a:picLocks noChangeAspect="1"/>
          </p:cNvPicPr>
          <p:nvPr/>
        </p:nvPicPr>
        <p:blipFill>
          <a:blip r:embed="rId8"/>
          <a:stretch>
            <a:fillRect/>
          </a:stretch>
        </p:blipFill>
        <p:spPr>
          <a:xfrm>
            <a:off x="12682728" y="6848856"/>
            <a:ext cx="521208" cy="521208"/>
          </a:xfrm>
          <a:prstGeom prst="rect">
            <a:avLst/>
          </a:prstGeom>
        </p:spPr>
      </p:pic>
      <p:sp>
        <p:nvSpPr>
          <p:cNvPr id="48" name="TextBox 47"/>
          <p:cNvSpPr txBox="1"/>
          <p:nvPr/>
        </p:nvSpPr>
        <p:spPr>
          <a:xfrm>
            <a:off x="13533120" y="6620256"/>
            <a:ext cx="4023360" cy="100584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G6  </a:t>
            </a:r>
            <a:r>
              <a:rPr sz="1900" b="1" i="0">
                <a:solidFill>
                  <a:srgbClr val="262626"/>
                </a:solidFill>
                <a:latin typeface="ITC Avant Garde Gothic"/>
                <a:ea typeface="ITC Avant Garde Gothic"/>
                <a:cs typeface="ITC Avant Garde Gothic"/>
              </a:rPr>
              <a:t>No open inventory</a:t>
            </a:r>
          </a:p>
        </p:txBody>
      </p:sp>
      <p:sp>
        <p:nvSpPr>
          <p:cNvPr id="49" name="TextBox 48"/>
          <p:cNvSpPr txBox="1"/>
          <p:nvPr/>
        </p:nvSpPr>
        <p:spPr>
          <a:xfrm>
            <a:off x="12527280" y="7699248"/>
            <a:ext cx="4983480" cy="137160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Floor areas, classroom counts, and accessibility are scattered across agencies.</a:t>
            </a:r>
          </a:p>
        </p:txBody>
      </p:sp>
      <p:sp>
        <p:nvSpPr>
          <p:cNvPr id="50" name="Rounded Rectangle 49"/>
          <p:cNvSpPr/>
          <p:nvPr/>
        </p:nvSpPr>
        <p:spPr>
          <a:xfrm>
            <a:off x="12527280" y="9125712"/>
            <a:ext cx="4937760" cy="457200"/>
          </a:xfrm>
          <a:prstGeom prst="roundRect">
            <a:avLst>
              <a:gd name="adj" fmla="val 24000"/>
            </a:avLst>
          </a:prstGeom>
          <a:solidFill>
            <a:srgbClr val="FBF3F3"/>
          </a:solidFill>
          <a:ln>
            <a:noFill/>
          </a:ln>
          <a:effectLst/>
        </p:spPr>
        <p:txBody>
          <a:bodyPr rtlCol="0" anchor="ctr"/>
          <a:lstStyle/>
          <a:p>
            <a:pPr algn="ctr"/>
          </a:p>
        </p:txBody>
      </p:sp>
      <p:sp>
        <p:nvSpPr>
          <p:cNvPr id="51" name="TextBox 50"/>
          <p:cNvSpPr txBox="1"/>
          <p:nvPr/>
        </p:nvSpPr>
        <p:spPr>
          <a:xfrm>
            <a:off x="12664440" y="9125712"/>
            <a:ext cx="4709160" cy="457200"/>
          </a:xfrm>
          <a:prstGeom prst="rect">
            <a:avLst/>
          </a:prstGeom>
          <a:noFill/>
        </p:spPr>
        <p:txBody>
          <a:bodyPr wrap="square" lIns="0" tIns="0" rIns="0" bIns="0" anchor="ctr">
            <a:noAutofit/>
          </a:bodyPr>
          <a:lstStyle/>
          <a:p>
            <a:pPr algn="l">
              <a:lnSpc>
                <a:spcPct val="100000"/>
              </a:lnSpc>
            </a:pPr>
            <a:r>
              <a:rPr sz="1500" b="1" i="0">
                <a:solidFill>
                  <a:srgbClr val="5A0505"/>
                </a:solidFill>
                <a:latin typeface="ITC Avant Garde Gothic"/>
                <a:ea typeface="ITC Avant Garde Gothic"/>
                <a:cs typeface="ITC Avant Garde Gothic"/>
              </a:rPr>
              <a:t>Answered by: </a:t>
            </a:r>
            <a:r>
              <a:rPr sz="1500" b="0" i="0">
                <a:solidFill>
                  <a:srgbClr val="5A0505"/>
                </a:solidFill>
                <a:latin typeface="ITC Avant Garde Gothic"/>
                <a:ea typeface="ITC Avant Garde Gothic"/>
                <a:cs typeface="ITC Avant Garde Gothic"/>
              </a:rPr>
              <a:t>Open register and schema (C7)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507531" cy="1645920"/>
          </a:xfrm>
          <a:prstGeom prst="rect">
            <a:avLst/>
          </a:prstGeom>
        </p:spPr>
        <p:txBody>
          <a:bodyPr lIns="0" tIns="0" rIns="0" bIns="0" rtlCol="0" anchor="ctr" wrap="square">
            <a:noAutofit/>
          </a:bodyPr>
          <a:lstStyle/>
          <a:p>
            <a:pPr algn="l">
              <a:lnSpc>
                <a:spcPct val="90000"/>
              </a:lnSpc>
            </a:pPr>
            <a:r>
              <a:rPr sz="5400" b="0" i="0">
                <a:solidFill>
                  <a:srgbClr val="FFFFFF"/>
                </a:solidFill>
                <a:latin typeface="ITC Avant Garde Gothic"/>
                <a:ea typeface="ITC Avant Garde Gothic"/>
                <a:cs typeface="ITC Avant Garde Gothic"/>
              </a:rPr>
              <a:t>THEORETICAL/CONCEPTUAL</a:t>
            </a:r>
          </a:p>
          <a:p>
            <a:pPr algn="l">
              <a:lnSpc>
                <a:spcPct val="90000"/>
              </a:lnSpc>
            </a:pPr>
            <a:r>
              <a:rPr sz="5400" b="0" i="0">
                <a:solidFill>
                  <a:srgbClr val="FFFFFF"/>
                </a:solidFill>
                <a:latin typeface="ITC Avant Garde Gothic"/>
                <a:ea typeface="ITC Avant Garde Gothic"/>
                <a:cs typeface="ITC Avant Garde Gothic"/>
              </a:rPr>
              <a:t>FRAMEWORK PARADIGM</a:t>
            </a:r>
          </a:p>
        </p:txBody>
      </p:sp>
      <p:sp>
        <p:nvSpPr>
          <p:cNvPr id="8" name="Subtitle"/>
          <p:cNvSpPr txBox="1"/>
          <p:nvPr/>
        </p:nvSpPr>
        <p:spPr>
          <a:xfrm>
            <a:off x="14132981" y="18288"/>
            <a:ext cx="3743539"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Conceptual Framework</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Three layers turn open data into an evacuation plan that keeps classrooms open</a:t>
            </a:r>
          </a:p>
        </p:txBody>
      </p:sp>
      <p:sp>
        <p:nvSpPr>
          <p:cNvPr id="10" name="Rounded Rectangle 9"/>
          <p:cNvSpPr/>
          <p:nvPr/>
        </p:nvSpPr>
        <p:spPr>
          <a:xfrm>
            <a:off x="548640" y="2697480"/>
            <a:ext cx="11795760" cy="5989320"/>
          </a:xfrm>
          <a:prstGeom prst="roundRect">
            <a:avLst>
              <a:gd name="adj" fmla="val 2137"/>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pic>
        <p:nvPicPr>
          <p:cNvPr id="11" name="Picture 10" descr="framework_crop.png"/>
          <p:cNvPicPr>
            <a:picLocks noChangeAspect="1"/>
          </p:cNvPicPr>
          <p:nvPr/>
        </p:nvPicPr>
        <p:blipFill>
          <a:blip r:embed="rId3"/>
          <a:stretch>
            <a:fillRect/>
          </a:stretch>
        </p:blipFill>
        <p:spPr>
          <a:xfrm>
            <a:off x="685800" y="2858955"/>
            <a:ext cx="11521440" cy="5666370"/>
          </a:xfrm>
          <a:prstGeom prst="rect">
            <a:avLst/>
          </a:prstGeom>
        </p:spPr>
      </p:pic>
      <p:sp>
        <p:nvSpPr>
          <p:cNvPr id="12" name="Rounded Rectangle 11"/>
          <p:cNvSpPr/>
          <p:nvPr/>
        </p:nvSpPr>
        <p:spPr>
          <a:xfrm>
            <a:off x="12710160" y="2697480"/>
            <a:ext cx="5029200" cy="1828800"/>
          </a:xfrm>
          <a:prstGeom prst="roundRect">
            <a:avLst>
              <a:gd name="adj" fmla="val 7000"/>
            </a:avLst>
          </a:prstGeom>
          <a:solidFill>
            <a:srgbClr val="EAF1FB"/>
          </a:solidFill>
          <a:ln w="9525">
            <a:solidFill>
              <a:srgbClr val="2B4C80"/>
            </a:solidFill>
          </a:ln>
          <a:effectLst>
            <a:outerShdw blurRad="82296" dist="32004" dir="5400000" algn="t" rotWithShape="0">
              <a:srgbClr val="000000">
                <a:alpha val="22000"/>
              </a:srgbClr>
            </a:outerShdw>
          </a:effectLst>
        </p:spPr>
        <p:txBody>
          <a:bodyPr rtlCol="0" anchor="ctr"/>
          <a:lstStyle/>
          <a:p>
            <a:pPr algn="ctr"/>
          </a:p>
        </p:txBody>
      </p:sp>
      <p:sp>
        <p:nvSpPr>
          <p:cNvPr id="13" name="TextBox 12"/>
          <p:cNvSpPr txBox="1"/>
          <p:nvPr/>
        </p:nvSpPr>
        <p:spPr>
          <a:xfrm>
            <a:off x="12938760" y="2807208"/>
            <a:ext cx="4617720" cy="1645920"/>
          </a:xfrm>
          <a:prstGeom prst="rect">
            <a:avLst/>
          </a:prstGeom>
          <a:noFill/>
        </p:spPr>
        <p:txBody>
          <a:bodyPr wrap="square" lIns="0" tIns="0" rIns="0" bIns="0" anchor="ctr">
            <a:noAutofit/>
          </a:bodyPr>
          <a:lstStyle/>
          <a:p>
            <a:pPr algn="l">
              <a:lnSpc>
                <a:spcPct val="100000"/>
              </a:lnSpc>
              <a:spcAft>
                <a:spcPts val="300"/>
              </a:spcAft>
            </a:pPr>
            <a:r>
              <a:rPr sz="1900" b="1" i="0">
                <a:solidFill>
                  <a:srgbClr val="2B4C80"/>
                </a:solidFill>
                <a:latin typeface="ITC Avant Garde Gothic"/>
                <a:ea typeface="ITC Avant Garde Gothic"/>
                <a:cs typeface="ITC Avant Garde Gothic"/>
              </a:rPr>
              <a:t>Data layer</a:t>
            </a:r>
          </a:p>
          <a:p>
            <a:pPr algn="l">
              <a:lnSpc>
                <a:spcPct val="100000"/>
              </a:lnSpc>
              <a:spcAft>
                <a:spcPts val="300"/>
              </a:spcAft>
            </a:pPr>
            <a:r>
              <a:rPr sz="1600" b="0" i="0">
                <a:solidFill>
                  <a:srgbClr val="262626"/>
                </a:solidFill>
                <a:latin typeface="ITC Avant Garde Gothic"/>
                <a:ea typeface="ITC Avant Garde Gothic"/>
                <a:cs typeface="ITC Avant Garde Gothic"/>
              </a:rPr>
              <a:t>Hazard scenarios, origins, roads, shelters, suitability</a:t>
            </a:r>
          </a:p>
          <a:p>
            <a:pPr algn="l">
              <a:lnSpc>
                <a:spcPct val="100000"/>
              </a:lnSpc>
            </a:pPr>
            <a:r>
              <a:rPr sz="1400" b="0" i="1">
                <a:solidFill>
                  <a:srgbClr val="5E5E5E"/>
                </a:solidFill>
                <a:latin typeface="ITC Avant Garde Gothic"/>
                <a:ea typeface="ITC Avant Garde Gothic"/>
                <a:cs typeface="ITC Avant Garde Gothic"/>
              </a:rPr>
              <a:t>Definitions 1 to 6</a:t>
            </a:r>
          </a:p>
        </p:txBody>
      </p:sp>
      <p:sp>
        <p:nvSpPr>
          <p:cNvPr id="14" name="Rounded Rectangle 13"/>
          <p:cNvSpPr/>
          <p:nvPr/>
        </p:nvSpPr>
        <p:spPr>
          <a:xfrm>
            <a:off x="12710160" y="4754880"/>
            <a:ext cx="5029200" cy="1828800"/>
          </a:xfrm>
          <a:prstGeom prst="roundRect">
            <a:avLst>
              <a:gd name="adj" fmla="val 7000"/>
            </a:avLst>
          </a:prstGeom>
          <a:solidFill>
            <a:srgbClr val="FCEEDC"/>
          </a:solidFill>
          <a:ln w="9525">
            <a:solidFill>
              <a:srgbClr val="B5651D"/>
            </a:solidFill>
          </a:ln>
          <a:effectLst>
            <a:outerShdw blurRad="82296" dist="32004" dir="5400000" algn="t" rotWithShape="0">
              <a:srgbClr val="000000">
                <a:alpha val="22000"/>
              </a:srgbClr>
            </a:outerShdw>
          </a:effectLst>
        </p:spPr>
        <p:txBody>
          <a:bodyPr rtlCol="0" anchor="ctr"/>
          <a:lstStyle/>
          <a:p>
            <a:pPr algn="ctr"/>
          </a:p>
        </p:txBody>
      </p:sp>
      <p:sp>
        <p:nvSpPr>
          <p:cNvPr id="15" name="TextBox 14"/>
          <p:cNvSpPr txBox="1"/>
          <p:nvPr/>
        </p:nvSpPr>
        <p:spPr>
          <a:xfrm>
            <a:off x="12938760" y="4864608"/>
            <a:ext cx="4617720" cy="1645920"/>
          </a:xfrm>
          <a:prstGeom prst="rect">
            <a:avLst/>
          </a:prstGeom>
          <a:noFill/>
        </p:spPr>
        <p:txBody>
          <a:bodyPr wrap="square" lIns="0" tIns="0" rIns="0" bIns="0" anchor="ctr">
            <a:noAutofit/>
          </a:bodyPr>
          <a:lstStyle/>
          <a:p>
            <a:pPr algn="l">
              <a:lnSpc>
                <a:spcPct val="100000"/>
              </a:lnSpc>
              <a:spcAft>
                <a:spcPts val="300"/>
              </a:spcAft>
            </a:pPr>
            <a:r>
              <a:rPr sz="1900" b="1" i="0">
                <a:solidFill>
                  <a:srgbClr val="B5651D"/>
                </a:solidFill>
                <a:latin typeface="ITC Avant Garde Gothic"/>
                <a:ea typeface="ITC Avant Garde Gothic"/>
                <a:cs typeface="ITC Avant Garde Gothic"/>
              </a:rPr>
              <a:t>Planning layer</a:t>
            </a:r>
          </a:p>
          <a:p>
            <a:pPr algn="l">
              <a:lnSpc>
                <a:spcPct val="100000"/>
              </a:lnSpc>
              <a:spcAft>
                <a:spcPts val="300"/>
              </a:spcAft>
            </a:pPr>
            <a:r>
              <a:rPr sz="1600" b="0" i="0">
                <a:solidFill>
                  <a:srgbClr val="262626"/>
                </a:solidFill>
                <a:latin typeface="ITC Avant Garde Gothic"/>
                <a:ea typeface="ITC Avant Garde Gothic"/>
                <a:cs typeface="ITC Avant Garde Gothic"/>
              </a:rPr>
              <a:t>School-preserving plan; classrooms closed and learners displaced</a:t>
            </a:r>
          </a:p>
          <a:p>
            <a:pPr algn="l">
              <a:lnSpc>
                <a:spcPct val="100000"/>
              </a:lnSpc>
            </a:pPr>
            <a:r>
              <a:rPr sz="1400" b="0" i="1">
                <a:solidFill>
                  <a:srgbClr val="5E5E5E"/>
                </a:solidFill>
                <a:latin typeface="ITC Avant Garde Gothic"/>
                <a:ea typeface="ITC Avant Garde Gothic"/>
                <a:cs typeface="ITC Avant Garde Gothic"/>
              </a:rPr>
              <a:t>Definitions 7 to 9; Propositions 1 to 5</a:t>
            </a:r>
          </a:p>
        </p:txBody>
      </p:sp>
      <p:sp>
        <p:nvSpPr>
          <p:cNvPr id="16" name="Rounded Rectangle 15"/>
          <p:cNvSpPr/>
          <p:nvPr/>
        </p:nvSpPr>
        <p:spPr>
          <a:xfrm>
            <a:off x="12710160" y="6812280"/>
            <a:ext cx="5029200" cy="1828800"/>
          </a:xfrm>
          <a:prstGeom prst="roundRect">
            <a:avLst>
              <a:gd name="adj" fmla="val 7000"/>
            </a:avLst>
          </a:prstGeom>
          <a:solidFill>
            <a:srgbClr val="E7F4EA"/>
          </a:solidFill>
          <a:ln w="9525">
            <a:solidFill>
              <a:srgbClr val="2E7D46"/>
            </a:solidFill>
          </a:ln>
          <a:effectLst>
            <a:outerShdw blurRad="82296" dist="32004" dir="5400000" algn="t" rotWithShape="0">
              <a:srgbClr val="000000">
                <a:alpha val="22000"/>
              </a:srgbClr>
            </a:outerShdw>
          </a:effectLst>
        </p:spPr>
        <p:txBody>
          <a:bodyPr rtlCol="0" anchor="ctr"/>
          <a:lstStyle/>
          <a:p>
            <a:pPr algn="ctr"/>
          </a:p>
        </p:txBody>
      </p:sp>
      <p:sp>
        <p:nvSpPr>
          <p:cNvPr id="17" name="TextBox 16"/>
          <p:cNvSpPr txBox="1"/>
          <p:nvPr/>
        </p:nvSpPr>
        <p:spPr>
          <a:xfrm>
            <a:off x="12938760" y="6922008"/>
            <a:ext cx="4617720" cy="1645920"/>
          </a:xfrm>
          <a:prstGeom prst="rect">
            <a:avLst/>
          </a:prstGeom>
          <a:noFill/>
        </p:spPr>
        <p:txBody>
          <a:bodyPr wrap="square" lIns="0" tIns="0" rIns="0" bIns="0" anchor="ctr">
            <a:noAutofit/>
          </a:bodyPr>
          <a:lstStyle/>
          <a:p>
            <a:pPr algn="l">
              <a:lnSpc>
                <a:spcPct val="100000"/>
              </a:lnSpc>
              <a:spcAft>
                <a:spcPts val="300"/>
              </a:spcAft>
            </a:pPr>
            <a:r>
              <a:rPr sz="1900" b="1" i="0">
                <a:solidFill>
                  <a:srgbClr val="2E7D46"/>
                </a:solidFill>
                <a:latin typeface="ITC Avant Garde Gothic"/>
                <a:ea typeface="ITC Avant Garde Gothic"/>
                <a:cs typeface="ITC Avant Garde Gothic"/>
              </a:rPr>
              <a:t>Time and siting layer</a:t>
            </a:r>
          </a:p>
          <a:p>
            <a:pPr algn="l">
              <a:lnSpc>
                <a:spcPct val="100000"/>
              </a:lnSpc>
              <a:spcAft>
                <a:spcPts val="300"/>
              </a:spcAft>
            </a:pPr>
            <a:r>
              <a:rPr sz="1600" b="0" i="0">
                <a:solidFill>
                  <a:srgbClr val="262626"/>
                </a:solidFill>
                <a:latin typeface="ITC Avant Garde Gothic"/>
                <a:ea typeface="ITC Avant Garde Gothic"/>
                <a:cs typeface="ITC Avant Garde Gothic"/>
              </a:rPr>
              <a:t>Clearance time, bridge closures, Ligtas Pinoy Centers</a:t>
            </a:r>
          </a:p>
          <a:p>
            <a:pPr algn="l">
              <a:lnSpc>
                <a:spcPct val="100000"/>
              </a:lnSpc>
            </a:pPr>
            <a:r>
              <a:rPr sz="1400" b="0" i="1">
                <a:solidFill>
                  <a:srgbClr val="5E5E5E"/>
                </a:solidFill>
                <a:latin typeface="ITC Avant Garde Gothic"/>
                <a:ea typeface="ITC Avant Garde Gothic"/>
                <a:cs typeface="ITC Avant Garde Gothic"/>
              </a:rPr>
              <a:t>Definitions 10 to 14; Propositions 6 to 10</a:t>
            </a:r>
          </a:p>
        </p:txBody>
      </p:sp>
      <p:sp>
        <p:nvSpPr>
          <p:cNvPr id="18" name="Rounded Rectangle 17"/>
          <p:cNvSpPr/>
          <p:nvPr/>
        </p:nvSpPr>
        <p:spPr>
          <a:xfrm>
            <a:off x="548640" y="8961120"/>
            <a:ext cx="17190720" cy="868680"/>
          </a:xfrm>
          <a:prstGeom prst="roundRect">
            <a:avLst>
              <a:gd name="adj" fmla="val 14736"/>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19" name="TextBox 18"/>
          <p:cNvSpPr txBox="1"/>
          <p:nvPr/>
        </p:nvSpPr>
        <p:spPr>
          <a:xfrm>
            <a:off x="822960" y="8961120"/>
            <a:ext cx="16642080" cy="868680"/>
          </a:xfrm>
          <a:prstGeom prst="rect">
            <a:avLst/>
          </a:prstGeom>
          <a:noFill/>
        </p:spPr>
        <p:txBody>
          <a:bodyPr wrap="square" lIns="0" tIns="0" rIns="0" bIns="0" anchor="ctr">
            <a:noAutofit/>
          </a:bodyPr>
          <a:lstStyle/>
          <a:p>
            <a:pPr algn="l">
              <a:lnSpc>
                <a:spcPct val="100000"/>
              </a:lnSpc>
            </a:pPr>
            <a:r>
              <a:rPr sz="1600" b="1" i="0">
                <a:solidFill>
                  <a:srgbClr val="F0C04A"/>
                </a:solidFill>
                <a:latin typeface="ITC Avant Garde Gothic"/>
                <a:ea typeface="ITC Avant Garde Gothic"/>
                <a:cs typeface="ITC Avant Garde Gothic"/>
              </a:rPr>
              <a:t>Theories used:  </a:t>
            </a:r>
            <a:r>
              <a:rPr sz="1600" b="0" i="0">
                <a:solidFill>
                  <a:srgbClr val="FFFFFF"/>
                </a:solidFill>
                <a:latin typeface="ITC Avant Garde Gothic"/>
                <a:ea typeface="ITC Avant Garde Gothic"/>
                <a:cs typeface="ITC Avant Garde Gothic"/>
              </a:rPr>
              <a:t>network flows over time (Ford &amp; Fulkerson)  •  total unimodularity (Ahuja et al.)  •  max-flow min-cut (Gale)  •  submodular maximization (Nemhauser et 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4110440" cy="1645920"/>
          </a:xfrm>
          <a:prstGeom prst="rect">
            <a:avLst/>
          </a:prstGeom>
        </p:spPr>
        <p:txBody>
          <a:bodyPr lIns="0" tIns="0" rIns="0" bIns="0" rtlCol="0" anchor="ctr" wrap="square">
            <a:noAutofit/>
          </a:bodyPr>
          <a:lstStyle/>
          <a:p>
            <a:pPr algn="l">
              <a:lnSpc>
                <a:spcPct val="90000"/>
              </a:lnSpc>
            </a:pPr>
            <a:r>
              <a:rPr sz="5400" b="0" i="0">
                <a:solidFill>
                  <a:srgbClr val="FFFFFF"/>
                </a:solidFill>
                <a:latin typeface="ITC Avant Garde Gothic"/>
                <a:ea typeface="ITC Avant Garde Gothic"/>
                <a:cs typeface="ITC Avant Garde Gothic"/>
              </a:rPr>
              <a:t>THEORETICAL/CONCEPTUAL</a:t>
            </a:r>
          </a:p>
          <a:p>
            <a:pPr algn="l">
              <a:lnSpc>
                <a:spcPct val="90000"/>
              </a:lnSpc>
            </a:pPr>
            <a:r>
              <a:rPr sz="5400" b="0" i="0">
                <a:solidFill>
                  <a:srgbClr val="FFFFFF"/>
                </a:solidFill>
                <a:latin typeface="ITC Avant Garde Gothic"/>
                <a:ea typeface="ITC Avant Garde Gothic"/>
                <a:cs typeface="ITC Avant Garde Gothic"/>
              </a:rPr>
              <a:t>FRAMEWORK PARADIGM</a:t>
            </a:r>
          </a:p>
        </p:txBody>
      </p:sp>
      <p:sp>
        <p:nvSpPr>
          <p:cNvPr id="8" name="Subtitle"/>
          <p:cNvSpPr txBox="1"/>
          <p:nvPr/>
        </p:nvSpPr>
        <p:spPr>
          <a:xfrm>
            <a:off x="14735889" y="18288"/>
            <a:ext cx="3140631"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Research Paradigm</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Input, process, output: public registers in, a verified evacuation plan out</a:t>
            </a:r>
          </a:p>
        </p:txBody>
      </p:sp>
      <p:sp>
        <p:nvSpPr>
          <p:cNvPr id="10" name="Rounded Rectangle 9"/>
          <p:cNvSpPr/>
          <p:nvPr/>
        </p:nvSpPr>
        <p:spPr>
          <a:xfrm>
            <a:off x="548640" y="2697480"/>
            <a:ext cx="5074920" cy="5806440"/>
          </a:xfrm>
          <a:prstGeom prst="roundRect">
            <a:avLst>
              <a:gd name="adj" fmla="val 2522"/>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Rounded Rectangle 10"/>
          <p:cNvSpPr/>
          <p:nvPr/>
        </p:nvSpPr>
        <p:spPr>
          <a:xfrm>
            <a:off x="548640" y="2697480"/>
            <a:ext cx="5074920" cy="868680"/>
          </a:xfrm>
          <a:prstGeom prst="roundRect">
            <a:avLst>
              <a:gd name="adj" fmla="val 14736"/>
            </a:avLst>
          </a:prstGeom>
          <a:solidFill>
            <a:srgbClr val="8B0707"/>
          </a:solidFill>
          <a:ln>
            <a:noFill/>
          </a:ln>
          <a:effectLst/>
        </p:spPr>
        <p:txBody>
          <a:bodyPr rtlCol="0" anchor="ctr"/>
          <a:lstStyle/>
          <a:p>
            <a:pPr algn="ctr"/>
          </a:p>
        </p:txBody>
      </p:sp>
      <p:sp>
        <p:nvSpPr>
          <p:cNvPr id="12" name="Rectangle 11"/>
          <p:cNvSpPr/>
          <p:nvPr/>
        </p:nvSpPr>
        <p:spPr>
          <a:xfrm>
            <a:off x="548640" y="3131820"/>
            <a:ext cx="5074920" cy="434340"/>
          </a:xfrm>
          <a:prstGeom prst="rect">
            <a:avLst/>
          </a:prstGeom>
          <a:solidFill>
            <a:srgbClr val="8B0707"/>
          </a:solidFill>
          <a:ln>
            <a:noFill/>
          </a:ln>
          <a:effectLst/>
        </p:spPr>
        <p:txBody>
          <a:bodyPr rtlCol="0" anchor="ctr"/>
          <a:lstStyle/>
          <a:p>
            <a:pPr algn="ctr"/>
          </a:p>
        </p:txBody>
      </p:sp>
      <p:pic>
        <p:nvPicPr>
          <p:cNvPr id="13" name="Picture 12" descr="w_input.png"/>
          <p:cNvPicPr>
            <a:picLocks noChangeAspect="1"/>
          </p:cNvPicPr>
          <p:nvPr/>
        </p:nvPicPr>
        <p:blipFill>
          <a:blip r:embed="rId3"/>
          <a:stretch>
            <a:fillRect/>
          </a:stretch>
        </p:blipFill>
        <p:spPr>
          <a:xfrm>
            <a:off x="713232" y="2798064"/>
            <a:ext cx="667512" cy="667512"/>
          </a:xfrm>
          <a:prstGeom prst="rect">
            <a:avLst/>
          </a:prstGeom>
        </p:spPr>
      </p:pic>
      <p:sp>
        <p:nvSpPr>
          <p:cNvPr id="14" name="TextBox 13"/>
          <p:cNvSpPr txBox="1"/>
          <p:nvPr/>
        </p:nvSpPr>
        <p:spPr>
          <a:xfrm>
            <a:off x="1517904" y="2697480"/>
            <a:ext cx="4014216" cy="868680"/>
          </a:xfrm>
          <a:prstGeom prst="rect">
            <a:avLst/>
          </a:prstGeom>
          <a:noFill/>
        </p:spPr>
        <p:txBody>
          <a:bodyPr wrap="square" lIns="0" tIns="0" rIns="0" bIns="0" anchor="ctr">
            <a:noAutofit/>
          </a:bodyPr>
          <a:lstStyle/>
          <a:p>
            <a:pPr algn="l">
              <a:lnSpc>
                <a:spcPct val="100000"/>
              </a:lnSpc>
            </a:pPr>
            <a:r>
              <a:rPr sz="2200" b="1" i="0">
                <a:solidFill>
                  <a:srgbClr val="FFFFFF"/>
                </a:solidFill>
                <a:latin typeface="ITC Avant Garde Gothic"/>
                <a:ea typeface="ITC Avant Garde Gothic"/>
                <a:cs typeface="ITC Avant Garde Gothic"/>
              </a:rPr>
              <a:t>INPUT</a:t>
            </a:r>
          </a:p>
        </p:txBody>
      </p:sp>
      <p:sp>
        <p:nvSpPr>
          <p:cNvPr id="15" name="TextBox 14"/>
          <p:cNvSpPr txBox="1"/>
          <p:nvPr/>
        </p:nvSpPr>
        <p:spPr>
          <a:xfrm>
            <a:off x="822960" y="3794760"/>
            <a:ext cx="4572000" cy="4617720"/>
          </a:xfrm>
          <a:prstGeom prst="rect">
            <a:avLst/>
          </a:prstGeom>
          <a:noFill/>
        </p:spPr>
        <p:txBody>
          <a:bodyPr wrap="square" lIns="45720" tIns="27432" rIns="45720" bIns="27432" anchor="t">
            <a:noAutofit/>
          </a:bodyPr>
          <a:lstStyle/>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Hazard zones and lahar channels (PHIVOLCS)</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Barangay populations and vulnerable residents (PSA 2020)</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Roads: travel time and capacity (OpenStreetMap)</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Shelters: floor areas, classrooms, accessibility (DepEd, LGUs)</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Space standard: 3.5 m² per person (Sphere)</a:t>
            </a:r>
          </a:p>
        </p:txBody>
      </p:sp>
      <p:sp>
        <p:nvSpPr>
          <p:cNvPr id="16" name="Rounded Rectangle 15"/>
          <p:cNvSpPr/>
          <p:nvPr/>
        </p:nvSpPr>
        <p:spPr>
          <a:xfrm>
            <a:off x="6355080" y="2697480"/>
            <a:ext cx="5760720" cy="5806440"/>
          </a:xfrm>
          <a:prstGeom prst="roundRect">
            <a:avLst>
              <a:gd name="adj" fmla="val 2222"/>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7" name="Rounded Rectangle 16"/>
          <p:cNvSpPr/>
          <p:nvPr/>
        </p:nvSpPr>
        <p:spPr>
          <a:xfrm>
            <a:off x="6355080" y="2697480"/>
            <a:ext cx="5760720" cy="868680"/>
          </a:xfrm>
          <a:prstGeom prst="roundRect">
            <a:avLst>
              <a:gd name="adj" fmla="val 14736"/>
            </a:avLst>
          </a:prstGeom>
          <a:solidFill>
            <a:srgbClr val="8B0707"/>
          </a:solidFill>
          <a:ln>
            <a:noFill/>
          </a:ln>
          <a:effectLst/>
        </p:spPr>
        <p:txBody>
          <a:bodyPr rtlCol="0" anchor="ctr"/>
          <a:lstStyle/>
          <a:p>
            <a:pPr algn="ctr"/>
          </a:p>
        </p:txBody>
      </p:sp>
      <p:sp>
        <p:nvSpPr>
          <p:cNvPr id="18" name="Rectangle 17"/>
          <p:cNvSpPr/>
          <p:nvPr/>
        </p:nvSpPr>
        <p:spPr>
          <a:xfrm>
            <a:off x="6355080" y="3131820"/>
            <a:ext cx="5760720" cy="434340"/>
          </a:xfrm>
          <a:prstGeom prst="rect">
            <a:avLst/>
          </a:prstGeom>
          <a:solidFill>
            <a:srgbClr val="8B0707"/>
          </a:solidFill>
          <a:ln>
            <a:noFill/>
          </a:ln>
          <a:effectLst/>
        </p:spPr>
        <p:txBody>
          <a:bodyPr rtlCol="0" anchor="ctr"/>
          <a:lstStyle/>
          <a:p>
            <a:pPr algn="ctr"/>
          </a:p>
        </p:txBody>
      </p:sp>
      <p:pic>
        <p:nvPicPr>
          <p:cNvPr id="19" name="Picture 18" descr="w_settings.png"/>
          <p:cNvPicPr>
            <a:picLocks noChangeAspect="1"/>
          </p:cNvPicPr>
          <p:nvPr/>
        </p:nvPicPr>
        <p:blipFill>
          <a:blip r:embed="rId4"/>
          <a:stretch>
            <a:fillRect/>
          </a:stretch>
        </p:blipFill>
        <p:spPr>
          <a:xfrm>
            <a:off x="6519672" y="2798064"/>
            <a:ext cx="667512" cy="667512"/>
          </a:xfrm>
          <a:prstGeom prst="rect">
            <a:avLst/>
          </a:prstGeom>
        </p:spPr>
      </p:pic>
      <p:sp>
        <p:nvSpPr>
          <p:cNvPr id="20" name="TextBox 19"/>
          <p:cNvSpPr txBox="1"/>
          <p:nvPr/>
        </p:nvSpPr>
        <p:spPr>
          <a:xfrm>
            <a:off x="7324344" y="2697480"/>
            <a:ext cx="4700016" cy="868680"/>
          </a:xfrm>
          <a:prstGeom prst="rect">
            <a:avLst/>
          </a:prstGeom>
          <a:noFill/>
        </p:spPr>
        <p:txBody>
          <a:bodyPr wrap="square" lIns="0" tIns="0" rIns="0" bIns="0" anchor="ctr">
            <a:noAutofit/>
          </a:bodyPr>
          <a:lstStyle/>
          <a:p>
            <a:pPr algn="l">
              <a:lnSpc>
                <a:spcPct val="100000"/>
              </a:lnSpc>
            </a:pPr>
            <a:r>
              <a:rPr sz="2200" b="1" i="0">
                <a:solidFill>
                  <a:srgbClr val="FFFFFF"/>
                </a:solidFill>
                <a:latin typeface="ITC Avant Garde Gothic"/>
                <a:ea typeface="ITC Avant Garde Gothic"/>
                <a:cs typeface="ITC Avant Garde Gothic"/>
              </a:rPr>
              <a:t>PROCESS</a:t>
            </a:r>
          </a:p>
        </p:txBody>
      </p:sp>
      <p:sp>
        <p:nvSpPr>
          <p:cNvPr id="21" name="TextBox 20"/>
          <p:cNvSpPr txBox="1"/>
          <p:nvPr/>
        </p:nvSpPr>
        <p:spPr>
          <a:xfrm>
            <a:off x="6629400" y="3794760"/>
            <a:ext cx="5257800" cy="4617720"/>
          </a:xfrm>
          <a:prstGeom prst="rect">
            <a:avLst/>
          </a:prstGeom>
          <a:noFill/>
        </p:spPr>
        <p:txBody>
          <a:bodyPr wrap="square" lIns="45720" tIns="27432" rIns="45720" bIns="27432" anchor="t">
            <a:noAutofit/>
          </a:bodyPr>
          <a:lstStyle/>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Algorithm 1: lexicographic minimum-cost flow</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Packing evacuees into full classrooms</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Algorithm 2: time-expanded network and bisection</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Closure of whole lahar channels</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Algorithm 3: greedy siting of Ligtas Pinoy Centers</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Ten propositions, checked against independent code</a:t>
            </a:r>
          </a:p>
        </p:txBody>
      </p:sp>
      <p:sp>
        <p:nvSpPr>
          <p:cNvPr id="22" name="Rounded Rectangle 21"/>
          <p:cNvSpPr/>
          <p:nvPr/>
        </p:nvSpPr>
        <p:spPr>
          <a:xfrm>
            <a:off x="12847320" y="2697480"/>
            <a:ext cx="4892040" cy="5806440"/>
          </a:xfrm>
          <a:prstGeom prst="roundRect">
            <a:avLst>
              <a:gd name="adj" fmla="val 2616"/>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3" name="Rounded Rectangle 22"/>
          <p:cNvSpPr/>
          <p:nvPr/>
        </p:nvSpPr>
        <p:spPr>
          <a:xfrm>
            <a:off x="12847320" y="2697480"/>
            <a:ext cx="4892040" cy="868680"/>
          </a:xfrm>
          <a:prstGeom prst="roundRect">
            <a:avLst>
              <a:gd name="adj" fmla="val 14736"/>
            </a:avLst>
          </a:prstGeom>
          <a:solidFill>
            <a:srgbClr val="8B0707"/>
          </a:solidFill>
          <a:ln>
            <a:noFill/>
          </a:ln>
          <a:effectLst/>
        </p:spPr>
        <p:txBody>
          <a:bodyPr rtlCol="0" anchor="ctr"/>
          <a:lstStyle/>
          <a:p>
            <a:pPr algn="ctr"/>
          </a:p>
        </p:txBody>
      </p:sp>
      <p:sp>
        <p:nvSpPr>
          <p:cNvPr id="24" name="Rectangle 23"/>
          <p:cNvSpPr/>
          <p:nvPr/>
        </p:nvSpPr>
        <p:spPr>
          <a:xfrm>
            <a:off x="12847320" y="3131820"/>
            <a:ext cx="4892040" cy="434340"/>
          </a:xfrm>
          <a:prstGeom prst="rect">
            <a:avLst/>
          </a:prstGeom>
          <a:solidFill>
            <a:srgbClr val="8B0707"/>
          </a:solidFill>
          <a:ln>
            <a:noFill/>
          </a:ln>
          <a:effectLst/>
        </p:spPr>
        <p:txBody>
          <a:bodyPr rtlCol="0" anchor="ctr"/>
          <a:lstStyle/>
          <a:p>
            <a:pPr algn="ctr"/>
          </a:p>
        </p:txBody>
      </p:sp>
      <p:pic>
        <p:nvPicPr>
          <p:cNvPr id="25" name="Picture 24" descr="w_output.png"/>
          <p:cNvPicPr>
            <a:picLocks noChangeAspect="1"/>
          </p:cNvPicPr>
          <p:nvPr/>
        </p:nvPicPr>
        <p:blipFill>
          <a:blip r:embed="rId5"/>
          <a:stretch>
            <a:fillRect/>
          </a:stretch>
        </p:blipFill>
        <p:spPr>
          <a:xfrm>
            <a:off x="13011912" y="2798064"/>
            <a:ext cx="667512" cy="667512"/>
          </a:xfrm>
          <a:prstGeom prst="rect">
            <a:avLst/>
          </a:prstGeom>
        </p:spPr>
      </p:pic>
      <p:sp>
        <p:nvSpPr>
          <p:cNvPr id="26" name="TextBox 25"/>
          <p:cNvSpPr txBox="1"/>
          <p:nvPr/>
        </p:nvSpPr>
        <p:spPr>
          <a:xfrm>
            <a:off x="13816584" y="2697480"/>
            <a:ext cx="3831336" cy="868680"/>
          </a:xfrm>
          <a:prstGeom prst="rect">
            <a:avLst/>
          </a:prstGeom>
          <a:noFill/>
        </p:spPr>
        <p:txBody>
          <a:bodyPr wrap="square" lIns="0" tIns="0" rIns="0" bIns="0" anchor="ctr">
            <a:noAutofit/>
          </a:bodyPr>
          <a:lstStyle/>
          <a:p>
            <a:pPr algn="l">
              <a:lnSpc>
                <a:spcPct val="100000"/>
              </a:lnSpc>
            </a:pPr>
            <a:r>
              <a:rPr sz="2200" b="1" i="0">
                <a:solidFill>
                  <a:srgbClr val="FFFFFF"/>
                </a:solidFill>
                <a:latin typeface="ITC Avant Garde Gothic"/>
                <a:ea typeface="ITC Avant Garde Gothic"/>
                <a:cs typeface="ITC Avant Garde Gothic"/>
              </a:rPr>
              <a:t>OUTPUT</a:t>
            </a:r>
          </a:p>
        </p:txBody>
      </p:sp>
      <p:sp>
        <p:nvSpPr>
          <p:cNvPr id="27" name="TextBox 26"/>
          <p:cNvSpPr txBox="1"/>
          <p:nvPr/>
        </p:nvSpPr>
        <p:spPr>
          <a:xfrm>
            <a:off x="13121640" y="3794760"/>
            <a:ext cx="4389120" cy="4617720"/>
          </a:xfrm>
          <a:prstGeom prst="rect">
            <a:avLst/>
          </a:prstGeom>
          <a:noFill/>
        </p:spPr>
        <p:txBody>
          <a:bodyPr wrap="square" lIns="45720" tIns="27432" rIns="45720" bIns="27432" anchor="t">
            <a:noAutofit/>
          </a:bodyPr>
          <a:lstStyle/>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Who goes where, vulnerable residents first</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Classrooms closed and learners displaced</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Clearance time and the bridges that matter</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Ranked sites for new evacuation centers</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Advice for PDRRMO, APSEMO, and DepEd</a:t>
            </a:r>
          </a:p>
        </p:txBody>
      </p:sp>
      <p:sp>
        <p:nvSpPr>
          <p:cNvPr id="28" name="Chevron 27"/>
          <p:cNvSpPr/>
          <p:nvPr/>
        </p:nvSpPr>
        <p:spPr>
          <a:xfrm>
            <a:off x="5733288" y="5120640"/>
            <a:ext cx="512064" cy="914400"/>
          </a:xfrm>
          <a:prstGeom prst="chevron">
            <a:avLst/>
          </a:prstGeom>
          <a:solidFill>
            <a:srgbClr val="8B0707"/>
          </a:solidFill>
          <a:ln>
            <a:noFill/>
          </a:ln>
          <a:effectLst/>
        </p:spPr>
        <p:txBody>
          <a:bodyPr rtlCol="0" anchor="ctr"/>
          <a:lstStyle/>
          <a:p>
            <a:pPr algn="ctr"/>
          </a:p>
        </p:txBody>
      </p:sp>
      <p:sp>
        <p:nvSpPr>
          <p:cNvPr id="29" name="Chevron 28"/>
          <p:cNvSpPr/>
          <p:nvPr/>
        </p:nvSpPr>
        <p:spPr>
          <a:xfrm>
            <a:off x="12225528" y="5120640"/>
            <a:ext cx="512064" cy="914400"/>
          </a:xfrm>
          <a:prstGeom prst="chevron">
            <a:avLst/>
          </a:prstGeom>
          <a:solidFill>
            <a:srgbClr val="8B0707"/>
          </a:solidFill>
          <a:ln>
            <a:noFill/>
          </a:ln>
          <a:effectLst/>
        </p:spPr>
        <p:txBody>
          <a:bodyPr rtlCol="0" anchor="ctr"/>
          <a:lstStyle/>
          <a:p>
            <a:pPr algn="ctr"/>
          </a:p>
        </p:txBody>
      </p:sp>
      <p:sp>
        <p:nvSpPr>
          <p:cNvPr id="30" name="Rounded Rectangle 29"/>
          <p:cNvSpPr/>
          <p:nvPr/>
        </p:nvSpPr>
        <p:spPr>
          <a:xfrm>
            <a:off x="548640" y="8778240"/>
            <a:ext cx="17190720" cy="1051560"/>
          </a:xfrm>
          <a:prstGeom prst="roundRect">
            <a:avLst>
              <a:gd name="adj" fmla="val 12173"/>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1" name="Oval 30"/>
          <p:cNvSpPr/>
          <p:nvPr/>
        </p:nvSpPr>
        <p:spPr>
          <a:xfrm>
            <a:off x="822960" y="8887968"/>
            <a:ext cx="822960" cy="822960"/>
          </a:xfrm>
          <a:prstGeom prst="ellipse">
            <a:avLst/>
          </a:prstGeom>
          <a:solidFill>
            <a:srgbClr val="8B0707"/>
          </a:solidFill>
          <a:ln>
            <a:noFill/>
          </a:ln>
          <a:effectLst/>
        </p:spPr>
        <p:txBody>
          <a:bodyPr rtlCol="0" anchor="ctr"/>
          <a:lstStyle/>
          <a:p>
            <a:pPr algn="ctr"/>
          </a:p>
        </p:txBody>
      </p:sp>
      <p:pic>
        <p:nvPicPr>
          <p:cNvPr id="32" name="Picture 31" descr="w_swap_calls.png"/>
          <p:cNvPicPr>
            <a:picLocks noChangeAspect="1"/>
          </p:cNvPicPr>
          <p:nvPr/>
        </p:nvPicPr>
        <p:blipFill>
          <a:blip r:embed="rId6"/>
          <a:stretch>
            <a:fillRect/>
          </a:stretch>
        </p:blipFill>
        <p:spPr>
          <a:xfrm>
            <a:off x="987552" y="9052560"/>
            <a:ext cx="493776" cy="493776"/>
          </a:xfrm>
          <a:prstGeom prst="rect">
            <a:avLst/>
          </a:prstGeom>
        </p:spPr>
      </p:pic>
      <p:sp>
        <p:nvSpPr>
          <p:cNvPr id="33" name="TextBox 32"/>
          <p:cNvSpPr txBox="1"/>
          <p:nvPr/>
        </p:nvSpPr>
        <p:spPr>
          <a:xfrm>
            <a:off x="1874520" y="8778240"/>
            <a:ext cx="15636240" cy="1051560"/>
          </a:xfrm>
          <a:prstGeom prst="rect">
            <a:avLst/>
          </a:prstGeom>
          <a:noFill/>
        </p:spPr>
        <p:txBody>
          <a:bodyPr wrap="square" lIns="0" tIns="0" rIns="0" bIns="0" anchor="ctr">
            <a:noAutofit/>
          </a:bodyPr>
          <a:lstStyle/>
          <a:p>
            <a:pPr algn="l">
              <a:lnSpc>
                <a:spcPct val="100000"/>
              </a:lnSpc>
            </a:pPr>
            <a:r>
              <a:rPr sz="1800" b="1" i="0">
                <a:solidFill>
                  <a:srgbClr val="8B0707"/>
                </a:solidFill>
                <a:latin typeface="ITC Avant Garde Gothic"/>
                <a:ea typeface="ITC Avant Garde Gothic"/>
                <a:cs typeface="ITC Avant Garde Gothic"/>
              </a:rPr>
              <a:t>Feedback:  </a:t>
            </a:r>
            <a:r>
              <a:rPr sz="1800" b="0" i="0">
                <a:solidFill>
                  <a:srgbClr val="262626"/>
                </a:solidFill>
                <a:latin typeface="ITC Avant Garde Gothic"/>
                <a:ea typeface="ITC Avant Garde Gothic"/>
                <a:cs typeface="ITC Avant Garde Gothic"/>
              </a:rPr>
              <a:t>verified shelter inventories and drill data replace the synthetic inputs, with no change to the mathematics.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5132710" cy="1645920"/>
          </a:xfrm>
          <a:prstGeom prst="rect">
            <a:avLst/>
          </a:prstGeom>
        </p:spPr>
        <p:txBody>
          <a:bodyPr lIns="0" tIns="0" rIns="0" bIns="0" rtlCol="0" anchor="ctr" wrap="square">
            <a:noAutofit/>
          </a:bodyPr>
          <a:lstStyle/>
          <a:p>
            <a:pPr algn="l">
              <a:lnSpc>
                <a:spcPct val="90000"/>
              </a:lnSpc>
            </a:pPr>
            <a:r>
              <a:rPr sz="8150" b="0" i="0">
                <a:solidFill>
                  <a:srgbClr val="FFFFFF"/>
                </a:solidFill>
                <a:latin typeface="ITC Avant Garde Gothic"/>
                <a:ea typeface="ITC Avant Garde Gothic"/>
                <a:cs typeface="ITC Avant Garde Gothic"/>
              </a:rPr>
              <a:t>SIGNIFICANCE OF THE STUDY</a:t>
            </a:r>
          </a:p>
        </p:txBody>
      </p:sp>
      <p:sp>
        <p:nvSpPr>
          <p:cNvPr id="8" name="Subtitle"/>
          <p:cNvSpPr txBox="1"/>
          <p:nvPr/>
        </p:nvSpPr>
        <p:spPr>
          <a:xfrm>
            <a:off x="15758160" y="18288"/>
            <a:ext cx="211836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Who Benefits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Every classroom the plan keeps open is a class that keeps meeting</a:t>
            </a:r>
          </a:p>
        </p:txBody>
      </p:sp>
      <p:sp>
        <p:nvSpPr>
          <p:cNvPr id="10" name="Rounded Rectangle 9"/>
          <p:cNvSpPr/>
          <p:nvPr/>
        </p:nvSpPr>
        <p:spPr>
          <a:xfrm>
            <a:off x="548640" y="2697480"/>
            <a:ext cx="548640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Oval 10"/>
          <p:cNvSpPr/>
          <p:nvPr/>
        </p:nvSpPr>
        <p:spPr>
          <a:xfrm>
            <a:off x="804672" y="2953512"/>
            <a:ext cx="868680" cy="868680"/>
          </a:xfrm>
          <a:prstGeom prst="ellipse">
            <a:avLst/>
          </a:prstGeom>
          <a:solidFill>
            <a:srgbClr val="8B0707"/>
          </a:solidFill>
          <a:ln>
            <a:noFill/>
          </a:ln>
          <a:effectLst/>
        </p:spPr>
        <p:txBody>
          <a:bodyPr rtlCol="0" anchor="ctr"/>
          <a:lstStyle/>
          <a:p>
            <a:pPr algn="ctr"/>
          </a:p>
        </p:txBody>
      </p:sp>
      <p:pic>
        <p:nvPicPr>
          <p:cNvPr id="12" name="Picture 11" descr="w_family_restroom.png"/>
          <p:cNvPicPr>
            <a:picLocks noChangeAspect="1"/>
          </p:cNvPicPr>
          <p:nvPr/>
        </p:nvPicPr>
        <p:blipFill>
          <a:blip r:embed="rId3"/>
          <a:stretch>
            <a:fillRect/>
          </a:stretch>
        </p:blipFill>
        <p:spPr>
          <a:xfrm>
            <a:off x="978408" y="3127248"/>
            <a:ext cx="521208" cy="521208"/>
          </a:xfrm>
          <a:prstGeom prst="rect">
            <a:avLst/>
          </a:prstGeom>
        </p:spPr>
      </p:pic>
      <p:sp>
        <p:nvSpPr>
          <p:cNvPr id="13" name="TextBox 12"/>
          <p:cNvSpPr txBox="1"/>
          <p:nvPr/>
        </p:nvSpPr>
        <p:spPr>
          <a:xfrm>
            <a:off x="1828800" y="2898648"/>
            <a:ext cx="4023360" cy="960120"/>
          </a:xfrm>
          <a:prstGeom prst="rect">
            <a:avLst/>
          </a:prstGeom>
          <a:noFill/>
        </p:spPr>
        <p:txBody>
          <a:bodyPr wrap="square" lIns="0" tIns="0" rIns="0" bIns="0" anchor="ctr">
            <a:noAutofit/>
          </a:bodyPr>
          <a:lstStyle/>
          <a:p>
            <a:pPr algn="l">
              <a:lnSpc>
                <a:spcPct val="100000"/>
              </a:lnSpc>
            </a:pPr>
            <a:r>
              <a:rPr sz="2000" b="1" i="0">
                <a:solidFill>
                  <a:srgbClr val="8B0707"/>
                </a:solidFill>
                <a:latin typeface="ITC Avant Garde Gothic"/>
                <a:ea typeface="ITC Avant Garde Gothic"/>
                <a:cs typeface="ITC Avant Garde Gothic"/>
              </a:rPr>
              <a:t>Families</a:t>
            </a:r>
          </a:p>
        </p:txBody>
      </p:sp>
      <p:sp>
        <p:nvSpPr>
          <p:cNvPr id="14" name="TextBox 13"/>
          <p:cNvSpPr txBox="1"/>
          <p:nvPr/>
        </p:nvSpPr>
        <p:spPr>
          <a:xfrm>
            <a:off x="822960" y="3959352"/>
            <a:ext cx="4983480" cy="146304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Know before an alert which shelter their barangay goes to, how long the trip takes, and whether it is accessible.</a:t>
            </a:r>
          </a:p>
        </p:txBody>
      </p:sp>
      <p:sp>
        <p:nvSpPr>
          <p:cNvPr id="15" name="Rounded Rectangle 14"/>
          <p:cNvSpPr/>
          <p:nvPr/>
        </p:nvSpPr>
        <p:spPr>
          <a:xfrm>
            <a:off x="6400800" y="2697480"/>
            <a:ext cx="548640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6" name="Oval 15"/>
          <p:cNvSpPr/>
          <p:nvPr/>
        </p:nvSpPr>
        <p:spPr>
          <a:xfrm>
            <a:off x="6656832" y="2953512"/>
            <a:ext cx="868680" cy="868680"/>
          </a:xfrm>
          <a:prstGeom prst="ellipse">
            <a:avLst/>
          </a:prstGeom>
          <a:solidFill>
            <a:srgbClr val="8B0707"/>
          </a:solidFill>
          <a:ln>
            <a:noFill/>
          </a:ln>
          <a:effectLst/>
        </p:spPr>
        <p:txBody>
          <a:bodyPr rtlCol="0" anchor="ctr"/>
          <a:lstStyle/>
          <a:p>
            <a:pPr algn="ctr"/>
          </a:p>
        </p:txBody>
      </p:sp>
      <p:pic>
        <p:nvPicPr>
          <p:cNvPr id="17" name="Picture 16" descr="w_school.png"/>
          <p:cNvPicPr>
            <a:picLocks noChangeAspect="1"/>
          </p:cNvPicPr>
          <p:nvPr/>
        </p:nvPicPr>
        <p:blipFill>
          <a:blip r:embed="rId4"/>
          <a:stretch>
            <a:fillRect/>
          </a:stretch>
        </p:blipFill>
        <p:spPr>
          <a:xfrm>
            <a:off x="6830568" y="3127248"/>
            <a:ext cx="521208" cy="521208"/>
          </a:xfrm>
          <a:prstGeom prst="rect">
            <a:avLst/>
          </a:prstGeom>
        </p:spPr>
      </p:pic>
      <p:sp>
        <p:nvSpPr>
          <p:cNvPr id="18" name="TextBox 17"/>
          <p:cNvSpPr txBox="1"/>
          <p:nvPr/>
        </p:nvSpPr>
        <p:spPr>
          <a:xfrm>
            <a:off x="7680960" y="2898648"/>
            <a:ext cx="4023360" cy="960120"/>
          </a:xfrm>
          <a:prstGeom prst="rect">
            <a:avLst/>
          </a:prstGeom>
          <a:noFill/>
        </p:spPr>
        <p:txBody>
          <a:bodyPr wrap="square" lIns="0" tIns="0" rIns="0" bIns="0" anchor="ctr">
            <a:noAutofit/>
          </a:bodyPr>
          <a:lstStyle/>
          <a:p>
            <a:pPr algn="l">
              <a:lnSpc>
                <a:spcPct val="100000"/>
              </a:lnSpc>
            </a:pPr>
            <a:r>
              <a:rPr sz="2000" b="1" i="0">
                <a:solidFill>
                  <a:srgbClr val="8B0707"/>
                </a:solidFill>
                <a:latin typeface="ITC Avant Garde Gothic"/>
                <a:ea typeface="ITC Avant Garde Gothic"/>
                <a:cs typeface="ITC Avant Garde Gothic"/>
              </a:rPr>
              <a:t>Learners and teachers</a:t>
            </a:r>
          </a:p>
        </p:txBody>
      </p:sp>
      <p:sp>
        <p:nvSpPr>
          <p:cNvPr id="19" name="TextBox 18"/>
          <p:cNvSpPr txBox="1"/>
          <p:nvPr/>
        </p:nvSpPr>
        <p:spPr>
          <a:xfrm>
            <a:off x="6675120" y="3959352"/>
            <a:ext cx="4983480" cy="146304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Fewer classrooms closed means fewer class days moved to modular or blended learning.</a:t>
            </a:r>
          </a:p>
        </p:txBody>
      </p:sp>
      <p:sp>
        <p:nvSpPr>
          <p:cNvPr id="20" name="Rounded Rectangle 19"/>
          <p:cNvSpPr/>
          <p:nvPr/>
        </p:nvSpPr>
        <p:spPr>
          <a:xfrm>
            <a:off x="12252960" y="2697480"/>
            <a:ext cx="548640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1" name="Oval 20"/>
          <p:cNvSpPr/>
          <p:nvPr/>
        </p:nvSpPr>
        <p:spPr>
          <a:xfrm>
            <a:off x="12508992" y="2953512"/>
            <a:ext cx="868680" cy="868680"/>
          </a:xfrm>
          <a:prstGeom prst="ellipse">
            <a:avLst/>
          </a:prstGeom>
          <a:solidFill>
            <a:srgbClr val="8B0707"/>
          </a:solidFill>
          <a:ln>
            <a:noFill/>
          </a:ln>
          <a:effectLst/>
        </p:spPr>
        <p:txBody>
          <a:bodyPr rtlCol="0" anchor="ctr"/>
          <a:lstStyle/>
          <a:p>
            <a:pPr algn="ctr"/>
          </a:p>
        </p:txBody>
      </p:sp>
      <p:pic>
        <p:nvPicPr>
          <p:cNvPr id="22" name="Picture 21" descr="w_groups.png"/>
          <p:cNvPicPr>
            <a:picLocks noChangeAspect="1"/>
          </p:cNvPicPr>
          <p:nvPr/>
        </p:nvPicPr>
        <p:blipFill>
          <a:blip r:embed="rId5"/>
          <a:stretch>
            <a:fillRect/>
          </a:stretch>
        </p:blipFill>
        <p:spPr>
          <a:xfrm>
            <a:off x="12682728" y="3127248"/>
            <a:ext cx="521208" cy="521208"/>
          </a:xfrm>
          <a:prstGeom prst="rect">
            <a:avLst/>
          </a:prstGeom>
        </p:spPr>
      </p:pic>
      <p:sp>
        <p:nvSpPr>
          <p:cNvPr id="23" name="TextBox 22"/>
          <p:cNvSpPr txBox="1"/>
          <p:nvPr/>
        </p:nvSpPr>
        <p:spPr>
          <a:xfrm>
            <a:off x="13533120" y="2898648"/>
            <a:ext cx="4023360" cy="960120"/>
          </a:xfrm>
          <a:prstGeom prst="rect">
            <a:avLst/>
          </a:prstGeom>
          <a:noFill/>
        </p:spPr>
        <p:txBody>
          <a:bodyPr wrap="square" lIns="0" tIns="0" rIns="0" bIns="0" anchor="ctr">
            <a:noAutofit/>
          </a:bodyPr>
          <a:lstStyle/>
          <a:p>
            <a:pPr algn="l">
              <a:lnSpc>
                <a:spcPct val="100000"/>
              </a:lnSpc>
            </a:pPr>
            <a:r>
              <a:rPr sz="2000" b="1" i="0">
                <a:solidFill>
                  <a:srgbClr val="8B0707"/>
                </a:solidFill>
                <a:latin typeface="ITC Avant Garde Gothic"/>
                <a:ea typeface="ITC Avant Garde Gothic"/>
                <a:cs typeface="ITC Avant Garde Gothic"/>
              </a:rPr>
              <a:t>School heads and barangay captains</a:t>
            </a:r>
          </a:p>
        </p:txBody>
      </p:sp>
      <p:sp>
        <p:nvSpPr>
          <p:cNvPr id="24" name="TextBox 23"/>
          <p:cNvSpPr txBox="1"/>
          <p:nvPr/>
        </p:nvSpPr>
        <p:spPr>
          <a:xfrm>
            <a:off x="12527280" y="3959352"/>
            <a:ext cx="4983480" cy="146304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See in advance whether, and how many, classrooms may be needed at each alert level.</a:t>
            </a:r>
          </a:p>
        </p:txBody>
      </p:sp>
      <p:sp>
        <p:nvSpPr>
          <p:cNvPr id="25" name="Rounded Rectangle 24"/>
          <p:cNvSpPr/>
          <p:nvPr/>
        </p:nvSpPr>
        <p:spPr>
          <a:xfrm>
            <a:off x="548640" y="5760720"/>
            <a:ext cx="548640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6" name="Oval 25"/>
          <p:cNvSpPr/>
          <p:nvPr/>
        </p:nvSpPr>
        <p:spPr>
          <a:xfrm>
            <a:off x="804672" y="6016752"/>
            <a:ext cx="868680" cy="868680"/>
          </a:xfrm>
          <a:prstGeom prst="ellipse">
            <a:avLst/>
          </a:prstGeom>
          <a:solidFill>
            <a:srgbClr val="8B0707"/>
          </a:solidFill>
          <a:ln>
            <a:noFill/>
          </a:ln>
          <a:effectLst/>
        </p:spPr>
        <p:txBody>
          <a:bodyPr rtlCol="0" anchor="ctr"/>
          <a:lstStyle/>
          <a:p>
            <a:pPr algn="ctr"/>
          </a:p>
        </p:txBody>
      </p:sp>
      <p:pic>
        <p:nvPicPr>
          <p:cNvPr id="27" name="Picture 26" descr="w_account_balance.png"/>
          <p:cNvPicPr>
            <a:picLocks noChangeAspect="1"/>
          </p:cNvPicPr>
          <p:nvPr/>
        </p:nvPicPr>
        <p:blipFill>
          <a:blip r:embed="rId6"/>
          <a:stretch>
            <a:fillRect/>
          </a:stretch>
        </p:blipFill>
        <p:spPr>
          <a:xfrm>
            <a:off x="978408" y="6190488"/>
            <a:ext cx="521208" cy="521208"/>
          </a:xfrm>
          <a:prstGeom prst="rect">
            <a:avLst/>
          </a:prstGeom>
        </p:spPr>
      </p:pic>
      <p:sp>
        <p:nvSpPr>
          <p:cNvPr id="28" name="TextBox 27"/>
          <p:cNvSpPr txBox="1"/>
          <p:nvPr/>
        </p:nvSpPr>
        <p:spPr>
          <a:xfrm>
            <a:off x="1828800" y="5961888"/>
            <a:ext cx="4023360" cy="960120"/>
          </a:xfrm>
          <a:prstGeom prst="rect">
            <a:avLst/>
          </a:prstGeom>
          <a:noFill/>
        </p:spPr>
        <p:txBody>
          <a:bodyPr wrap="square" lIns="0" tIns="0" rIns="0" bIns="0" anchor="ctr">
            <a:noAutofit/>
          </a:bodyPr>
          <a:lstStyle/>
          <a:p>
            <a:pPr algn="l">
              <a:lnSpc>
                <a:spcPct val="100000"/>
              </a:lnSpc>
            </a:pPr>
            <a:r>
              <a:rPr sz="2000" b="1" i="0">
                <a:solidFill>
                  <a:srgbClr val="8B0707"/>
                </a:solidFill>
                <a:latin typeface="ITC Avant Garde Gothic"/>
                <a:ea typeface="ITC Avant Garde Gothic"/>
                <a:cs typeface="ITC Avant Garde Gothic"/>
              </a:rPr>
              <a:t>PDRRMO, APSEMO, and DepEd</a:t>
            </a:r>
          </a:p>
        </p:txBody>
      </p:sp>
      <p:sp>
        <p:nvSpPr>
          <p:cNvPr id="29" name="TextBox 28"/>
          <p:cNvSpPr txBox="1"/>
          <p:nvPr/>
        </p:nvSpPr>
        <p:spPr>
          <a:xfrm>
            <a:off x="822960" y="7022592"/>
            <a:ext cx="4983480" cy="146304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Recompute the plan in seconds when a shelter fills or a bridge fails; know how early to order the evacuation.</a:t>
            </a:r>
          </a:p>
        </p:txBody>
      </p:sp>
      <p:sp>
        <p:nvSpPr>
          <p:cNvPr id="30" name="Rounded Rectangle 29"/>
          <p:cNvSpPr/>
          <p:nvPr/>
        </p:nvSpPr>
        <p:spPr>
          <a:xfrm>
            <a:off x="6400800" y="5760720"/>
            <a:ext cx="548640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1" name="Oval 30"/>
          <p:cNvSpPr/>
          <p:nvPr/>
        </p:nvSpPr>
        <p:spPr>
          <a:xfrm>
            <a:off x="6656832" y="6016752"/>
            <a:ext cx="868680" cy="868680"/>
          </a:xfrm>
          <a:prstGeom prst="ellipse">
            <a:avLst/>
          </a:prstGeom>
          <a:solidFill>
            <a:srgbClr val="8B0707"/>
          </a:solidFill>
          <a:ln>
            <a:noFill/>
          </a:ln>
          <a:effectLst/>
        </p:spPr>
        <p:txBody>
          <a:bodyPr rtlCol="0" anchor="ctr"/>
          <a:lstStyle/>
          <a:p>
            <a:pPr algn="ctr"/>
          </a:p>
        </p:txBody>
      </p:sp>
      <p:pic>
        <p:nvPicPr>
          <p:cNvPr id="32" name="Picture 31" descr="w_night_shelter.png"/>
          <p:cNvPicPr>
            <a:picLocks noChangeAspect="1"/>
          </p:cNvPicPr>
          <p:nvPr/>
        </p:nvPicPr>
        <p:blipFill>
          <a:blip r:embed="rId7"/>
          <a:stretch>
            <a:fillRect/>
          </a:stretch>
        </p:blipFill>
        <p:spPr>
          <a:xfrm>
            <a:off x="6830568" y="6190488"/>
            <a:ext cx="521208" cy="521208"/>
          </a:xfrm>
          <a:prstGeom prst="rect">
            <a:avLst/>
          </a:prstGeom>
        </p:spPr>
      </p:pic>
      <p:sp>
        <p:nvSpPr>
          <p:cNvPr id="33" name="TextBox 32"/>
          <p:cNvSpPr txBox="1"/>
          <p:nvPr/>
        </p:nvSpPr>
        <p:spPr>
          <a:xfrm>
            <a:off x="7680960" y="5961888"/>
            <a:ext cx="4023360" cy="960120"/>
          </a:xfrm>
          <a:prstGeom prst="rect">
            <a:avLst/>
          </a:prstGeom>
          <a:noFill/>
        </p:spPr>
        <p:txBody>
          <a:bodyPr wrap="square" lIns="0" tIns="0" rIns="0" bIns="0" anchor="ctr">
            <a:noAutofit/>
          </a:bodyPr>
          <a:lstStyle/>
          <a:p>
            <a:pPr algn="l">
              <a:lnSpc>
                <a:spcPct val="100000"/>
              </a:lnSpc>
            </a:pPr>
            <a:r>
              <a:rPr sz="2000" b="1" i="0">
                <a:solidFill>
                  <a:srgbClr val="8B0707"/>
                </a:solidFill>
                <a:latin typeface="ITC Avant Garde Gothic"/>
                <a:ea typeface="ITC Avant Garde Gothic"/>
                <a:cs typeface="ITC Avant Garde Gothic"/>
              </a:rPr>
              <a:t>LGU planners</a:t>
            </a:r>
          </a:p>
        </p:txBody>
      </p:sp>
      <p:sp>
        <p:nvSpPr>
          <p:cNvPr id="34" name="TextBox 33"/>
          <p:cNvSpPr txBox="1"/>
          <p:nvPr/>
        </p:nvSpPr>
        <p:spPr>
          <a:xfrm>
            <a:off x="6675120" y="7022592"/>
            <a:ext cx="4983480" cy="146304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Rank sites for Ligtas Pinoy Centers under RA 12076 by the classrooms they would free.</a:t>
            </a:r>
          </a:p>
        </p:txBody>
      </p:sp>
      <p:sp>
        <p:nvSpPr>
          <p:cNvPr id="35" name="Rounded Rectangle 34"/>
          <p:cNvSpPr/>
          <p:nvPr/>
        </p:nvSpPr>
        <p:spPr>
          <a:xfrm>
            <a:off x="12252960" y="5760720"/>
            <a:ext cx="548640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6" name="Oval 35"/>
          <p:cNvSpPr/>
          <p:nvPr/>
        </p:nvSpPr>
        <p:spPr>
          <a:xfrm>
            <a:off x="12508992" y="6016752"/>
            <a:ext cx="868680" cy="868680"/>
          </a:xfrm>
          <a:prstGeom prst="ellipse">
            <a:avLst/>
          </a:prstGeom>
          <a:solidFill>
            <a:srgbClr val="8B0707"/>
          </a:solidFill>
          <a:ln>
            <a:noFill/>
          </a:ln>
          <a:effectLst/>
        </p:spPr>
        <p:txBody>
          <a:bodyPr rtlCol="0" anchor="ctr"/>
          <a:lstStyle/>
          <a:p>
            <a:pPr algn="ctr"/>
          </a:p>
        </p:txBody>
      </p:sp>
      <p:pic>
        <p:nvPicPr>
          <p:cNvPr id="37" name="Picture 36" descr="w_science.png"/>
          <p:cNvPicPr>
            <a:picLocks noChangeAspect="1"/>
          </p:cNvPicPr>
          <p:nvPr/>
        </p:nvPicPr>
        <p:blipFill>
          <a:blip r:embed="rId8"/>
          <a:stretch>
            <a:fillRect/>
          </a:stretch>
        </p:blipFill>
        <p:spPr>
          <a:xfrm>
            <a:off x="12682728" y="6190488"/>
            <a:ext cx="521208" cy="521208"/>
          </a:xfrm>
          <a:prstGeom prst="rect">
            <a:avLst/>
          </a:prstGeom>
        </p:spPr>
      </p:pic>
      <p:sp>
        <p:nvSpPr>
          <p:cNvPr id="38" name="TextBox 37"/>
          <p:cNvSpPr txBox="1"/>
          <p:nvPr/>
        </p:nvSpPr>
        <p:spPr>
          <a:xfrm>
            <a:off x="13533120" y="5961888"/>
            <a:ext cx="4023360" cy="960120"/>
          </a:xfrm>
          <a:prstGeom prst="rect">
            <a:avLst/>
          </a:prstGeom>
          <a:noFill/>
        </p:spPr>
        <p:txBody>
          <a:bodyPr wrap="square" lIns="0" tIns="0" rIns="0" bIns="0" anchor="ctr">
            <a:noAutofit/>
          </a:bodyPr>
          <a:lstStyle/>
          <a:p>
            <a:pPr algn="l">
              <a:lnSpc>
                <a:spcPct val="100000"/>
              </a:lnSpc>
            </a:pPr>
            <a:r>
              <a:rPr sz="2000" b="1" i="0">
                <a:solidFill>
                  <a:srgbClr val="8B0707"/>
                </a:solidFill>
                <a:latin typeface="ITC Avant Garde Gothic"/>
                <a:ea typeface="ITC Avant Garde Gothic"/>
                <a:cs typeface="ITC Avant Garde Gothic"/>
              </a:rPr>
              <a:t>Future researchers</a:t>
            </a:r>
          </a:p>
        </p:txBody>
      </p:sp>
      <p:sp>
        <p:nvSpPr>
          <p:cNvPr id="39" name="TextBox 38"/>
          <p:cNvSpPr txBox="1"/>
          <p:nvPr/>
        </p:nvSpPr>
        <p:spPr>
          <a:xfrm>
            <a:off x="12527280" y="7022592"/>
            <a:ext cx="4983480" cy="146304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Reuse an open, verified pipeline in any province that shelters evacuees in schools.</a:t>
            </a:r>
          </a:p>
        </p:txBody>
      </p:sp>
      <p:sp>
        <p:nvSpPr>
          <p:cNvPr id="40" name="Rounded Rectangle 39"/>
          <p:cNvSpPr/>
          <p:nvPr/>
        </p:nvSpPr>
        <p:spPr>
          <a:xfrm>
            <a:off x="548640" y="8869680"/>
            <a:ext cx="4126230" cy="960120"/>
          </a:xfrm>
          <a:prstGeom prst="roundRect">
            <a:avLst>
              <a:gd name="adj" fmla="val 11428"/>
            </a:avLst>
          </a:prstGeom>
          <a:solidFill>
            <a:srgbClr val="C5192D"/>
          </a:solidFill>
          <a:ln>
            <a:noFill/>
          </a:ln>
          <a:effectLst>
            <a:outerShdw blurRad="82296" dist="32004" dir="5400000" algn="t" rotWithShape="0">
              <a:srgbClr val="000000">
                <a:alpha val="22000"/>
              </a:srgbClr>
            </a:outerShdw>
          </a:effectLst>
        </p:spPr>
        <p:txBody>
          <a:bodyPr rtlCol="0" anchor="ctr"/>
          <a:lstStyle/>
          <a:p>
            <a:pPr algn="ctr"/>
          </a:p>
        </p:txBody>
      </p:sp>
      <p:sp>
        <p:nvSpPr>
          <p:cNvPr id="41" name="TextBox 40"/>
          <p:cNvSpPr txBox="1"/>
          <p:nvPr/>
        </p:nvSpPr>
        <p:spPr>
          <a:xfrm>
            <a:off x="777240" y="8869680"/>
            <a:ext cx="3760470" cy="960120"/>
          </a:xfrm>
          <a:prstGeom prst="rect">
            <a:avLst/>
          </a:prstGeom>
          <a:noFill/>
        </p:spPr>
        <p:txBody>
          <a:bodyPr wrap="square" lIns="0" tIns="0" rIns="0" bIns="0" anchor="ctr">
            <a:noAutofit/>
          </a:bodyPr>
          <a:lstStyle/>
          <a:p>
            <a:pPr algn="l">
              <a:lnSpc>
                <a:spcPct val="100000"/>
              </a:lnSpc>
            </a:pPr>
            <a:r>
              <a:rPr sz="1900" b="1" i="0">
                <a:solidFill>
                  <a:srgbClr val="FFFFFF"/>
                </a:solidFill>
                <a:latin typeface="ITC Avant Garde Gothic"/>
                <a:ea typeface="ITC Avant Garde Gothic"/>
                <a:cs typeface="ITC Avant Garde Gothic"/>
              </a:rPr>
              <a:t>SDG 4.a</a:t>
            </a:r>
          </a:p>
          <a:p>
            <a:pPr algn="l">
              <a:lnSpc>
                <a:spcPct val="100000"/>
              </a:lnSpc>
            </a:pPr>
            <a:r>
              <a:rPr sz="1600" b="0" i="0">
                <a:solidFill>
                  <a:srgbClr val="FFFFFF"/>
                </a:solidFill>
                <a:latin typeface="ITC Avant Garde Gothic"/>
                <a:ea typeface="ITC Avant Garde Gothic"/>
                <a:cs typeface="ITC Avant Garde Gothic"/>
              </a:rPr>
              <a:t>safe learning environments</a:t>
            </a:r>
          </a:p>
        </p:txBody>
      </p:sp>
      <p:sp>
        <p:nvSpPr>
          <p:cNvPr id="42" name="Rounded Rectangle 41"/>
          <p:cNvSpPr/>
          <p:nvPr/>
        </p:nvSpPr>
        <p:spPr>
          <a:xfrm>
            <a:off x="4903470" y="8869680"/>
            <a:ext cx="4126230" cy="960120"/>
          </a:xfrm>
          <a:prstGeom prst="roundRect">
            <a:avLst>
              <a:gd name="adj" fmla="val 11428"/>
            </a:avLst>
          </a:prstGeom>
          <a:solidFill>
            <a:srgbClr val="DD1367"/>
          </a:solidFill>
          <a:ln>
            <a:noFill/>
          </a:ln>
          <a:effectLst>
            <a:outerShdw blurRad="82296" dist="32004" dir="5400000" algn="t" rotWithShape="0">
              <a:srgbClr val="000000">
                <a:alpha val="22000"/>
              </a:srgbClr>
            </a:outerShdw>
          </a:effectLst>
        </p:spPr>
        <p:txBody>
          <a:bodyPr rtlCol="0" anchor="ctr"/>
          <a:lstStyle/>
          <a:p>
            <a:pPr algn="ctr"/>
          </a:p>
        </p:txBody>
      </p:sp>
      <p:sp>
        <p:nvSpPr>
          <p:cNvPr id="43" name="TextBox 42"/>
          <p:cNvSpPr txBox="1"/>
          <p:nvPr/>
        </p:nvSpPr>
        <p:spPr>
          <a:xfrm>
            <a:off x="5132070" y="8869680"/>
            <a:ext cx="3760470" cy="960120"/>
          </a:xfrm>
          <a:prstGeom prst="rect">
            <a:avLst/>
          </a:prstGeom>
          <a:noFill/>
        </p:spPr>
        <p:txBody>
          <a:bodyPr wrap="square" lIns="0" tIns="0" rIns="0" bIns="0" anchor="ctr">
            <a:noAutofit/>
          </a:bodyPr>
          <a:lstStyle/>
          <a:p>
            <a:pPr algn="l">
              <a:lnSpc>
                <a:spcPct val="100000"/>
              </a:lnSpc>
            </a:pPr>
            <a:r>
              <a:rPr sz="1900" b="1" i="0">
                <a:solidFill>
                  <a:srgbClr val="FFFFFF"/>
                </a:solidFill>
                <a:latin typeface="ITC Avant Garde Gothic"/>
                <a:ea typeface="ITC Avant Garde Gothic"/>
                <a:cs typeface="ITC Avant Garde Gothic"/>
              </a:rPr>
              <a:t>SDG 10.2</a:t>
            </a:r>
          </a:p>
          <a:p>
            <a:pPr algn="l">
              <a:lnSpc>
                <a:spcPct val="100000"/>
              </a:lnSpc>
            </a:pPr>
            <a:r>
              <a:rPr sz="1600" b="0" i="0">
                <a:solidFill>
                  <a:srgbClr val="FFFFFF"/>
                </a:solidFill>
                <a:latin typeface="ITC Avant Garde Gothic"/>
                <a:ea typeface="ITC Avant Garde Gothic"/>
                <a:cs typeface="ITC Avant Garde Gothic"/>
              </a:rPr>
              <a:t>inclusion of the vulnerable</a:t>
            </a:r>
          </a:p>
        </p:txBody>
      </p:sp>
      <p:sp>
        <p:nvSpPr>
          <p:cNvPr id="44" name="Rounded Rectangle 43"/>
          <p:cNvSpPr/>
          <p:nvPr/>
        </p:nvSpPr>
        <p:spPr>
          <a:xfrm>
            <a:off x="9258300" y="8869680"/>
            <a:ext cx="4126230" cy="960120"/>
          </a:xfrm>
          <a:prstGeom prst="roundRect">
            <a:avLst>
              <a:gd name="adj" fmla="val 11428"/>
            </a:avLst>
          </a:prstGeom>
          <a:solidFill>
            <a:srgbClr val="FD9D24"/>
          </a:solidFill>
          <a:ln>
            <a:noFill/>
          </a:ln>
          <a:effectLst>
            <a:outerShdw blurRad="82296" dist="32004" dir="5400000" algn="t" rotWithShape="0">
              <a:srgbClr val="000000">
                <a:alpha val="22000"/>
              </a:srgbClr>
            </a:outerShdw>
          </a:effectLst>
        </p:spPr>
        <p:txBody>
          <a:bodyPr rtlCol="0" anchor="ctr"/>
          <a:lstStyle/>
          <a:p>
            <a:pPr algn="ctr"/>
          </a:p>
        </p:txBody>
      </p:sp>
      <p:sp>
        <p:nvSpPr>
          <p:cNvPr id="45" name="TextBox 44"/>
          <p:cNvSpPr txBox="1"/>
          <p:nvPr/>
        </p:nvSpPr>
        <p:spPr>
          <a:xfrm>
            <a:off x="9486900" y="8869680"/>
            <a:ext cx="3760470" cy="960120"/>
          </a:xfrm>
          <a:prstGeom prst="rect">
            <a:avLst/>
          </a:prstGeom>
          <a:noFill/>
        </p:spPr>
        <p:txBody>
          <a:bodyPr wrap="square" lIns="0" tIns="0" rIns="0" bIns="0" anchor="ctr">
            <a:noAutofit/>
          </a:bodyPr>
          <a:lstStyle/>
          <a:p>
            <a:pPr algn="l">
              <a:lnSpc>
                <a:spcPct val="100000"/>
              </a:lnSpc>
            </a:pPr>
            <a:r>
              <a:rPr sz="1900" b="1" i="0">
                <a:solidFill>
                  <a:srgbClr val="FFFFFF"/>
                </a:solidFill>
                <a:latin typeface="ITC Avant Garde Gothic"/>
                <a:ea typeface="ITC Avant Garde Gothic"/>
                <a:cs typeface="ITC Avant Garde Gothic"/>
              </a:rPr>
              <a:t>SDG 11.5</a:t>
            </a:r>
          </a:p>
          <a:p>
            <a:pPr algn="l">
              <a:lnSpc>
                <a:spcPct val="100000"/>
              </a:lnSpc>
            </a:pPr>
            <a:r>
              <a:rPr sz="1600" b="0" i="0">
                <a:solidFill>
                  <a:srgbClr val="FFFFFF"/>
                </a:solidFill>
                <a:latin typeface="ITC Avant Garde Gothic"/>
                <a:ea typeface="ITC Avant Garde Gothic"/>
                <a:cs typeface="ITC Avant Garde Gothic"/>
              </a:rPr>
              <a:t>fewer people hurt by disasters</a:t>
            </a:r>
          </a:p>
        </p:txBody>
      </p:sp>
      <p:sp>
        <p:nvSpPr>
          <p:cNvPr id="46" name="Rounded Rectangle 45"/>
          <p:cNvSpPr/>
          <p:nvPr/>
        </p:nvSpPr>
        <p:spPr>
          <a:xfrm>
            <a:off x="13613130" y="8869680"/>
            <a:ext cx="4126230" cy="960120"/>
          </a:xfrm>
          <a:prstGeom prst="roundRect">
            <a:avLst>
              <a:gd name="adj" fmla="val 11428"/>
            </a:avLst>
          </a:prstGeom>
          <a:solidFill>
            <a:srgbClr val="3F7E44"/>
          </a:solidFill>
          <a:ln>
            <a:noFill/>
          </a:ln>
          <a:effectLst>
            <a:outerShdw blurRad="82296" dist="32004" dir="5400000" algn="t" rotWithShape="0">
              <a:srgbClr val="000000">
                <a:alpha val="22000"/>
              </a:srgbClr>
            </a:outerShdw>
          </a:effectLst>
        </p:spPr>
        <p:txBody>
          <a:bodyPr rtlCol="0" anchor="ctr"/>
          <a:lstStyle/>
          <a:p>
            <a:pPr algn="ctr"/>
          </a:p>
        </p:txBody>
      </p:sp>
      <p:sp>
        <p:nvSpPr>
          <p:cNvPr id="47" name="TextBox 46"/>
          <p:cNvSpPr txBox="1"/>
          <p:nvPr/>
        </p:nvSpPr>
        <p:spPr>
          <a:xfrm>
            <a:off x="13841730" y="8869680"/>
            <a:ext cx="3760470" cy="960120"/>
          </a:xfrm>
          <a:prstGeom prst="rect">
            <a:avLst/>
          </a:prstGeom>
          <a:noFill/>
        </p:spPr>
        <p:txBody>
          <a:bodyPr wrap="square" lIns="0" tIns="0" rIns="0" bIns="0" anchor="ctr">
            <a:noAutofit/>
          </a:bodyPr>
          <a:lstStyle/>
          <a:p>
            <a:pPr algn="l">
              <a:lnSpc>
                <a:spcPct val="100000"/>
              </a:lnSpc>
            </a:pPr>
            <a:r>
              <a:rPr sz="1900" b="1" i="0">
                <a:solidFill>
                  <a:srgbClr val="FFFFFF"/>
                </a:solidFill>
                <a:latin typeface="ITC Avant Garde Gothic"/>
                <a:ea typeface="ITC Avant Garde Gothic"/>
                <a:cs typeface="ITC Avant Garde Gothic"/>
              </a:rPr>
              <a:t>SDG 13.1</a:t>
            </a:r>
          </a:p>
          <a:p>
            <a:pPr algn="l">
              <a:lnSpc>
                <a:spcPct val="100000"/>
              </a:lnSpc>
            </a:pPr>
            <a:r>
              <a:rPr sz="1600" b="0" i="0">
                <a:solidFill>
                  <a:srgbClr val="FFFFFF"/>
                </a:solidFill>
                <a:latin typeface="ITC Avant Garde Gothic"/>
                <a:ea typeface="ITC Avant Garde Gothic"/>
                <a:cs typeface="ITC Avant Garde Gothic"/>
              </a:rPr>
              <a:t>resilience to hazards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5443011" cy="1645920"/>
          </a:xfrm>
          <a:prstGeom prst="rect">
            <a:avLst/>
          </a:prstGeom>
        </p:spPr>
        <p:txBody>
          <a:bodyPr lIns="0" tIns="0" rIns="0" bIns="0" rtlCol="0" anchor="ctr" wrap="square">
            <a:noAutofit/>
          </a:bodyPr>
          <a:lstStyle/>
          <a:p>
            <a:pPr algn="l">
              <a:lnSpc>
                <a:spcPct val="90000"/>
              </a:lnSpc>
            </a:pPr>
            <a:r>
              <a:rPr sz="6350" b="0" i="0">
                <a:solidFill>
                  <a:srgbClr val="FFFFFF"/>
                </a:solidFill>
                <a:latin typeface="ITC Avant Garde Gothic"/>
                <a:ea typeface="ITC Avant Garde Gothic"/>
                <a:cs typeface="ITC Avant Garde Gothic"/>
              </a:rPr>
              <a:t>OBJECTIVES OF THE STUDY / SOP</a:t>
            </a:r>
          </a:p>
        </p:txBody>
      </p:sp>
      <p:sp>
        <p:nvSpPr>
          <p:cNvPr id="8" name="Subtitle"/>
          <p:cNvSpPr txBox="1"/>
          <p:nvPr/>
        </p:nvSpPr>
        <p:spPr>
          <a:xfrm>
            <a:off x="16068461" y="18288"/>
            <a:ext cx="1808059"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Objectives</a:t>
            </a:r>
          </a:p>
        </p:txBody>
      </p:sp>
      <p:sp>
        <p:nvSpPr>
          <p:cNvPr id="9" name="Rounded Rectangle 8"/>
          <p:cNvSpPr/>
          <p:nvPr/>
        </p:nvSpPr>
        <p:spPr>
          <a:xfrm>
            <a:off x="548640" y="1920240"/>
            <a:ext cx="17190720" cy="1417320"/>
          </a:xfrm>
          <a:prstGeom prst="roundRect">
            <a:avLst>
              <a:gd name="adj" fmla="val 9032"/>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10" name="Oval 9"/>
          <p:cNvSpPr/>
          <p:nvPr/>
        </p:nvSpPr>
        <p:spPr>
          <a:xfrm>
            <a:off x="822960" y="2212848"/>
            <a:ext cx="822960" cy="822960"/>
          </a:xfrm>
          <a:prstGeom prst="ellipse">
            <a:avLst/>
          </a:prstGeom>
          <a:solidFill>
            <a:srgbClr val="A82A2A"/>
          </a:solidFill>
          <a:ln>
            <a:noFill/>
          </a:ln>
          <a:effectLst/>
        </p:spPr>
        <p:txBody>
          <a:bodyPr rtlCol="0" anchor="ctr"/>
          <a:lstStyle/>
          <a:p>
            <a:pPr algn="ctr"/>
          </a:p>
        </p:txBody>
      </p:sp>
      <p:pic>
        <p:nvPicPr>
          <p:cNvPr id="11" name="Picture 10" descr="w_lightbulb.png"/>
          <p:cNvPicPr>
            <a:picLocks noChangeAspect="1"/>
          </p:cNvPicPr>
          <p:nvPr/>
        </p:nvPicPr>
        <p:blipFill>
          <a:blip r:embed="rId3"/>
          <a:stretch>
            <a:fillRect/>
          </a:stretch>
        </p:blipFill>
        <p:spPr>
          <a:xfrm>
            <a:off x="987552" y="2377440"/>
            <a:ext cx="493776" cy="493776"/>
          </a:xfrm>
          <a:prstGeom prst="rect">
            <a:avLst/>
          </a:prstGeom>
        </p:spPr>
      </p:pic>
      <p:sp>
        <p:nvSpPr>
          <p:cNvPr id="12" name="TextBox 11"/>
          <p:cNvSpPr txBox="1"/>
          <p:nvPr/>
        </p:nvSpPr>
        <p:spPr>
          <a:xfrm>
            <a:off x="1874520" y="1920240"/>
            <a:ext cx="15636240" cy="1417320"/>
          </a:xfrm>
          <a:prstGeom prst="rect">
            <a:avLst/>
          </a:prstGeom>
          <a:noFill/>
        </p:spPr>
        <p:txBody>
          <a:bodyPr wrap="square" lIns="0" tIns="0" rIns="0" bIns="0" anchor="ctr">
            <a:noAutofit/>
          </a:bodyPr>
          <a:lstStyle/>
          <a:p>
            <a:pPr algn="l">
              <a:lnSpc>
                <a:spcPct val="100000"/>
              </a:lnSpc>
              <a:spcAft>
                <a:spcPts val="200"/>
              </a:spcAft>
            </a:pPr>
            <a:r>
              <a:rPr sz="1600" b="1" i="0">
                <a:solidFill>
                  <a:srgbClr val="F0C04A"/>
                </a:solidFill>
                <a:latin typeface="ITC Avant Garde Gothic"/>
                <a:ea typeface="ITC Avant Garde Gothic"/>
                <a:cs typeface="ITC Avant Garde Gothic"/>
              </a:rPr>
              <a:t>GENERAL OBJECTIVE</a:t>
            </a:r>
          </a:p>
          <a:p>
            <a:pPr algn="l">
              <a:lnSpc>
                <a:spcPct val="100000"/>
              </a:lnSpc>
            </a:pPr>
            <a:r>
              <a:rPr sz="1700" b="0" i="0">
                <a:solidFill>
                  <a:srgbClr val="FFFFFF"/>
                </a:solidFill>
                <a:latin typeface="ITC Avant Garde Gothic"/>
                <a:ea typeface="ITC Avant Garde Gothic"/>
                <a:cs typeface="ITC Avant Garde Gothic"/>
              </a:rPr>
              <a:t>Construct, prove correct, and verify by computation a network model that sends every evacuee in an Albay hazard zone to a reachable shelter with room, serves vulnerable residents first, closes as few classrooms as possible, and measures clearance time and the value of new evacuation centers.</a:t>
            </a:r>
          </a:p>
        </p:txBody>
      </p:sp>
      <p:sp>
        <p:nvSpPr>
          <p:cNvPr id="13" name="Rounded Rectangle 12"/>
          <p:cNvSpPr/>
          <p:nvPr/>
        </p:nvSpPr>
        <p:spPr>
          <a:xfrm>
            <a:off x="548640" y="3611880"/>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4" name="Oval 13"/>
          <p:cNvSpPr/>
          <p:nvPr/>
        </p:nvSpPr>
        <p:spPr>
          <a:xfrm>
            <a:off x="777240" y="3977640"/>
            <a:ext cx="713232" cy="713232"/>
          </a:xfrm>
          <a:prstGeom prst="ellipse">
            <a:avLst/>
          </a:prstGeom>
          <a:solidFill>
            <a:srgbClr val="8B0707"/>
          </a:solidFill>
          <a:ln>
            <a:noFill/>
          </a:ln>
          <a:effectLst/>
        </p:spPr>
        <p:txBody>
          <a:bodyPr rtlCol="0" anchor="ctr"/>
          <a:lstStyle/>
          <a:p>
            <a:pPr algn="ctr"/>
          </a:p>
        </p:txBody>
      </p:sp>
      <p:sp>
        <p:nvSpPr>
          <p:cNvPr id="15" name="TextBox 14"/>
          <p:cNvSpPr txBox="1"/>
          <p:nvPr/>
        </p:nvSpPr>
        <p:spPr>
          <a:xfrm>
            <a:off x="777240" y="3977640"/>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1</a:t>
            </a:r>
          </a:p>
        </p:txBody>
      </p:sp>
      <p:sp>
        <p:nvSpPr>
          <p:cNvPr id="16" name="TextBox 15"/>
          <p:cNvSpPr txBox="1"/>
          <p:nvPr/>
        </p:nvSpPr>
        <p:spPr>
          <a:xfrm>
            <a:off x="1691640" y="3685032"/>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Build, from open data, hazard scenarios, evacuee origins, roads with travel times and capacities, and shelters sized by a published standard.</a:t>
            </a:r>
          </a:p>
        </p:txBody>
      </p:sp>
      <p:sp>
        <p:nvSpPr>
          <p:cNvPr id="17" name="Rounded Rectangle 16"/>
          <p:cNvSpPr/>
          <p:nvPr/>
        </p:nvSpPr>
        <p:spPr>
          <a:xfrm>
            <a:off x="548640" y="5239512"/>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8" name="Oval 17"/>
          <p:cNvSpPr/>
          <p:nvPr/>
        </p:nvSpPr>
        <p:spPr>
          <a:xfrm>
            <a:off x="777240" y="5605272"/>
            <a:ext cx="713232" cy="713232"/>
          </a:xfrm>
          <a:prstGeom prst="ellipse">
            <a:avLst/>
          </a:prstGeom>
          <a:solidFill>
            <a:srgbClr val="8B0707"/>
          </a:solidFill>
          <a:ln>
            <a:noFill/>
          </a:ln>
          <a:effectLst/>
        </p:spPr>
        <p:txBody>
          <a:bodyPr rtlCol="0" anchor="ctr"/>
          <a:lstStyle/>
          <a:p>
            <a:pPr algn="ctr"/>
          </a:p>
        </p:txBody>
      </p:sp>
      <p:sp>
        <p:nvSpPr>
          <p:cNvPr id="19" name="TextBox 18"/>
          <p:cNvSpPr txBox="1"/>
          <p:nvPr/>
        </p:nvSpPr>
        <p:spPr>
          <a:xfrm>
            <a:off x="777240" y="5605272"/>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2</a:t>
            </a:r>
          </a:p>
        </p:txBody>
      </p:sp>
      <p:sp>
        <p:nvSpPr>
          <p:cNvPr id="20" name="TextBox 19"/>
          <p:cNvSpPr txBox="1"/>
          <p:nvPr/>
        </p:nvSpPr>
        <p:spPr>
          <a:xfrm>
            <a:off x="1691640" y="5312664"/>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Write the shelter plan as a minimum-cost flow ordered by RA 10821; prove it integral, lexicographically optimal, and vulnerable-first at no cost.</a:t>
            </a:r>
          </a:p>
        </p:txBody>
      </p:sp>
      <p:sp>
        <p:nvSpPr>
          <p:cNvPr id="21" name="Rounded Rectangle 20"/>
          <p:cNvSpPr/>
          <p:nvPr/>
        </p:nvSpPr>
        <p:spPr>
          <a:xfrm>
            <a:off x="548640" y="6867144"/>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2" name="Oval 21"/>
          <p:cNvSpPr/>
          <p:nvPr/>
        </p:nvSpPr>
        <p:spPr>
          <a:xfrm>
            <a:off x="777240" y="7232904"/>
            <a:ext cx="713232" cy="713232"/>
          </a:xfrm>
          <a:prstGeom prst="ellipse">
            <a:avLst/>
          </a:prstGeom>
          <a:solidFill>
            <a:srgbClr val="8B0707"/>
          </a:solidFill>
          <a:ln>
            <a:noFill/>
          </a:ln>
          <a:effectLst/>
        </p:spPr>
        <p:txBody>
          <a:bodyPr rtlCol="0" anchor="ctr"/>
          <a:lstStyle/>
          <a:p>
            <a:pPr algn="ctr"/>
          </a:p>
        </p:txBody>
      </p:sp>
      <p:sp>
        <p:nvSpPr>
          <p:cNvPr id="23" name="TextBox 22"/>
          <p:cNvSpPr txBox="1"/>
          <p:nvPr/>
        </p:nvSpPr>
        <p:spPr>
          <a:xfrm>
            <a:off x="777240" y="7232904"/>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3</a:t>
            </a:r>
          </a:p>
        </p:txBody>
      </p:sp>
      <p:sp>
        <p:nvSpPr>
          <p:cNvPr id="24" name="TextBox 23"/>
          <p:cNvSpPr txBox="1"/>
          <p:nvPr/>
        </p:nvSpPr>
        <p:spPr>
          <a:xfrm>
            <a:off x="1691640" y="6940296"/>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Bound how far the classrooms closed can exceed the true minimum; prove a higher alert level never frees classrooms.</a:t>
            </a:r>
          </a:p>
        </p:txBody>
      </p:sp>
      <p:sp>
        <p:nvSpPr>
          <p:cNvPr id="25" name="Rounded Rectangle 24"/>
          <p:cNvSpPr/>
          <p:nvPr/>
        </p:nvSpPr>
        <p:spPr>
          <a:xfrm>
            <a:off x="548640" y="8494776"/>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6" name="Oval 25"/>
          <p:cNvSpPr/>
          <p:nvPr/>
        </p:nvSpPr>
        <p:spPr>
          <a:xfrm>
            <a:off x="777240" y="8860536"/>
            <a:ext cx="713232" cy="713232"/>
          </a:xfrm>
          <a:prstGeom prst="ellipse">
            <a:avLst/>
          </a:prstGeom>
          <a:solidFill>
            <a:srgbClr val="8B0707"/>
          </a:solidFill>
          <a:ln>
            <a:noFill/>
          </a:ln>
          <a:effectLst/>
        </p:spPr>
        <p:txBody>
          <a:bodyPr rtlCol="0" anchor="ctr"/>
          <a:lstStyle/>
          <a:p>
            <a:pPr algn="ctr"/>
          </a:p>
        </p:txBody>
      </p:sp>
      <p:sp>
        <p:nvSpPr>
          <p:cNvPr id="27" name="TextBox 26"/>
          <p:cNvSpPr txBox="1"/>
          <p:nvPr/>
        </p:nvSpPr>
        <p:spPr>
          <a:xfrm>
            <a:off x="777240" y="8860536"/>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4</a:t>
            </a:r>
          </a:p>
        </p:txBody>
      </p:sp>
      <p:sp>
        <p:nvSpPr>
          <p:cNvPr id="28" name="TextBox 27"/>
          <p:cNvSpPr txBox="1"/>
          <p:nvPr/>
        </p:nvSpPr>
        <p:spPr>
          <a:xfrm>
            <a:off x="1691640" y="8567928"/>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Find the exact clearance time on a time-expanded network, and prove a lower bound that needs no such network.</a:t>
            </a:r>
          </a:p>
        </p:txBody>
      </p:sp>
      <p:sp>
        <p:nvSpPr>
          <p:cNvPr id="29" name="Rounded Rectangle 28"/>
          <p:cNvSpPr/>
          <p:nvPr/>
        </p:nvSpPr>
        <p:spPr>
          <a:xfrm>
            <a:off x="9326880" y="3611880"/>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0" name="Oval 29"/>
          <p:cNvSpPr/>
          <p:nvPr/>
        </p:nvSpPr>
        <p:spPr>
          <a:xfrm>
            <a:off x="9555480" y="3977640"/>
            <a:ext cx="713232" cy="713232"/>
          </a:xfrm>
          <a:prstGeom prst="ellipse">
            <a:avLst/>
          </a:prstGeom>
          <a:solidFill>
            <a:srgbClr val="8B0707"/>
          </a:solidFill>
          <a:ln>
            <a:noFill/>
          </a:ln>
          <a:effectLst/>
        </p:spPr>
        <p:txBody>
          <a:bodyPr rtlCol="0" anchor="ctr"/>
          <a:lstStyle/>
          <a:p>
            <a:pPr algn="ctr"/>
          </a:p>
        </p:txBody>
      </p:sp>
      <p:sp>
        <p:nvSpPr>
          <p:cNvPr id="31" name="TextBox 30"/>
          <p:cNvSpPr txBox="1"/>
          <p:nvPr/>
        </p:nvSpPr>
        <p:spPr>
          <a:xfrm>
            <a:off x="9555480" y="3977640"/>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5</a:t>
            </a:r>
          </a:p>
        </p:txBody>
      </p:sp>
      <p:sp>
        <p:nvSpPr>
          <p:cNvPr id="32" name="TextBox 31"/>
          <p:cNvSpPr txBox="1"/>
          <p:nvPr/>
        </p:nvSpPr>
        <p:spPr>
          <a:xfrm>
            <a:off x="10469880" y="3685032"/>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Quantify, with proven monotonicity, how closing lahar bridges and adding shelters change the plan and the clearance time.</a:t>
            </a:r>
          </a:p>
        </p:txBody>
      </p:sp>
      <p:sp>
        <p:nvSpPr>
          <p:cNvPr id="33" name="Rounded Rectangle 32"/>
          <p:cNvSpPr/>
          <p:nvPr/>
        </p:nvSpPr>
        <p:spPr>
          <a:xfrm>
            <a:off x="9326880" y="5239512"/>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4" name="Oval 33"/>
          <p:cNvSpPr/>
          <p:nvPr/>
        </p:nvSpPr>
        <p:spPr>
          <a:xfrm>
            <a:off x="9555480" y="5605272"/>
            <a:ext cx="713232" cy="713232"/>
          </a:xfrm>
          <a:prstGeom prst="ellipse">
            <a:avLst/>
          </a:prstGeom>
          <a:solidFill>
            <a:srgbClr val="8B0707"/>
          </a:solidFill>
          <a:ln>
            <a:noFill/>
          </a:ln>
          <a:effectLst/>
        </p:spPr>
        <p:txBody>
          <a:bodyPr rtlCol="0" anchor="ctr"/>
          <a:lstStyle/>
          <a:p>
            <a:pPr algn="ctr"/>
          </a:p>
        </p:txBody>
      </p:sp>
      <p:sp>
        <p:nvSpPr>
          <p:cNvPr id="35" name="TextBox 34"/>
          <p:cNvSpPr txBox="1"/>
          <p:nvPr/>
        </p:nvSpPr>
        <p:spPr>
          <a:xfrm>
            <a:off x="9555480" y="5605272"/>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6</a:t>
            </a:r>
          </a:p>
        </p:txBody>
      </p:sp>
      <p:sp>
        <p:nvSpPr>
          <p:cNvPr id="36" name="TextBox 35"/>
          <p:cNvSpPr txBox="1"/>
          <p:nvPr/>
        </p:nvSpPr>
        <p:spPr>
          <a:xfrm>
            <a:off x="10469880" y="5312664"/>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Choose sites for Ligtas Pinoy Centers with a proven guarantee on the added coverage.</a:t>
            </a:r>
          </a:p>
        </p:txBody>
      </p:sp>
      <p:sp>
        <p:nvSpPr>
          <p:cNvPr id="37" name="Rounded Rectangle 36"/>
          <p:cNvSpPr/>
          <p:nvPr/>
        </p:nvSpPr>
        <p:spPr>
          <a:xfrm>
            <a:off x="9326880" y="6867144"/>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8" name="Oval 37"/>
          <p:cNvSpPr/>
          <p:nvPr/>
        </p:nvSpPr>
        <p:spPr>
          <a:xfrm>
            <a:off x="9555480" y="7232904"/>
            <a:ext cx="713232" cy="713232"/>
          </a:xfrm>
          <a:prstGeom prst="ellipse">
            <a:avLst/>
          </a:prstGeom>
          <a:solidFill>
            <a:srgbClr val="8B0707"/>
          </a:solidFill>
          <a:ln>
            <a:noFill/>
          </a:ln>
          <a:effectLst/>
        </p:spPr>
        <p:txBody>
          <a:bodyPr rtlCol="0" anchor="ctr"/>
          <a:lstStyle/>
          <a:p>
            <a:pPr algn="ctr"/>
          </a:p>
        </p:txBody>
      </p:sp>
      <p:sp>
        <p:nvSpPr>
          <p:cNvPr id="39" name="TextBox 38"/>
          <p:cNvSpPr txBox="1"/>
          <p:nvPr/>
        </p:nvSpPr>
        <p:spPr>
          <a:xfrm>
            <a:off x="9555480" y="7232904"/>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7</a:t>
            </a:r>
          </a:p>
        </p:txBody>
      </p:sp>
      <p:sp>
        <p:nvSpPr>
          <p:cNvPr id="40" name="TextBox 39"/>
          <p:cNvSpPr txBox="1"/>
          <p:nvPr/>
        </p:nvSpPr>
        <p:spPr>
          <a:xfrm>
            <a:off x="10469880" y="6940296"/>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Test every proven property on synthetic instances against independently written reference code.</a:t>
            </a:r>
          </a:p>
        </p:txBody>
      </p:sp>
      <p:sp>
        <p:nvSpPr>
          <p:cNvPr id="41" name="Rounded Rectangle 40"/>
          <p:cNvSpPr/>
          <p:nvPr/>
        </p:nvSpPr>
        <p:spPr>
          <a:xfrm>
            <a:off x="9326880" y="8494776"/>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42" name="Oval 41"/>
          <p:cNvSpPr/>
          <p:nvPr/>
        </p:nvSpPr>
        <p:spPr>
          <a:xfrm>
            <a:off x="9555480" y="8860536"/>
            <a:ext cx="713232" cy="713232"/>
          </a:xfrm>
          <a:prstGeom prst="ellipse">
            <a:avLst/>
          </a:prstGeom>
          <a:solidFill>
            <a:srgbClr val="8B0707"/>
          </a:solidFill>
          <a:ln>
            <a:noFill/>
          </a:ln>
          <a:effectLst/>
        </p:spPr>
        <p:txBody>
          <a:bodyPr rtlCol="0" anchor="ctr"/>
          <a:lstStyle/>
          <a:p>
            <a:pPr algn="ctr"/>
          </a:p>
        </p:txBody>
      </p:sp>
      <p:sp>
        <p:nvSpPr>
          <p:cNvPr id="43" name="TextBox 42"/>
          <p:cNvSpPr txBox="1"/>
          <p:nvPr/>
        </p:nvSpPr>
        <p:spPr>
          <a:xfrm>
            <a:off x="9555480" y="8860536"/>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8</a:t>
            </a:r>
          </a:p>
        </p:txBody>
      </p:sp>
      <p:sp>
        <p:nvSpPr>
          <p:cNvPr id="44" name="TextBox 43"/>
          <p:cNvSpPr txBox="1"/>
          <p:nvPr/>
        </p:nvSpPr>
        <p:spPr>
          <a:xfrm>
            <a:off x="10469880" y="8567928"/>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Run the whole pipeline on a synthetic volcano test network; fix the hypotheses for Albay in advance.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225901" cy="1645920"/>
          </a:xfrm>
          <a:prstGeom prst="rect">
            <a:avLst/>
          </a:prstGeom>
        </p:spPr>
        <p:txBody>
          <a:bodyPr lIns="0" tIns="0" rIns="0" bIns="0" rtlCol="0" anchor="ctr" wrap="square">
            <a:noAutofit/>
          </a:bodyPr>
          <a:lstStyle/>
          <a:p>
            <a:pPr algn="l">
              <a:lnSpc>
                <a:spcPct val="90000"/>
              </a:lnSpc>
            </a:pPr>
            <a:r>
              <a:rPr sz="6350" b="0" i="0">
                <a:solidFill>
                  <a:srgbClr val="FFFFFF"/>
                </a:solidFill>
                <a:latin typeface="ITC Avant Garde Gothic"/>
                <a:ea typeface="ITC Avant Garde Gothic"/>
                <a:cs typeface="ITC Avant Garde Gothic"/>
              </a:rPr>
              <a:t>OBJECTIVES OF THE STUDY / SOP</a:t>
            </a:r>
          </a:p>
        </p:txBody>
      </p:sp>
      <p:sp>
        <p:nvSpPr>
          <p:cNvPr id="8" name="Subtitle"/>
          <p:cNvSpPr txBox="1"/>
          <p:nvPr/>
        </p:nvSpPr>
        <p:spPr>
          <a:xfrm>
            <a:off x="13851350" y="18288"/>
            <a:ext cx="402517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Statement of the Problem</a:t>
            </a:r>
          </a:p>
        </p:txBody>
      </p:sp>
      <p:sp>
        <p:nvSpPr>
          <p:cNvPr id="9" name="Rounded Rectangle 8"/>
          <p:cNvSpPr/>
          <p:nvPr/>
        </p:nvSpPr>
        <p:spPr>
          <a:xfrm>
            <a:off x="548640" y="1920240"/>
            <a:ext cx="17190720" cy="1417320"/>
          </a:xfrm>
          <a:prstGeom prst="roundRect">
            <a:avLst>
              <a:gd name="adj" fmla="val 9032"/>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10" name="Oval 9"/>
          <p:cNvSpPr/>
          <p:nvPr/>
        </p:nvSpPr>
        <p:spPr>
          <a:xfrm>
            <a:off x="822960" y="2212848"/>
            <a:ext cx="822960" cy="822960"/>
          </a:xfrm>
          <a:prstGeom prst="ellipse">
            <a:avLst/>
          </a:prstGeom>
          <a:solidFill>
            <a:srgbClr val="A82A2A"/>
          </a:solidFill>
          <a:ln>
            <a:noFill/>
          </a:ln>
          <a:effectLst/>
        </p:spPr>
        <p:txBody>
          <a:bodyPr rtlCol="0" anchor="ctr"/>
          <a:lstStyle/>
          <a:p>
            <a:pPr algn="ctr"/>
          </a:p>
        </p:txBody>
      </p:sp>
      <p:pic>
        <p:nvPicPr>
          <p:cNvPr id="11" name="Picture 10" descr="w_help.png"/>
          <p:cNvPicPr>
            <a:picLocks noChangeAspect="1"/>
          </p:cNvPicPr>
          <p:nvPr/>
        </p:nvPicPr>
        <p:blipFill>
          <a:blip r:embed="rId3"/>
          <a:stretch>
            <a:fillRect/>
          </a:stretch>
        </p:blipFill>
        <p:spPr>
          <a:xfrm>
            <a:off x="987552" y="2377440"/>
            <a:ext cx="493776" cy="493776"/>
          </a:xfrm>
          <a:prstGeom prst="rect">
            <a:avLst/>
          </a:prstGeom>
        </p:spPr>
      </p:pic>
      <p:sp>
        <p:nvSpPr>
          <p:cNvPr id="12" name="TextBox 11"/>
          <p:cNvSpPr txBox="1"/>
          <p:nvPr/>
        </p:nvSpPr>
        <p:spPr>
          <a:xfrm>
            <a:off x="1874520" y="1920240"/>
            <a:ext cx="15636240" cy="1417320"/>
          </a:xfrm>
          <a:prstGeom prst="rect">
            <a:avLst/>
          </a:prstGeom>
          <a:noFill/>
        </p:spPr>
        <p:txBody>
          <a:bodyPr wrap="square" lIns="0" tIns="0" rIns="0" bIns="0" anchor="ctr">
            <a:noAutofit/>
          </a:bodyPr>
          <a:lstStyle/>
          <a:p>
            <a:pPr algn="l">
              <a:lnSpc>
                <a:spcPct val="100000"/>
              </a:lnSpc>
              <a:spcAft>
                <a:spcPts val="200"/>
              </a:spcAft>
            </a:pPr>
            <a:r>
              <a:rPr sz="1600" b="1" i="0">
                <a:solidFill>
                  <a:srgbClr val="F0C04A"/>
                </a:solidFill>
                <a:latin typeface="ITC Avant Garde Gothic"/>
                <a:ea typeface="ITC Avant Garde Gothic"/>
                <a:cs typeface="ITC Avant Garde Gothic"/>
              </a:rPr>
              <a:t>PRIMARY QUESTION</a:t>
            </a:r>
          </a:p>
          <a:p>
            <a:pPr algn="l">
              <a:lnSpc>
                <a:spcPct val="100000"/>
              </a:lnSpc>
            </a:pPr>
            <a:r>
              <a:rPr sz="1700" b="0" i="0">
                <a:solidFill>
                  <a:srgbClr val="FFFFFF"/>
                </a:solidFill>
                <a:latin typeface="ITC Avant Garde Gothic"/>
                <a:ea typeface="ITC Avant Garde Gothic"/>
                <a:cs typeface="ITC Avant Garde Gothic"/>
              </a:rPr>
              <a:t>For a given alert level, how can every evacuee in Albay be assigned to a shelter so that vulnerable residents are protected first, everyone is sheltered, and the fewest classrooms close, and how long does such an evacuation take?</a:t>
            </a:r>
          </a:p>
        </p:txBody>
      </p:sp>
      <p:sp>
        <p:nvSpPr>
          <p:cNvPr id="13" name="Rounded Rectangle 12"/>
          <p:cNvSpPr/>
          <p:nvPr/>
        </p:nvSpPr>
        <p:spPr>
          <a:xfrm>
            <a:off x="548640" y="3611880"/>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4" name="Oval 13"/>
          <p:cNvSpPr/>
          <p:nvPr/>
        </p:nvSpPr>
        <p:spPr>
          <a:xfrm>
            <a:off x="777240" y="3945636"/>
            <a:ext cx="777240" cy="777240"/>
          </a:xfrm>
          <a:prstGeom prst="ellipse">
            <a:avLst/>
          </a:prstGeom>
          <a:solidFill>
            <a:srgbClr val="F0C04A"/>
          </a:solidFill>
          <a:ln>
            <a:noFill/>
          </a:ln>
          <a:effectLst/>
        </p:spPr>
        <p:txBody>
          <a:bodyPr rtlCol="0" anchor="ctr"/>
          <a:lstStyle/>
          <a:p>
            <a:pPr algn="ctr"/>
          </a:p>
        </p:txBody>
      </p:sp>
      <p:sp>
        <p:nvSpPr>
          <p:cNvPr id="15" name="TextBox 14"/>
          <p:cNvSpPr txBox="1"/>
          <p:nvPr/>
        </p:nvSpPr>
        <p:spPr>
          <a:xfrm>
            <a:off x="777240" y="3945636"/>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Q1</a:t>
            </a:r>
          </a:p>
        </p:txBody>
      </p:sp>
      <p:sp>
        <p:nvSpPr>
          <p:cNvPr id="16" name="TextBox 15"/>
          <p:cNvSpPr txBox="1"/>
          <p:nvPr/>
        </p:nvSpPr>
        <p:spPr>
          <a:xfrm>
            <a:off x="1737360" y="3685032"/>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Can shelter capacity, hazard zones, and travel times be built from open registers in a form a laptop can compute with?</a:t>
            </a:r>
          </a:p>
        </p:txBody>
      </p:sp>
      <p:sp>
        <p:nvSpPr>
          <p:cNvPr id="17" name="Rounded Rectangle 16"/>
          <p:cNvSpPr/>
          <p:nvPr/>
        </p:nvSpPr>
        <p:spPr>
          <a:xfrm>
            <a:off x="548640" y="5239512"/>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8" name="Oval 17"/>
          <p:cNvSpPr/>
          <p:nvPr/>
        </p:nvSpPr>
        <p:spPr>
          <a:xfrm>
            <a:off x="777240" y="5573268"/>
            <a:ext cx="777240" cy="777240"/>
          </a:xfrm>
          <a:prstGeom prst="ellipse">
            <a:avLst/>
          </a:prstGeom>
          <a:solidFill>
            <a:srgbClr val="F0C04A"/>
          </a:solidFill>
          <a:ln>
            <a:noFill/>
          </a:ln>
          <a:effectLst/>
        </p:spPr>
        <p:txBody>
          <a:bodyPr rtlCol="0" anchor="ctr"/>
          <a:lstStyle/>
          <a:p>
            <a:pPr algn="ctr"/>
          </a:p>
        </p:txBody>
      </p:sp>
      <p:sp>
        <p:nvSpPr>
          <p:cNvPr id="19" name="TextBox 18"/>
          <p:cNvSpPr txBox="1"/>
          <p:nvPr/>
        </p:nvSpPr>
        <p:spPr>
          <a:xfrm>
            <a:off x="777240" y="5573268"/>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Q2</a:t>
            </a:r>
          </a:p>
        </p:txBody>
      </p:sp>
      <p:sp>
        <p:nvSpPr>
          <p:cNvPr id="20" name="TextBox 19"/>
          <p:cNvSpPr txBox="1"/>
          <p:nvPr/>
        </p:nvSpPr>
        <p:spPr>
          <a:xfrm>
            <a:off x="1737360" y="5312664"/>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Can the priorities of RA 10821 be written as one minimum-cost flow, and is its solution integral and lexicographically optimal?</a:t>
            </a:r>
          </a:p>
        </p:txBody>
      </p:sp>
      <p:sp>
        <p:nvSpPr>
          <p:cNvPr id="21" name="Rounded Rectangle 20"/>
          <p:cNvSpPr/>
          <p:nvPr/>
        </p:nvSpPr>
        <p:spPr>
          <a:xfrm>
            <a:off x="548640" y="6867144"/>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2" name="Oval 21"/>
          <p:cNvSpPr/>
          <p:nvPr/>
        </p:nvSpPr>
        <p:spPr>
          <a:xfrm>
            <a:off x="777240" y="7200900"/>
            <a:ext cx="777240" cy="777240"/>
          </a:xfrm>
          <a:prstGeom prst="ellipse">
            <a:avLst/>
          </a:prstGeom>
          <a:solidFill>
            <a:srgbClr val="F0C04A"/>
          </a:solidFill>
          <a:ln>
            <a:noFill/>
          </a:ln>
          <a:effectLst/>
        </p:spPr>
        <p:txBody>
          <a:bodyPr rtlCol="0" anchor="ctr"/>
          <a:lstStyle/>
          <a:p>
            <a:pPr algn="ctr"/>
          </a:p>
        </p:txBody>
      </p:sp>
      <p:sp>
        <p:nvSpPr>
          <p:cNvPr id="23" name="TextBox 22"/>
          <p:cNvSpPr txBox="1"/>
          <p:nvPr/>
        </p:nvSpPr>
        <p:spPr>
          <a:xfrm>
            <a:off x="777240" y="7200900"/>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Q3</a:t>
            </a:r>
          </a:p>
        </p:txBody>
      </p:sp>
      <p:sp>
        <p:nvSpPr>
          <p:cNvPr id="24" name="TextBox 23"/>
          <p:cNvSpPr txBox="1"/>
          <p:nvPr/>
        </p:nvSpPr>
        <p:spPr>
          <a:xfrm>
            <a:off x="1737360" y="6940296"/>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Does placing vulnerable residents first ever reduce the number of people who can be sheltered?</a:t>
            </a:r>
          </a:p>
        </p:txBody>
      </p:sp>
      <p:sp>
        <p:nvSpPr>
          <p:cNvPr id="25" name="Rounded Rectangle 24"/>
          <p:cNvSpPr/>
          <p:nvPr/>
        </p:nvSpPr>
        <p:spPr>
          <a:xfrm>
            <a:off x="548640" y="8494776"/>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6" name="Oval 25"/>
          <p:cNvSpPr/>
          <p:nvPr/>
        </p:nvSpPr>
        <p:spPr>
          <a:xfrm>
            <a:off x="777240" y="8828532"/>
            <a:ext cx="777240" cy="777240"/>
          </a:xfrm>
          <a:prstGeom prst="ellipse">
            <a:avLst/>
          </a:prstGeom>
          <a:solidFill>
            <a:srgbClr val="F0C04A"/>
          </a:solidFill>
          <a:ln>
            <a:noFill/>
          </a:ln>
          <a:effectLst/>
        </p:spPr>
        <p:txBody>
          <a:bodyPr rtlCol="0" anchor="ctr"/>
          <a:lstStyle/>
          <a:p>
            <a:pPr algn="ctr"/>
          </a:p>
        </p:txBody>
      </p:sp>
      <p:sp>
        <p:nvSpPr>
          <p:cNvPr id="27" name="TextBox 26"/>
          <p:cNvSpPr txBox="1"/>
          <p:nvPr/>
        </p:nvSpPr>
        <p:spPr>
          <a:xfrm>
            <a:off x="777240" y="8828532"/>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Q4</a:t>
            </a:r>
          </a:p>
        </p:txBody>
      </p:sp>
      <p:sp>
        <p:nvSpPr>
          <p:cNvPr id="28" name="TextBox 27"/>
          <p:cNvSpPr txBox="1"/>
          <p:nvPr/>
        </p:nvSpPr>
        <p:spPr>
          <a:xfrm>
            <a:off x="1737360" y="8567928"/>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How far can the classrooms closed be from the true minimum, and does a higher alert level ever free classrooms?</a:t>
            </a:r>
          </a:p>
        </p:txBody>
      </p:sp>
      <p:sp>
        <p:nvSpPr>
          <p:cNvPr id="29" name="Rounded Rectangle 28"/>
          <p:cNvSpPr/>
          <p:nvPr/>
        </p:nvSpPr>
        <p:spPr>
          <a:xfrm>
            <a:off x="9326880" y="3611880"/>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0" name="Oval 29"/>
          <p:cNvSpPr/>
          <p:nvPr/>
        </p:nvSpPr>
        <p:spPr>
          <a:xfrm>
            <a:off x="9555480" y="3945636"/>
            <a:ext cx="777240" cy="777240"/>
          </a:xfrm>
          <a:prstGeom prst="ellipse">
            <a:avLst/>
          </a:prstGeom>
          <a:solidFill>
            <a:srgbClr val="F0C04A"/>
          </a:solidFill>
          <a:ln>
            <a:noFill/>
          </a:ln>
          <a:effectLst/>
        </p:spPr>
        <p:txBody>
          <a:bodyPr rtlCol="0" anchor="ctr"/>
          <a:lstStyle/>
          <a:p>
            <a:pPr algn="ctr"/>
          </a:p>
        </p:txBody>
      </p:sp>
      <p:sp>
        <p:nvSpPr>
          <p:cNvPr id="31" name="TextBox 30"/>
          <p:cNvSpPr txBox="1"/>
          <p:nvPr/>
        </p:nvSpPr>
        <p:spPr>
          <a:xfrm>
            <a:off x="9555480" y="3945636"/>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Q5</a:t>
            </a:r>
          </a:p>
        </p:txBody>
      </p:sp>
      <p:sp>
        <p:nvSpPr>
          <p:cNvPr id="32" name="TextBox 31"/>
          <p:cNvSpPr txBox="1"/>
          <p:nvPr/>
        </p:nvSpPr>
        <p:spPr>
          <a:xfrm>
            <a:off x="10515600" y="3685032"/>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Can the clearance time be computed exactly, and how close is a bound that needs only one static flow?</a:t>
            </a:r>
          </a:p>
        </p:txBody>
      </p:sp>
      <p:sp>
        <p:nvSpPr>
          <p:cNvPr id="33" name="Rounded Rectangle 32"/>
          <p:cNvSpPr/>
          <p:nvPr/>
        </p:nvSpPr>
        <p:spPr>
          <a:xfrm>
            <a:off x="9326880" y="5239512"/>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4" name="Oval 33"/>
          <p:cNvSpPr/>
          <p:nvPr/>
        </p:nvSpPr>
        <p:spPr>
          <a:xfrm>
            <a:off x="9555480" y="5573268"/>
            <a:ext cx="777240" cy="777240"/>
          </a:xfrm>
          <a:prstGeom prst="ellipse">
            <a:avLst/>
          </a:prstGeom>
          <a:solidFill>
            <a:srgbClr val="F0C04A"/>
          </a:solidFill>
          <a:ln>
            <a:noFill/>
          </a:ln>
          <a:effectLst/>
        </p:spPr>
        <p:txBody>
          <a:bodyPr rtlCol="0" anchor="ctr"/>
          <a:lstStyle/>
          <a:p>
            <a:pPr algn="ctr"/>
          </a:p>
        </p:txBody>
      </p:sp>
      <p:sp>
        <p:nvSpPr>
          <p:cNvPr id="35" name="TextBox 34"/>
          <p:cNvSpPr txBox="1"/>
          <p:nvPr/>
        </p:nvSpPr>
        <p:spPr>
          <a:xfrm>
            <a:off x="9555480" y="5573268"/>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Q6</a:t>
            </a:r>
          </a:p>
        </p:txBody>
      </p:sp>
      <p:sp>
        <p:nvSpPr>
          <p:cNvPr id="36" name="TextBox 35"/>
          <p:cNvSpPr txBox="1"/>
          <p:nvPr/>
        </p:nvSpPr>
        <p:spPr>
          <a:xfrm>
            <a:off x="10515600" y="5312664"/>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Which bridges and closures matter for the clearance time, and do closures ever shorten it?</a:t>
            </a:r>
          </a:p>
        </p:txBody>
      </p:sp>
      <p:sp>
        <p:nvSpPr>
          <p:cNvPr id="37" name="Rounded Rectangle 36"/>
          <p:cNvSpPr/>
          <p:nvPr/>
        </p:nvSpPr>
        <p:spPr>
          <a:xfrm>
            <a:off x="9326880" y="6867144"/>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8" name="Oval 37"/>
          <p:cNvSpPr/>
          <p:nvPr/>
        </p:nvSpPr>
        <p:spPr>
          <a:xfrm>
            <a:off x="9555480" y="7200900"/>
            <a:ext cx="777240" cy="777240"/>
          </a:xfrm>
          <a:prstGeom prst="ellipse">
            <a:avLst/>
          </a:prstGeom>
          <a:solidFill>
            <a:srgbClr val="F0C04A"/>
          </a:solidFill>
          <a:ln>
            <a:noFill/>
          </a:ln>
          <a:effectLst/>
        </p:spPr>
        <p:txBody>
          <a:bodyPr rtlCol="0" anchor="ctr"/>
          <a:lstStyle/>
          <a:p>
            <a:pPr algn="ctr"/>
          </a:p>
        </p:txBody>
      </p:sp>
      <p:sp>
        <p:nvSpPr>
          <p:cNvPr id="39" name="TextBox 38"/>
          <p:cNvSpPr txBox="1"/>
          <p:nvPr/>
        </p:nvSpPr>
        <p:spPr>
          <a:xfrm>
            <a:off x="9555480" y="7200900"/>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Q7</a:t>
            </a:r>
          </a:p>
        </p:txBody>
      </p:sp>
      <p:sp>
        <p:nvSpPr>
          <p:cNvPr id="40" name="TextBox 39"/>
          <p:cNvSpPr txBox="1"/>
          <p:nvPr/>
        </p:nvSpPr>
        <p:spPr>
          <a:xfrm>
            <a:off x="10515600" y="6940296"/>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Where would a new Ligtas Pinoy Center shelter the most evacuees outside classrooms, and how close to the best is a greedy rule?</a:t>
            </a:r>
          </a:p>
        </p:txBody>
      </p:sp>
      <p:sp>
        <p:nvSpPr>
          <p:cNvPr id="41" name="Rounded Rectangle 40"/>
          <p:cNvSpPr/>
          <p:nvPr/>
        </p:nvSpPr>
        <p:spPr>
          <a:xfrm>
            <a:off x="9326880" y="8494776"/>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42" name="Oval 41"/>
          <p:cNvSpPr/>
          <p:nvPr/>
        </p:nvSpPr>
        <p:spPr>
          <a:xfrm>
            <a:off x="9555480" y="8828532"/>
            <a:ext cx="777240" cy="777240"/>
          </a:xfrm>
          <a:prstGeom prst="ellipse">
            <a:avLst/>
          </a:prstGeom>
          <a:solidFill>
            <a:srgbClr val="F0C04A"/>
          </a:solidFill>
          <a:ln>
            <a:noFill/>
          </a:ln>
          <a:effectLst/>
        </p:spPr>
        <p:txBody>
          <a:bodyPr rtlCol="0" anchor="ctr"/>
          <a:lstStyle/>
          <a:p>
            <a:pPr algn="ctr"/>
          </a:p>
        </p:txBody>
      </p:sp>
      <p:sp>
        <p:nvSpPr>
          <p:cNvPr id="43" name="TextBox 42"/>
          <p:cNvSpPr txBox="1"/>
          <p:nvPr/>
        </p:nvSpPr>
        <p:spPr>
          <a:xfrm>
            <a:off x="9555480" y="8828532"/>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Q8</a:t>
            </a:r>
          </a:p>
        </p:txBody>
      </p:sp>
      <p:sp>
        <p:nvSpPr>
          <p:cNvPr id="44" name="TextBox 43"/>
          <p:cNvSpPr txBox="1"/>
          <p:nvPr/>
        </p:nvSpPr>
        <p:spPr>
          <a:xfrm>
            <a:off x="10515600" y="8567928"/>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Do the proven properties hold against independent code, and what does the pipeline show on a small test network?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4452078"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HYPOTHESES</a:t>
            </a:r>
          </a:p>
        </p:txBody>
      </p:sp>
      <p:sp>
        <p:nvSpPr>
          <p:cNvPr id="8" name="Subtitle"/>
          <p:cNvSpPr txBox="1"/>
          <p:nvPr/>
        </p:nvSpPr>
        <p:spPr>
          <a:xfrm>
            <a:off x="15077527" y="18288"/>
            <a:ext cx="2798993"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Fixed in Advance</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400" b="1" i="0">
                <a:solidFill>
                  <a:srgbClr val="8B0707"/>
                </a:solidFill>
                <a:latin typeface="ITC Avant Garde Gothic"/>
                <a:ea typeface="ITC Avant Garde Gothic"/>
                <a:cs typeface="ITC Avant Garde Gothic"/>
              </a:rPr>
              <a:t>Eight model hypotheses for the Albay open-data instance, each stated with its decision rule before any run</a:t>
            </a:r>
          </a:p>
        </p:txBody>
      </p:sp>
      <p:sp>
        <p:nvSpPr>
          <p:cNvPr id="10" name="Rounded Rectangle 9"/>
          <p:cNvSpPr/>
          <p:nvPr/>
        </p:nvSpPr>
        <p:spPr>
          <a:xfrm>
            <a:off x="548640" y="2697480"/>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Oval 10"/>
          <p:cNvSpPr/>
          <p:nvPr/>
        </p:nvSpPr>
        <p:spPr>
          <a:xfrm>
            <a:off x="777240" y="3099816"/>
            <a:ext cx="822960" cy="822960"/>
          </a:xfrm>
          <a:prstGeom prst="ellipse">
            <a:avLst/>
          </a:prstGeom>
          <a:solidFill>
            <a:srgbClr val="8B0707"/>
          </a:solidFill>
          <a:ln>
            <a:noFill/>
          </a:ln>
          <a:effectLst/>
        </p:spPr>
        <p:txBody>
          <a:bodyPr rtlCol="0" anchor="ctr"/>
          <a:lstStyle/>
          <a:p>
            <a:pPr algn="ctr"/>
          </a:p>
        </p:txBody>
      </p:sp>
      <p:sp>
        <p:nvSpPr>
          <p:cNvPr id="12" name="TextBox 11"/>
          <p:cNvSpPr txBox="1"/>
          <p:nvPr/>
        </p:nvSpPr>
        <p:spPr>
          <a:xfrm>
            <a:off x="777240" y="3099816"/>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M1</a:t>
            </a:r>
          </a:p>
        </p:txBody>
      </p:sp>
      <p:sp>
        <p:nvSpPr>
          <p:cNvPr id="13" name="TextBox 12"/>
          <p:cNvSpPr txBox="1"/>
          <p:nvPr/>
        </p:nvSpPr>
        <p:spPr>
          <a:xfrm>
            <a:off x="1783080" y="2770632"/>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At Alert Level 3, the school-preserving plan closes fewer than half the classrooms of the time-only plan.</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Supported if the bootstrap interval of the ratio lies wholly below 0.5.</a:t>
            </a:r>
          </a:p>
        </p:txBody>
      </p:sp>
      <p:sp>
        <p:nvSpPr>
          <p:cNvPr id="14" name="Rounded Rectangle 13"/>
          <p:cNvSpPr/>
          <p:nvPr/>
        </p:nvSpPr>
        <p:spPr>
          <a:xfrm>
            <a:off x="548640" y="4507992"/>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5" name="Oval 14"/>
          <p:cNvSpPr/>
          <p:nvPr/>
        </p:nvSpPr>
        <p:spPr>
          <a:xfrm>
            <a:off x="777240" y="4910328"/>
            <a:ext cx="822960" cy="822960"/>
          </a:xfrm>
          <a:prstGeom prst="ellipse">
            <a:avLst/>
          </a:prstGeom>
          <a:solidFill>
            <a:srgbClr val="8B0707"/>
          </a:solidFill>
          <a:ln>
            <a:noFill/>
          </a:ln>
          <a:effectLst/>
        </p:spPr>
        <p:txBody>
          <a:bodyPr rtlCol="0" anchor="ctr"/>
          <a:lstStyle/>
          <a:p>
            <a:pPr algn="ctr"/>
          </a:p>
        </p:txBody>
      </p:sp>
      <p:sp>
        <p:nvSpPr>
          <p:cNvPr id="16" name="TextBox 15"/>
          <p:cNvSpPr txBox="1"/>
          <p:nvPr/>
        </p:nvSpPr>
        <p:spPr>
          <a:xfrm>
            <a:off x="777240" y="4910328"/>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M2</a:t>
            </a:r>
          </a:p>
        </p:txBody>
      </p:sp>
      <p:sp>
        <p:nvSpPr>
          <p:cNvPr id="17" name="TextBox 16"/>
          <p:cNvSpPr txBox="1"/>
          <p:nvPr/>
        </p:nvSpPr>
        <p:spPr>
          <a:xfrm>
            <a:off x="1783080" y="4581144"/>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Keeping schools open adds less than ten minutes of mean travel per evacuee.</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Supported if the whole bootstrap interval falls under 10 minutes.</a:t>
            </a:r>
          </a:p>
        </p:txBody>
      </p:sp>
      <p:sp>
        <p:nvSpPr>
          <p:cNvPr id="18" name="Rounded Rectangle 17"/>
          <p:cNvSpPr/>
          <p:nvPr/>
        </p:nvSpPr>
        <p:spPr>
          <a:xfrm>
            <a:off x="548640" y="6318504"/>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9" name="Oval 18"/>
          <p:cNvSpPr/>
          <p:nvPr/>
        </p:nvSpPr>
        <p:spPr>
          <a:xfrm>
            <a:off x="777240" y="6720840"/>
            <a:ext cx="822960" cy="822960"/>
          </a:xfrm>
          <a:prstGeom prst="ellipse">
            <a:avLst/>
          </a:prstGeom>
          <a:solidFill>
            <a:srgbClr val="8B0707"/>
          </a:solidFill>
          <a:ln>
            <a:noFill/>
          </a:ln>
          <a:effectLst/>
        </p:spPr>
        <p:txBody>
          <a:bodyPr rtlCol="0" anchor="ctr"/>
          <a:lstStyle/>
          <a:p>
            <a:pPr algn="ctr"/>
          </a:p>
        </p:txBody>
      </p:sp>
      <p:sp>
        <p:nvSpPr>
          <p:cNvPr id="20" name="TextBox 19"/>
          <p:cNvSpPr txBox="1"/>
          <p:nvPr/>
        </p:nvSpPr>
        <p:spPr>
          <a:xfrm>
            <a:off x="777240" y="6720840"/>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M3</a:t>
            </a:r>
          </a:p>
        </p:txBody>
      </p:sp>
      <p:sp>
        <p:nvSpPr>
          <p:cNvPr id="21" name="TextBox 20"/>
          <p:cNvSpPr txBox="1"/>
          <p:nvPr/>
        </p:nvSpPr>
        <p:spPr>
          <a:xfrm>
            <a:off x="1783080" y="6391656"/>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The nearest-site rule overfills at least one shelter in every scenario.</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Supported if the overflow is positive in all scenarios.</a:t>
            </a:r>
          </a:p>
        </p:txBody>
      </p:sp>
      <p:sp>
        <p:nvSpPr>
          <p:cNvPr id="22" name="Rounded Rectangle 21"/>
          <p:cNvSpPr/>
          <p:nvPr/>
        </p:nvSpPr>
        <p:spPr>
          <a:xfrm>
            <a:off x="548640" y="8129016"/>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3" name="Oval 22"/>
          <p:cNvSpPr/>
          <p:nvPr/>
        </p:nvSpPr>
        <p:spPr>
          <a:xfrm>
            <a:off x="777240" y="8531352"/>
            <a:ext cx="822960" cy="822960"/>
          </a:xfrm>
          <a:prstGeom prst="ellipse">
            <a:avLst/>
          </a:prstGeom>
          <a:solidFill>
            <a:srgbClr val="8B0707"/>
          </a:solidFill>
          <a:ln>
            <a:noFill/>
          </a:ln>
          <a:effectLst/>
        </p:spPr>
        <p:txBody>
          <a:bodyPr rtlCol="0" anchor="ctr"/>
          <a:lstStyle/>
          <a:p>
            <a:pPr algn="ctr"/>
          </a:p>
        </p:txBody>
      </p:sp>
      <p:sp>
        <p:nvSpPr>
          <p:cNvPr id="24" name="TextBox 23"/>
          <p:cNvSpPr txBox="1"/>
          <p:nvPr/>
        </p:nvSpPr>
        <p:spPr>
          <a:xfrm>
            <a:off x="777240" y="8531352"/>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M4</a:t>
            </a:r>
          </a:p>
        </p:txBody>
      </p:sp>
      <p:sp>
        <p:nvSpPr>
          <p:cNvPr id="25" name="TextBox 24"/>
          <p:cNvSpPr txBox="1"/>
          <p:nvPr/>
        </p:nvSpPr>
        <p:spPr>
          <a:xfrm>
            <a:off x="1783080" y="8202168"/>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Higher alerts never free classrooms; closures never shorten the evacuation.</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Guaranteed by Propositions 5 and 9; a violation flags a data error.</a:t>
            </a:r>
          </a:p>
        </p:txBody>
      </p:sp>
      <p:sp>
        <p:nvSpPr>
          <p:cNvPr id="26" name="Rounded Rectangle 25"/>
          <p:cNvSpPr/>
          <p:nvPr/>
        </p:nvSpPr>
        <p:spPr>
          <a:xfrm>
            <a:off x="9326880" y="2697480"/>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7" name="Oval 26"/>
          <p:cNvSpPr/>
          <p:nvPr/>
        </p:nvSpPr>
        <p:spPr>
          <a:xfrm>
            <a:off x="9555480" y="3099816"/>
            <a:ext cx="822960" cy="822960"/>
          </a:xfrm>
          <a:prstGeom prst="ellipse">
            <a:avLst/>
          </a:prstGeom>
          <a:solidFill>
            <a:srgbClr val="8B0707"/>
          </a:solidFill>
          <a:ln>
            <a:noFill/>
          </a:ln>
          <a:effectLst/>
        </p:spPr>
        <p:txBody>
          <a:bodyPr rtlCol="0" anchor="ctr"/>
          <a:lstStyle/>
          <a:p>
            <a:pPr algn="ctr"/>
          </a:p>
        </p:txBody>
      </p:sp>
      <p:sp>
        <p:nvSpPr>
          <p:cNvPr id="28" name="TextBox 27"/>
          <p:cNvSpPr txBox="1"/>
          <p:nvPr/>
        </p:nvSpPr>
        <p:spPr>
          <a:xfrm>
            <a:off x="9555480" y="3099816"/>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M5</a:t>
            </a:r>
          </a:p>
        </p:txBody>
      </p:sp>
      <p:sp>
        <p:nvSpPr>
          <p:cNvPr id="29" name="TextBox 28"/>
          <p:cNvSpPr txBox="1"/>
          <p:nvPr/>
        </p:nvSpPr>
        <p:spPr>
          <a:xfrm>
            <a:off x="10561320" y="2770632"/>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In the compound scenario, at least one barangay cluster is cut off from every shelter outside its pocket.</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Supported if the list of trapped origins is not empty.</a:t>
            </a:r>
          </a:p>
        </p:txBody>
      </p:sp>
      <p:sp>
        <p:nvSpPr>
          <p:cNvPr id="30" name="Rounded Rectangle 29"/>
          <p:cNvSpPr/>
          <p:nvPr/>
        </p:nvSpPr>
        <p:spPr>
          <a:xfrm>
            <a:off x="9326880" y="4507992"/>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1" name="Oval 30"/>
          <p:cNvSpPr/>
          <p:nvPr/>
        </p:nvSpPr>
        <p:spPr>
          <a:xfrm>
            <a:off x="9555480" y="4910328"/>
            <a:ext cx="822960" cy="822960"/>
          </a:xfrm>
          <a:prstGeom prst="ellipse">
            <a:avLst/>
          </a:prstGeom>
          <a:solidFill>
            <a:srgbClr val="8B0707"/>
          </a:solidFill>
          <a:ln>
            <a:noFill/>
          </a:ln>
          <a:effectLst/>
        </p:spPr>
        <p:txBody>
          <a:bodyPr rtlCol="0" anchor="ctr"/>
          <a:lstStyle/>
          <a:p>
            <a:pPr algn="ctr"/>
          </a:p>
        </p:txBody>
      </p:sp>
      <p:sp>
        <p:nvSpPr>
          <p:cNvPr id="32" name="TextBox 31"/>
          <p:cNvSpPr txBox="1"/>
          <p:nvPr/>
        </p:nvSpPr>
        <p:spPr>
          <a:xfrm>
            <a:off x="9555480" y="4910328"/>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M6</a:t>
            </a:r>
          </a:p>
        </p:txBody>
      </p:sp>
      <p:sp>
        <p:nvSpPr>
          <p:cNvPr id="33" name="TextBox 32"/>
          <p:cNvSpPr txBox="1"/>
          <p:nvPr/>
        </p:nvSpPr>
        <p:spPr>
          <a:xfrm>
            <a:off x="10561320" y="4581144"/>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Two greedy Ligtas Pinoy Centers cut persons in classrooms at Alert Level 4 by at least 30%.</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Supported if the recomputed plan shows a cut of 30% or more.</a:t>
            </a:r>
          </a:p>
        </p:txBody>
      </p:sp>
      <p:sp>
        <p:nvSpPr>
          <p:cNvPr id="34" name="Rounded Rectangle 33"/>
          <p:cNvSpPr/>
          <p:nvPr/>
        </p:nvSpPr>
        <p:spPr>
          <a:xfrm>
            <a:off x="9326880" y="6318504"/>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5" name="Oval 34"/>
          <p:cNvSpPr/>
          <p:nvPr/>
        </p:nvSpPr>
        <p:spPr>
          <a:xfrm>
            <a:off x="9555480" y="6720840"/>
            <a:ext cx="822960" cy="822960"/>
          </a:xfrm>
          <a:prstGeom prst="ellipse">
            <a:avLst/>
          </a:prstGeom>
          <a:solidFill>
            <a:srgbClr val="8B0707"/>
          </a:solidFill>
          <a:ln>
            <a:noFill/>
          </a:ln>
          <a:effectLst/>
        </p:spPr>
        <p:txBody>
          <a:bodyPr rtlCol="0" anchor="ctr"/>
          <a:lstStyle/>
          <a:p>
            <a:pPr algn="ctr"/>
          </a:p>
        </p:txBody>
      </p:sp>
      <p:sp>
        <p:nvSpPr>
          <p:cNvPr id="36" name="TextBox 35"/>
          <p:cNvSpPr txBox="1"/>
          <p:nvPr/>
        </p:nvSpPr>
        <p:spPr>
          <a:xfrm>
            <a:off x="9555480" y="6720840"/>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M7</a:t>
            </a:r>
          </a:p>
        </p:txBody>
      </p:sp>
      <p:sp>
        <p:nvSpPr>
          <p:cNvPr id="37" name="TextBox 36"/>
          <p:cNvSpPr txBox="1"/>
          <p:nvPr/>
        </p:nvSpPr>
        <p:spPr>
          <a:xfrm>
            <a:off x="10561320" y="6391656"/>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Every vulnerable resident can be placed in an accessible shelter at Alert Level 3.</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Supported if all are placed; otherwise the deficit is reported by municipality.</a:t>
            </a:r>
          </a:p>
        </p:txBody>
      </p:sp>
      <p:sp>
        <p:nvSpPr>
          <p:cNvPr id="38" name="Rounded Rectangle 37"/>
          <p:cNvSpPr/>
          <p:nvPr/>
        </p:nvSpPr>
        <p:spPr>
          <a:xfrm>
            <a:off x="9326880" y="8129016"/>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9" name="Oval 38"/>
          <p:cNvSpPr/>
          <p:nvPr/>
        </p:nvSpPr>
        <p:spPr>
          <a:xfrm>
            <a:off x="9555480" y="8531352"/>
            <a:ext cx="822960" cy="822960"/>
          </a:xfrm>
          <a:prstGeom prst="ellipse">
            <a:avLst/>
          </a:prstGeom>
          <a:solidFill>
            <a:srgbClr val="8B0707"/>
          </a:solidFill>
          <a:ln>
            <a:noFill/>
          </a:ln>
          <a:effectLst/>
        </p:spPr>
        <p:txBody>
          <a:bodyPr rtlCol="0" anchor="ctr"/>
          <a:lstStyle/>
          <a:p>
            <a:pPr algn="ctr"/>
          </a:p>
        </p:txBody>
      </p:sp>
      <p:sp>
        <p:nvSpPr>
          <p:cNvPr id="40" name="TextBox 39"/>
          <p:cNvSpPr txBox="1"/>
          <p:nvPr/>
        </p:nvSpPr>
        <p:spPr>
          <a:xfrm>
            <a:off x="9555480" y="8531352"/>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M8</a:t>
            </a:r>
          </a:p>
        </p:txBody>
      </p:sp>
      <p:sp>
        <p:nvSpPr>
          <p:cNvPr id="41" name="TextBox 40"/>
          <p:cNvSpPr txBox="1"/>
          <p:nvPr/>
        </p:nvSpPr>
        <p:spPr>
          <a:xfrm>
            <a:off x="10561320" y="8202168"/>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The ranking of municipalities by classrooms closed is stable under the space standard.</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Supported if Spearman's </a:t>
            </a:r>
            <a:r>
              <a:rPr sz="1500" b="0" i="0">
                <a:solidFill>
                  <a:srgbClr val="5E5E5E"/>
                </a:solidFill>
                <a:latin typeface="Arial"/>
                <a:ea typeface="Arial"/>
                <a:cs typeface="Arial"/>
              </a:rPr>
              <a:t>ρ</a:t>
            </a:r>
            <a:r>
              <a:rPr sz="1500" b="0" i="0">
                <a:solidFill>
                  <a:srgbClr val="5E5E5E"/>
                </a:solidFill>
                <a:latin typeface="ITC Avant Garde Gothic"/>
                <a:ea typeface="ITC Avant Garde Gothic"/>
                <a:cs typeface="ITC Avant Garde Gothic"/>
              </a:rPr>
              <a:t> &gt; 0.8 between 3.5 and 4.5 m².</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4562449"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METHODOLOGY</a:t>
            </a:r>
          </a:p>
        </p:txBody>
      </p:sp>
      <p:sp>
        <p:nvSpPr>
          <p:cNvPr id="8" name="Subtitle"/>
          <p:cNvSpPr txBox="1"/>
          <p:nvPr/>
        </p:nvSpPr>
        <p:spPr>
          <a:xfrm>
            <a:off x="15187898" y="18288"/>
            <a:ext cx="2688622"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Research Design</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Fully computational: every number comes from a proof, a synthetic test network, or a public register</a:t>
            </a:r>
          </a:p>
        </p:txBody>
      </p:sp>
      <p:sp>
        <p:nvSpPr>
          <p:cNvPr id="10" name="Rounded Rectangle 9"/>
          <p:cNvSpPr/>
          <p:nvPr/>
        </p:nvSpPr>
        <p:spPr>
          <a:xfrm>
            <a:off x="548640" y="269748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Oval 10"/>
          <p:cNvSpPr/>
          <p:nvPr/>
        </p:nvSpPr>
        <p:spPr>
          <a:xfrm>
            <a:off x="777240" y="2926080"/>
            <a:ext cx="777240" cy="777240"/>
          </a:xfrm>
          <a:prstGeom prst="ellipse">
            <a:avLst/>
          </a:prstGeom>
          <a:solidFill>
            <a:srgbClr val="8B0707"/>
          </a:solidFill>
          <a:ln>
            <a:noFill/>
          </a:ln>
          <a:effectLst/>
        </p:spPr>
        <p:txBody>
          <a:bodyPr rtlCol="0" anchor="ctr"/>
          <a:lstStyle/>
          <a:p>
            <a:pPr algn="ctr"/>
          </a:p>
        </p:txBody>
      </p:sp>
      <p:pic>
        <p:nvPicPr>
          <p:cNvPr id="12" name="Picture 11" descr="w_volcano.png"/>
          <p:cNvPicPr>
            <a:picLocks noChangeAspect="1"/>
          </p:cNvPicPr>
          <p:nvPr/>
        </p:nvPicPr>
        <p:blipFill>
          <a:blip r:embed="rId3"/>
          <a:stretch>
            <a:fillRect/>
          </a:stretch>
        </p:blipFill>
        <p:spPr>
          <a:xfrm>
            <a:off x="932688" y="3081528"/>
            <a:ext cx="466344" cy="466344"/>
          </a:xfrm>
          <a:prstGeom prst="rect">
            <a:avLst/>
          </a:prstGeom>
        </p:spPr>
      </p:pic>
      <p:sp>
        <p:nvSpPr>
          <p:cNvPr id="13" name="Oval 12"/>
          <p:cNvSpPr/>
          <p:nvPr/>
        </p:nvSpPr>
        <p:spPr>
          <a:xfrm>
            <a:off x="438912" y="2587752"/>
            <a:ext cx="502920" cy="502920"/>
          </a:xfrm>
          <a:prstGeom prst="ellipse">
            <a:avLst/>
          </a:prstGeom>
          <a:solidFill>
            <a:srgbClr val="F0C04A"/>
          </a:solidFill>
          <a:ln>
            <a:noFill/>
          </a:ln>
          <a:effectLst/>
        </p:spPr>
        <p:txBody>
          <a:bodyPr rtlCol="0" anchor="ctr"/>
          <a:lstStyle/>
          <a:p>
            <a:pPr algn="ctr"/>
          </a:p>
        </p:txBody>
      </p:sp>
      <p:sp>
        <p:nvSpPr>
          <p:cNvPr id="14" name="TextBox 13"/>
          <p:cNvSpPr txBox="1"/>
          <p:nvPr/>
        </p:nvSpPr>
        <p:spPr>
          <a:xfrm>
            <a:off x="438912" y="258775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1</a:t>
            </a:r>
          </a:p>
        </p:txBody>
      </p:sp>
      <p:sp>
        <p:nvSpPr>
          <p:cNvPr id="15" name="TextBox 14"/>
          <p:cNvSpPr txBox="1"/>
          <p:nvPr/>
        </p:nvSpPr>
        <p:spPr>
          <a:xfrm>
            <a:off x="1691640" y="289864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Hazard scenarios</a:t>
            </a:r>
          </a:p>
        </p:txBody>
      </p:sp>
      <p:sp>
        <p:nvSpPr>
          <p:cNvPr id="16" name="TextBox 15"/>
          <p:cNvSpPr txBox="1"/>
          <p:nvPr/>
        </p:nvSpPr>
        <p:spPr>
          <a:xfrm>
            <a:off x="777240" y="388620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Danger zones and lahar channels as scenarios: AL3, AL4, AL4 + lahar</a:t>
            </a:r>
          </a:p>
        </p:txBody>
      </p:sp>
      <p:sp>
        <p:nvSpPr>
          <p:cNvPr id="17" name="Chevron 16"/>
          <p:cNvSpPr/>
          <p:nvPr/>
        </p:nvSpPr>
        <p:spPr>
          <a:xfrm>
            <a:off x="4526280" y="3817620"/>
            <a:ext cx="274320" cy="548640"/>
          </a:xfrm>
          <a:prstGeom prst="chevron">
            <a:avLst/>
          </a:prstGeom>
          <a:solidFill>
            <a:srgbClr val="8B0707"/>
          </a:solidFill>
          <a:ln>
            <a:noFill/>
          </a:ln>
          <a:effectLst/>
        </p:spPr>
        <p:txBody>
          <a:bodyPr rtlCol="0" anchor="ctr"/>
          <a:lstStyle/>
          <a:p>
            <a:pPr algn="ctr"/>
          </a:p>
        </p:txBody>
      </p:sp>
      <p:sp>
        <p:nvSpPr>
          <p:cNvPr id="18" name="Rounded Rectangle 17"/>
          <p:cNvSpPr/>
          <p:nvPr/>
        </p:nvSpPr>
        <p:spPr>
          <a:xfrm>
            <a:off x="5029200" y="269748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9" name="Oval 18"/>
          <p:cNvSpPr/>
          <p:nvPr/>
        </p:nvSpPr>
        <p:spPr>
          <a:xfrm>
            <a:off x="5257800" y="2926080"/>
            <a:ext cx="777240" cy="777240"/>
          </a:xfrm>
          <a:prstGeom prst="ellipse">
            <a:avLst/>
          </a:prstGeom>
          <a:solidFill>
            <a:srgbClr val="8B0707"/>
          </a:solidFill>
          <a:ln>
            <a:noFill/>
          </a:ln>
          <a:effectLst/>
        </p:spPr>
        <p:txBody>
          <a:bodyPr rtlCol="0" anchor="ctr"/>
          <a:lstStyle/>
          <a:p>
            <a:pPr algn="ctr"/>
          </a:p>
        </p:txBody>
      </p:sp>
      <p:pic>
        <p:nvPicPr>
          <p:cNvPr id="20" name="Picture 19" descr="w_groups.png"/>
          <p:cNvPicPr>
            <a:picLocks noChangeAspect="1"/>
          </p:cNvPicPr>
          <p:nvPr/>
        </p:nvPicPr>
        <p:blipFill>
          <a:blip r:embed="rId4"/>
          <a:stretch>
            <a:fillRect/>
          </a:stretch>
        </p:blipFill>
        <p:spPr>
          <a:xfrm>
            <a:off x="5413248" y="3081528"/>
            <a:ext cx="466344" cy="466344"/>
          </a:xfrm>
          <a:prstGeom prst="rect">
            <a:avLst/>
          </a:prstGeom>
        </p:spPr>
      </p:pic>
      <p:sp>
        <p:nvSpPr>
          <p:cNvPr id="21" name="Oval 20"/>
          <p:cNvSpPr/>
          <p:nvPr/>
        </p:nvSpPr>
        <p:spPr>
          <a:xfrm>
            <a:off x="4919472" y="2587752"/>
            <a:ext cx="502920" cy="502920"/>
          </a:xfrm>
          <a:prstGeom prst="ellipse">
            <a:avLst/>
          </a:prstGeom>
          <a:solidFill>
            <a:srgbClr val="F0C04A"/>
          </a:solidFill>
          <a:ln>
            <a:noFill/>
          </a:ln>
          <a:effectLst/>
        </p:spPr>
        <p:txBody>
          <a:bodyPr rtlCol="0" anchor="ctr"/>
          <a:lstStyle/>
          <a:p>
            <a:pPr algn="ctr"/>
          </a:p>
        </p:txBody>
      </p:sp>
      <p:sp>
        <p:nvSpPr>
          <p:cNvPr id="22" name="TextBox 21"/>
          <p:cNvSpPr txBox="1"/>
          <p:nvPr/>
        </p:nvSpPr>
        <p:spPr>
          <a:xfrm>
            <a:off x="4919472" y="258775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2</a:t>
            </a:r>
          </a:p>
        </p:txBody>
      </p:sp>
      <p:sp>
        <p:nvSpPr>
          <p:cNvPr id="23" name="TextBox 22"/>
          <p:cNvSpPr txBox="1"/>
          <p:nvPr/>
        </p:nvSpPr>
        <p:spPr>
          <a:xfrm>
            <a:off x="6172200" y="289864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Origins</a:t>
            </a:r>
          </a:p>
        </p:txBody>
      </p:sp>
      <p:sp>
        <p:nvSpPr>
          <p:cNvPr id="24" name="TextBox 23"/>
          <p:cNvSpPr txBox="1"/>
          <p:nvPr/>
        </p:nvSpPr>
        <p:spPr>
          <a:xfrm>
            <a:off x="5257800" y="388620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Barangay assembly points with population and vulnerable residents</a:t>
            </a:r>
          </a:p>
        </p:txBody>
      </p:sp>
      <p:sp>
        <p:nvSpPr>
          <p:cNvPr id="25" name="Chevron 24"/>
          <p:cNvSpPr/>
          <p:nvPr/>
        </p:nvSpPr>
        <p:spPr>
          <a:xfrm>
            <a:off x="9006840" y="3817620"/>
            <a:ext cx="274320" cy="548640"/>
          </a:xfrm>
          <a:prstGeom prst="chevron">
            <a:avLst/>
          </a:prstGeom>
          <a:solidFill>
            <a:srgbClr val="8B0707"/>
          </a:solidFill>
          <a:ln>
            <a:noFill/>
          </a:ln>
          <a:effectLst/>
        </p:spPr>
        <p:txBody>
          <a:bodyPr rtlCol="0" anchor="ctr"/>
          <a:lstStyle/>
          <a:p>
            <a:pPr algn="ctr"/>
          </a:p>
        </p:txBody>
      </p:sp>
      <p:sp>
        <p:nvSpPr>
          <p:cNvPr id="26" name="Rounded Rectangle 25"/>
          <p:cNvSpPr/>
          <p:nvPr/>
        </p:nvSpPr>
        <p:spPr>
          <a:xfrm>
            <a:off x="9509760" y="269748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7" name="Oval 26"/>
          <p:cNvSpPr/>
          <p:nvPr/>
        </p:nvSpPr>
        <p:spPr>
          <a:xfrm>
            <a:off x="9738360" y="2926080"/>
            <a:ext cx="777240" cy="777240"/>
          </a:xfrm>
          <a:prstGeom prst="ellipse">
            <a:avLst/>
          </a:prstGeom>
          <a:solidFill>
            <a:srgbClr val="8B0707"/>
          </a:solidFill>
          <a:ln>
            <a:noFill/>
          </a:ln>
          <a:effectLst/>
        </p:spPr>
        <p:txBody>
          <a:bodyPr rtlCol="0" anchor="ctr"/>
          <a:lstStyle/>
          <a:p>
            <a:pPr algn="ctr"/>
          </a:p>
        </p:txBody>
      </p:sp>
      <p:pic>
        <p:nvPicPr>
          <p:cNvPr id="28" name="Picture 27" descr="w_route.png"/>
          <p:cNvPicPr>
            <a:picLocks noChangeAspect="1"/>
          </p:cNvPicPr>
          <p:nvPr/>
        </p:nvPicPr>
        <p:blipFill>
          <a:blip r:embed="rId5"/>
          <a:stretch>
            <a:fillRect/>
          </a:stretch>
        </p:blipFill>
        <p:spPr>
          <a:xfrm>
            <a:off x="9893808" y="3081528"/>
            <a:ext cx="466344" cy="466344"/>
          </a:xfrm>
          <a:prstGeom prst="rect">
            <a:avLst/>
          </a:prstGeom>
        </p:spPr>
      </p:pic>
      <p:sp>
        <p:nvSpPr>
          <p:cNvPr id="29" name="Oval 28"/>
          <p:cNvSpPr/>
          <p:nvPr/>
        </p:nvSpPr>
        <p:spPr>
          <a:xfrm>
            <a:off x="9400032" y="2587752"/>
            <a:ext cx="502920" cy="502920"/>
          </a:xfrm>
          <a:prstGeom prst="ellipse">
            <a:avLst/>
          </a:prstGeom>
          <a:solidFill>
            <a:srgbClr val="F0C04A"/>
          </a:solidFill>
          <a:ln>
            <a:noFill/>
          </a:ln>
          <a:effectLst/>
        </p:spPr>
        <p:txBody>
          <a:bodyPr rtlCol="0" anchor="ctr"/>
          <a:lstStyle/>
          <a:p>
            <a:pPr algn="ctr"/>
          </a:p>
        </p:txBody>
      </p:sp>
      <p:sp>
        <p:nvSpPr>
          <p:cNvPr id="30" name="TextBox 29"/>
          <p:cNvSpPr txBox="1"/>
          <p:nvPr/>
        </p:nvSpPr>
        <p:spPr>
          <a:xfrm>
            <a:off x="9400032" y="258775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3</a:t>
            </a:r>
          </a:p>
        </p:txBody>
      </p:sp>
      <p:sp>
        <p:nvSpPr>
          <p:cNvPr id="31" name="TextBox 30"/>
          <p:cNvSpPr txBox="1"/>
          <p:nvPr/>
        </p:nvSpPr>
        <p:spPr>
          <a:xfrm>
            <a:off x="10652760" y="289864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Road network</a:t>
            </a:r>
          </a:p>
        </p:txBody>
      </p:sp>
      <p:sp>
        <p:nvSpPr>
          <p:cNvPr id="32" name="TextBox 31"/>
          <p:cNvSpPr txBox="1"/>
          <p:nvPr/>
        </p:nvSpPr>
        <p:spPr>
          <a:xfrm>
            <a:off x="9738360" y="388620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OpenStreetMap roads with travel time (min) and capacity (persons/min)</a:t>
            </a:r>
          </a:p>
        </p:txBody>
      </p:sp>
      <p:sp>
        <p:nvSpPr>
          <p:cNvPr id="33" name="Chevron 32"/>
          <p:cNvSpPr/>
          <p:nvPr/>
        </p:nvSpPr>
        <p:spPr>
          <a:xfrm>
            <a:off x="13487400" y="3817620"/>
            <a:ext cx="274320" cy="548640"/>
          </a:xfrm>
          <a:prstGeom prst="chevron">
            <a:avLst/>
          </a:prstGeom>
          <a:solidFill>
            <a:srgbClr val="8B0707"/>
          </a:solidFill>
          <a:ln>
            <a:noFill/>
          </a:ln>
          <a:effectLst/>
        </p:spPr>
        <p:txBody>
          <a:bodyPr rtlCol="0" anchor="ctr"/>
          <a:lstStyle/>
          <a:p>
            <a:pPr algn="ctr"/>
          </a:p>
        </p:txBody>
      </p:sp>
      <p:sp>
        <p:nvSpPr>
          <p:cNvPr id="34" name="Rounded Rectangle 33"/>
          <p:cNvSpPr/>
          <p:nvPr/>
        </p:nvSpPr>
        <p:spPr>
          <a:xfrm>
            <a:off x="13990320" y="269748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5" name="Oval 34"/>
          <p:cNvSpPr/>
          <p:nvPr/>
        </p:nvSpPr>
        <p:spPr>
          <a:xfrm>
            <a:off x="14218920" y="2926080"/>
            <a:ext cx="777240" cy="777240"/>
          </a:xfrm>
          <a:prstGeom prst="ellipse">
            <a:avLst/>
          </a:prstGeom>
          <a:solidFill>
            <a:srgbClr val="8B0707"/>
          </a:solidFill>
          <a:ln>
            <a:noFill/>
          </a:ln>
          <a:effectLst/>
        </p:spPr>
        <p:txBody>
          <a:bodyPr rtlCol="0" anchor="ctr"/>
          <a:lstStyle/>
          <a:p>
            <a:pPr algn="ctr"/>
          </a:p>
        </p:txBody>
      </p:sp>
      <p:pic>
        <p:nvPicPr>
          <p:cNvPr id="36" name="Picture 35" descr="w_inventory_2.png"/>
          <p:cNvPicPr>
            <a:picLocks noChangeAspect="1"/>
          </p:cNvPicPr>
          <p:nvPr/>
        </p:nvPicPr>
        <p:blipFill>
          <a:blip r:embed="rId6"/>
          <a:stretch>
            <a:fillRect/>
          </a:stretch>
        </p:blipFill>
        <p:spPr>
          <a:xfrm>
            <a:off x="14374368" y="3081528"/>
            <a:ext cx="466344" cy="466344"/>
          </a:xfrm>
          <a:prstGeom prst="rect">
            <a:avLst/>
          </a:prstGeom>
        </p:spPr>
      </p:pic>
      <p:sp>
        <p:nvSpPr>
          <p:cNvPr id="37" name="Oval 36"/>
          <p:cNvSpPr/>
          <p:nvPr/>
        </p:nvSpPr>
        <p:spPr>
          <a:xfrm>
            <a:off x="13880592" y="2587752"/>
            <a:ext cx="502920" cy="502920"/>
          </a:xfrm>
          <a:prstGeom prst="ellipse">
            <a:avLst/>
          </a:prstGeom>
          <a:solidFill>
            <a:srgbClr val="F0C04A"/>
          </a:solidFill>
          <a:ln>
            <a:noFill/>
          </a:ln>
          <a:effectLst/>
        </p:spPr>
        <p:txBody>
          <a:bodyPr rtlCol="0" anchor="ctr"/>
          <a:lstStyle/>
          <a:p>
            <a:pPr algn="ctr"/>
          </a:p>
        </p:txBody>
      </p:sp>
      <p:sp>
        <p:nvSpPr>
          <p:cNvPr id="38" name="TextBox 37"/>
          <p:cNvSpPr txBox="1"/>
          <p:nvPr/>
        </p:nvSpPr>
        <p:spPr>
          <a:xfrm>
            <a:off x="13880592" y="258775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4</a:t>
            </a:r>
          </a:p>
        </p:txBody>
      </p:sp>
      <p:sp>
        <p:nvSpPr>
          <p:cNvPr id="39" name="TextBox 38"/>
          <p:cNvSpPr txBox="1"/>
          <p:nvPr/>
        </p:nvSpPr>
        <p:spPr>
          <a:xfrm>
            <a:off x="15133320" y="289864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Shelter inventory</a:t>
            </a:r>
          </a:p>
        </p:txBody>
      </p:sp>
      <p:sp>
        <p:nvSpPr>
          <p:cNvPr id="40" name="TextBox 39"/>
          <p:cNvSpPr txBox="1"/>
          <p:nvPr/>
        </p:nvSpPr>
        <p:spPr>
          <a:xfrm>
            <a:off x="14218920" y="388620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Floor areas, classrooms, and accessibility give tier capacities</a:t>
            </a:r>
          </a:p>
        </p:txBody>
      </p:sp>
      <p:sp>
        <p:nvSpPr>
          <p:cNvPr id="41" name="Rounded Rectangle 40"/>
          <p:cNvSpPr/>
          <p:nvPr/>
        </p:nvSpPr>
        <p:spPr>
          <a:xfrm>
            <a:off x="548640" y="580644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42" name="Oval 41"/>
          <p:cNvSpPr/>
          <p:nvPr/>
        </p:nvSpPr>
        <p:spPr>
          <a:xfrm>
            <a:off x="777240" y="6035040"/>
            <a:ext cx="777240" cy="777240"/>
          </a:xfrm>
          <a:prstGeom prst="ellipse">
            <a:avLst/>
          </a:prstGeom>
          <a:solidFill>
            <a:srgbClr val="8B0707"/>
          </a:solidFill>
          <a:ln>
            <a:noFill/>
          </a:ln>
          <a:effectLst/>
        </p:spPr>
        <p:txBody>
          <a:bodyPr rtlCol="0" anchor="ctr"/>
          <a:lstStyle/>
          <a:p>
            <a:pPr algn="ctr"/>
          </a:p>
        </p:txBody>
      </p:sp>
      <p:pic>
        <p:nvPicPr>
          <p:cNvPr id="43" name="Picture 42" descr="w_account_tree.png"/>
          <p:cNvPicPr>
            <a:picLocks noChangeAspect="1"/>
          </p:cNvPicPr>
          <p:nvPr/>
        </p:nvPicPr>
        <p:blipFill>
          <a:blip r:embed="rId7"/>
          <a:stretch>
            <a:fillRect/>
          </a:stretch>
        </p:blipFill>
        <p:spPr>
          <a:xfrm>
            <a:off x="932688" y="6190488"/>
            <a:ext cx="466344" cy="466344"/>
          </a:xfrm>
          <a:prstGeom prst="rect">
            <a:avLst/>
          </a:prstGeom>
        </p:spPr>
      </p:pic>
      <p:sp>
        <p:nvSpPr>
          <p:cNvPr id="44" name="Oval 43"/>
          <p:cNvSpPr/>
          <p:nvPr/>
        </p:nvSpPr>
        <p:spPr>
          <a:xfrm>
            <a:off x="438912" y="5696712"/>
            <a:ext cx="502920" cy="502920"/>
          </a:xfrm>
          <a:prstGeom prst="ellipse">
            <a:avLst/>
          </a:prstGeom>
          <a:solidFill>
            <a:srgbClr val="F0C04A"/>
          </a:solidFill>
          <a:ln>
            <a:noFill/>
          </a:ln>
          <a:effectLst/>
        </p:spPr>
        <p:txBody>
          <a:bodyPr rtlCol="0" anchor="ctr"/>
          <a:lstStyle/>
          <a:p>
            <a:pPr algn="ctr"/>
          </a:p>
        </p:txBody>
      </p:sp>
      <p:sp>
        <p:nvSpPr>
          <p:cNvPr id="45" name="TextBox 44"/>
          <p:cNvSpPr txBox="1"/>
          <p:nvPr/>
        </p:nvSpPr>
        <p:spPr>
          <a:xfrm>
            <a:off x="438912" y="569671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5</a:t>
            </a:r>
          </a:p>
        </p:txBody>
      </p:sp>
      <p:sp>
        <p:nvSpPr>
          <p:cNvPr id="46" name="TextBox 45"/>
          <p:cNvSpPr txBox="1"/>
          <p:nvPr/>
        </p:nvSpPr>
        <p:spPr>
          <a:xfrm>
            <a:off x="1691640" y="600760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Shelter plan</a:t>
            </a:r>
          </a:p>
        </p:txBody>
      </p:sp>
      <p:sp>
        <p:nvSpPr>
          <p:cNvPr id="47" name="TextBox 46"/>
          <p:cNvSpPr txBox="1"/>
          <p:nvPr/>
        </p:nvSpPr>
        <p:spPr>
          <a:xfrm>
            <a:off x="777240" y="699516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Algorithm 1: lexicographic min-cost flow, then packing into rooms</a:t>
            </a:r>
          </a:p>
        </p:txBody>
      </p:sp>
      <p:sp>
        <p:nvSpPr>
          <p:cNvPr id="48" name="Chevron 47"/>
          <p:cNvSpPr/>
          <p:nvPr/>
        </p:nvSpPr>
        <p:spPr>
          <a:xfrm>
            <a:off x="4526280" y="6926580"/>
            <a:ext cx="274320" cy="548640"/>
          </a:xfrm>
          <a:prstGeom prst="chevron">
            <a:avLst/>
          </a:prstGeom>
          <a:solidFill>
            <a:srgbClr val="8B0707"/>
          </a:solidFill>
          <a:ln>
            <a:noFill/>
          </a:ln>
          <a:effectLst/>
        </p:spPr>
        <p:txBody>
          <a:bodyPr rtlCol="0" anchor="ctr"/>
          <a:lstStyle/>
          <a:p>
            <a:pPr algn="ctr"/>
          </a:p>
        </p:txBody>
      </p:sp>
      <p:sp>
        <p:nvSpPr>
          <p:cNvPr id="49" name="Rounded Rectangle 48"/>
          <p:cNvSpPr/>
          <p:nvPr/>
        </p:nvSpPr>
        <p:spPr>
          <a:xfrm>
            <a:off x="5029200" y="580644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50" name="Oval 49"/>
          <p:cNvSpPr/>
          <p:nvPr/>
        </p:nvSpPr>
        <p:spPr>
          <a:xfrm>
            <a:off x="5257800" y="6035040"/>
            <a:ext cx="777240" cy="777240"/>
          </a:xfrm>
          <a:prstGeom prst="ellipse">
            <a:avLst/>
          </a:prstGeom>
          <a:solidFill>
            <a:srgbClr val="8B0707"/>
          </a:solidFill>
          <a:ln>
            <a:noFill/>
          </a:ln>
          <a:effectLst/>
        </p:spPr>
        <p:txBody>
          <a:bodyPr rtlCol="0" anchor="ctr"/>
          <a:lstStyle/>
          <a:p>
            <a:pPr algn="ctr"/>
          </a:p>
        </p:txBody>
      </p:sp>
      <p:pic>
        <p:nvPicPr>
          <p:cNvPr id="51" name="Picture 50" descr="w_timer.png"/>
          <p:cNvPicPr>
            <a:picLocks noChangeAspect="1"/>
          </p:cNvPicPr>
          <p:nvPr/>
        </p:nvPicPr>
        <p:blipFill>
          <a:blip r:embed="rId8"/>
          <a:stretch>
            <a:fillRect/>
          </a:stretch>
        </p:blipFill>
        <p:spPr>
          <a:xfrm>
            <a:off x="5413248" y="6190488"/>
            <a:ext cx="466344" cy="466344"/>
          </a:xfrm>
          <a:prstGeom prst="rect">
            <a:avLst/>
          </a:prstGeom>
        </p:spPr>
      </p:pic>
      <p:sp>
        <p:nvSpPr>
          <p:cNvPr id="52" name="Oval 51"/>
          <p:cNvSpPr/>
          <p:nvPr/>
        </p:nvSpPr>
        <p:spPr>
          <a:xfrm>
            <a:off x="4919472" y="5696712"/>
            <a:ext cx="502920" cy="502920"/>
          </a:xfrm>
          <a:prstGeom prst="ellipse">
            <a:avLst/>
          </a:prstGeom>
          <a:solidFill>
            <a:srgbClr val="F0C04A"/>
          </a:solidFill>
          <a:ln>
            <a:noFill/>
          </a:ln>
          <a:effectLst/>
        </p:spPr>
        <p:txBody>
          <a:bodyPr rtlCol="0" anchor="ctr"/>
          <a:lstStyle/>
          <a:p>
            <a:pPr algn="ctr"/>
          </a:p>
        </p:txBody>
      </p:sp>
      <p:sp>
        <p:nvSpPr>
          <p:cNvPr id="53" name="TextBox 52"/>
          <p:cNvSpPr txBox="1"/>
          <p:nvPr/>
        </p:nvSpPr>
        <p:spPr>
          <a:xfrm>
            <a:off x="4919472" y="569671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6</a:t>
            </a:r>
          </a:p>
        </p:txBody>
      </p:sp>
      <p:sp>
        <p:nvSpPr>
          <p:cNvPr id="54" name="TextBox 53"/>
          <p:cNvSpPr txBox="1"/>
          <p:nvPr/>
        </p:nvSpPr>
        <p:spPr>
          <a:xfrm>
            <a:off x="6172200" y="600760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Evacuation over time</a:t>
            </a:r>
          </a:p>
        </p:txBody>
      </p:sp>
      <p:sp>
        <p:nvSpPr>
          <p:cNvPr id="55" name="TextBox 54"/>
          <p:cNvSpPr txBox="1"/>
          <p:nvPr/>
        </p:nvSpPr>
        <p:spPr>
          <a:xfrm>
            <a:off x="5257800" y="699516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Algorithm 2: time-expanded network, bisection, lower bound</a:t>
            </a:r>
          </a:p>
        </p:txBody>
      </p:sp>
      <p:sp>
        <p:nvSpPr>
          <p:cNvPr id="56" name="Chevron 55"/>
          <p:cNvSpPr/>
          <p:nvPr/>
        </p:nvSpPr>
        <p:spPr>
          <a:xfrm>
            <a:off x="9006840" y="6926580"/>
            <a:ext cx="274320" cy="548640"/>
          </a:xfrm>
          <a:prstGeom prst="chevron">
            <a:avLst/>
          </a:prstGeom>
          <a:solidFill>
            <a:srgbClr val="8B0707"/>
          </a:solidFill>
          <a:ln>
            <a:noFill/>
          </a:ln>
          <a:effectLst/>
        </p:spPr>
        <p:txBody>
          <a:bodyPr rtlCol="0" anchor="ctr"/>
          <a:lstStyle/>
          <a:p>
            <a:pPr algn="ctr"/>
          </a:p>
        </p:txBody>
      </p:sp>
      <p:sp>
        <p:nvSpPr>
          <p:cNvPr id="57" name="Rounded Rectangle 56"/>
          <p:cNvSpPr/>
          <p:nvPr/>
        </p:nvSpPr>
        <p:spPr>
          <a:xfrm>
            <a:off x="9509760" y="580644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58" name="Oval 57"/>
          <p:cNvSpPr/>
          <p:nvPr/>
        </p:nvSpPr>
        <p:spPr>
          <a:xfrm>
            <a:off x="9738360" y="6035040"/>
            <a:ext cx="777240" cy="777240"/>
          </a:xfrm>
          <a:prstGeom prst="ellipse">
            <a:avLst/>
          </a:prstGeom>
          <a:solidFill>
            <a:srgbClr val="8B0707"/>
          </a:solidFill>
          <a:ln>
            <a:noFill/>
          </a:ln>
          <a:effectLst/>
        </p:spPr>
        <p:txBody>
          <a:bodyPr rtlCol="0" anchor="ctr"/>
          <a:lstStyle/>
          <a:p>
            <a:pPr algn="ctr"/>
          </a:p>
        </p:txBody>
      </p:sp>
      <p:pic>
        <p:nvPicPr>
          <p:cNvPr id="59" name="Picture 58" descr="w_night_shelter.png"/>
          <p:cNvPicPr>
            <a:picLocks noChangeAspect="1"/>
          </p:cNvPicPr>
          <p:nvPr/>
        </p:nvPicPr>
        <p:blipFill>
          <a:blip r:embed="rId9"/>
          <a:stretch>
            <a:fillRect/>
          </a:stretch>
        </p:blipFill>
        <p:spPr>
          <a:xfrm>
            <a:off x="9893808" y="6190488"/>
            <a:ext cx="466344" cy="466344"/>
          </a:xfrm>
          <a:prstGeom prst="rect">
            <a:avLst/>
          </a:prstGeom>
        </p:spPr>
      </p:pic>
      <p:sp>
        <p:nvSpPr>
          <p:cNvPr id="60" name="Oval 59"/>
          <p:cNvSpPr/>
          <p:nvPr/>
        </p:nvSpPr>
        <p:spPr>
          <a:xfrm>
            <a:off x="9400032" y="5696712"/>
            <a:ext cx="502920" cy="502920"/>
          </a:xfrm>
          <a:prstGeom prst="ellipse">
            <a:avLst/>
          </a:prstGeom>
          <a:solidFill>
            <a:srgbClr val="F0C04A"/>
          </a:solidFill>
          <a:ln>
            <a:noFill/>
          </a:ln>
          <a:effectLst/>
        </p:spPr>
        <p:txBody>
          <a:bodyPr rtlCol="0" anchor="ctr"/>
          <a:lstStyle/>
          <a:p>
            <a:pPr algn="ctr"/>
          </a:p>
        </p:txBody>
      </p:sp>
      <p:sp>
        <p:nvSpPr>
          <p:cNvPr id="61" name="TextBox 60"/>
          <p:cNvSpPr txBox="1"/>
          <p:nvPr/>
        </p:nvSpPr>
        <p:spPr>
          <a:xfrm>
            <a:off x="9400032" y="569671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7</a:t>
            </a:r>
          </a:p>
        </p:txBody>
      </p:sp>
      <p:sp>
        <p:nvSpPr>
          <p:cNvPr id="62" name="TextBox 61"/>
          <p:cNvSpPr txBox="1"/>
          <p:nvPr/>
        </p:nvSpPr>
        <p:spPr>
          <a:xfrm>
            <a:off x="10652760" y="600760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Siting</a:t>
            </a:r>
          </a:p>
        </p:txBody>
      </p:sp>
      <p:sp>
        <p:nvSpPr>
          <p:cNvPr id="63" name="TextBox 62"/>
          <p:cNvSpPr txBox="1"/>
          <p:nvPr/>
        </p:nvSpPr>
        <p:spPr>
          <a:xfrm>
            <a:off x="9738360" y="699516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Algorithm 3: greedy Ligtas Pinoy Center sites; plan recomputed</a:t>
            </a:r>
          </a:p>
        </p:txBody>
      </p:sp>
      <p:sp>
        <p:nvSpPr>
          <p:cNvPr id="64" name="Chevron 63"/>
          <p:cNvSpPr/>
          <p:nvPr/>
        </p:nvSpPr>
        <p:spPr>
          <a:xfrm>
            <a:off x="13487400" y="6926580"/>
            <a:ext cx="274320" cy="548640"/>
          </a:xfrm>
          <a:prstGeom prst="chevron">
            <a:avLst/>
          </a:prstGeom>
          <a:solidFill>
            <a:srgbClr val="8B0707"/>
          </a:solidFill>
          <a:ln>
            <a:noFill/>
          </a:ln>
          <a:effectLst/>
        </p:spPr>
        <p:txBody>
          <a:bodyPr rtlCol="0" anchor="ctr"/>
          <a:lstStyle/>
          <a:p>
            <a:pPr algn="ctr"/>
          </a:p>
        </p:txBody>
      </p:sp>
      <p:sp>
        <p:nvSpPr>
          <p:cNvPr id="65" name="Rounded Rectangle 64"/>
          <p:cNvSpPr/>
          <p:nvPr/>
        </p:nvSpPr>
        <p:spPr>
          <a:xfrm>
            <a:off x="13990320" y="580644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66" name="Oval 65"/>
          <p:cNvSpPr/>
          <p:nvPr/>
        </p:nvSpPr>
        <p:spPr>
          <a:xfrm>
            <a:off x="14218920" y="6035040"/>
            <a:ext cx="777240" cy="777240"/>
          </a:xfrm>
          <a:prstGeom prst="ellipse">
            <a:avLst/>
          </a:prstGeom>
          <a:solidFill>
            <a:srgbClr val="8B0707"/>
          </a:solidFill>
          <a:ln>
            <a:noFill/>
          </a:ln>
          <a:effectLst/>
        </p:spPr>
        <p:txBody>
          <a:bodyPr rtlCol="0" anchor="ctr"/>
          <a:lstStyle/>
          <a:p>
            <a:pPr algn="ctr"/>
          </a:p>
        </p:txBody>
      </p:sp>
      <p:pic>
        <p:nvPicPr>
          <p:cNvPr id="67" name="Picture 66" descr="w_verified.png"/>
          <p:cNvPicPr>
            <a:picLocks noChangeAspect="1"/>
          </p:cNvPicPr>
          <p:nvPr/>
        </p:nvPicPr>
        <p:blipFill>
          <a:blip r:embed="rId10"/>
          <a:stretch>
            <a:fillRect/>
          </a:stretch>
        </p:blipFill>
        <p:spPr>
          <a:xfrm>
            <a:off x="14374368" y="6190488"/>
            <a:ext cx="466344" cy="466344"/>
          </a:xfrm>
          <a:prstGeom prst="rect">
            <a:avLst/>
          </a:prstGeom>
        </p:spPr>
      </p:pic>
      <p:sp>
        <p:nvSpPr>
          <p:cNvPr id="68" name="Oval 67"/>
          <p:cNvSpPr/>
          <p:nvPr/>
        </p:nvSpPr>
        <p:spPr>
          <a:xfrm>
            <a:off x="13880592" y="5696712"/>
            <a:ext cx="502920" cy="502920"/>
          </a:xfrm>
          <a:prstGeom prst="ellipse">
            <a:avLst/>
          </a:prstGeom>
          <a:solidFill>
            <a:srgbClr val="F0C04A"/>
          </a:solidFill>
          <a:ln>
            <a:noFill/>
          </a:ln>
          <a:effectLst/>
        </p:spPr>
        <p:txBody>
          <a:bodyPr rtlCol="0" anchor="ctr"/>
          <a:lstStyle/>
          <a:p>
            <a:pPr algn="ctr"/>
          </a:p>
        </p:txBody>
      </p:sp>
      <p:sp>
        <p:nvSpPr>
          <p:cNvPr id="69" name="TextBox 68"/>
          <p:cNvSpPr txBox="1"/>
          <p:nvPr/>
        </p:nvSpPr>
        <p:spPr>
          <a:xfrm>
            <a:off x="13880592" y="569671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8</a:t>
            </a:r>
          </a:p>
        </p:txBody>
      </p:sp>
      <p:sp>
        <p:nvSpPr>
          <p:cNvPr id="70" name="TextBox 69"/>
          <p:cNvSpPr txBox="1"/>
          <p:nvPr/>
        </p:nvSpPr>
        <p:spPr>
          <a:xfrm>
            <a:off x="15133320" y="600760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Verification</a:t>
            </a:r>
          </a:p>
        </p:txBody>
      </p:sp>
      <p:sp>
        <p:nvSpPr>
          <p:cNvPr id="71" name="TextBox 70"/>
          <p:cNvSpPr txBox="1"/>
          <p:nvPr/>
        </p:nvSpPr>
        <p:spPr>
          <a:xfrm>
            <a:off x="14218920" y="699516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Each proposition checked against independent code; time measured</a:t>
            </a:r>
          </a:p>
        </p:txBody>
      </p:sp>
      <p:sp>
        <p:nvSpPr>
          <p:cNvPr id="72" name="Rounded Rectangle 71"/>
          <p:cNvSpPr/>
          <p:nvPr/>
        </p:nvSpPr>
        <p:spPr>
          <a:xfrm>
            <a:off x="548640" y="9006840"/>
            <a:ext cx="17190720" cy="822960"/>
          </a:xfrm>
          <a:prstGeom prst="roundRect">
            <a:avLst>
              <a:gd name="adj" fmla="val 15555"/>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73" name="TextBox 72"/>
          <p:cNvSpPr txBox="1"/>
          <p:nvPr/>
        </p:nvSpPr>
        <p:spPr>
          <a:xfrm>
            <a:off x="822960" y="9006840"/>
            <a:ext cx="16642080" cy="822960"/>
          </a:xfrm>
          <a:prstGeom prst="rect">
            <a:avLst/>
          </a:prstGeom>
          <a:noFill/>
        </p:spPr>
        <p:txBody>
          <a:bodyPr wrap="square" lIns="0" tIns="0" rIns="0" bIns="0" anchor="ctr">
            <a:noAutofit/>
          </a:bodyPr>
          <a:lstStyle/>
          <a:p>
            <a:pPr algn="l">
              <a:lnSpc>
                <a:spcPct val="100000"/>
              </a:lnSpc>
            </a:pPr>
            <a:r>
              <a:rPr sz="1600" b="1" i="0">
                <a:solidFill>
                  <a:srgbClr val="8B0707"/>
                </a:solidFill>
                <a:latin typeface="ITC Avant Garde Gothic"/>
                <a:ea typeface="ITC Avant Garde Gothic"/>
                <a:cs typeface="ITC Avant Garde Gothic"/>
              </a:rPr>
              <a:t>Tools:  </a:t>
            </a:r>
            <a:r>
              <a:rPr sz="1600" b="0" i="0">
                <a:solidFill>
                  <a:srgbClr val="262626"/>
                </a:solidFill>
                <a:latin typeface="ITC Avant Garde Gothic"/>
                <a:ea typeface="ITC Avant Garde Gothic"/>
                <a:cs typeface="ITC Avant Garde Gothic"/>
              </a:rPr>
              <a:t>Python with NetworkX (network simplex, maximum flow) and SciPy HiGHS for the reference programs; one fixed random seed (20261017); runs on an everyday laptop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4714206"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METHODOLOGY</a:t>
            </a:r>
          </a:p>
        </p:txBody>
      </p:sp>
      <p:sp>
        <p:nvSpPr>
          <p:cNvPr id="8" name="Subtitle"/>
          <p:cNvSpPr txBox="1"/>
          <p:nvPr/>
        </p:nvSpPr>
        <p:spPr>
          <a:xfrm>
            <a:off x="15339655" y="18288"/>
            <a:ext cx="2536865"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The Shelter Plan</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The legal order of priorities becomes one minimum-cost flow</a:t>
            </a:r>
          </a:p>
        </p:txBody>
      </p:sp>
      <p:sp>
        <p:nvSpPr>
          <p:cNvPr id="10" name="Rounded Rectangle 9"/>
          <p:cNvSpPr/>
          <p:nvPr/>
        </p:nvSpPr>
        <p:spPr>
          <a:xfrm>
            <a:off x="548640" y="2697480"/>
            <a:ext cx="7223760" cy="1874520"/>
          </a:xfrm>
          <a:prstGeom prst="roundRect">
            <a:avLst>
              <a:gd name="adj" fmla="val 682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Rounded Rectangle 10"/>
          <p:cNvSpPr/>
          <p:nvPr/>
        </p:nvSpPr>
        <p:spPr>
          <a:xfrm>
            <a:off x="548640" y="2697480"/>
            <a:ext cx="1463040" cy="1874520"/>
          </a:xfrm>
          <a:prstGeom prst="roundRect">
            <a:avLst>
              <a:gd name="adj" fmla="val 8750"/>
            </a:avLst>
          </a:prstGeom>
          <a:solidFill>
            <a:srgbClr val="2E7D5B"/>
          </a:solidFill>
          <a:ln>
            <a:noFill/>
          </a:ln>
          <a:effectLst>
            <a:outerShdw blurRad="82296" dist="32004" dir="5400000" algn="t" rotWithShape="0">
              <a:srgbClr val="000000">
                <a:alpha val="22000"/>
              </a:srgbClr>
            </a:outerShdw>
          </a:effectLst>
        </p:spPr>
        <p:txBody>
          <a:bodyPr rtlCol="0" anchor="ctr"/>
          <a:lstStyle/>
          <a:p>
            <a:pPr algn="ctr"/>
          </a:p>
        </p:txBody>
      </p:sp>
      <p:sp>
        <p:nvSpPr>
          <p:cNvPr id="12" name="Rectangle 11"/>
          <p:cNvSpPr/>
          <p:nvPr/>
        </p:nvSpPr>
        <p:spPr>
          <a:xfrm>
            <a:off x="1737360" y="2697480"/>
            <a:ext cx="274320" cy="1874520"/>
          </a:xfrm>
          <a:prstGeom prst="rect">
            <a:avLst/>
          </a:prstGeom>
          <a:solidFill>
            <a:srgbClr val="2E7D5B"/>
          </a:solidFill>
          <a:ln>
            <a:noFill/>
          </a:ln>
          <a:effectLst/>
        </p:spPr>
        <p:txBody>
          <a:bodyPr rtlCol="0" anchor="ctr"/>
          <a:lstStyle/>
          <a:p>
            <a:pPr algn="ctr"/>
          </a:p>
        </p:txBody>
      </p:sp>
      <p:sp>
        <p:nvSpPr>
          <p:cNvPr id="13" name="TextBox 12"/>
          <p:cNvSpPr txBox="1"/>
          <p:nvPr/>
        </p:nvSpPr>
        <p:spPr>
          <a:xfrm>
            <a:off x="548640" y="2697480"/>
            <a:ext cx="1463040" cy="187452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Tier 0</a:t>
            </a:r>
          </a:p>
        </p:txBody>
      </p:sp>
      <p:sp>
        <p:nvSpPr>
          <p:cNvPr id="14" name="TextBox 13"/>
          <p:cNvSpPr txBox="1"/>
          <p:nvPr/>
        </p:nvSpPr>
        <p:spPr>
          <a:xfrm>
            <a:off x="2240280" y="2788920"/>
            <a:ext cx="5349240" cy="1691640"/>
          </a:xfrm>
          <a:prstGeom prst="rect">
            <a:avLst/>
          </a:prstGeom>
          <a:noFill/>
        </p:spPr>
        <p:txBody>
          <a:bodyPr wrap="square" lIns="0" tIns="0" rIns="0" bIns="0" anchor="ctr">
            <a:noAutofit/>
          </a:bodyPr>
          <a:lstStyle/>
          <a:p>
            <a:pPr algn="l">
              <a:lnSpc>
                <a:spcPct val="100000"/>
              </a:lnSpc>
              <a:spcAft>
                <a:spcPts val="200"/>
              </a:spcAft>
            </a:pPr>
            <a:r>
              <a:rPr sz="1900" b="1" i="0">
                <a:solidFill>
                  <a:srgbClr val="2E7D5B"/>
                </a:solidFill>
                <a:latin typeface="ITC Avant Garde Gothic"/>
                <a:ea typeface="ITC Avant Garde Gothic"/>
                <a:cs typeface="ITC Avant Garde Gothic"/>
              </a:rPr>
              <a:t>Non-school space</a:t>
            </a:r>
          </a:p>
          <a:p>
            <a:pPr algn="l">
              <a:lnSpc>
                <a:spcPct val="100000"/>
              </a:lnSpc>
              <a:spcAft>
                <a:spcPts val="200"/>
              </a:spcAft>
            </a:pPr>
            <a:r>
              <a:rPr sz="1600" b="0" i="0">
                <a:solidFill>
                  <a:srgbClr val="262626"/>
                </a:solidFill>
                <a:latin typeface="ITC Avant Garde Gothic"/>
                <a:ea typeface="ITC Avant Garde Gothic"/>
                <a:cs typeface="ITC Avant Garde Gothic"/>
              </a:rPr>
              <a:t>Evacuation center, Ligtas Pinoy Center, church hall</a:t>
            </a:r>
          </a:p>
          <a:p>
            <a:pPr algn="l">
              <a:lnSpc>
                <a:spcPct val="100000"/>
              </a:lnSpc>
            </a:pPr>
            <a:r>
              <a:rPr sz="1500" b="1" i="0">
                <a:solidFill>
                  <a:srgbClr val="5E5E5E"/>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Use first</a:t>
            </a:r>
          </a:p>
        </p:txBody>
      </p:sp>
      <p:sp>
        <p:nvSpPr>
          <p:cNvPr id="15" name="Rounded Rectangle 14"/>
          <p:cNvSpPr/>
          <p:nvPr/>
        </p:nvSpPr>
        <p:spPr>
          <a:xfrm>
            <a:off x="548640" y="4800600"/>
            <a:ext cx="7223760" cy="1874520"/>
          </a:xfrm>
          <a:prstGeom prst="roundRect">
            <a:avLst>
              <a:gd name="adj" fmla="val 682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6" name="Rounded Rectangle 15"/>
          <p:cNvSpPr/>
          <p:nvPr/>
        </p:nvSpPr>
        <p:spPr>
          <a:xfrm>
            <a:off x="548640" y="4800600"/>
            <a:ext cx="1463040" cy="1874520"/>
          </a:xfrm>
          <a:prstGeom prst="roundRect">
            <a:avLst>
              <a:gd name="adj" fmla="val 8750"/>
            </a:avLst>
          </a:prstGeom>
          <a:solidFill>
            <a:srgbClr val="C98A12"/>
          </a:solidFill>
          <a:ln>
            <a:noFill/>
          </a:ln>
          <a:effectLst>
            <a:outerShdw blurRad="82296" dist="32004" dir="5400000" algn="t" rotWithShape="0">
              <a:srgbClr val="000000">
                <a:alpha val="22000"/>
              </a:srgbClr>
            </a:outerShdw>
          </a:effectLst>
        </p:spPr>
        <p:txBody>
          <a:bodyPr rtlCol="0" anchor="ctr"/>
          <a:lstStyle/>
          <a:p>
            <a:pPr algn="ctr"/>
          </a:p>
        </p:txBody>
      </p:sp>
      <p:sp>
        <p:nvSpPr>
          <p:cNvPr id="17" name="Rectangle 16"/>
          <p:cNvSpPr/>
          <p:nvPr/>
        </p:nvSpPr>
        <p:spPr>
          <a:xfrm>
            <a:off x="1737360" y="4800600"/>
            <a:ext cx="274320" cy="1874520"/>
          </a:xfrm>
          <a:prstGeom prst="rect">
            <a:avLst/>
          </a:prstGeom>
          <a:solidFill>
            <a:srgbClr val="C98A12"/>
          </a:solidFill>
          <a:ln>
            <a:noFill/>
          </a:ln>
          <a:effectLst/>
        </p:spPr>
        <p:txBody>
          <a:bodyPr rtlCol="0" anchor="ctr"/>
          <a:lstStyle/>
          <a:p>
            <a:pPr algn="ctr"/>
          </a:p>
        </p:txBody>
      </p:sp>
      <p:sp>
        <p:nvSpPr>
          <p:cNvPr id="18" name="TextBox 17"/>
          <p:cNvSpPr txBox="1"/>
          <p:nvPr/>
        </p:nvSpPr>
        <p:spPr>
          <a:xfrm>
            <a:off x="548640" y="4800600"/>
            <a:ext cx="1463040" cy="187452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Tier 1</a:t>
            </a:r>
          </a:p>
        </p:txBody>
      </p:sp>
      <p:sp>
        <p:nvSpPr>
          <p:cNvPr id="19" name="TextBox 18"/>
          <p:cNvSpPr txBox="1"/>
          <p:nvPr/>
        </p:nvSpPr>
        <p:spPr>
          <a:xfrm>
            <a:off x="2240280" y="4892040"/>
            <a:ext cx="5349240" cy="1691640"/>
          </a:xfrm>
          <a:prstGeom prst="rect">
            <a:avLst/>
          </a:prstGeom>
          <a:noFill/>
        </p:spPr>
        <p:txBody>
          <a:bodyPr wrap="square" lIns="0" tIns="0" rIns="0" bIns="0" anchor="ctr">
            <a:noAutofit/>
          </a:bodyPr>
          <a:lstStyle/>
          <a:p>
            <a:pPr algn="l">
              <a:lnSpc>
                <a:spcPct val="100000"/>
              </a:lnSpc>
              <a:spcAft>
                <a:spcPts val="200"/>
              </a:spcAft>
            </a:pPr>
            <a:r>
              <a:rPr sz="1900" b="1" i="0">
                <a:solidFill>
                  <a:srgbClr val="C98A12"/>
                </a:solidFill>
                <a:latin typeface="ITC Avant Garde Gothic"/>
                <a:ea typeface="ITC Avant Garde Gothic"/>
                <a:cs typeface="ITC Avant Garde Gothic"/>
              </a:rPr>
              <a:t>School open space</a:t>
            </a:r>
          </a:p>
          <a:p>
            <a:pPr algn="l">
              <a:lnSpc>
                <a:spcPct val="100000"/>
              </a:lnSpc>
              <a:spcAft>
                <a:spcPts val="200"/>
              </a:spcAft>
            </a:pPr>
            <a:r>
              <a:rPr sz="1600" b="0" i="0">
                <a:solidFill>
                  <a:srgbClr val="262626"/>
                </a:solidFill>
                <a:latin typeface="ITC Avant Garde Gothic"/>
                <a:ea typeface="ITC Avant Garde Gothic"/>
                <a:cs typeface="ITC Avant Garde Gothic"/>
              </a:rPr>
              <a:t>Gymnasium, covered court, multipurpose hall</a:t>
            </a:r>
          </a:p>
          <a:p>
            <a:pPr algn="l">
              <a:lnSpc>
                <a:spcPct val="100000"/>
              </a:lnSpc>
            </a:pPr>
            <a:r>
              <a:rPr sz="1500" b="1" i="0">
                <a:solidFill>
                  <a:srgbClr val="5E5E5E"/>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When tier 0 is full</a:t>
            </a:r>
          </a:p>
        </p:txBody>
      </p:sp>
      <p:sp>
        <p:nvSpPr>
          <p:cNvPr id="20" name="Rounded Rectangle 19"/>
          <p:cNvSpPr/>
          <p:nvPr/>
        </p:nvSpPr>
        <p:spPr>
          <a:xfrm>
            <a:off x="548640" y="6903720"/>
            <a:ext cx="7223760" cy="1874520"/>
          </a:xfrm>
          <a:prstGeom prst="roundRect">
            <a:avLst>
              <a:gd name="adj" fmla="val 682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1" name="Rounded Rectangle 20"/>
          <p:cNvSpPr/>
          <p:nvPr/>
        </p:nvSpPr>
        <p:spPr>
          <a:xfrm>
            <a:off x="548640" y="6903720"/>
            <a:ext cx="1463040" cy="1874520"/>
          </a:xfrm>
          <a:prstGeom prst="roundRect">
            <a:avLst>
              <a:gd name="adj" fmla="val 8750"/>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22" name="Rectangle 21"/>
          <p:cNvSpPr/>
          <p:nvPr/>
        </p:nvSpPr>
        <p:spPr>
          <a:xfrm>
            <a:off x="1737360" y="6903720"/>
            <a:ext cx="274320" cy="1874520"/>
          </a:xfrm>
          <a:prstGeom prst="rect">
            <a:avLst/>
          </a:prstGeom>
          <a:solidFill>
            <a:srgbClr val="8B0707"/>
          </a:solidFill>
          <a:ln>
            <a:noFill/>
          </a:ln>
          <a:effectLst/>
        </p:spPr>
        <p:txBody>
          <a:bodyPr rtlCol="0" anchor="ctr"/>
          <a:lstStyle/>
          <a:p>
            <a:pPr algn="ctr"/>
          </a:p>
        </p:txBody>
      </p:sp>
      <p:sp>
        <p:nvSpPr>
          <p:cNvPr id="23" name="TextBox 22"/>
          <p:cNvSpPr txBox="1"/>
          <p:nvPr/>
        </p:nvSpPr>
        <p:spPr>
          <a:xfrm>
            <a:off x="548640" y="6903720"/>
            <a:ext cx="1463040" cy="187452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Tier 2</a:t>
            </a:r>
          </a:p>
        </p:txBody>
      </p:sp>
      <p:sp>
        <p:nvSpPr>
          <p:cNvPr id="24" name="TextBox 23"/>
          <p:cNvSpPr txBox="1"/>
          <p:nvPr/>
        </p:nvSpPr>
        <p:spPr>
          <a:xfrm>
            <a:off x="2240280" y="6995160"/>
            <a:ext cx="5349240" cy="1691640"/>
          </a:xfrm>
          <a:prstGeom prst="rect">
            <a:avLst/>
          </a:prstGeom>
          <a:noFill/>
        </p:spPr>
        <p:txBody>
          <a:bodyPr wrap="square" lIns="0" tIns="0" rIns="0" bIns="0" anchor="ctr">
            <a:noAutofit/>
          </a:bodyPr>
          <a:lstStyle/>
          <a:p>
            <a:pPr algn="l">
              <a:lnSpc>
                <a:spcPct val="100000"/>
              </a:lnSpc>
              <a:spcAft>
                <a:spcPts val="200"/>
              </a:spcAft>
            </a:pPr>
            <a:r>
              <a:rPr sz="1900" b="1" i="0">
                <a:solidFill>
                  <a:srgbClr val="8B0707"/>
                </a:solidFill>
                <a:latin typeface="ITC Avant Garde Gothic"/>
                <a:ea typeface="ITC Avant Garde Gothic"/>
                <a:cs typeface="ITC Avant Garde Gothic"/>
              </a:rPr>
              <a:t>Classrooms</a:t>
            </a:r>
          </a:p>
          <a:p>
            <a:pPr algn="l">
              <a:lnSpc>
                <a:spcPct val="100000"/>
              </a:lnSpc>
              <a:spcAft>
                <a:spcPts val="200"/>
              </a:spcAft>
            </a:pPr>
            <a:r>
              <a:rPr sz="1600" b="0" i="0">
                <a:solidFill>
                  <a:srgbClr val="262626"/>
                </a:solidFill>
                <a:latin typeface="ITC Avant Garde Gothic"/>
                <a:ea typeface="ITC Avant Garde Gothic"/>
                <a:cs typeface="ITC Avant Garde Gothic"/>
              </a:rPr>
              <a:t>18 persons per room (63 m² ÷ 3.5 m²)</a:t>
            </a:r>
          </a:p>
          <a:p>
            <a:pPr algn="l">
              <a:lnSpc>
                <a:spcPct val="100000"/>
              </a:lnSpc>
            </a:pPr>
            <a:r>
              <a:rPr sz="1500" b="1" i="0">
                <a:solidFill>
                  <a:srgbClr val="5E5E5E"/>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Last resort: each room closes a class</a:t>
            </a:r>
          </a:p>
        </p:txBody>
      </p:sp>
      <p:sp>
        <p:nvSpPr>
          <p:cNvPr id="25" name="TextBox 24"/>
          <p:cNvSpPr txBox="1"/>
          <p:nvPr/>
        </p:nvSpPr>
        <p:spPr>
          <a:xfrm>
            <a:off x="548640" y="9034272"/>
            <a:ext cx="7223760" cy="82296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Vulnerable evacuees go only to accessible shelters; trips longer than 120 minutes and shelters inside active zones are excluded.</a:t>
            </a:r>
          </a:p>
        </p:txBody>
      </p:sp>
      <p:sp>
        <p:nvSpPr>
          <p:cNvPr id="26" name="Rounded Rectangle 25"/>
          <p:cNvSpPr/>
          <p:nvPr/>
        </p:nvSpPr>
        <p:spPr>
          <a:xfrm>
            <a:off x="8138160" y="2697480"/>
            <a:ext cx="9601200" cy="7132320"/>
          </a:xfrm>
          <a:prstGeom prst="roundRect">
            <a:avLst>
              <a:gd name="adj" fmla="val 1794"/>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7" name="TextBox 26"/>
          <p:cNvSpPr txBox="1"/>
          <p:nvPr/>
        </p:nvSpPr>
        <p:spPr>
          <a:xfrm>
            <a:off x="8458200" y="2834640"/>
            <a:ext cx="9052560" cy="457200"/>
          </a:xfrm>
          <a:prstGeom prst="rect">
            <a:avLst/>
          </a:prstGeom>
          <a:noFill/>
        </p:spPr>
        <p:txBody>
          <a:bodyPr wrap="square" lIns="0" tIns="0" rIns="0" bIns="0" anchor="t">
            <a:noAutofit/>
          </a:bodyPr>
          <a:lstStyle/>
          <a:p>
            <a:pPr algn="l">
              <a:lnSpc>
                <a:spcPct val="100000"/>
              </a:lnSpc>
            </a:pPr>
            <a:r>
              <a:rPr sz="1900" b="1" i="0">
                <a:solidFill>
                  <a:srgbClr val="8B0707"/>
                </a:solidFill>
                <a:latin typeface="ITC Avant Garde Gothic"/>
                <a:ea typeface="ITC Avant Garde Gothic"/>
                <a:cs typeface="ITC Avant Garde Gothic"/>
              </a:rPr>
              <a:t>Lexicographic order (Definition 8)</a:t>
            </a:r>
          </a:p>
        </p:txBody>
      </p:sp>
      <p:pic>
        <p:nvPicPr>
          <p:cNvPr id="28" name="Picture 27" descr="d_lex.png"/>
          <p:cNvPicPr>
            <a:picLocks noChangeAspect="1"/>
          </p:cNvPicPr>
          <p:nvPr/>
        </p:nvPicPr>
        <p:blipFill>
          <a:blip r:embed="rId3"/>
          <a:stretch>
            <a:fillRect/>
          </a:stretch>
        </p:blipFill>
        <p:spPr>
          <a:xfrm>
            <a:off x="9317736" y="3401568"/>
            <a:ext cx="7242048" cy="294894"/>
          </a:xfrm>
          <a:prstGeom prst="rect">
            <a:avLst/>
          </a:prstGeom>
        </p:spPr>
      </p:pic>
      <p:sp>
        <p:nvSpPr>
          <p:cNvPr id="29" name="Rounded Rectangle 28"/>
          <p:cNvSpPr/>
          <p:nvPr/>
        </p:nvSpPr>
        <p:spPr>
          <a:xfrm>
            <a:off x="8412480" y="3977640"/>
            <a:ext cx="1722730" cy="914400"/>
          </a:xfrm>
          <a:prstGeom prst="roundRect">
            <a:avLst>
              <a:gd name="adj" fmla="val 10000"/>
            </a:avLst>
          </a:prstGeom>
          <a:solidFill>
            <a:srgbClr val="FBF3F3"/>
          </a:solidFill>
          <a:ln>
            <a:noFill/>
          </a:ln>
          <a:effectLst/>
        </p:spPr>
        <p:txBody>
          <a:bodyPr rtlCol="0" anchor="ctr"/>
          <a:lstStyle/>
          <a:p>
            <a:pPr algn="ctr"/>
          </a:p>
        </p:txBody>
      </p:sp>
      <p:sp>
        <p:nvSpPr>
          <p:cNvPr id="30" name="TextBox 29"/>
          <p:cNvSpPr txBox="1"/>
          <p:nvPr/>
        </p:nvSpPr>
        <p:spPr>
          <a:xfrm>
            <a:off x="8467344" y="3977640"/>
            <a:ext cx="1613002" cy="914400"/>
          </a:xfrm>
          <a:prstGeom prst="rect">
            <a:avLst/>
          </a:prstGeom>
          <a:noFill/>
        </p:spPr>
        <p:txBody>
          <a:bodyPr wrap="square" lIns="0" tIns="0" rIns="0" bIns="0" anchor="ctr">
            <a:noAutofit/>
          </a:bodyPr>
          <a:lstStyle/>
          <a:p>
            <a:pPr algn="ctr">
              <a:lnSpc>
                <a:spcPct val="100000"/>
              </a:lnSpc>
            </a:pPr>
            <a:r>
              <a:rPr sz="1400" b="1" i="0">
                <a:solidFill>
                  <a:srgbClr val="8B0707"/>
                </a:solidFill>
                <a:latin typeface="ITC Avant Garde Gothic"/>
                <a:ea typeface="ITC Avant Garde Gothic"/>
                <a:cs typeface="ITC Avant Garde Gothic"/>
              </a:rPr>
              <a:t>1  </a:t>
            </a:r>
            <a:r>
              <a:rPr sz="1400" b="0" i="0">
                <a:solidFill>
                  <a:srgbClr val="262626"/>
                </a:solidFill>
                <a:latin typeface="ITC Avant Garde Gothic"/>
                <a:ea typeface="ITC Avant Garde Gothic"/>
                <a:cs typeface="ITC Avant Garde Gothic"/>
              </a:rPr>
              <a:t>Most vulnerable placed</a:t>
            </a:r>
          </a:p>
        </p:txBody>
      </p:sp>
      <p:sp>
        <p:nvSpPr>
          <p:cNvPr id="31" name="Rounded Rectangle 30"/>
          <p:cNvSpPr/>
          <p:nvPr/>
        </p:nvSpPr>
        <p:spPr>
          <a:xfrm>
            <a:off x="10244938" y="3977640"/>
            <a:ext cx="1722730" cy="914400"/>
          </a:xfrm>
          <a:prstGeom prst="roundRect">
            <a:avLst>
              <a:gd name="adj" fmla="val 10000"/>
            </a:avLst>
          </a:prstGeom>
          <a:solidFill>
            <a:srgbClr val="FBF3F3"/>
          </a:solidFill>
          <a:ln>
            <a:noFill/>
          </a:ln>
          <a:effectLst/>
        </p:spPr>
        <p:txBody>
          <a:bodyPr rtlCol="0" anchor="ctr"/>
          <a:lstStyle/>
          <a:p>
            <a:pPr algn="ctr"/>
          </a:p>
        </p:txBody>
      </p:sp>
      <p:sp>
        <p:nvSpPr>
          <p:cNvPr id="32" name="TextBox 31"/>
          <p:cNvSpPr txBox="1"/>
          <p:nvPr/>
        </p:nvSpPr>
        <p:spPr>
          <a:xfrm>
            <a:off x="10299802" y="3977640"/>
            <a:ext cx="1613002" cy="914400"/>
          </a:xfrm>
          <a:prstGeom prst="rect">
            <a:avLst/>
          </a:prstGeom>
          <a:noFill/>
        </p:spPr>
        <p:txBody>
          <a:bodyPr wrap="square" lIns="0" tIns="0" rIns="0" bIns="0" anchor="ctr">
            <a:noAutofit/>
          </a:bodyPr>
          <a:lstStyle/>
          <a:p>
            <a:pPr algn="ctr">
              <a:lnSpc>
                <a:spcPct val="100000"/>
              </a:lnSpc>
            </a:pPr>
            <a:r>
              <a:rPr sz="1400" b="1" i="0">
                <a:solidFill>
                  <a:srgbClr val="8B0707"/>
                </a:solidFill>
                <a:latin typeface="ITC Avant Garde Gothic"/>
                <a:ea typeface="ITC Avant Garde Gothic"/>
                <a:cs typeface="ITC Avant Garde Gothic"/>
              </a:rPr>
              <a:t>2  </a:t>
            </a:r>
            <a:r>
              <a:rPr sz="1400" b="0" i="0">
                <a:solidFill>
                  <a:srgbClr val="262626"/>
                </a:solidFill>
                <a:latin typeface="ITC Avant Garde Gothic"/>
                <a:ea typeface="ITC Avant Garde Gothic"/>
                <a:cs typeface="ITC Avant Garde Gothic"/>
              </a:rPr>
              <a:t>Most people placed</a:t>
            </a:r>
          </a:p>
        </p:txBody>
      </p:sp>
      <p:sp>
        <p:nvSpPr>
          <p:cNvPr id="33" name="Rounded Rectangle 32"/>
          <p:cNvSpPr/>
          <p:nvPr/>
        </p:nvSpPr>
        <p:spPr>
          <a:xfrm>
            <a:off x="12077395" y="3977640"/>
            <a:ext cx="1722730" cy="914400"/>
          </a:xfrm>
          <a:prstGeom prst="roundRect">
            <a:avLst>
              <a:gd name="adj" fmla="val 10000"/>
            </a:avLst>
          </a:prstGeom>
          <a:solidFill>
            <a:srgbClr val="FBF3F3"/>
          </a:solidFill>
          <a:ln>
            <a:noFill/>
          </a:ln>
          <a:effectLst/>
        </p:spPr>
        <p:txBody>
          <a:bodyPr rtlCol="0" anchor="ctr"/>
          <a:lstStyle/>
          <a:p>
            <a:pPr algn="ctr"/>
          </a:p>
        </p:txBody>
      </p:sp>
      <p:sp>
        <p:nvSpPr>
          <p:cNvPr id="34" name="TextBox 33"/>
          <p:cNvSpPr txBox="1"/>
          <p:nvPr/>
        </p:nvSpPr>
        <p:spPr>
          <a:xfrm>
            <a:off x="12132259" y="3977640"/>
            <a:ext cx="1613002" cy="914400"/>
          </a:xfrm>
          <a:prstGeom prst="rect">
            <a:avLst/>
          </a:prstGeom>
          <a:noFill/>
        </p:spPr>
        <p:txBody>
          <a:bodyPr wrap="square" lIns="0" tIns="0" rIns="0" bIns="0" anchor="ctr">
            <a:noAutofit/>
          </a:bodyPr>
          <a:lstStyle/>
          <a:p>
            <a:pPr algn="ctr">
              <a:lnSpc>
                <a:spcPct val="100000"/>
              </a:lnSpc>
            </a:pPr>
            <a:r>
              <a:rPr sz="1400" b="1" i="0">
                <a:solidFill>
                  <a:srgbClr val="8B0707"/>
                </a:solidFill>
                <a:latin typeface="ITC Avant Garde Gothic"/>
                <a:ea typeface="ITC Avant Garde Gothic"/>
                <a:cs typeface="ITC Avant Garde Gothic"/>
              </a:rPr>
              <a:t>3  </a:t>
            </a:r>
            <a:r>
              <a:rPr sz="1400" b="0" i="0">
                <a:solidFill>
                  <a:srgbClr val="262626"/>
                </a:solidFill>
                <a:latin typeface="ITC Avant Garde Gothic"/>
                <a:ea typeface="ITC Avant Garde Gothic"/>
                <a:cs typeface="ITC Avant Garde Gothic"/>
              </a:rPr>
              <a:t>Fewest in classrooms</a:t>
            </a:r>
          </a:p>
        </p:txBody>
      </p:sp>
      <p:sp>
        <p:nvSpPr>
          <p:cNvPr id="35" name="Rounded Rectangle 34"/>
          <p:cNvSpPr/>
          <p:nvPr/>
        </p:nvSpPr>
        <p:spPr>
          <a:xfrm>
            <a:off x="13909853" y="3977640"/>
            <a:ext cx="1722730" cy="914400"/>
          </a:xfrm>
          <a:prstGeom prst="roundRect">
            <a:avLst>
              <a:gd name="adj" fmla="val 10000"/>
            </a:avLst>
          </a:prstGeom>
          <a:solidFill>
            <a:srgbClr val="FBF3F3"/>
          </a:solidFill>
          <a:ln>
            <a:noFill/>
          </a:ln>
          <a:effectLst/>
        </p:spPr>
        <p:txBody>
          <a:bodyPr rtlCol="0" anchor="ctr"/>
          <a:lstStyle/>
          <a:p>
            <a:pPr algn="ctr"/>
          </a:p>
        </p:txBody>
      </p:sp>
      <p:sp>
        <p:nvSpPr>
          <p:cNvPr id="36" name="TextBox 35"/>
          <p:cNvSpPr txBox="1"/>
          <p:nvPr/>
        </p:nvSpPr>
        <p:spPr>
          <a:xfrm>
            <a:off x="13964717" y="3977640"/>
            <a:ext cx="1613002" cy="914400"/>
          </a:xfrm>
          <a:prstGeom prst="rect">
            <a:avLst/>
          </a:prstGeom>
          <a:noFill/>
        </p:spPr>
        <p:txBody>
          <a:bodyPr wrap="square" lIns="0" tIns="0" rIns="0" bIns="0" anchor="ctr">
            <a:noAutofit/>
          </a:bodyPr>
          <a:lstStyle/>
          <a:p>
            <a:pPr algn="ctr">
              <a:lnSpc>
                <a:spcPct val="100000"/>
              </a:lnSpc>
            </a:pPr>
            <a:r>
              <a:rPr sz="1400" b="1" i="0">
                <a:solidFill>
                  <a:srgbClr val="8B0707"/>
                </a:solidFill>
                <a:latin typeface="ITC Avant Garde Gothic"/>
                <a:ea typeface="ITC Avant Garde Gothic"/>
                <a:cs typeface="ITC Avant Garde Gothic"/>
              </a:rPr>
              <a:t>4  </a:t>
            </a:r>
            <a:r>
              <a:rPr sz="1400" b="0" i="0">
                <a:solidFill>
                  <a:srgbClr val="262626"/>
                </a:solidFill>
                <a:latin typeface="ITC Avant Garde Gothic"/>
                <a:ea typeface="ITC Avant Garde Gothic"/>
                <a:cs typeface="ITC Avant Garde Gothic"/>
              </a:rPr>
              <a:t>Fewest in school open space</a:t>
            </a:r>
          </a:p>
        </p:txBody>
      </p:sp>
      <p:sp>
        <p:nvSpPr>
          <p:cNvPr id="37" name="Rounded Rectangle 36"/>
          <p:cNvSpPr/>
          <p:nvPr/>
        </p:nvSpPr>
        <p:spPr>
          <a:xfrm>
            <a:off x="15742310" y="3977640"/>
            <a:ext cx="1722730" cy="914400"/>
          </a:xfrm>
          <a:prstGeom prst="roundRect">
            <a:avLst>
              <a:gd name="adj" fmla="val 10000"/>
            </a:avLst>
          </a:prstGeom>
          <a:solidFill>
            <a:srgbClr val="FBF3F3"/>
          </a:solidFill>
          <a:ln>
            <a:noFill/>
          </a:ln>
          <a:effectLst/>
        </p:spPr>
        <p:txBody>
          <a:bodyPr rtlCol="0" anchor="ctr"/>
          <a:lstStyle/>
          <a:p>
            <a:pPr algn="ctr"/>
          </a:p>
        </p:txBody>
      </p:sp>
      <p:sp>
        <p:nvSpPr>
          <p:cNvPr id="38" name="TextBox 37"/>
          <p:cNvSpPr txBox="1"/>
          <p:nvPr/>
        </p:nvSpPr>
        <p:spPr>
          <a:xfrm>
            <a:off x="15797174" y="3977640"/>
            <a:ext cx="1613002" cy="914400"/>
          </a:xfrm>
          <a:prstGeom prst="rect">
            <a:avLst/>
          </a:prstGeom>
          <a:noFill/>
        </p:spPr>
        <p:txBody>
          <a:bodyPr wrap="square" lIns="0" tIns="0" rIns="0" bIns="0" anchor="ctr">
            <a:noAutofit/>
          </a:bodyPr>
          <a:lstStyle/>
          <a:p>
            <a:pPr algn="ctr">
              <a:lnSpc>
                <a:spcPct val="100000"/>
              </a:lnSpc>
            </a:pPr>
            <a:r>
              <a:rPr sz="1400" b="1" i="0">
                <a:solidFill>
                  <a:srgbClr val="8B0707"/>
                </a:solidFill>
                <a:latin typeface="ITC Avant Garde Gothic"/>
                <a:ea typeface="ITC Avant Garde Gothic"/>
                <a:cs typeface="ITC Avant Garde Gothic"/>
              </a:rPr>
              <a:t>5  </a:t>
            </a:r>
            <a:r>
              <a:rPr sz="1400" b="0" i="0">
                <a:solidFill>
                  <a:srgbClr val="262626"/>
                </a:solidFill>
                <a:latin typeface="ITC Avant Garde Gothic"/>
                <a:ea typeface="ITC Avant Garde Gothic"/>
                <a:cs typeface="ITC Avant Garde Gothic"/>
              </a:rPr>
              <a:t>Least travel</a:t>
            </a:r>
          </a:p>
        </p:txBody>
      </p:sp>
      <p:sp>
        <p:nvSpPr>
          <p:cNvPr id="39" name="TextBox 38"/>
          <p:cNvSpPr txBox="1"/>
          <p:nvPr/>
        </p:nvSpPr>
        <p:spPr>
          <a:xfrm>
            <a:off x="8458200" y="5120640"/>
            <a:ext cx="9052560" cy="411480"/>
          </a:xfrm>
          <a:prstGeom prst="rect">
            <a:avLst/>
          </a:prstGeom>
          <a:noFill/>
        </p:spPr>
        <p:txBody>
          <a:bodyPr wrap="square" lIns="0" tIns="0" rIns="0" bIns="0" anchor="t">
            <a:noAutofit/>
          </a:bodyPr>
          <a:lstStyle/>
          <a:p>
            <a:pPr algn="l">
              <a:lnSpc>
                <a:spcPct val="100000"/>
              </a:lnSpc>
            </a:pPr>
            <a:r>
              <a:rPr sz="1600" b="1" i="0">
                <a:solidFill>
                  <a:srgbClr val="262626"/>
                </a:solidFill>
                <a:latin typeface="ITC Avant Garde Gothic"/>
                <a:ea typeface="ITC Avant Garde Gothic"/>
                <a:cs typeface="ITC Avant Garde Gothic"/>
              </a:rPr>
              <a:t>Penalties make one person out of a classroom outweigh any travel (Prop. 3)</a:t>
            </a:r>
          </a:p>
        </p:txBody>
      </p:sp>
      <p:pic>
        <p:nvPicPr>
          <p:cNvPr id="40" name="Picture 39" descr="d_pen.png"/>
          <p:cNvPicPr>
            <a:picLocks noChangeAspect="1"/>
          </p:cNvPicPr>
          <p:nvPr/>
        </p:nvPicPr>
        <p:blipFill>
          <a:blip r:embed="rId4"/>
          <a:stretch>
            <a:fillRect/>
          </a:stretch>
        </p:blipFill>
        <p:spPr>
          <a:xfrm>
            <a:off x="9779508" y="5596128"/>
            <a:ext cx="6318504" cy="304800"/>
          </a:xfrm>
          <a:prstGeom prst="rect">
            <a:avLst/>
          </a:prstGeom>
        </p:spPr>
      </p:pic>
      <p:pic>
        <p:nvPicPr>
          <p:cNvPr id="41" name="Picture 40" descr="d_cost.png"/>
          <p:cNvPicPr>
            <a:picLocks noChangeAspect="1"/>
          </p:cNvPicPr>
          <p:nvPr/>
        </p:nvPicPr>
        <p:blipFill>
          <a:blip r:embed="rId5"/>
          <a:stretch>
            <a:fillRect/>
          </a:stretch>
        </p:blipFill>
        <p:spPr>
          <a:xfrm>
            <a:off x="9907524" y="6053328"/>
            <a:ext cx="6062472" cy="304800"/>
          </a:xfrm>
          <a:prstGeom prst="rect">
            <a:avLst/>
          </a:prstGeom>
        </p:spPr>
      </p:pic>
      <p:sp>
        <p:nvSpPr>
          <p:cNvPr id="42" name="TextBox 41"/>
          <p:cNvSpPr txBox="1"/>
          <p:nvPr/>
        </p:nvSpPr>
        <p:spPr>
          <a:xfrm>
            <a:off x="8458200" y="6675120"/>
            <a:ext cx="9052560" cy="411480"/>
          </a:xfrm>
          <a:prstGeom prst="rect">
            <a:avLst/>
          </a:prstGeom>
          <a:noFill/>
        </p:spPr>
        <p:txBody>
          <a:bodyPr wrap="square" lIns="0" tIns="0" rIns="0" bIns="0" anchor="t">
            <a:noAutofit/>
          </a:bodyPr>
          <a:lstStyle/>
          <a:p>
            <a:pPr algn="l">
              <a:lnSpc>
                <a:spcPct val="100000"/>
              </a:lnSpc>
            </a:pPr>
            <a:r>
              <a:rPr sz="1600" b="1" i="0">
                <a:solidFill>
                  <a:srgbClr val="262626"/>
                </a:solidFill>
                <a:latin typeface="ITC Avant Garde Gothic"/>
                <a:ea typeface="ITC Avant Garde Gothic"/>
                <a:cs typeface="ITC Avant Garde Gothic"/>
              </a:rPr>
              <a:t>Packing fills one classroom before opening the next (Def. 9, Prop. 4)</a:t>
            </a:r>
          </a:p>
        </p:txBody>
      </p:sp>
      <p:pic>
        <p:nvPicPr>
          <p:cNvPr id="43" name="Picture 42" descr="d_pack.png"/>
          <p:cNvPicPr>
            <a:picLocks noChangeAspect="1"/>
          </p:cNvPicPr>
          <p:nvPr/>
        </p:nvPicPr>
        <p:blipFill>
          <a:blip r:embed="rId6"/>
          <a:stretch>
            <a:fillRect/>
          </a:stretch>
        </p:blipFill>
        <p:spPr>
          <a:xfrm>
            <a:off x="10997184" y="7114032"/>
            <a:ext cx="3883152" cy="704088"/>
          </a:xfrm>
          <a:prstGeom prst="rect">
            <a:avLst/>
          </a:prstGeom>
        </p:spPr>
      </p:pic>
      <p:sp>
        <p:nvSpPr>
          <p:cNvPr id="44" name="Rounded Rectangle 43"/>
          <p:cNvSpPr/>
          <p:nvPr/>
        </p:nvSpPr>
        <p:spPr>
          <a:xfrm>
            <a:off x="8412480" y="8183880"/>
            <a:ext cx="9052560" cy="1463040"/>
          </a:xfrm>
          <a:prstGeom prst="roundRect">
            <a:avLst>
              <a:gd name="adj" fmla="val 8750"/>
            </a:avLst>
          </a:prstGeom>
          <a:solidFill>
            <a:srgbClr val="8B0707"/>
          </a:solidFill>
          <a:ln>
            <a:noFill/>
          </a:ln>
          <a:effectLst/>
        </p:spPr>
        <p:txBody>
          <a:bodyPr rtlCol="0" anchor="ctr"/>
          <a:lstStyle/>
          <a:p>
            <a:pPr algn="ctr"/>
          </a:p>
        </p:txBody>
      </p:sp>
      <p:sp>
        <p:nvSpPr>
          <p:cNvPr id="45" name="TextBox 44"/>
          <p:cNvSpPr txBox="1"/>
          <p:nvPr/>
        </p:nvSpPr>
        <p:spPr>
          <a:xfrm>
            <a:off x="8595360" y="8183880"/>
            <a:ext cx="8686800" cy="1463040"/>
          </a:xfrm>
          <a:prstGeom prst="rect">
            <a:avLst/>
          </a:prstGeom>
          <a:noFill/>
        </p:spPr>
        <p:txBody>
          <a:bodyPr wrap="square" lIns="0" tIns="0" rIns="0" bIns="0" anchor="ctr">
            <a:noAutofit/>
          </a:bodyPr>
          <a:lstStyle/>
          <a:p>
            <a:pPr algn="l" marL="292608" indent="-292608">
              <a:lnSpc>
                <a:spcPct val="100000"/>
              </a:lnSpc>
              <a:spcAft>
                <a:spcPts val="300"/>
              </a:spcAft>
              <a:buClr>
                <a:srgbClr val="F0C04A"/>
              </a:buClr>
              <a:buSzPct val="100000"/>
              <a:buFont typeface="Arial"/>
              <a:buChar char="•"/>
            </a:pPr>
            <a:r>
              <a:rPr sz="1600" b="0" i="0">
                <a:solidFill>
                  <a:srgbClr val="FFFFFF"/>
                </a:solidFill>
                <a:latin typeface="ITC Avant Garde Gothic"/>
                <a:ea typeface="ITC Avant Garde Gothic"/>
                <a:cs typeface="ITC Avant Garde Gothic"/>
              </a:rPr>
              <a:t>Whole persons, by total unimodularity: no evacuee is split (Prop. 1)</a:t>
            </a:r>
          </a:p>
          <a:p>
            <a:pPr algn="l" marL="292608" indent="-292608">
              <a:lnSpc>
                <a:spcPct val="100000"/>
              </a:lnSpc>
              <a:spcAft>
                <a:spcPts val="300"/>
              </a:spcAft>
              <a:buClr>
                <a:srgbClr val="F0C04A"/>
              </a:buClr>
              <a:buSzPct val="100000"/>
              <a:buFont typeface="Arial"/>
              <a:buChar char="•"/>
            </a:pPr>
            <a:r>
              <a:rPr sz="1600" b="0" i="0">
                <a:solidFill>
                  <a:srgbClr val="FFFFFF"/>
                </a:solidFill>
                <a:latin typeface="ITC Avant Garde Gothic"/>
                <a:ea typeface="ITC Avant Garde Gothic"/>
                <a:cs typeface="ITC Avant Garde Gothic"/>
              </a:rPr>
              <a:t>Vulnerable first never costs anyone a place (Prop. 2)</a:t>
            </a:r>
          </a:p>
          <a:p>
            <a:pPr algn="l" marL="292608" indent="-292608">
              <a:lnSpc>
                <a:spcPct val="100000"/>
              </a:lnSpc>
              <a:buClr>
                <a:srgbClr val="F0C04A"/>
              </a:buClr>
              <a:buSzPct val="100000"/>
              <a:buFont typeface="Arial"/>
              <a:buChar char="•"/>
            </a:pPr>
            <a:r>
              <a:rPr sz="1600" b="0" i="0">
                <a:solidFill>
                  <a:srgbClr val="FFFFFF"/>
                </a:solidFill>
                <a:latin typeface="ITC Avant Garde Gothic"/>
                <a:ea typeface="ITC Avant Garde Gothic"/>
                <a:cs typeface="ITC Avant Garde Gothic"/>
              </a:rPr>
              <a:t>At most one extra classroom per school in use (Prop. 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487100"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METHODOLOGY</a:t>
            </a:r>
          </a:p>
        </p:txBody>
      </p:sp>
      <p:sp>
        <p:nvSpPr>
          <p:cNvPr id="8" name="Subtitle"/>
          <p:cNvSpPr txBox="1"/>
          <p:nvPr/>
        </p:nvSpPr>
        <p:spPr>
          <a:xfrm>
            <a:off x="14112550" y="18288"/>
            <a:ext cx="376397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Time, Bridges, and Siting</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One copy of the road network per minute gives the exact clearance time</a:t>
            </a:r>
          </a:p>
        </p:txBody>
      </p:sp>
      <p:sp>
        <p:nvSpPr>
          <p:cNvPr id="10" name="Rounded Rectangle 9"/>
          <p:cNvSpPr/>
          <p:nvPr/>
        </p:nvSpPr>
        <p:spPr>
          <a:xfrm>
            <a:off x="548640" y="2697480"/>
            <a:ext cx="5486400" cy="7132320"/>
          </a:xfrm>
          <a:prstGeom prst="roundRect">
            <a:avLst>
              <a:gd name="adj" fmla="val 233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Rounded Rectangle 10"/>
          <p:cNvSpPr/>
          <p:nvPr/>
        </p:nvSpPr>
        <p:spPr>
          <a:xfrm>
            <a:off x="548640" y="2697480"/>
            <a:ext cx="5486400" cy="868680"/>
          </a:xfrm>
          <a:prstGeom prst="roundRect">
            <a:avLst>
              <a:gd name="adj" fmla="val 14736"/>
            </a:avLst>
          </a:prstGeom>
          <a:solidFill>
            <a:srgbClr val="8B0707"/>
          </a:solidFill>
          <a:ln>
            <a:noFill/>
          </a:ln>
          <a:effectLst/>
        </p:spPr>
        <p:txBody>
          <a:bodyPr rtlCol="0" anchor="ctr"/>
          <a:lstStyle/>
          <a:p>
            <a:pPr algn="ctr"/>
          </a:p>
        </p:txBody>
      </p:sp>
      <p:sp>
        <p:nvSpPr>
          <p:cNvPr id="12" name="Rectangle 11"/>
          <p:cNvSpPr/>
          <p:nvPr/>
        </p:nvSpPr>
        <p:spPr>
          <a:xfrm>
            <a:off x="548640" y="3131820"/>
            <a:ext cx="5486400" cy="434340"/>
          </a:xfrm>
          <a:prstGeom prst="rect">
            <a:avLst/>
          </a:prstGeom>
          <a:solidFill>
            <a:srgbClr val="8B0707"/>
          </a:solidFill>
          <a:ln>
            <a:noFill/>
          </a:ln>
          <a:effectLst/>
        </p:spPr>
        <p:txBody>
          <a:bodyPr rtlCol="0" anchor="ctr"/>
          <a:lstStyle/>
          <a:p>
            <a:pPr algn="ctr"/>
          </a:p>
        </p:txBody>
      </p:sp>
      <p:pic>
        <p:nvPicPr>
          <p:cNvPr id="13" name="Picture 12" descr="w_timer.png"/>
          <p:cNvPicPr>
            <a:picLocks noChangeAspect="1"/>
          </p:cNvPicPr>
          <p:nvPr/>
        </p:nvPicPr>
        <p:blipFill>
          <a:blip r:embed="rId3"/>
          <a:stretch>
            <a:fillRect/>
          </a:stretch>
        </p:blipFill>
        <p:spPr>
          <a:xfrm>
            <a:off x="713232" y="2798064"/>
            <a:ext cx="667512" cy="667512"/>
          </a:xfrm>
          <a:prstGeom prst="rect">
            <a:avLst/>
          </a:prstGeom>
        </p:spPr>
      </p:pic>
      <p:sp>
        <p:nvSpPr>
          <p:cNvPr id="14" name="TextBox 13"/>
          <p:cNvSpPr txBox="1"/>
          <p:nvPr/>
        </p:nvSpPr>
        <p:spPr>
          <a:xfrm>
            <a:off x="1517904" y="2697480"/>
            <a:ext cx="4425696" cy="868680"/>
          </a:xfrm>
          <a:prstGeom prst="rect">
            <a:avLst/>
          </a:prstGeom>
          <a:noFill/>
        </p:spPr>
        <p:txBody>
          <a:bodyPr wrap="square" lIns="0" tIns="0" rIns="0" bIns="0" anchor="ctr">
            <a:noAutofit/>
          </a:bodyPr>
          <a:lstStyle/>
          <a:p>
            <a:pPr algn="l">
              <a:lnSpc>
                <a:spcPct val="100000"/>
              </a:lnSpc>
            </a:pPr>
            <a:r>
              <a:rPr sz="2100" b="1" i="0">
                <a:solidFill>
                  <a:srgbClr val="FFFFFF"/>
                </a:solidFill>
                <a:latin typeface="ITC Avant Garde Gothic"/>
                <a:ea typeface="ITC Avant Garde Gothic"/>
                <a:cs typeface="ITC Avant Garde Gothic"/>
              </a:rPr>
              <a:t>Clearance time</a:t>
            </a:r>
          </a:p>
        </p:txBody>
      </p:sp>
      <p:pic>
        <p:nvPicPr>
          <p:cNvPr id="15" name="Picture 14" descr="ten.png"/>
          <p:cNvPicPr>
            <a:picLocks noChangeAspect="1"/>
          </p:cNvPicPr>
          <p:nvPr/>
        </p:nvPicPr>
        <p:blipFill>
          <a:blip r:embed="rId4"/>
          <a:stretch>
            <a:fillRect/>
          </a:stretch>
        </p:blipFill>
        <p:spPr>
          <a:xfrm>
            <a:off x="731520" y="3657600"/>
            <a:ext cx="5120640" cy="2913468"/>
          </a:xfrm>
          <a:prstGeom prst="rect">
            <a:avLst/>
          </a:prstGeom>
        </p:spPr>
      </p:pic>
      <p:sp>
        <p:nvSpPr>
          <p:cNvPr id="16" name="TextBox 15"/>
          <p:cNvSpPr txBox="1"/>
          <p:nvPr/>
        </p:nvSpPr>
        <p:spPr>
          <a:xfrm>
            <a:off x="777240" y="6629400"/>
            <a:ext cx="5029200" cy="365760"/>
          </a:xfrm>
          <a:prstGeom prst="rect">
            <a:avLst/>
          </a:prstGeom>
          <a:noFill/>
        </p:spPr>
        <p:txBody>
          <a:bodyPr wrap="square" lIns="0" tIns="0" rIns="0" bIns="0" anchor="t">
            <a:noAutofit/>
          </a:bodyPr>
          <a:lstStyle/>
          <a:p>
            <a:pPr algn="l">
              <a:lnSpc>
                <a:spcPct val="100000"/>
              </a:lnSpc>
            </a:pPr>
            <a:r>
              <a:rPr sz="1500" b="1" i="0">
                <a:solidFill>
                  <a:srgbClr val="262626"/>
                </a:solidFill>
                <a:latin typeface="ITC Avant Garde Gothic"/>
                <a:ea typeface="ITC Avant Garde Gothic"/>
                <a:cs typeface="ITC Avant Garde Gothic"/>
              </a:rPr>
              <a:t>Earliest minute everyone is sheltered (Def. 11)</a:t>
            </a:r>
          </a:p>
        </p:txBody>
      </p:sp>
      <p:pic>
        <p:nvPicPr>
          <p:cNvPr id="17" name="Picture 16" descr="d_clear.png"/>
          <p:cNvPicPr>
            <a:picLocks noChangeAspect="1"/>
          </p:cNvPicPr>
          <p:nvPr/>
        </p:nvPicPr>
        <p:blipFill>
          <a:blip r:embed="rId5"/>
          <a:stretch>
            <a:fillRect/>
          </a:stretch>
        </p:blipFill>
        <p:spPr>
          <a:xfrm>
            <a:off x="1272540" y="7059168"/>
            <a:ext cx="4038600" cy="313944"/>
          </a:xfrm>
          <a:prstGeom prst="rect">
            <a:avLst/>
          </a:prstGeom>
        </p:spPr>
      </p:pic>
      <p:sp>
        <p:nvSpPr>
          <p:cNvPr id="18" name="TextBox 17"/>
          <p:cNvSpPr txBox="1"/>
          <p:nvPr/>
        </p:nvSpPr>
        <p:spPr>
          <a:xfrm>
            <a:off x="777240" y="7589520"/>
            <a:ext cx="5029200" cy="365760"/>
          </a:xfrm>
          <a:prstGeom prst="rect">
            <a:avLst/>
          </a:prstGeom>
          <a:noFill/>
        </p:spPr>
        <p:txBody>
          <a:bodyPr wrap="square" lIns="0" tIns="0" rIns="0" bIns="0" anchor="t">
            <a:noAutofit/>
          </a:bodyPr>
          <a:lstStyle/>
          <a:p>
            <a:pPr algn="l">
              <a:lnSpc>
                <a:spcPct val="100000"/>
              </a:lnSpc>
            </a:pPr>
            <a:r>
              <a:rPr sz="1500" b="1" i="0">
                <a:solidFill>
                  <a:srgbClr val="262626"/>
                </a:solidFill>
                <a:latin typeface="ITC Avant Garde Gothic"/>
                <a:ea typeface="ITC Avant Garde Gothic"/>
                <a:cs typeface="ITC Avant Garde Gothic"/>
              </a:rPr>
              <a:t>Lower bound from one static flow (Prop. 8)</a:t>
            </a:r>
          </a:p>
        </p:txBody>
      </p:sp>
      <p:pic>
        <p:nvPicPr>
          <p:cNvPr id="19" name="Picture 18" descr="d_lb.png"/>
          <p:cNvPicPr>
            <a:picLocks noChangeAspect="1"/>
          </p:cNvPicPr>
          <p:nvPr/>
        </p:nvPicPr>
        <p:blipFill>
          <a:blip r:embed="rId6"/>
          <a:stretch>
            <a:fillRect/>
          </a:stretch>
        </p:blipFill>
        <p:spPr>
          <a:xfrm>
            <a:off x="1827276" y="8001000"/>
            <a:ext cx="2929128" cy="640080"/>
          </a:xfrm>
          <a:prstGeom prst="rect">
            <a:avLst/>
          </a:prstGeom>
        </p:spPr>
      </p:pic>
      <p:sp>
        <p:nvSpPr>
          <p:cNvPr id="20" name="TextBox 19"/>
          <p:cNvSpPr txBox="1"/>
          <p:nvPr/>
        </p:nvSpPr>
        <p:spPr>
          <a:xfrm>
            <a:off x="777240" y="8915400"/>
            <a:ext cx="5029200" cy="822960"/>
          </a:xfrm>
          <a:prstGeom prst="rect">
            <a:avLst/>
          </a:prstGeom>
          <a:noFill/>
        </p:spPr>
        <p:txBody>
          <a:bodyPr wrap="square" lIns="0" tIns="0" rIns="0" bIns="0" anchor="t">
            <a:noAutofit/>
          </a:bodyPr>
          <a:lstStyle/>
          <a:p>
            <a:pPr algn="l">
              <a:lnSpc>
                <a:spcPct val="100000"/>
              </a:lnSpc>
            </a:pPr>
            <a:r>
              <a:rPr sz="1500" b="0" i="0">
                <a:solidFill>
                  <a:srgbClr val="5E5E5E"/>
                </a:solidFill>
                <a:latin typeface="ITC Avant Garde Gothic"/>
                <a:ea typeface="ITC Avant Garde Gothic"/>
                <a:cs typeface="ITC Avant Garde Gothic"/>
              </a:rPr>
              <a:t>Bisection finds T* with about 2 log₂ T* max flows (Props. 6, 7)</a:t>
            </a:r>
          </a:p>
        </p:txBody>
      </p:sp>
      <p:sp>
        <p:nvSpPr>
          <p:cNvPr id="21" name="Rounded Rectangle 20"/>
          <p:cNvSpPr/>
          <p:nvPr/>
        </p:nvSpPr>
        <p:spPr>
          <a:xfrm>
            <a:off x="6400800" y="2697480"/>
            <a:ext cx="5486400" cy="7132320"/>
          </a:xfrm>
          <a:prstGeom prst="roundRect">
            <a:avLst>
              <a:gd name="adj" fmla="val 233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2" name="Rounded Rectangle 21"/>
          <p:cNvSpPr/>
          <p:nvPr/>
        </p:nvSpPr>
        <p:spPr>
          <a:xfrm>
            <a:off x="6400800" y="2697480"/>
            <a:ext cx="5486400" cy="868680"/>
          </a:xfrm>
          <a:prstGeom prst="roundRect">
            <a:avLst>
              <a:gd name="adj" fmla="val 14736"/>
            </a:avLst>
          </a:prstGeom>
          <a:solidFill>
            <a:srgbClr val="8B0707"/>
          </a:solidFill>
          <a:ln>
            <a:noFill/>
          </a:ln>
          <a:effectLst/>
        </p:spPr>
        <p:txBody>
          <a:bodyPr rtlCol="0" anchor="ctr"/>
          <a:lstStyle/>
          <a:p>
            <a:pPr algn="ctr"/>
          </a:p>
        </p:txBody>
      </p:sp>
      <p:sp>
        <p:nvSpPr>
          <p:cNvPr id="23" name="Rectangle 22"/>
          <p:cNvSpPr/>
          <p:nvPr/>
        </p:nvSpPr>
        <p:spPr>
          <a:xfrm>
            <a:off x="6400800" y="3131820"/>
            <a:ext cx="5486400" cy="434340"/>
          </a:xfrm>
          <a:prstGeom prst="rect">
            <a:avLst/>
          </a:prstGeom>
          <a:solidFill>
            <a:srgbClr val="8B0707"/>
          </a:solidFill>
          <a:ln>
            <a:noFill/>
          </a:ln>
          <a:effectLst/>
        </p:spPr>
        <p:txBody>
          <a:bodyPr rtlCol="0" anchor="ctr"/>
          <a:lstStyle/>
          <a:p>
            <a:pPr algn="ctr"/>
          </a:p>
        </p:txBody>
      </p:sp>
      <p:pic>
        <p:nvPicPr>
          <p:cNvPr id="24" name="Picture 23" descr="w_landslide.png"/>
          <p:cNvPicPr>
            <a:picLocks noChangeAspect="1"/>
          </p:cNvPicPr>
          <p:nvPr/>
        </p:nvPicPr>
        <p:blipFill>
          <a:blip r:embed="rId7"/>
          <a:stretch>
            <a:fillRect/>
          </a:stretch>
        </p:blipFill>
        <p:spPr>
          <a:xfrm>
            <a:off x="6565392" y="2798064"/>
            <a:ext cx="667512" cy="667512"/>
          </a:xfrm>
          <a:prstGeom prst="rect">
            <a:avLst/>
          </a:prstGeom>
        </p:spPr>
      </p:pic>
      <p:sp>
        <p:nvSpPr>
          <p:cNvPr id="25" name="TextBox 24"/>
          <p:cNvSpPr txBox="1"/>
          <p:nvPr/>
        </p:nvSpPr>
        <p:spPr>
          <a:xfrm>
            <a:off x="7370064" y="2697480"/>
            <a:ext cx="4425696" cy="868680"/>
          </a:xfrm>
          <a:prstGeom prst="rect">
            <a:avLst/>
          </a:prstGeom>
          <a:noFill/>
        </p:spPr>
        <p:txBody>
          <a:bodyPr wrap="square" lIns="0" tIns="0" rIns="0" bIns="0" anchor="ctr">
            <a:noAutofit/>
          </a:bodyPr>
          <a:lstStyle/>
          <a:p>
            <a:pPr algn="l">
              <a:lnSpc>
                <a:spcPct val="100000"/>
              </a:lnSpc>
            </a:pPr>
            <a:r>
              <a:rPr sz="2100" b="1" i="0">
                <a:solidFill>
                  <a:srgbClr val="FFFFFF"/>
                </a:solidFill>
                <a:latin typeface="ITC Avant Garde Gothic"/>
                <a:ea typeface="ITC Avant Garde Gothic"/>
                <a:cs typeface="ITC Avant Garde Gothic"/>
              </a:rPr>
              <a:t>Bridge closures</a:t>
            </a:r>
          </a:p>
        </p:txBody>
      </p:sp>
      <p:sp>
        <p:nvSpPr>
          <p:cNvPr id="26" name="TextBox 25"/>
          <p:cNvSpPr txBox="1"/>
          <p:nvPr/>
        </p:nvSpPr>
        <p:spPr>
          <a:xfrm>
            <a:off x="6629400" y="3794760"/>
            <a:ext cx="5029200" cy="365760"/>
          </a:xfrm>
          <a:prstGeom prst="rect">
            <a:avLst/>
          </a:prstGeom>
          <a:noFill/>
        </p:spPr>
        <p:txBody>
          <a:bodyPr wrap="square" lIns="0" tIns="0" rIns="0" bIns="0" anchor="t">
            <a:noAutofit/>
          </a:bodyPr>
          <a:lstStyle/>
          <a:p>
            <a:pPr algn="l">
              <a:lnSpc>
                <a:spcPct val="100000"/>
              </a:lnSpc>
            </a:pPr>
            <a:r>
              <a:rPr sz="1500" b="1" i="0">
                <a:solidFill>
                  <a:srgbClr val="262626"/>
                </a:solidFill>
                <a:latin typeface="ITC Avant Garde Gothic"/>
                <a:ea typeface="ITC Avant Garde Gothic"/>
                <a:cs typeface="ITC Avant Garde Gothic"/>
              </a:rPr>
              <a:t>Closure effect (Def. 12)</a:t>
            </a:r>
          </a:p>
        </p:txBody>
      </p:sp>
      <p:pic>
        <p:nvPicPr>
          <p:cNvPr id="27" name="Picture 26" descr="d_delta.png"/>
          <p:cNvPicPr>
            <a:picLocks noChangeAspect="1"/>
          </p:cNvPicPr>
          <p:nvPr/>
        </p:nvPicPr>
        <p:blipFill>
          <a:blip r:embed="rId8"/>
          <a:stretch>
            <a:fillRect/>
          </a:stretch>
        </p:blipFill>
        <p:spPr>
          <a:xfrm>
            <a:off x="7885176" y="4251960"/>
            <a:ext cx="2517648" cy="369824"/>
          </a:xfrm>
          <a:prstGeom prst="rect">
            <a:avLst/>
          </a:prstGeom>
        </p:spPr>
      </p:pic>
      <p:sp>
        <p:nvSpPr>
          <p:cNvPr id="28" name="TextBox 27"/>
          <p:cNvSpPr txBox="1"/>
          <p:nvPr/>
        </p:nvSpPr>
        <p:spPr>
          <a:xfrm>
            <a:off x="6675120" y="5029200"/>
            <a:ext cx="4983480" cy="3657600"/>
          </a:xfrm>
          <a:prstGeom prst="rect">
            <a:avLst/>
          </a:prstGeom>
          <a:noFill/>
        </p:spPr>
        <p:txBody>
          <a:bodyPr wrap="square" lIns="0" tIns="0" rIns="0" bIns="0" anchor="t">
            <a:noAutofit/>
          </a:bodyPr>
          <a:lstStyle/>
          <a:p>
            <a:pPr algn="l" marL="310896" indent="-310896">
              <a:lnSpc>
                <a:spcPct val="100000"/>
              </a:lnSpc>
              <a:spcAft>
                <a:spcPts val="1000"/>
              </a:spcAft>
              <a:buClr>
                <a:srgbClr val="8B0707"/>
              </a:buClr>
              <a:buSzPct val="100000"/>
              <a:buFont typeface="Arial"/>
              <a:buChar char="•"/>
            </a:pPr>
            <a:r>
              <a:rPr sz="1700" b="0" i="0">
                <a:solidFill>
                  <a:srgbClr val="262626"/>
                </a:solidFill>
                <a:latin typeface="ITC Avant Garde Gothic"/>
                <a:ea typeface="ITC Avant Garde Gothic"/>
                <a:cs typeface="ITC Avant Garde Gothic"/>
              </a:rPr>
              <a:t>A lahar closes every bridge over its channel at once, so whole channels are tested, not only single bridges</a:t>
            </a:r>
          </a:p>
          <a:p>
            <a:pPr algn="l" marL="310896" indent="-310896">
              <a:lnSpc>
                <a:spcPct val="100000"/>
              </a:lnSpc>
              <a:spcAft>
                <a:spcPts val="1000"/>
              </a:spcAft>
              <a:buClr>
                <a:srgbClr val="8B0707"/>
              </a:buClr>
              <a:buSzPct val="100000"/>
              <a:buFont typeface="Arial"/>
              <a:buChar char="•"/>
            </a:pPr>
            <a:r>
              <a:rPr sz="1700" b="0" i="0">
                <a:solidFill>
                  <a:srgbClr val="262626"/>
                </a:solidFill>
                <a:latin typeface="ITC Avant Garde Gothic"/>
                <a:ea typeface="ITC Avant Garde Gothic"/>
                <a:cs typeface="ITC Avant Garde Gothic"/>
              </a:rPr>
              <a:t>Prop. 9: closing roads never shortens the evacuation; adding shelters never adds classroom use</a:t>
            </a:r>
          </a:p>
          <a:p>
            <a:pPr algn="l" marL="310896" indent="-310896">
              <a:lnSpc>
                <a:spcPct val="100000"/>
              </a:lnSpc>
              <a:buClr>
                <a:srgbClr val="8B0707"/>
              </a:buClr>
              <a:buSzPct val="100000"/>
              <a:buFont typeface="Arial"/>
              <a:buChar char="•"/>
            </a:pPr>
            <a:r>
              <a:rPr sz="1700" b="0" i="0">
                <a:solidFill>
                  <a:srgbClr val="262626"/>
                </a:solidFill>
                <a:latin typeface="ITC Avant Garde Gothic"/>
                <a:ea typeface="ITC Avant Garde Gothic"/>
                <a:cs typeface="ITC Avant Garde Gothic"/>
              </a:rPr>
              <a:t>An infinite effect means residents are trapped: evacuate them before the rain, or build a shelter there</a:t>
            </a:r>
          </a:p>
        </p:txBody>
      </p:sp>
      <p:sp>
        <p:nvSpPr>
          <p:cNvPr id="29" name="Rounded Rectangle 28"/>
          <p:cNvSpPr/>
          <p:nvPr/>
        </p:nvSpPr>
        <p:spPr>
          <a:xfrm>
            <a:off x="12252960" y="2697480"/>
            <a:ext cx="5486400" cy="7132320"/>
          </a:xfrm>
          <a:prstGeom prst="roundRect">
            <a:avLst>
              <a:gd name="adj" fmla="val 233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0" name="Rounded Rectangle 29"/>
          <p:cNvSpPr/>
          <p:nvPr/>
        </p:nvSpPr>
        <p:spPr>
          <a:xfrm>
            <a:off x="12252960" y="2697480"/>
            <a:ext cx="5486400" cy="868680"/>
          </a:xfrm>
          <a:prstGeom prst="roundRect">
            <a:avLst>
              <a:gd name="adj" fmla="val 14736"/>
            </a:avLst>
          </a:prstGeom>
          <a:solidFill>
            <a:srgbClr val="8B0707"/>
          </a:solidFill>
          <a:ln>
            <a:noFill/>
          </a:ln>
          <a:effectLst/>
        </p:spPr>
        <p:txBody>
          <a:bodyPr rtlCol="0" anchor="ctr"/>
          <a:lstStyle/>
          <a:p>
            <a:pPr algn="ctr"/>
          </a:p>
        </p:txBody>
      </p:sp>
      <p:sp>
        <p:nvSpPr>
          <p:cNvPr id="31" name="Rectangle 30"/>
          <p:cNvSpPr/>
          <p:nvPr/>
        </p:nvSpPr>
        <p:spPr>
          <a:xfrm>
            <a:off x="12252960" y="3131820"/>
            <a:ext cx="5486400" cy="434340"/>
          </a:xfrm>
          <a:prstGeom prst="rect">
            <a:avLst/>
          </a:prstGeom>
          <a:solidFill>
            <a:srgbClr val="8B0707"/>
          </a:solidFill>
          <a:ln>
            <a:noFill/>
          </a:ln>
          <a:effectLst/>
        </p:spPr>
        <p:txBody>
          <a:bodyPr rtlCol="0" anchor="ctr"/>
          <a:lstStyle/>
          <a:p>
            <a:pPr algn="ctr"/>
          </a:p>
        </p:txBody>
      </p:sp>
      <p:pic>
        <p:nvPicPr>
          <p:cNvPr id="32" name="Picture 31" descr="w_night_shelter.png"/>
          <p:cNvPicPr>
            <a:picLocks noChangeAspect="1"/>
          </p:cNvPicPr>
          <p:nvPr/>
        </p:nvPicPr>
        <p:blipFill>
          <a:blip r:embed="rId9"/>
          <a:stretch>
            <a:fillRect/>
          </a:stretch>
        </p:blipFill>
        <p:spPr>
          <a:xfrm>
            <a:off x="12417552" y="2798064"/>
            <a:ext cx="667512" cy="667512"/>
          </a:xfrm>
          <a:prstGeom prst="rect">
            <a:avLst/>
          </a:prstGeom>
        </p:spPr>
      </p:pic>
      <p:sp>
        <p:nvSpPr>
          <p:cNvPr id="33" name="TextBox 32"/>
          <p:cNvSpPr txBox="1"/>
          <p:nvPr/>
        </p:nvSpPr>
        <p:spPr>
          <a:xfrm>
            <a:off x="13222224" y="2697480"/>
            <a:ext cx="4425696" cy="868680"/>
          </a:xfrm>
          <a:prstGeom prst="rect">
            <a:avLst/>
          </a:prstGeom>
          <a:noFill/>
        </p:spPr>
        <p:txBody>
          <a:bodyPr wrap="square" lIns="0" tIns="0" rIns="0" bIns="0" anchor="ctr">
            <a:noAutofit/>
          </a:bodyPr>
          <a:lstStyle/>
          <a:p>
            <a:pPr algn="l">
              <a:lnSpc>
                <a:spcPct val="100000"/>
              </a:lnSpc>
            </a:pPr>
            <a:r>
              <a:rPr sz="2100" b="1" i="0">
                <a:solidFill>
                  <a:srgbClr val="FFFFFF"/>
                </a:solidFill>
                <a:latin typeface="ITC Avant Garde Gothic"/>
                <a:ea typeface="ITC Avant Garde Gothic"/>
                <a:cs typeface="ITC Avant Garde Gothic"/>
              </a:rPr>
              <a:t>Ligtas Pinoy Centers</a:t>
            </a:r>
          </a:p>
        </p:txBody>
      </p:sp>
      <p:sp>
        <p:nvSpPr>
          <p:cNvPr id="34" name="TextBox 33"/>
          <p:cNvSpPr txBox="1"/>
          <p:nvPr/>
        </p:nvSpPr>
        <p:spPr>
          <a:xfrm>
            <a:off x="12481560" y="3794760"/>
            <a:ext cx="5029200" cy="365760"/>
          </a:xfrm>
          <a:prstGeom prst="rect">
            <a:avLst/>
          </a:prstGeom>
          <a:noFill/>
        </p:spPr>
        <p:txBody>
          <a:bodyPr wrap="square" lIns="0" tIns="0" rIns="0" bIns="0" anchor="t">
            <a:noAutofit/>
          </a:bodyPr>
          <a:lstStyle/>
          <a:p>
            <a:pPr algn="l">
              <a:lnSpc>
                <a:spcPct val="100000"/>
              </a:lnSpc>
            </a:pPr>
            <a:r>
              <a:rPr sz="1500" b="1" i="0">
                <a:solidFill>
                  <a:srgbClr val="262626"/>
                </a:solidFill>
                <a:latin typeface="ITC Avant Garde Gothic"/>
                <a:ea typeface="ITC Avant Garde Gothic"/>
                <a:cs typeface="ITC Avant Garde Gothic"/>
              </a:rPr>
              <a:t>Siting gain of new sites S (Def. 14)</a:t>
            </a:r>
          </a:p>
        </p:txBody>
      </p:sp>
      <p:pic>
        <p:nvPicPr>
          <p:cNvPr id="35" name="Picture 34" descr="d_fs.png"/>
          <p:cNvPicPr>
            <a:picLocks noChangeAspect="1"/>
          </p:cNvPicPr>
          <p:nvPr/>
        </p:nvPicPr>
        <p:blipFill>
          <a:blip r:embed="rId10"/>
          <a:stretch>
            <a:fillRect/>
          </a:stretch>
        </p:blipFill>
        <p:spPr>
          <a:xfrm>
            <a:off x="13109067" y="4251960"/>
            <a:ext cx="3774186" cy="330200"/>
          </a:xfrm>
          <a:prstGeom prst="rect">
            <a:avLst/>
          </a:prstGeom>
        </p:spPr>
      </p:pic>
      <p:sp>
        <p:nvSpPr>
          <p:cNvPr id="36" name="TextBox 35"/>
          <p:cNvSpPr txBox="1"/>
          <p:nvPr/>
        </p:nvSpPr>
        <p:spPr>
          <a:xfrm>
            <a:off x="12481560" y="4892040"/>
            <a:ext cx="5029200" cy="365760"/>
          </a:xfrm>
          <a:prstGeom prst="rect">
            <a:avLst/>
          </a:prstGeom>
          <a:noFill/>
        </p:spPr>
        <p:txBody>
          <a:bodyPr wrap="square" lIns="0" tIns="0" rIns="0" bIns="0" anchor="t">
            <a:noAutofit/>
          </a:bodyPr>
          <a:lstStyle/>
          <a:p>
            <a:pPr algn="l">
              <a:lnSpc>
                <a:spcPct val="100000"/>
              </a:lnSpc>
            </a:pPr>
            <a:r>
              <a:rPr sz="1500" b="1" i="0">
                <a:solidFill>
                  <a:srgbClr val="262626"/>
                </a:solidFill>
                <a:latin typeface="ITC Avant Garde Gothic"/>
                <a:ea typeface="ITC Avant Garde Gothic"/>
                <a:cs typeface="ITC Avant Garde Gothic"/>
              </a:rPr>
              <a:t>Greedy guarantee (Prop. 10)</a:t>
            </a:r>
          </a:p>
        </p:txBody>
      </p:sp>
      <p:pic>
        <p:nvPicPr>
          <p:cNvPr id="37" name="Picture 36" descr="d_greedy.png"/>
          <p:cNvPicPr>
            <a:picLocks noChangeAspect="1"/>
          </p:cNvPicPr>
          <p:nvPr/>
        </p:nvPicPr>
        <p:blipFill>
          <a:blip r:embed="rId11"/>
          <a:stretch>
            <a:fillRect/>
          </a:stretch>
        </p:blipFill>
        <p:spPr>
          <a:xfrm>
            <a:off x="12771120" y="5321808"/>
            <a:ext cx="4450080" cy="513080"/>
          </a:xfrm>
          <a:prstGeom prst="rect">
            <a:avLst/>
          </a:prstGeom>
        </p:spPr>
      </p:pic>
      <p:sp>
        <p:nvSpPr>
          <p:cNvPr id="38" name="TextBox 37"/>
          <p:cNvSpPr txBox="1"/>
          <p:nvPr/>
        </p:nvSpPr>
        <p:spPr>
          <a:xfrm>
            <a:off x="12527280" y="6263640"/>
            <a:ext cx="4983480" cy="3383280"/>
          </a:xfrm>
          <a:prstGeom prst="rect">
            <a:avLst/>
          </a:prstGeom>
          <a:noFill/>
        </p:spPr>
        <p:txBody>
          <a:bodyPr wrap="square" lIns="0" tIns="0" rIns="0" bIns="0" anchor="t">
            <a:noAutofit/>
          </a:bodyPr>
          <a:lstStyle/>
          <a:p>
            <a:pPr algn="l" marL="310896" indent="-310896">
              <a:lnSpc>
                <a:spcPct val="100000"/>
              </a:lnSpc>
              <a:spcAft>
                <a:spcPts val="1000"/>
              </a:spcAft>
              <a:buClr>
                <a:srgbClr val="8B0707"/>
              </a:buClr>
              <a:buSzPct val="100000"/>
              <a:buFont typeface="Arial"/>
              <a:buChar char="•"/>
            </a:pPr>
            <a:r>
              <a:rPr sz="1700" b="0" i="0">
                <a:solidFill>
                  <a:srgbClr val="262626"/>
                </a:solidFill>
                <a:latin typeface="ITC Avant Garde Gothic"/>
                <a:ea typeface="ITC Avant Garde Gothic"/>
                <a:cs typeface="ITC Avant Garde Gothic"/>
              </a:rPr>
              <a:t>Coverage: evacuees sheltered outside classrooms within </a:t>
            </a:r>
            <a:r>
              <a:rPr sz="1700" b="0" i="0">
                <a:solidFill>
                  <a:srgbClr val="262626"/>
                </a:solidFill>
                <a:latin typeface="Arial"/>
                <a:ea typeface="Arial"/>
                <a:cs typeface="Arial"/>
              </a:rPr>
              <a:t>θ</a:t>
            </a:r>
            <a:r>
              <a:rPr sz="1700" b="0" i="0">
                <a:solidFill>
                  <a:srgbClr val="262626"/>
                </a:solidFill>
                <a:latin typeface="ITC Avant Garde Gothic"/>
                <a:ea typeface="ITC Avant Garde Gothic"/>
                <a:cs typeface="ITC Avant Garde Gothic"/>
              </a:rPr>
              <a:t> = 30 minutes</a:t>
            </a:r>
          </a:p>
          <a:p>
            <a:pPr algn="l" marL="310896" indent="-310896">
              <a:lnSpc>
                <a:spcPct val="100000"/>
              </a:lnSpc>
              <a:spcAft>
                <a:spcPts val="1000"/>
              </a:spcAft>
              <a:buClr>
                <a:srgbClr val="8B0707"/>
              </a:buClr>
              <a:buSzPct val="100000"/>
              <a:buFont typeface="Arial"/>
              <a:buChar char="•"/>
            </a:pPr>
            <a:r>
              <a:rPr sz="1700" b="0" i="0">
                <a:solidFill>
                  <a:srgbClr val="262626"/>
                </a:solidFill>
                <a:latin typeface="ITC Avant Garde Gothic"/>
                <a:ea typeface="ITC Avant Garde Gothic"/>
                <a:cs typeface="ITC Avant Garde Gothic"/>
              </a:rPr>
              <a:t>f is monotone and submodular: each new site adds less than the one before</a:t>
            </a:r>
          </a:p>
          <a:p>
            <a:pPr algn="l" marL="310896" indent="-310896">
              <a:lnSpc>
                <a:spcPct val="100000"/>
              </a:lnSpc>
              <a:buClr>
                <a:srgbClr val="8B0707"/>
              </a:buClr>
              <a:buSzPct val="100000"/>
              <a:buFont typeface="Arial"/>
              <a:buChar char="•"/>
            </a:pPr>
            <a:r>
              <a:rPr sz="1700" b="0" i="0">
                <a:solidFill>
                  <a:srgbClr val="262626"/>
                </a:solidFill>
                <a:latin typeface="ITC Avant Garde Gothic"/>
                <a:ea typeface="ITC Avant Garde Gothic"/>
                <a:cs typeface="ITC Avant Garde Gothic"/>
              </a:rPr>
              <a:t>Greedy: add the site with the largest gain, k times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298719"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METHODOLOGY</a:t>
            </a:r>
          </a:p>
        </p:txBody>
      </p:sp>
      <p:sp>
        <p:nvSpPr>
          <p:cNvPr id="8" name="Subtitle"/>
          <p:cNvSpPr txBox="1"/>
          <p:nvPr/>
        </p:nvSpPr>
        <p:spPr>
          <a:xfrm>
            <a:off x="13924169" y="18288"/>
            <a:ext cx="3952351"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Test Network and Checks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Test network E1: a small synthetic volcano that exercises every stage (not real Albay data)</a:t>
            </a:r>
          </a:p>
        </p:txBody>
      </p:sp>
      <p:sp>
        <p:nvSpPr>
          <p:cNvPr id="10" name="Rounded Rectangle 9"/>
          <p:cNvSpPr/>
          <p:nvPr/>
        </p:nvSpPr>
        <p:spPr>
          <a:xfrm>
            <a:off x="548640" y="2697480"/>
            <a:ext cx="7086600" cy="7132320"/>
          </a:xfrm>
          <a:prstGeom prst="roundRect">
            <a:avLst>
              <a:gd name="adj" fmla="val 1806"/>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pic>
        <p:nvPicPr>
          <p:cNvPr id="11" name="Picture 10" descr="fig_e1_map.png"/>
          <p:cNvPicPr>
            <a:picLocks noChangeAspect="1"/>
          </p:cNvPicPr>
          <p:nvPr/>
        </p:nvPicPr>
        <p:blipFill>
          <a:blip r:embed="rId3"/>
          <a:stretch>
            <a:fillRect/>
          </a:stretch>
        </p:blipFill>
        <p:spPr>
          <a:xfrm>
            <a:off x="685800" y="3070384"/>
            <a:ext cx="6812280" cy="6386512"/>
          </a:xfrm>
          <a:prstGeom prst="rect">
            <a:avLst/>
          </a:prstGeom>
        </p:spPr>
      </p:pic>
      <p:sp>
        <p:nvSpPr>
          <p:cNvPr id="12" name="Rounded Rectangle 11"/>
          <p:cNvSpPr/>
          <p:nvPr/>
        </p:nvSpPr>
        <p:spPr>
          <a:xfrm>
            <a:off x="8001000" y="2697480"/>
            <a:ext cx="9738360" cy="2743200"/>
          </a:xfrm>
          <a:prstGeom prst="roundRect">
            <a:avLst>
              <a:gd name="adj" fmla="val 4666"/>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3" name="TextBox 12"/>
          <p:cNvSpPr txBox="1"/>
          <p:nvPr/>
        </p:nvSpPr>
        <p:spPr>
          <a:xfrm>
            <a:off x="8275320" y="2788920"/>
            <a:ext cx="9235440" cy="2606040"/>
          </a:xfrm>
          <a:prstGeom prst="rect">
            <a:avLst/>
          </a:prstGeom>
          <a:noFill/>
        </p:spPr>
        <p:txBody>
          <a:bodyPr wrap="square" lIns="0" tIns="0" rIns="0" bIns="0" anchor="ctr">
            <a:noAutofit/>
          </a:bodyPr>
          <a:lstStyle/>
          <a:p>
            <a:pPr algn="l">
              <a:lnSpc>
                <a:spcPct val="100000"/>
              </a:lnSpc>
              <a:spcAft>
                <a:spcPts val="600"/>
              </a:spcAft>
            </a:pPr>
            <a:r>
              <a:rPr sz="1900" b="1" i="0">
                <a:solidFill>
                  <a:srgbClr val="8B0707"/>
                </a:solidFill>
                <a:latin typeface="ITC Avant Garde Gothic"/>
                <a:ea typeface="ITC Avant Garde Gothic"/>
                <a:cs typeface="ITC Avant Garde Gothic"/>
              </a:rPr>
              <a:t>Test network E1 (synthetic)</a:t>
            </a:r>
          </a:p>
          <a:p>
            <a:pPr algn="l" marL="292608" indent="-292608">
              <a:lnSpc>
                <a:spcPct val="100000"/>
              </a:lnSpc>
              <a:spcAft>
                <a:spcPts val="400"/>
              </a:spcAft>
              <a:buClr>
                <a:srgbClr val="8B0707"/>
              </a:buClr>
              <a:buSzPct val="100000"/>
              <a:buFont typeface="Arial"/>
              <a:buChar char="•"/>
            </a:pPr>
            <a:r>
              <a:rPr sz="1600" b="0" i="0">
                <a:solidFill>
                  <a:srgbClr val="262626"/>
                </a:solidFill>
                <a:latin typeface="ITC Avant Garde Gothic"/>
                <a:ea typeface="ITC Avant Garde Gothic"/>
                <a:cs typeface="ITC Avant Garde Gothic"/>
              </a:rPr>
              <a:t>6 barangay clusters (O1 to O6) with 2,690 residents</a:t>
            </a:r>
          </a:p>
          <a:p>
            <a:pPr algn="l" marL="292608" indent="-292608">
              <a:lnSpc>
                <a:spcPct val="100000"/>
              </a:lnSpc>
              <a:spcAft>
                <a:spcPts val="400"/>
              </a:spcAft>
              <a:buClr>
                <a:srgbClr val="8B0707"/>
              </a:buClr>
              <a:buSzPct val="100000"/>
              <a:buFont typeface="Arial"/>
              <a:buChar char="•"/>
            </a:pPr>
            <a:r>
              <a:rPr sz="1600" b="0" i="0">
                <a:solidFill>
                  <a:srgbClr val="262626"/>
                </a:solidFill>
                <a:latin typeface="ITC Avant Garde Gothic"/>
                <a:ea typeface="ITC Avant Garde Gothic"/>
                <a:cs typeface="ITC Avant Garde Gothic"/>
              </a:rPr>
              <a:t>6 shelters: 900 places in non-school space, 420 in school open space, 64 classrooms (1,152 places)</a:t>
            </a:r>
          </a:p>
          <a:p>
            <a:pPr algn="l" marL="292608" indent="-292608">
              <a:lnSpc>
                <a:spcPct val="100000"/>
              </a:lnSpc>
              <a:buClr>
                <a:srgbClr val="8B0707"/>
              </a:buClr>
              <a:buSzPct val="100000"/>
              <a:buFont typeface="Arial"/>
              <a:buChar char="•"/>
            </a:pPr>
            <a:r>
              <a:rPr sz="1600" b="0" i="0">
                <a:solidFill>
                  <a:srgbClr val="262626"/>
                </a:solidFill>
                <a:latin typeface="ITC Avant Garde Gothic"/>
                <a:ea typeface="ITC Avant Garde Gothic"/>
                <a:cs typeface="ITC Avant Garde Gothic"/>
              </a:rPr>
              <a:t>2 lahar channels crossed by 7 bridges (A1 to A4, B1 to B3)</a:t>
            </a:r>
          </a:p>
        </p:txBody>
      </p:sp>
      <p:graphicFrame>
        <p:nvGraphicFramePr>
          <p:cNvPr id="14" name="Table 13"/>
          <p:cNvGraphicFramePr>
            <a:graphicFrameLocks noGrp="1"/>
          </p:cNvGraphicFramePr>
          <p:nvPr/>
        </p:nvGraphicFramePr>
        <p:xfrm>
          <a:off x="8001000" y="5669280"/>
          <a:ext cx="9006840" cy="2011680"/>
        </p:xfrm>
        <a:graphic>
          <a:graphicData uri="http://schemas.openxmlformats.org/drawingml/2006/table">
            <a:tbl>
              <a:tblPr firstRow="1" bandRow="0">
                <a:tableStyleId>{5C22544A-7EE6-4342-B048-85BDC9FD1C3A}</a:tableStyleId>
              </a:tblPr>
              <a:tblGrid>
                <a:gridCol w="1828800"/>
                <a:gridCol w="5623560"/>
                <a:gridCol w="1554480"/>
              </a:tblGrid>
              <a:tr h="502920">
                <a:tc>
                  <a:txBody>
                    <a:bodyPr wrap="square"/>
                    <a:lstStyle/>
                    <a:p>
                      <a:pPr algn="l"/>
                      <a:r>
                        <a:rPr sz="1600" b="1" i="0">
                          <a:solidFill>
                            <a:srgbClr val="FFFFFF"/>
                          </a:solidFill>
                          <a:latin typeface="ITC Avant Garde Gothic"/>
                          <a:ea typeface="ITC Avant Garde Gothic"/>
                          <a:cs typeface="ITC Avant Garde Gothic"/>
                        </a:rPr>
                        <a:t>Scenario</a:t>
                      </a:r>
                    </a:p>
                  </a:txBody>
                  <a:tcPr marL="91440" marT="36576" marR="91440" marB="36576" anchor="ctr">
                    <a:solidFill>
                      <a:srgbClr val="8B0707"/>
                    </a:solidFill>
                  </a:tcPr>
                </a:tc>
                <a:tc>
                  <a:txBody>
                    <a:bodyPr wrap="square"/>
                    <a:lstStyle/>
                    <a:p>
                      <a:pPr algn="l"/>
                      <a:r>
                        <a:rPr sz="1600" b="1" i="0">
                          <a:solidFill>
                            <a:srgbClr val="FFFFFF"/>
                          </a:solidFill>
                          <a:latin typeface="ITC Avant Garde Gothic"/>
                          <a:ea typeface="ITC Avant Garde Gothic"/>
                          <a:cs typeface="ITC Avant Garde Gothic"/>
                        </a:rPr>
                        <a:t>Active zones and closures</a:t>
                      </a:r>
                    </a:p>
                  </a:txBody>
                  <a:tcPr marL="91440" marT="36576" marR="91440" marB="36576" anchor="ctr">
                    <a:solidFill>
                      <a:srgbClr val="8B0707"/>
                    </a:solidFill>
                  </a:tcPr>
                </a:tc>
                <a:tc>
                  <a:txBody>
                    <a:bodyPr wrap="square"/>
                    <a:lstStyle/>
                    <a:p>
                      <a:pPr algn="r"/>
                      <a:r>
                        <a:rPr sz="1600" b="1" i="0">
                          <a:solidFill>
                            <a:srgbClr val="FFFFFF"/>
                          </a:solidFill>
                          <a:latin typeface="ITC Avant Garde Gothic"/>
                          <a:ea typeface="ITC Avant Garde Gothic"/>
                          <a:cs typeface="ITC Avant Garde Gothic"/>
                        </a:rPr>
                        <a:t>Evacuees</a:t>
                      </a:r>
                    </a:p>
                  </a:txBody>
                  <a:tcPr marL="91440" marT="36576" marR="91440" marB="36576" anchor="ctr">
                    <a:solidFill>
                      <a:srgbClr val="8B0707"/>
                    </a:solidFill>
                  </a:tcPr>
                </a:tc>
              </a:tr>
              <a:tr h="502920">
                <a:tc>
                  <a:txBody>
                    <a:bodyPr wrap="square"/>
                    <a:lstStyle/>
                    <a:p>
                      <a:pPr algn="l"/>
                      <a:r>
                        <a:rPr sz="1600" b="1" i="0">
                          <a:solidFill>
                            <a:srgbClr val="8B0707"/>
                          </a:solidFill>
                          <a:latin typeface="ITC Avant Garde Gothic"/>
                          <a:ea typeface="ITC Avant Garde Gothic"/>
                          <a:cs typeface="ITC Avant Garde Gothic"/>
                        </a:rPr>
                        <a:t>AL3</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6-km Permanent Danger Zone</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1,560</a:t>
                      </a:r>
                    </a:p>
                  </a:txBody>
                  <a:tcPr marL="91440" marT="36576" marR="91440" marB="36576" anchor="ctr">
                    <a:solidFill>
                      <a:srgbClr val="FFFFFF"/>
                    </a:solidFill>
                  </a:tcPr>
                </a:tc>
              </a:tr>
              <a:tr h="502920">
                <a:tc>
                  <a:txBody>
                    <a:bodyPr wrap="square"/>
                    <a:lstStyle/>
                    <a:p>
                      <a:pPr algn="l"/>
                      <a:r>
                        <a:rPr sz="1600" b="1" i="0">
                          <a:solidFill>
                            <a:srgbClr val="8B0707"/>
                          </a:solidFill>
                          <a:latin typeface="ITC Avant Garde Gothic"/>
                          <a:ea typeface="ITC Avant Garde Gothic"/>
                          <a:cs typeface="ITC Avant Garde Gothic"/>
                        </a:rPr>
                        <a:t>AL4</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Adds the 7-km Extended Danger Zone (south)</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2,390</a:t>
                      </a:r>
                    </a:p>
                  </a:txBody>
                  <a:tcPr marL="91440" marT="36576" marR="91440" marB="36576" anchor="ctr">
                    <a:solidFill>
                      <a:srgbClr val="FBF3F3"/>
                    </a:solidFill>
                  </a:tcPr>
                </a:tc>
              </a:tr>
              <a:tr h="502920">
                <a:tc>
                  <a:txBody>
                    <a:bodyPr wrap="square"/>
                    <a:lstStyle/>
                    <a:p>
                      <a:pPr algn="l"/>
                      <a:r>
                        <a:rPr sz="1600" b="1" i="0">
                          <a:solidFill>
                            <a:srgbClr val="8B0707"/>
                          </a:solidFill>
                          <a:latin typeface="ITC Avant Garde Gothic"/>
                          <a:ea typeface="ITC Avant Garde Gothic"/>
                          <a:cs typeface="ITC Avant Garde Gothic"/>
                        </a:rPr>
                        <a:t>AL4 + lahar</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Adds the lahar area; channel bridges closed</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2,690</a:t>
                      </a:r>
                    </a:p>
                  </a:txBody>
                  <a:tcPr marL="91440" marT="36576" marR="91440" marB="36576" anchor="ctr">
                    <a:solidFill>
                      <a:srgbClr val="FFFFFF"/>
                    </a:solidFill>
                  </a:tcPr>
                </a:tc>
              </a:tr>
            </a:tbl>
          </a:graphicData>
        </a:graphic>
      </p:graphicFrame>
      <p:sp>
        <p:nvSpPr>
          <p:cNvPr id="15" name="Rounded Rectangle 14"/>
          <p:cNvSpPr/>
          <p:nvPr/>
        </p:nvSpPr>
        <p:spPr>
          <a:xfrm>
            <a:off x="8001000" y="7909560"/>
            <a:ext cx="9738360" cy="1920240"/>
          </a:xfrm>
          <a:prstGeom prst="roundRect">
            <a:avLst>
              <a:gd name="adj" fmla="val 6666"/>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6" name="Oval 15"/>
          <p:cNvSpPr/>
          <p:nvPr/>
        </p:nvSpPr>
        <p:spPr>
          <a:xfrm>
            <a:off x="8229600" y="8412480"/>
            <a:ext cx="868680" cy="868680"/>
          </a:xfrm>
          <a:prstGeom prst="ellipse">
            <a:avLst/>
          </a:prstGeom>
          <a:solidFill>
            <a:srgbClr val="8B0707"/>
          </a:solidFill>
          <a:ln>
            <a:noFill/>
          </a:ln>
          <a:effectLst/>
        </p:spPr>
        <p:txBody>
          <a:bodyPr rtlCol="0" anchor="ctr"/>
          <a:lstStyle/>
          <a:p>
            <a:pPr algn="ctr"/>
          </a:p>
        </p:txBody>
      </p:sp>
      <p:pic>
        <p:nvPicPr>
          <p:cNvPr id="17" name="Picture 16" descr="w_fact_check.png"/>
          <p:cNvPicPr>
            <a:picLocks noChangeAspect="1"/>
          </p:cNvPicPr>
          <p:nvPr/>
        </p:nvPicPr>
        <p:blipFill>
          <a:blip r:embed="rId4"/>
          <a:stretch>
            <a:fillRect/>
          </a:stretch>
        </p:blipFill>
        <p:spPr>
          <a:xfrm>
            <a:off x="8403336" y="8586216"/>
            <a:ext cx="521208" cy="521208"/>
          </a:xfrm>
          <a:prstGeom prst="rect">
            <a:avLst/>
          </a:prstGeom>
        </p:spPr>
      </p:pic>
      <p:sp>
        <p:nvSpPr>
          <p:cNvPr id="18" name="TextBox 17"/>
          <p:cNvSpPr txBox="1"/>
          <p:nvPr/>
        </p:nvSpPr>
        <p:spPr>
          <a:xfrm>
            <a:off x="9281160" y="7955280"/>
            <a:ext cx="8275320" cy="1828800"/>
          </a:xfrm>
          <a:prstGeom prst="rect">
            <a:avLst/>
          </a:prstGeom>
          <a:noFill/>
        </p:spPr>
        <p:txBody>
          <a:bodyPr wrap="square" lIns="0" tIns="0" rIns="0" bIns="0" anchor="ctr">
            <a:noAutofit/>
          </a:bodyPr>
          <a:lstStyle/>
          <a:p>
            <a:pPr algn="l">
              <a:lnSpc>
                <a:spcPct val="100000"/>
              </a:lnSpc>
              <a:spcAft>
                <a:spcPts val="300"/>
              </a:spcAft>
            </a:pPr>
            <a:r>
              <a:rPr sz="1800" b="1" i="0">
                <a:solidFill>
                  <a:srgbClr val="8B0707"/>
                </a:solidFill>
                <a:latin typeface="ITC Avant Garde Gothic"/>
                <a:ea typeface="ITC Avant Garde Gothic"/>
                <a:cs typeface="ITC Avant Garde Gothic"/>
              </a:rPr>
              <a:t>Verification design</a:t>
            </a:r>
          </a:p>
          <a:p>
            <a:pPr algn="l">
              <a:lnSpc>
                <a:spcPct val="100000"/>
              </a:lnSpc>
            </a:pPr>
            <a:r>
              <a:rPr sz="1500" b="0" i="0">
                <a:solidFill>
                  <a:srgbClr val="262626"/>
                </a:solidFill>
                <a:latin typeface="ITC Avant Garde Gothic"/>
                <a:ea typeface="ITC Avant Garde Gothic"/>
                <a:cs typeface="ITC Avant Garde Gothic"/>
              </a:rPr>
              <a:t>Random synthetic instances, each checked against code written separately: five sequential LPs and an exact MIP (HiGHS), the Ford-Fulkerson formula, a minute-by-minute scan, and exhaustive search.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5194290" cy="1645920"/>
          </a:xfrm>
          <a:prstGeom prst="rect">
            <a:avLst/>
          </a:prstGeom>
        </p:spPr>
        <p:txBody>
          <a:bodyPr lIns="0" tIns="0" rIns="0" bIns="0" rtlCol="0" anchor="ctr" wrap="square">
            <a:noAutofit/>
          </a:bodyPr>
          <a:lstStyle/>
          <a:p>
            <a:pPr algn="l">
              <a:lnSpc>
                <a:spcPct val="90000"/>
              </a:lnSpc>
            </a:pPr>
            <a:r>
              <a:rPr sz="7750" b="0" i="0">
                <a:solidFill>
                  <a:srgbClr val="FFFFFF"/>
                </a:solidFill>
                <a:latin typeface="ITC Avant Garde Gothic"/>
                <a:ea typeface="ITC Avant Garde Gothic"/>
                <a:cs typeface="ITC Avant Garde Gothic"/>
              </a:rPr>
              <a:t>RESULTS AND DISCUSSION</a:t>
            </a:r>
          </a:p>
        </p:txBody>
      </p:sp>
      <p:sp>
        <p:nvSpPr>
          <p:cNvPr id="8" name="Subtitle"/>
          <p:cNvSpPr txBox="1"/>
          <p:nvPr/>
        </p:nvSpPr>
        <p:spPr>
          <a:xfrm>
            <a:off x="15819739" y="18288"/>
            <a:ext cx="2056781"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Shelter Plans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Test network E1, Alert Level 3: both plans shelter all 1,560 evacuees and all 342 vulnerable residents</a:t>
            </a:r>
          </a:p>
        </p:txBody>
      </p:sp>
      <p:sp>
        <p:nvSpPr>
          <p:cNvPr id="10" name="Rounded Rectangle 9"/>
          <p:cNvSpPr/>
          <p:nvPr/>
        </p:nvSpPr>
        <p:spPr>
          <a:xfrm>
            <a:off x="548640" y="2697480"/>
            <a:ext cx="9692640" cy="5166360"/>
          </a:xfrm>
          <a:prstGeom prst="roundRect">
            <a:avLst>
              <a:gd name="adj" fmla="val 2477"/>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TextBox 10"/>
          <p:cNvSpPr txBox="1"/>
          <p:nvPr/>
        </p:nvSpPr>
        <p:spPr>
          <a:xfrm>
            <a:off x="822960" y="2788920"/>
            <a:ext cx="9144000" cy="457200"/>
          </a:xfrm>
          <a:prstGeom prst="rect">
            <a:avLst/>
          </a:prstGeom>
          <a:noFill/>
        </p:spPr>
        <p:txBody>
          <a:bodyPr wrap="square" lIns="0" tIns="0" rIns="0" bIns="0" anchor="t">
            <a:noAutofit/>
          </a:bodyPr>
          <a:lstStyle/>
          <a:p>
            <a:pPr algn="l">
              <a:lnSpc>
                <a:spcPct val="100000"/>
              </a:lnSpc>
            </a:pPr>
            <a:r>
              <a:rPr sz="1800" b="1" i="0">
                <a:solidFill>
                  <a:srgbClr val="8B0707"/>
                </a:solidFill>
                <a:latin typeface="ITC Avant Garde Gothic"/>
                <a:ea typeface="ITC Avant Garde Gothic"/>
                <a:cs typeface="ITC Avant Garde Gothic"/>
              </a:rPr>
              <a:t>Where the 1,560 evacuees stay (persons, test network)</a:t>
            </a:r>
          </a:p>
        </p:txBody>
      </p:sp>
      <p:graphicFrame>
        <p:nvGraphicFramePr>
          <p:cNvPr id="12" name="Chart 11"/>
          <p:cNvGraphicFramePr>
            <a:graphicFrameLocks noGrp="1"/>
          </p:cNvGraphicFramePr>
          <p:nvPr/>
        </p:nvGraphicFramePr>
        <p:xfrm>
          <a:off x="731520" y="3246120"/>
          <a:ext cx="9326880" cy="4526280"/>
        </p:xfrm>
        <a:graphic>
          <a:graphicData uri="http://schemas.openxmlformats.org/drawingml/2006/chart">
            <c:chart xmlns:c="http://schemas.openxmlformats.org/drawingml/2006/chart" r:id="rId3"/>
          </a:graphicData>
        </a:graphic>
      </p:graphicFrame>
      <p:sp>
        <p:nvSpPr>
          <p:cNvPr id="13" name="Rounded Rectangle 12"/>
          <p:cNvSpPr/>
          <p:nvPr/>
        </p:nvSpPr>
        <p:spPr>
          <a:xfrm>
            <a:off x="10607040" y="2697480"/>
            <a:ext cx="3429000" cy="2468880"/>
          </a:xfrm>
          <a:prstGeom prst="roundRect">
            <a:avLst>
              <a:gd name="adj" fmla="val 5185"/>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14" name="TextBox 13"/>
          <p:cNvSpPr txBox="1"/>
          <p:nvPr/>
        </p:nvSpPr>
        <p:spPr>
          <a:xfrm>
            <a:off x="10744200" y="2880360"/>
            <a:ext cx="3154680" cy="914400"/>
          </a:xfrm>
          <a:prstGeom prst="rect">
            <a:avLst/>
          </a:prstGeom>
          <a:noFill/>
        </p:spPr>
        <p:txBody>
          <a:bodyPr wrap="square" lIns="0" tIns="0" rIns="0" bIns="0" anchor="ctr">
            <a:noAutofit/>
          </a:bodyPr>
          <a:lstStyle/>
          <a:p>
            <a:pPr algn="ctr">
              <a:lnSpc>
                <a:spcPct val="100000"/>
              </a:lnSpc>
            </a:pPr>
            <a:r>
              <a:rPr sz="4000" b="1" i="0">
                <a:solidFill>
                  <a:srgbClr val="F0C04A"/>
                </a:solidFill>
                <a:latin typeface="ITC Avant Garde Gothic"/>
                <a:ea typeface="ITC Avant Garde Gothic"/>
                <a:cs typeface="ITC Avant Garde Gothic"/>
              </a:rPr>
              <a:t>40 </a:t>
            </a:r>
            <a:r>
              <a:rPr sz="4000" b="1" i="0">
                <a:solidFill>
                  <a:srgbClr val="F0C04A"/>
                </a:solidFill>
                <a:latin typeface="Arial"/>
                <a:ea typeface="Arial"/>
                <a:cs typeface="Arial"/>
              </a:rPr>
              <a:t>→</a:t>
            </a:r>
            <a:r>
              <a:rPr sz="4000" b="1" i="0">
                <a:solidFill>
                  <a:srgbClr val="F0C04A"/>
                </a:solidFill>
                <a:latin typeface="ITC Avant Garde Gothic"/>
                <a:ea typeface="ITC Avant Garde Gothic"/>
                <a:cs typeface="ITC Avant Garde Gothic"/>
              </a:rPr>
              <a:t> 14</a:t>
            </a:r>
          </a:p>
        </p:txBody>
      </p:sp>
      <p:sp>
        <p:nvSpPr>
          <p:cNvPr id="15" name="TextBox 14"/>
          <p:cNvSpPr txBox="1"/>
          <p:nvPr/>
        </p:nvSpPr>
        <p:spPr>
          <a:xfrm>
            <a:off x="10744200" y="3840480"/>
            <a:ext cx="3154680" cy="502920"/>
          </a:xfrm>
          <a:prstGeom prst="rect">
            <a:avLst/>
          </a:prstGeom>
          <a:noFill/>
        </p:spPr>
        <p:txBody>
          <a:bodyPr wrap="square" lIns="0" tIns="0" rIns="0" bIns="0" anchor="ctr">
            <a:noAutofit/>
          </a:bodyPr>
          <a:lstStyle/>
          <a:p>
            <a:pPr algn="ctr">
              <a:lnSpc>
                <a:spcPct val="100000"/>
              </a:lnSpc>
            </a:pPr>
            <a:r>
              <a:rPr sz="1700" b="1" i="0">
                <a:solidFill>
                  <a:srgbClr val="FFFFFF"/>
                </a:solidFill>
                <a:latin typeface="ITC Avant Garde Gothic"/>
                <a:ea typeface="ITC Avant Garde Gothic"/>
                <a:cs typeface="ITC Avant Garde Gothic"/>
              </a:rPr>
              <a:t>classrooms closed</a:t>
            </a:r>
          </a:p>
        </p:txBody>
      </p:sp>
      <p:sp>
        <p:nvSpPr>
          <p:cNvPr id="16" name="TextBox 15"/>
          <p:cNvSpPr txBox="1"/>
          <p:nvPr/>
        </p:nvSpPr>
        <p:spPr>
          <a:xfrm>
            <a:off x="10744200" y="4343400"/>
            <a:ext cx="3154680" cy="685800"/>
          </a:xfrm>
          <a:prstGeom prst="rect">
            <a:avLst/>
          </a:prstGeom>
          <a:noFill/>
        </p:spPr>
        <p:txBody>
          <a:bodyPr wrap="square" lIns="0" tIns="0" rIns="0" bIns="0" anchor="t">
            <a:noAutofit/>
          </a:bodyPr>
          <a:lstStyle/>
          <a:p>
            <a:pPr algn="ctr">
              <a:lnSpc>
                <a:spcPct val="100000"/>
              </a:lnSpc>
            </a:pPr>
            <a:r>
              <a:rPr sz="1500" b="0" i="0">
                <a:solidFill>
                  <a:srgbClr val="F2DADA"/>
                </a:solidFill>
                <a:latin typeface="ITC Avant Garde Gothic"/>
                <a:ea typeface="ITC Avant Garde Gothic"/>
                <a:cs typeface="ITC Avant Garde Gothic"/>
              </a:rPr>
              <a:t>time-only </a:t>
            </a:r>
            <a:r>
              <a:rPr sz="1500" b="0" i="0">
                <a:solidFill>
                  <a:srgbClr val="F2DADA"/>
                </a:solidFill>
                <a:latin typeface="Arial"/>
                <a:ea typeface="Arial"/>
                <a:cs typeface="Arial"/>
              </a:rPr>
              <a:t>→</a:t>
            </a:r>
            <a:r>
              <a:rPr sz="1500" b="0" i="0">
                <a:solidFill>
                  <a:srgbClr val="F2DADA"/>
                </a:solidFill>
                <a:latin typeface="ITC Avant Garde Gothic"/>
                <a:ea typeface="ITC Avant Garde Gothic"/>
                <a:cs typeface="ITC Avant Garde Gothic"/>
              </a:rPr>
              <a:t> school-preserving</a:t>
            </a:r>
          </a:p>
        </p:txBody>
      </p:sp>
      <p:sp>
        <p:nvSpPr>
          <p:cNvPr id="17" name="Rounded Rectangle 16"/>
          <p:cNvSpPr/>
          <p:nvPr/>
        </p:nvSpPr>
        <p:spPr>
          <a:xfrm>
            <a:off x="14310360" y="2697480"/>
            <a:ext cx="3429000" cy="2468880"/>
          </a:xfrm>
          <a:prstGeom prst="roundRect">
            <a:avLst>
              <a:gd name="adj" fmla="val 5185"/>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18" name="TextBox 17"/>
          <p:cNvSpPr txBox="1"/>
          <p:nvPr/>
        </p:nvSpPr>
        <p:spPr>
          <a:xfrm>
            <a:off x="14447520" y="2880360"/>
            <a:ext cx="3154680" cy="914400"/>
          </a:xfrm>
          <a:prstGeom prst="rect">
            <a:avLst/>
          </a:prstGeom>
          <a:noFill/>
        </p:spPr>
        <p:txBody>
          <a:bodyPr wrap="square" lIns="0" tIns="0" rIns="0" bIns="0" anchor="ctr">
            <a:noAutofit/>
          </a:bodyPr>
          <a:lstStyle/>
          <a:p>
            <a:pPr algn="ctr">
              <a:lnSpc>
                <a:spcPct val="100000"/>
              </a:lnSpc>
            </a:pPr>
            <a:r>
              <a:rPr sz="3400" b="1" i="0">
                <a:solidFill>
                  <a:srgbClr val="F0C04A"/>
                </a:solidFill>
                <a:latin typeface="ITC Avant Garde Gothic"/>
                <a:ea typeface="ITC Avant Garde Gothic"/>
                <a:cs typeface="ITC Avant Garde Gothic"/>
              </a:rPr>
              <a:t>1,702 </a:t>
            </a:r>
            <a:r>
              <a:rPr sz="3400" b="1" i="0">
                <a:solidFill>
                  <a:srgbClr val="F0C04A"/>
                </a:solidFill>
                <a:latin typeface="Arial"/>
                <a:ea typeface="Arial"/>
                <a:cs typeface="Arial"/>
              </a:rPr>
              <a:t>→</a:t>
            </a:r>
            <a:r>
              <a:rPr sz="3400" b="1" i="0">
                <a:solidFill>
                  <a:srgbClr val="F0C04A"/>
                </a:solidFill>
                <a:latin typeface="ITC Avant Garde Gothic"/>
                <a:ea typeface="ITC Avant Garde Gothic"/>
                <a:cs typeface="ITC Avant Garde Gothic"/>
              </a:rPr>
              <a:t> 532</a:t>
            </a:r>
          </a:p>
        </p:txBody>
      </p:sp>
      <p:sp>
        <p:nvSpPr>
          <p:cNvPr id="19" name="TextBox 18"/>
          <p:cNvSpPr txBox="1"/>
          <p:nvPr/>
        </p:nvSpPr>
        <p:spPr>
          <a:xfrm>
            <a:off x="14447520" y="3840480"/>
            <a:ext cx="3154680" cy="502920"/>
          </a:xfrm>
          <a:prstGeom prst="rect">
            <a:avLst/>
          </a:prstGeom>
          <a:noFill/>
        </p:spPr>
        <p:txBody>
          <a:bodyPr wrap="square" lIns="0" tIns="0" rIns="0" bIns="0" anchor="ctr">
            <a:noAutofit/>
          </a:bodyPr>
          <a:lstStyle/>
          <a:p>
            <a:pPr algn="ctr">
              <a:lnSpc>
                <a:spcPct val="100000"/>
              </a:lnSpc>
            </a:pPr>
            <a:r>
              <a:rPr sz="1700" b="1" i="0">
                <a:solidFill>
                  <a:srgbClr val="FFFFFF"/>
                </a:solidFill>
                <a:latin typeface="ITC Avant Garde Gothic"/>
                <a:ea typeface="ITC Avant Garde Gothic"/>
                <a:cs typeface="ITC Avant Garde Gothic"/>
              </a:rPr>
              <a:t>learners displaced</a:t>
            </a:r>
          </a:p>
        </p:txBody>
      </p:sp>
      <p:sp>
        <p:nvSpPr>
          <p:cNvPr id="20" name="TextBox 19"/>
          <p:cNvSpPr txBox="1"/>
          <p:nvPr/>
        </p:nvSpPr>
        <p:spPr>
          <a:xfrm>
            <a:off x="14447520" y="4343400"/>
            <a:ext cx="3154680" cy="685800"/>
          </a:xfrm>
          <a:prstGeom prst="rect">
            <a:avLst/>
          </a:prstGeom>
          <a:noFill/>
        </p:spPr>
        <p:txBody>
          <a:bodyPr wrap="square" lIns="0" tIns="0" rIns="0" bIns="0" anchor="t">
            <a:noAutofit/>
          </a:bodyPr>
          <a:lstStyle/>
          <a:p>
            <a:pPr algn="ctr">
              <a:lnSpc>
                <a:spcPct val="100000"/>
              </a:lnSpc>
            </a:pPr>
            <a:r>
              <a:rPr sz="1500" b="0" i="0">
                <a:solidFill>
                  <a:srgbClr val="F2DADA"/>
                </a:solidFill>
                <a:latin typeface="ITC Avant Garde Gothic"/>
                <a:ea typeface="ITC Avant Garde Gothic"/>
                <a:cs typeface="ITC Avant Garde Gothic"/>
              </a:rPr>
              <a:t>1,170 learners spared</a:t>
            </a:r>
          </a:p>
        </p:txBody>
      </p:sp>
      <p:sp>
        <p:nvSpPr>
          <p:cNvPr id="21" name="Rounded Rectangle 20"/>
          <p:cNvSpPr/>
          <p:nvPr/>
        </p:nvSpPr>
        <p:spPr>
          <a:xfrm>
            <a:off x="10607040" y="5394960"/>
            <a:ext cx="3429000" cy="2468880"/>
          </a:xfrm>
          <a:prstGeom prst="roundRect">
            <a:avLst>
              <a:gd name="adj" fmla="val 518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2" name="TextBox 21"/>
          <p:cNvSpPr txBox="1"/>
          <p:nvPr/>
        </p:nvSpPr>
        <p:spPr>
          <a:xfrm>
            <a:off x="10744200" y="5577840"/>
            <a:ext cx="3154680" cy="914400"/>
          </a:xfrm>
          <a:prstGeom prst="rect">
            <a:avLst/>
          </a:prstGeom>
          <a:noFill/>
        </p:spPr>
        <p:txBody>
          <a:bodyPr wrap="square" lIns="0" tIns="0" rIns="0" bIns="0" anchor="ctr">
            <a:noAutofit/>
          </a:bodyPr>
          <a:lstStyle/>
          <a:p>
            <a:pPr algn="ctr">
              <a:lnSpc>
                <a:spcPct val="100000"/>
              </a:lnSpc>
            </a:pPr>
            <a:r>
              <a:rPr sz="3400" b="1" i="0">
                <a:solidFill>
                  <a:srgbClr val="8B0707"/>
                </a:solidFill>
                <a:latin typeface="ITC Avant Garde Gothic"/>
                <a:ea typeface="ITC Avant Garde Gothic"/>
                <a:cs typeface="ITC Avant Garde Gothic"/>
              </a:rPr>
              <a:t>+1.70 min</a:t>
            </a:r>
          </a:p>
        </p:txBody>
      </p:sp>
      <p:sp>
        <p:nvSpPr>
          <p:cNvPr id="23" name="TextBox 22"/>
          <p:cNvSpPr txBox="1"/>
          <p:nvPr/>
        </p:nvSpPr>
        <p:spPr>
          <a:xfrm>
            <a:off x="10744200" y="6537960"/>
            <a:ext cx="3154680" cy="502920"/>
          </a:xfrm>
          <a:prstGeom prst="rect">
            <a:avLst/>
          </a:prstGeom>
          <a:noFill/>
        </p:spPr>
        <p:txBody>
          <a:bodyPr wrap="square" lIns="0" tIns="0" rIns="0" bIns="0" anchor="ctr">
            <a:noAutofit/>
          </a:bodyPr>
          <a:lstStyle/>
          <a:p>
            <a:pPr algn="ctr">
              <a:lnSpc>
                <a:spcPct val="100000"/>
              </a:lnSpc>
            </a:pPr>
            <a:r>
              <a:rPr sz="1700" b="1" i="0">
                <a:solidFill>
                  <a:srgbClr val="262626"/>
                </a:solidFill>
                <a:latin typeface="ITC Avant Garde Gothic"/>
                <a:ea typeface="ITC Avant Garde Gothic"/>
                <a:cs typeface="ITC Avant Garde Gothic"/>
              </a:rPr>
              <a:t>mean trip</a:t>
            </a:r>
          </a:p>
        </p:txBody>
      </p:sp>
      <p:sp>
        <p:nvSpPr>
          <p:cNvPr id="24" name="TextBox 23"/>
          <p:cNvSpPr txBox="1"/>
          <p:nvPr/>
        </p:nvSpPr>
        <p:spPr>
          <a:xfrm>
            <a:off x="10744200" y="7040880"/>
            <a:ext cx="3154680" cy="685800"/>
          </a:xfrm>
          <a:prstGeom prst="rect">
            <a:avLst/>
          </a:prstGeom>
          <a:noFill/>
        </p:spPr>
        <p:txBody>
          <a:bodyPr wrap="square" lIns="0" tIns="0" rIns="0" bIns="0" anchor="t">
            <a:noAutofit/>
          </a:bodyPr>
          <a:lstStyle/>
          <a:p>
            <a:pPr algn="ctr">
              <a:lnSpc>
                <a:spcPct val="100000"/>
              </a:lnSpc>
            </a:pPr>
            <a:r>
              <a:rPr sz="1500" b="0" i="0">
                <a:solidFill>
                  <a:srgbClr val="5E5E5E"/>
                </a:solidFill>
                <a:latin typeface="ITC Avant Garde Gothic"/>
                <a:ea typeface="ITC Avant Garde Gothic"/>
                <a:cs typeface="ITC Avant Garde Gothic"/>
              </a:rPr>
              <a:t>29.48 </a:t>
            </a:r>
            <a:r>
              <a:rPr sz="1500" b="0" i="0">
                <a:solidFill>
                  <a:srgbClr val="5E5E5E"/>
                </a:solidFill>
                <a:latin typeface="Arial"/>
                <a:ea typeface="Arial"/>
                <a:cs typeface="Arial"/>
              </a:rPr>
              <a:t>→</a:t>
            </a:r>
            <a:r>
              <a:rPr sz="1500" b="0" i="0">
                <a:solidFill>
                  <a:srgbClr val="5E5E5E"/>
                </a:solidFill>
                <a:latin typeface="ITC Avant Garde Gothic"/>
                <a:ea typeface="ITC Avant Garde Gothic"/>
                <a:cs typeface="ITC Avant Garde Gothic"/>
              </a:rPr>
              <a:t> 31.18 minutes</a:t>
            </a:r>
          </a:p>
        </p:txBody>
      </p:sp>
      <p:sp>
        <p:nvSpPr>
          <p:cNvPr id="25" name="Rounded Rectangle 24"/>
          <p:cNvSpPr/>
          <p:nvPr/>
        </p:nvSpPr>
        <p:spPr>
          <a:xfrm>
            <a:off x="14310360" y="5394960"/>
            <a:ext cx="3429000" cy="2468880"/>
          </a:xfrm>
          <a:prstGeom prst="roundRect">
            <a:avLst>
              <a:gd name="adj" fmla="val 518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6" name="TextBox 25"/>
          <p:cNvSpPr txBox="1"/>
          <p:nvPr/>
        </p:nvSpPr>
        <p:spPr>
          <a:xfrm>
            <a:off x="14447520" y="5577840"/>
            <a:ext cx="3154680" cy="914400"/>
          </a:xfrm>
          <a:prstGeom prst="rect">
            <a:avLst/>
          </a:prstGeom>
          <a:noFill/>
        </p:spPr>
        <p:txBody>
          <a:bodyPr wrap="square" lIns="0" tIns="0" rIns="0" bIns="0" anchor="ctr">
            <a:noAutofit/>
          </a:bodyPr>
          <a:lstStyle/>
          <a:p>
            <a:pPr algn="ctr">
              <a:lnSpc>
                <a:spcPct val="100000"/>
              </a:lnSpc>
            </a:pPr>
            <a:r>
              <a:rPr sz="4000" b="1" i="0">
                <a:solidFill>
                  <a:srgbClr val="8B0707"/>
                </a:solidFill>
                <a:latin typeface="ITC Avant Garde Gothic"/>
                <a:ea typeface="ITC Avant Garde Gothic"/>
                <a:cs typeface="ITC Avant Garde Gothic"/>
              </a:rPr>
              <a:t>298</a:t>
            </a:r>
          </a:p>
        </p:txBody>
      </p:sp>
      <p:sp>
        <p:nvSpPr>
          <p:cNvPr id="27" name="TextBox 26"/>
          <p:cNvSpPr txBox="1"/>
          <p:nvPr/>
        </p:nvSpPr>
        <p:spPr>
          <a:xfrm>
            <a:off x="14447520" y="6537960"/>
            <a:ext cx="3154680" cy="502920"/>
          </a:xfrm>
          <a:prstGeom prst="rect">
            <a:avLst/>
          </a:prstGeom>
          <a:noFill/>
        </p:spPr>
        <p:txBody>
          <a:bodyPr wrap="square" lIns="0" tIns="0" rIns="0" bIns="0" anchor="ctr">
            <a:noAutofit/>
          </a:bodyPr>
          <a:lstStyle/>
          <a:p>
            <a:pPr algn="ctr">
              <a:lnSpc>
                <a:spcPct val="100000"/>
              </a:lnSpc>
            </a:pPr>
            <a:r>
              <a:rPr sz="1700" b="1" i="0">
                <a:solidFill>
                  <a:srgbClr val="262626"/>
                </a:solidFill>
                <a:latin typeface="ITC Avant Garde Gothic"/>
                <a:ea typeface="ITC Avant Garde Gothic"/>
                <a:cs typeface="ITC Avant Garde Gothic"/>
              </a:rPr>
              <a:t>evacuees reach full shelters</a:t>
            </a:r>
          </a:p>
        </p:txBody>
      </p:sp>
      <p:sp>
        <p:nvSpPr>
          <p:cNvPr id="28" name="TextBox 27"/>
          <p:cNvSpPr txBox="1"/>
          <p:nvPr/>
        </p:nvSpPr>
        <p:spPr>
          <a:xfrm>
            <a:off x="14447520" y="7040880"/>
            <a:ext cx="3154680" cy="685800"/>
          </a:xfrm>
          <a:prstGeom prst="rect">
            <a:avLst/>
          </a:prstGeom>
          <a:noFill/>
        </p:spPr>
        <p:txBody>
          <a:bodyPr wrap="square" lIns="0" tIns="0" rIns="0" bIns="0" anchor="t">
            <a:noAutofit/>
          </a:bodyPr>
          <a:lstStyle/>
          <a:p>
            <a:pPr algn="ctr">
              <a:lnSpc>
                <a:spcPct val="100000"/>
              </a:lnSpc>
            </a:pPr>
            <a:r>
              <a:rPr sz="1500" b="0" i="0">
                <a:solidFill>
                  <a:srgbClr val="5E5E5E"/>
                </a:solidFill>
                <a:latin typeface="ITC Avant Garde Gothic"/>
                <a:ea typeface="ITC Avant Garde Gothic"/>
                <a:cs typeface="ITC Avant Garde Gothic"/>
              </a:rPr>
              <a:t>if all go to the nearest site</a:t>
            </a:r>
          </a:p>
        </p:txBody>
      </p:sp>
      <p:sp>
        <p:nvSpPr>
          <p:cNvPr id="29" name="Rounded Rectangle 28"/>
          <p:cNvSpPr/>
          <p:nvPr/>
        </p:nvSpPr>
        <p:spPr>
          <a:xfrm>
            <a:off x="548640" y="8138160"/>
            <a:ext cx="8412480" cy="1691640"/>
          </a:xfrm>
          <a:prstGeom prst="roundRect">
            <a:avLst>
              <a:gd name="adj" fmla="val 7567"/>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0" name="Oval 29"/>
          <p:cNvSpPr/>
          <p:nvPr/>
        </p:nvSpPr>
        <p:spPr>
          <a:xfrm>
            <a:off x="777240" y="8549640"/>
            <a:ext cx="868680" cy="868680"/>
          </a:xfrm>
          <a:prstGeom prst="ellipse">
            <a:avLst/>
          </a:prstGeom>
          <a:solidFill>
            <a:srgbClr val="8B0707"/>
          </a:solidFill>
          <a:ln>
            <a:noFill/>
          </a:ln>
          <a:effectLst/>
        </p:spPr>
        <p:txBody>
          <a:bodyPr rtlCol="0" anchor="ctr"/>
          <a:lstStyle/>
          <a:p>
            <a:pPr algn="ctr"/>
          </a:p>
        </p:txBody>
      </p:sp>
      <p:pic>
        <p:nvPicPr>
          <p:cNvPr id="31" name="Picture 30" descr="w_school.png"/>
          <p:cNvPicPr>
            <a:picLocks noChangeAspect="1"/>
          </p:cNvPicPr>
          <p:nvPr/>
        </p:nvPicPr>
        <p:blipFill>
          <a:blip r:embed="rId4"/>
          <a:stretch>
            <a:fillRect/>
          </a:stretch>
        </p:blipFill>
        <p:spPr>
          <a:xfrm>
            <a:off x="950976" y="8723376"/>
            <a:ext cx="521208" cy="521208"/>
          </a:xfrm>
          <a:prstGeom prst="rect">
            <a:avLst/>
          </a:prstGeom>
        </p:spPr>
      </p:pic>
      <p:sp>
        <p:nvSpPr>
          <p:cNvPr id="32" name="TextBox 31"/>
          <p:cNvSpPr txBox="1"/>
          <p:nvPr/>
        </p:nvSpPr>
        <p:spPr>
          <a:xfrm>
            <a:off x="1828800" y="8183880"/>
            <a:ext cx="6949440" cy="1600200"/>
          </a:xfrm>
          <a:prstGeom prst="rect">
            <a:avLst/>
          </a:prstGeom>
          <a:noFill/>
        </p:spPr>
        <p:txBody>
          <a:bodyPr wrap="square" lIns="0" tIns="0" rIns="0" bIns="0" anchor="ctr">
            <a:noAutofit/>
          </a:bodyPr>
          <a:lstStyle/>
          <a:p>
            <a:pPr algn="l">
              <a:lnSpc>
                <a:spcPct val="100000"/>
              </a:lnSpc>
            </a:pPr>
            <a:r>
              <a:rPr sz="1700" b="1" i="0">
                <a:solidFill>
                  <a:srgbClr val="8B0707"/>
                </a:solidFill>
                <a:latin typeface="ITC Avant Garde Gothic"/>
                <a:ea typeface="ITC Avant Garde Gothic"/>
                <a:cs typeface="ITC Avant Garde Gothic"/>
              </a:rPr>
              <a:t>Over a 15-day stay: </a:t>
            </a:r>
            <a:r>
              <a:rPr sz="1700" b="0" i="0">
                <a:solidFill>
                  <a:srgbClr val="262626"/>
                </a:solidFill>
                <a:latin typeface="ITC Avant Garde Gothic"/>
                <a:ea typeface="ITC Avant Garde Gothic"/>
                <a:cs typeface="ITC Avant Garde Gothic"/>
              </a:rPr>
              <a:t>17,550 learner-days of face-to-face classes kept, or 390 classroom-days.</a:t>
            </a:r>
          </a:p>
        </p:txBody>
      </p:sp>
      <p:sp>
        <p:nvSpPr>
          <p:cNvPr id="33" name="Rounded Rectangle 32"/>
          <p:cNvSpPr/>
          <p:nvPr/>
        </p:nvSpPr>
        <p:spPr>
          <a:xfrm>
            <a:off x="9326880" y="8138160"/>
            <a:ext cx="8412480" cy="1691640"/>
          </a:xfrm>
          <a:prstGeom prst="roundRect">
            <a:avLst>
              <a:gd name="adj" fmla="val 7567"/>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4" name="Oval 33"/>
          <p:cNvSpPr/>
          <p:nvPr/>
        </p:nvSpPr>
        <p:spPr>
          <a:xfrm>
            <a:off x="9555480" y="8549640"/>
            <a:ext cx="868680" cy="868680"/>
          </a:xfrm>
          <a:prstGeom prst="ellipse">
            <a:avLst/>
          </a:prstGeom>
          <a:solidFill>
            <a:srgbClr val="8B0707"/>
          </a:solidFill>
          <a:ln>
            <a:noFill/>
          </a:ln>
          <a:effectLst/>
        </p:spPr>
        <p:txBody>
          <a:bodyPr rtlCol="0" anchor="ctr"/>
          <a:lstStyle/>
          <a:p>
            <a:pPr algn="ctr"/>
          </a:p>
        </p:txBody>
      </p:sp>
      <p:pic>
        <p:nvPicPr>
          <p:cNvPr id="35" name="Picture 34" descr="w_warning.png"/>
          <p:cNvPicPr>
            <a:picLocks noChangeAspect="1"/>
          </p:cNvPicPr>
          <p:nvPr/>
        </p:nvPicPr>
        <p:blipFill>
          <a:blip r:embed="rId5"/>
          <a:stretch>
            <a:fillRect/>
          </a:stretch>
        </p:blipFill>
        <p:spPr>
          <a:xfrm>
            <a:off x="9729216" y="8723376"/>
            <a:ext cx="521208" cy="521208"/>
          </a:xfrm>
          <a:prstGeom prst="rect">
            <a:avLst/>
          </a:prstGeom>
        </p:spPr>
      </p:pic>
      <p:sp>
        <p:nvSpPr>
          <p:cNvPr id="36" name="TextBox 35"/>
          <p:cNvSpPr txBox="1"/>
          <p:nvPr/>
        </p:nvSpPr>
        <p:spPr>
          <a:xfrm>
            <a:off x="10607040" y="8183880"/>
            <a:ext cx="6949440" cy="1600200"/>
          </a:xfrm>
          <a:prstGeom prst="rect">
            <a:avLst/>
          </a:prstGeom>
          <a:noFill/>
        </p:spPr>
        <p:txBody>
          <a:bodyPr wrap="square" lIns="0" tIns="0" rIns="0" bIns="0" anchor="ctr">
            <a:noAutofit/>
          </a:bodyPr>
          <a:lstStyle/>
          <a:p>
            <a:pPr algn="l">
              <a:lnSpc>
                <a:spcPct val="100000"/>
              </a:lnSpc>
            </a:pPr>
            <a:r>
              <a:rPr sz="1700" b="1" i="0">
                <a:solidFill>
                  <a:srgbClr val="8B0707"/>
                </a:solidFill>
                <a:latin typeface="ITC Avant Garde Gothic"/>
                <a:ea typeface="ITC Avant Garde Gothic"/>
                <a:cs typeface="ITC Avant Garde Gothic"/>
              </a:rPr>
              <a:t>Alert Level 4: </a:t>
            </a:r>
            <a:r>
              <a:rPr sz="1700" b="0" i="0">
                <a:solidFill>
                  <a:srgbClr val="262626"/>
                </a:solidFill>
                <a:latin typeface="ITC Avant Garde Gothic"/>
                <a:ea typeface="ITC Avant Garde Gothic"/>
                <a:cs typeface="ITC Avant Garde Gothic"/>
              </a:rPr>
              <a:t>2,390 evacuees fill shelters to 97%; both plans close 60 classrooms. Only new shelters help.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2829970" cy="1645920"/>
          </a:xfrm>
          <a:prstGeom prst="rect">
            <a:avLst/>
          </a:prstGeom>
        </p:spPr>
        <p:txBody>
          <a:bodyPr lIns="0" tIns="0" rIns="0" bIns="0" rtlCol="0" anchor="ctr" wrap="square">
            <a:noAutofit/>
          </a:bodyPr>
          <a:lstStyle/>
          <a:p>
            <a:pPr algn="l">
              <a:lnSpc>
                <a:spcPct val="90000"/>
              </a:lnSpc>
            </a:pPr>
            <a:r>
              <a:rPr sz="7750" b="0" i="0">
                <a:solidFill>
                  <a:srgbClr val="FFFFFF"/>
                </a:solidFill>
                <a:latin typeface="ITC Avant Garde Gothic"/>
                <a:ea typeface="ITC Avant Garde Gothic"/>
                <a:cs typeface="ITC Avant Garde Gothic"/>
              </a:rPr>
              <a:t>RESULTS AND DISCUSSION</a:t>
            </a:r>
          </a:p>
        </p:txBody>
      </p:sp>
      <p:sp>
        <p:nvSpPr>
          <p:cNvPr id="8" name="Subtitle"/>
          <p:cNvSpPr txBox="1"/>
          <p:nvPr/>
        </p:nvSpPr>
        <p:spPr>
          <a:xfrm>
            <a:off x="13455420" y="18288"/>
            <a:ext cx="442110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Clearance Time and Bridges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Single bridges barely matter; a lahar that closes a whole channel does</a:t>
            </a:r>
          </a:p>
        </p:txBody>
      </p:sp>
      <p:sp>
        <p:nvSpPr>
          <p:cNvPr id="10" name="Rounded Rectangle 9"/>
          <p:cNvSpPr/>
          <p:nvPr/>
        </p:nvSpPr>
        <p:spPr>
          <a:xfrm>
            <a:off x="548640" y="2697480"/>
            <a:ext cx="9326880" cy="5623560"/>
          </a:xfrm>
          <a:prstGeom prst="roundRect">
            <a:avLst>
              <a:gd name="adj" fmla="val 2276"/>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pic>
        <p:nvPicPr>
          <p:cNvPr id="11" name="Picture 10" descr="fig_e1_arrivals.png"/>
          <p:cNvPicPr>
            <a:picLocks noChangeAspect="1"/>
          </p:cNvPicPr>
          <p:nvPr/>
        </p:nvPicPr>
        <p:blipFill>
          <a:blip r:embed="rId3"/>
          <a:stretch>
            <a:fillRect/>
          </a:stretch>
        </p:blipFill>
        <p:spPr>
          <a:xfrm>
            <a:off x="731520" y="2834640"/>
            <a:ext cx="8961120" cy="5040630"/>
          </a:xfrm>
          <a:prstGeom prst="rect">
            <a:avLst/>
          </a:prstGeom>
        </p:spPr>
      </p:pic>
      <p:sp>
        <p:nvSpPr>
          <p:cNvPr id="12" name="TextBox 11"/>
          <p:cNvSpPr txBox="1"/>
          <p:nvPr/>
        </p:nvSpPr>
        <p:spPr>
          <a:xfrm>
            <a:off x="822960" y="7920990"/>
            <a:ext cx="8778240" cy="41148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Evacuees inside shelters by minute, F(T), test network E1 (synthetic)</a:t>
            </a:r>
          </a:p>
        </p:txBody>
      </p:sp>
      <p:sp>
        <p:nvSpPr>
          <p:cNvPr id="13" name="Rounded Rectangle 12"/>
          <p:cNvSpPr/>
          <p:nvPr/>
        </p:nvSpPr>
        <p:spPr>
          <a:xfrm>
            <a:off x="10241280" y="2697480"/>
            <a:ext cx="3611880" cy="1965960"/>
          </a:xfrm>
          <a:prstGeom prst="roundRect">
            <a:avLst>
              <a:gd name="adj" fmla="val 6511"/>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14" name="TextBox 13"/>
          <p:cNvSpPr txBox="1"/>
          <p:nvPr/>
        </p:nvSpPr>
        <p:spPr>
          <a:xfrm>
            <a:off x="10332720" y="2788920"/>
            <a:ext cx="3429000" cy="868680"/>
          </a:xfrm>
          <a:prstGeom prst="rect">
            <a:avLst/>
          </a:prstGeom>
          <a:noFill/>
        </p:spPr>
        <p:txBody>
          <a:bodyPr wrap="square" lIns="0" tIns="0" rIns="0" bIns="0" anchor="ctr">
            <a:noAutofit/>
          </a:bodyPr>
          <a:lstStyle/>
          <a:p>
            <a:pPr algn="ctr">
              <a:lnSpc>
                <a:spcPct val="100000"/>
              </a:lnSpc>
            </a:pPr>
            <a:r>
              <a:rPr sz="4000" b="1" i="0">
                <a:solidFill>
                  <a:srgbClr val="F0C04A"/>
                </a:solidFill>
                <a:latin typeface="ITC Avant Garde Gothic"/>
                <a:ea typeface="ITC Avant Garde Gothic"/>
                <a:cs typeface="ITC Avant Garde Gothic"/>
              </a:rPr>
              <a:t>53 min</a:t>
            </a:r>
          </a:p>
        </p:txBody>
      </p:sp>
      <p:sp>
        <p:nvSpPr>
          <p:cNvPr id="15" name="TextBox 14"/>
          <p:cNvSpPr txBox="1"/>
          <p:nvPr/>
        </p:nvSpPr>
        <p:spPr>
          <a:xfrm>
            <a:off x="10424160" y="3657600"/>
            <a:ext cx="3246120" cy="914400"/>
          </a:xfrm>
          <a:prstGeom prst="rect">
            <a:avLst/>
          </a:prstGeom>
          <a:noFill/>
        </p:spPr>
        <p:txBody>
          <a:bodyPr wrap="square" lIns="0" tIns="0" rIns="0" bIns="0" anchor="t">
            <a:noAutofit/>
          </a:bodyPr>
          <a:lstStyle/>
          <a:p>
            <a:pPr algn="ctr">
              <a:lnSpc>
                <a:spcPct val="100000"/>
              </a:lnSpc>
            </a:pPr>
            <a:r>
              <a:rPr sz="1500" b="0" i="0">
                <a:solidFill>
                  <a:srgbClr val="FFFFFF"/>
                </a:solidFill>
                <a:latin typeface="ITC Avant Garde Gothic"/>
                <a:ea typeface="ITC Avant Garde Gothic"/>
                <a:cs typeface="ITC Avant Garde Gothic"/>
              </a:rPr>
              <a:t>clearance time, Alert Level 3</a:t>
            </a:r>
          </a:p>
        </p:txBody>
      </p:sp>
      <p:sp>
        <p:nvSpPr>
          <p:cNvPr id="16" name="Rounded Rectangle 15"/>
          <p:cNvSpPr/>
          <p:nvPr/>
        </p:nvSpPr>
        <p:spPr>
          <a:xfrm>
            <a:off x="14127480" y="2697480"/>
            <a:ext cx="3611880" cy="1965960"/>
          </a:xfrm>
          <a:prstGeom prst="roundRect">
            <a:avLst>
              <a:gd name="adj" fmla="val 6511"/>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7" name="TextBox 16"/>
          <p:cNvSpPr txBox="1"/>
          <p:nvPr/>
        </p:nvSpPr>
        <p:spPr>
          <a:xfrm>
            <a:off x="14218920" y="2788920"/>
            <a:ext cx="3429000" cy="868680"/>
          </a:xfrm>
          <a:prstGeom prst="rect">
            <a:avLst/>
          </a:prstGeom>
          <a:noFill/>
        </p:spPr>
        <p:txBody>
          <a:bodyPr wrap="square" lIns="0" tIns="0" rIns="0" bIns="0" anchor="ctr">
            <a:noAutofit/>
          </a:bodyPr>
          <a:lstStyle/>
          <a:p>
            <a:pPr algn="ctr">
              <a:lnSpc>
                <a:spcPct val="100000"/>
              </a:lnSpc>
            </a:pPr>
            <a:r>
              <a:rPr sz="4000" b="1" i="0">
                <a:solidFill>
                  <a:srgbClr val="8B0707"/>
                </a:solidFill>
                <a:latin typeface="ITC Avant Garde Gothic"/>
                <a:ea typeface="ITC Avant Garde Gothic"/>
                <a:cs typeface="ITC Avant Garde Gothic"/>
              </a:rPr>
              <a:t>34 min</a:t>
            </a:r>
          </a:p>
        </p:txBody>
      </p:sp>
      <p:sp>
        <p:nvSpPr>
          <p:cNvPr id="18" name="TextBox 17"/>
          <p:cNvSpPr txBox="1"/>
          <p:nvPr/>
        </p:nvSpPr>
        <p:spPr>
          <a:xfrm>
            <a:off x="14310360" y="3657600"/>
            <a:ext cx="3246120" cy="914400"/>
          </a:xfrm>
          <a:prstGeom prst="rect">
            <a:avLst/>
          </a:prstGeom>
          <a:noFill/>
        </p:spPr>
        <p:txBody>
          <a:bodyPr wrap="square" lIns="0" tIns="0" rIns="0" bIns="0" anchor="t">
            <a:noAutofit/>
          </a:bodyPr>
          <a:lstStyle/>
          <a:p>
            <a:pPr algn="ctr">
              <a:lnSpc>
                <a:spcPct val="100000"/>
              </a:lnSpc>
            </a:pPr>
            <a:r>
              <a:rPr sz="1500" b="0" i="0">
                <a:solidFill>
                  <a:srgbClr val="262626"/>
                </a:solidFill>
                <a:latin typeface="ITC Avant Garde Gothic"/>
                <a:ea typeface="ITC Avant Garde Gothic"/>
                <a:cs typeface="ITC Avant Garde Gothic"/>
              </a:rPr>
              <a:t>lower bound, no time-expanded network</a:t>
            </a:r>
          </a:p>
        </p:txBody>
      </p:sp>
      <p:sp>
        <p:nvSpPr>
          <p:cNvPr id="19" name="TextBox 18"/>
          <p:cNvSpPr txBox="1"/>
          <p:nvPr/>
        </p:nvSpPr>
        <p:spPr>
          <a:xfrm>
            <a:off x="10241280" y="4846320"/>
            <a:ext cx="7498080" cy="411480"/>
          </a:xfrm>
          <a:prstGeom prst="rect">
            <a:avLst/>
          </a:prstGeom>
          <a:noFill/>
        </p:spPr>
        <p:txBody>
          <a:bodyPr wrap="square" lIns="0" tIns="0" rIns="0" bIns="0" anchor="t">
            <a:noAutofit/>
          </a:bodyPr>
          <a:lstStyle/>
          <a:p>
            <a:pPr algn="l">
              <a:lnSpc>
                <a:spcPct val="100000"/>
              </a:lnSpc>
            </a:pPr>
            <a:r>
              <a:rPr sz="1700" b="1" i="0">
                <a:solidFill>
                  <a:srgbClr val="8B0707"/>
                </a:solidFill>
                <a:latin typeface="ITC Avant Garde Gothic"/>
                <a:ea typeface="ITC Avant Garde Gothic"/>
                <a:cs typeface="ITC Avant Garde Gothic"/>
              </a:rPr>
              <a:t>Lahar channels closed at Alert Level 4 (plan held fixed)</a:t>
            </a:r>
          </a:p>
        </p:txBody>
      </p:sp>
      <p:graphicFrame>
        <p:nvGraphicFramePr>
          <p:cNvPr id="20" name="Table 19"/>
          <p:cNvGraphicFramePr>
            <a:graphicFrameLocks noGrp="1"/>
          </p:cNvGraphicFramePr>
          <p:nvPr/>
        </p:nvGraphicFramePr>
        <p:xfrm>
          <a:off x="10241280" y="5321808"/>
          <a:ext cx="7498080" cy="2798064"/>
        </p:xfrm>
        <a:graphic>
          <a:graphicData uri="http://schemas.openxmlformats.org/drawingml/2006/table">
            <a:tbl>
              <a:tblPr firstRow="1" bandRow="0">
                <a:tableStyleId>{5C22544A-7EE6-4342-B048-85BDC9FD1C3A}</a:tableStyleId>
              </a:tblPr>
              <a:tblGrid>
                <a:gridCol w="3291840"/>
                <a:gridCol w="1920240"/>
                <a:gridCol w="2286000"/>
              </a:tblGrid>
              <a:tr h="530352">
                <a:tc>
                  <a:txBody>
                    <a:bodyPr wrap="square"/>
                    <a:lstStyle/>
                    <a:p>
                      <a:pPr algn="l"/>
                      <a:r>
                        <a:rPr sz="1600" b="1" i="0">
                          <a:solidFill>
                            <a:srgbClr val="FFFFFF"/>
                          </a:solidFill>
                          <a:latin typeface="ITC Avant Garde Gothic"/>
                          <a:ea typeface="ITC Avant Garde Gothic"/>
                          <a:cs typeface="ITC Avant Garde Gothic"/>
                        </a:rPr>
                        <a:t>Bridges closed</a:t>
                      </a:r>
                    </a:p>
                  </a:txBody>
                  <a:tcPr marL="91440" marT="36576" marR="91440" marB="36576" anchor="ctr">
                    <a:solidFill>
                      <a:srgbClr val="8B0707"/>
                    </a:solidFill>
                  </a:tcPr>
                </a:tc>
                <a:tc>
                  <a:txBody>
                    <a:bodyPr wrap="square"/>
                    <a:lstStyle/>
                    <a:p>
                      <a:pPr algn="r"/>
                      <a:r>
                        <a:rPr sz="1600" b="1" i="0">
                          <a:solidFill>
                            <a:srgbClr val="FFFFFF"/>
                          </a:solidFill>
                          <a:latin typeface="ITC Avant Garde Gothic"/>
                          <a:ea typeface="ITC Avant Garde Gothic"/>
                          <a:cs typeface="ITC Avant Garde Gothic"/>
                        </a:rPr>
                        <a:t>Clearance</a:t>
                      </a:r>
                    </a:p>
                  </a:txBody>
                  <a:tcPr marL="91440" marT="36576" marR="91440" marB="36576" anchor="ctr">
                    <a:solidFill>
                      <a:srgbClr val="8B0707"/>
                    </a:solidFill>
                  </a:tcPr>
                </a:tc>
                <a:tc>
                  <a:txBody>
                    <a:bodyPr wrap="square"/>
                    <a:lstStyle/>
                    <a:p>
                      <a:pPr algn="r"/>
                      <a:r>
                        <a:rPr sz="1600" b="1" i="0">
                          <a:solidFill>
                            <a:srgbClr val="FFFFFF"/>
                          </a:solidFill>
                          <a:latin typeface="ITC Avant Garde Gothic"/>
                          <a:ea typeface="ITC Avant Garde Gothic"/>
                          <a:cs typeface="ITC Avant Garde Gothic"/>
                        </a:rPr>
                        <a:t>Change</a:t>
                      </a:r>
                    </a:p>
                  </a:txBody>
                  <a:tcPr marL="91440" marT="36576" marR="91440" marB="36576" anchor="ctr">
                    <a:solidFill>
                      <a:srgbClr val="8B0707"/>
                    </a:solidFill>
                  </a:tcPr>
                </a:tc>
              </a:tr>
              <a:tr h="566928">
                <a:tc>
                  <a:txBody>
                    <a:bodyPr wrap="square"/>
                    <a:lstStyle/>
                    <a:p>
                      <a:pPr algn="l"/>
                      <a:r>
                        <a:rPr sz="1700" b="1" i="0">
                          <a:solidFill>
                            <a:srgbClr val="262626"/>
                          </a:solidFill>
                          <a:latin typeface="ITC Avant Garde Gothic"/>
                          <a:ea typeface="ITC Avant Garde Gothic"/>
                          <a:cs typeface="ITC Avant Garde Gothic"/>
                        </a:rPr>
                        <a:t>None</a:t>
                      </a:r>
                    </a:p>
                  </a:txBody>
                  <a:tcPr marL="91440" marT="36576" marR="91440" marB="36576" anchor="ctr">
                    <a:solidFill>
                      <a:srgbClr val="FFFFFF"/>
                    </a:solidFill>
                  </a:tcPr>
                </a:tc>
                <a:tc>
                  <a:txBody>
                    <a:bodyPr wrap="square"/>
                    <a:lstStyle/>
                    <a:p>
                      <a:pPr algn="r"/>
                      <a:r>
                        <a:rPr sz="1700" b="0" i="0">
                          <a:solidFill>
                            <a:srgbClr val="262626"/>
                          </a:solidFill>
                          <a:latin typeface="ITC Avant Garde Gothic"/>
                          <a:ea typeface="ITC Avant Garde Gothic"/>
                          <a:cs typeface="ITC Avant Garde Gothic"/>
                        </a:rPr>
                        <a:t>53 min</a:t>
                      </a:r>
                    </a:p>
                  </a:txBody>
                  <a:tcPr marL="91440" marT="36576" marR="91440" marB="36576" anchor="ctr">
                    <a:solidFill>
                      <a:srgbClr val="FFFFFF"/>
                    </a:solidFill>
                  </a:tcPr>
                </a:tc>
                <a:tc>
                  <a:txBody>
                    <a:bodyPr wrap="square"/>
                    <a:lstStyle/>
                    <a:p>
                      <a:pPr algn="r"/>
                      <a:r>
                        <a:rPr sz="1700" b="1" i="0">
                          <a:solidFill>
                            <a:srgbClr val="8B0707"/>
                          </a:solidFill>
                          <a:latin typeface="ITC Avant Garde Gothic"/>
                          <a:ea typeface="ITC Avant Garde Gothic"/>
                          <a:cs typeface="ITC Avant Garde Gothic"/>
                        </a:rPr>
                        <a:t>–</a:t>
                      </a:r>
                    </a:p>
                  </a:txBody>
                  <a:tcPr marL="91440" marT="36576" marR="91440" marB="36576" anchor="ctr">
                    <a:solidFill>
                      <a:srgbClr val="FFFFFF"/>
                    </a:solidFill>
                  </a:tcPr>
                </a:tc>
              </a:tr>
              <a:tr h="566928">
                <a:tc>
                  <a:txBody>
                    <a:bodyPr wrap="square"/>
                    <a:lstStyle/>
                    <a:p>
                      <a:pPr algn="l"/>
                      <a:r>
                        <a:rPr sz="1700" b="1" i="0">
                          <a:solidFill>
                            <a:srgbClr val="262626"/>
                          </a:solidFill>
                          <a:latin typeface="ITC Avant Garde Gothic"/>
                          <a:ea typeface="ITC Avant Garde Gothic"/>
                          <a:cs typeface="ITC Avant Garde Gothic"/>
                        </a:rPr>
                        <a:t>Channel A (A1 to A4)</a:t>
                      </a:r>
                    </a:p>
                  </a:txBody>
                  <a:tcPr marL="91440" marT="36576" marR="91440" marB="36576" anchor="ctr">
                    <a:solidFill>
                      <a:srgbClr val="FBF3F3"/>
                    </a:solidFill>
                  </a:tcPr>
                </a:tc>
                <a:tc>
                  <a:txBody>
                    <a:bodyPr wrap="square"/>
                    <a:lstStyle/>
                    <a:p>
                      <a:pPr algn="r"/>
                      <a:r>
                        <a:rPr sz="1700" b="0" i="0">
                          <a:solidFill>
                            <a:srgbClr val="262626"/>
                          </a:solidFill>
                          <a:latin typeface="ITC Avant Garde Gothic"/>
                          <a:ea typeface="ITC Avant Garde Gothic"/>
                          <a:cs typeface="ITC Avant Garde Gothic"/>
                        </a:rPr>
                        <a:t>95 min</a:t>
                      </a:r>
                    </a:p>
                  </a:txBody>
                  <a:tcPr marL="91440" marT="36576" marR="91440" marB="36576" anchor="ctr">
                    <a:solidFill>
                      <a:srgbClr val="FBF3F3"/>
                    </a:solidFill>
                  </a:tcPr>
                </a:tc>
                <a:tc>
                  <a:txBody>
                    <a:bodyPr wrap="square"/>
                    <a:lstStyle/>
                    <a:p>
                      <a:pPr algn="r"/>
                      <a:r>
                        <a:rPr sz="1700" b="1" i="0">
                          <a:solidFill>
                            <a:srgbClr val="8B0707"/>
                          </a:solidFill>
                          <a:latin typeface="ITC Avant Garde Gothic"/>
                          <a:ea typeface="ITC Avant Garde Gothic"/>
                          <a:cs typeface="ITC Avant Garde Gothic"/>
                        </a:rPr>
                        <a:t>+42 min</a:t>
                      </a:r>
                    </a:p>
                  </a:txBody>
                  <a:tcPr marL="91440" marT="36576" marR="91440" marB="36576" anchor="ctr">
                    <a:solidFill>
                      <a:srgbClr val="FBF3F3"/>
                    </a:solidFill>
                  </a:tcPr>
                </a:tc>
              </a:tr>
              <a:tr h="566928">
                <a:tc>
                  <a:txBody>
                    <a:bodyPr wrap="square"/>
                    <a:lstStyle/>
                    <a:p>
                      <a:pPr algn="l"/>
                      <a:r>
                        <a:rPr sz="1700" b="1" i="0">
                          <a:solidFill>
                            <a:srgbClr val="262626"/>
                          </a:solidFill>
                          <a:latin typeface="ITC Avant Garde Gothic"/>
                          <a:ea typeface="ITC Avant Garde Gothic"/>
                          <a:cs typeface="ITC Avant Garde Gothic"/>
                        </a:rPr>
                        <a:t>Channel B (B1 to B3)</a:t>
                      </a:r>
                    </a:p>
                  </a:txBody>
                  <a:tcPr marL="91440" marT="36576" marR="91440" marB="36576" anchor="ctr">
                    <a:solidFill>
                      <a:srgbClr val="FFFFFF"/>
                    </a:solidFill>
                  </a:tcPr>
                </a:tc>
                <a:tc>
                  <a:txBody>
                    <a:bodyPr wrap="square"/>
                    <a:lstStyle/>
                    <a:p>
                      <a:pPr algn="r"/>
                      <a:r>
                        <a:rPr sz="1700" b="0" i="0">
                          <a:solidFill>
                            <a:srgbClr val="262626"/>
                          </a:solidFill>
                          <a:latin typeface="ITC Avant Garde Gothic"/>
                          <a:ea typeface="ITC Avant Garde Gothic"/>
                          <a:cs typeface="ITC Avant Garde Gothic"/>
                        </a:rPr>
                        <a:t>74 min</a:t>
                      </a:r>
                    </a:p>
                  </a:txBody>
                  <a:tcPr marL="91440" marT="36576" marR="91440" marB="36576" anchor="ctr">
                    <a:solidFill>
                      <a:srgbClr val="FFFFFF"/>
                    </a:solidFill>
                  </a:tcPr>
                </a:tc>
                <a:tc>
                  <a:txBody>
                    <a:bodyPr wrap="square"/>
                    <a:lstStyle/>
                    <a:p>
                      <a:pPr algn="r"/>
                      <a:r>
                        <a:rPr sz="1700" b="1" i="0">
                          <a:solidFill>
                            <a:srgbClr val="8B0707"/>
                          </a:solidFill>
                          <a:latin typeface="ITC Avant Garde Gothic"/>
                          <a:ea typeface="ITC Avant Garde Gothic"/>
                          <a:cs typeface="ITC Avant Garde Gothic"/>
                        </a:rPr>
                        <a:t>+21 min</a:t>
                      </a:r>
                    </a:p>
                  </a:txBody>
                  <a:tcPr marL="91440" marT="36576" marR="91440" marB="36576" anchor="ctr">
                    <a:solidFill>
                      <a:srgbClr val="FFFFFF"/>
                    </a:solidFill>
                  </a:tcPr>
                </a:tc>
              </a:tr>
              <a:tr h="566928">
                <a:tc>
                  <a:txBody>
                    <a:bodyPr wrap="square"/>
                    <a:lstStyle/>
                    <a:p>
                      <a:pPr algn="l"/>
                      <a:r>
                        <a:rPr sz="1700" b="1" i="0">
                          <a:solidFill>
                            <a:srgbClr val="262626"/>
                          </a:solidFill>
                          <a:latin typeface="ITC Avant Garde Gothic"/>
                          <a:ea typeface="ITC Avant Garde Gothic"/>
                          <a:cs typeface="ITC Avant Garde Gothic"/>
                        </a:rPr>
                        <a:t>Both channels</a:t>
                      </a:r>
                    </a:p>
                  </a:txBody>
                  <a:tcPr marL="91440" marT="36576" marR="91440" marB="36576" anchor="ctr">
                    <a:solidFill>
                      <a:srgbClr val="FBF3F3"/>
                    </a:solidFill>
                  </a:tcPr>
                </a:tc>
                <a:tc>
                  <a:txBody>
                    <a:bodyPr wrap="square"/>
                    <a:lstStyle/>
                    <a:p>
                      <a:pPr algn="r"/>
                      <a:r>
                        <a:rPr sz="1700" b="0" i="0">
                          <a:solidFill>
                            <a:srgbClr val="262626"/>
                          </a:solidFill>
                          <a:latin typeface="ITC Avant Garde Gothic"/>
                          <a:ea typeface="ITC Avant Garde Gothic"/>
                          <a:cs typeface="ITC Avant Garde Gothic"/>
                        </a:rPr>
                        <a:t>never ends</a:t>
                      </a:r>
                    </a:p>
                  </a:txBody>
                  <a:tcPr marL="91440" marT="36576" marR="91440" marB="36576" anchor="ctr">
                    <a:solidFill>
                      <a:srgbClr val="FBF3F3"/>
                    </a:solidFill>
                  </a:tcPr>
                </a:tc>
                <a:tc>
                  <a:txBody>
                    <a:bodyPr wrap="square"/>
                    <a:lstStyle/>
                    <a:p>
                      <a:pPr algn="r"/>
                      <a:r>
                        <a:rPr sz="1700" b="1" i="0">
                          <a:solidFill>
                            <a:srgbClr val="8B0707"/>
                          </a:solidFill>
                          <a:latin typeface="ITC Avant Garde Gothic"/>
                          <a:ea typeface="ITC Avant Garde Gothic"/>
                          <a:cs typeface="ITC Avant Garde Gothic"/>
                        </a:rPr>
                        <a:t>450 trapped</a:t>
                      </a:r>
                    </a:p>
                  </a:txBody>
                  <a:tcPr marL="91440" marT="36576" marR="91440" marB="36576" anchor="ctr">
                    <a:solidFill>
                      <a:srgbClr val="FBF3F3"/>
                    </a:solidFill>
                  </a:tcPr>
                </a:tc>
              </a:tr>
            </a:tbl>
          </a:graphicData>
        </a:graphic>
      </p:graphicFrame>
      <p:sp>
        <p:nvSpPr>
          <p:cNvPr id="21" name="Rounded Rectangle 20"/>
          <p:cNvSpPr/>
          <p:nvPr/>
        </p:nvSpPr>
        <p:spPr>
          <a:xfrm>
            <a:off x="548640" y="8549640"/>
            <a:ext cx="17190720" cy="1280160"/>
          </a:xfrm>
          <a:prstGeom prst="roundRect">
            <a:avLst>
              <a:gd name="adj" fmla="val 10000"/>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22" name="Oval 21"/>
          <p:cNvSpPr/>
          <p:nvPr/>
        </p:nvSpPr>
        <p:spPr>
          <a:xfrm>
            <a:off x="822960" y="8686800"/>
            <a:ext cx="1005840" cy="1005840"/>
          </a:xfrm>
          <a:prstGeom prst="ellipse">
            <a:avLst/>
          </a:prstGeom>
          <a:solidFill>
            <a:srgbClr val="A82A2A"/>
          </a:solidFill>
          <a:ln>
            <a:noFill/>
          </a:ln>
          <a:effectLst/>
        </p:spPr>
        <p:txBody>
          <a:bodyPr rtlCol="0" anchor="ctr"/>
          <a:lstStyle/>
          <a:p>
            <a:pPr algn="ctr"/>
          </a:p>
        </p:txBody>
      </p:sp>
      <p:pic>
        <p:nvPicPr>
          <p:cNvPr id="23" name="Picture 22" descr="w_landslide.png"/>
          <p:cNvPicPr>
            <a:picLocks noChangeAspect="1"/>
          </p:cNvPicPr>
          <p:nvPr/>
        </p:nvPicPr>
        <p:blipFill>
          <a:blip r:embed="rId4"/>
          <a:stretch>
            <a:fillRect/>
          </a:stretch>
        </p:blipFill>
        <p:spPr>
          <a:xfrm>
            <a:off x="1024128" y="8887968"/>
            <a:ext cx="603504" cy="603504"/>
          </a:xfrm>
          <a:prstGeom prst="rect">
            <a:avLst/>
          </a:prstGeom>
        </p:spPr>
      </p:pic>
      <p:sp>
        <p:nvSpPr>
          <p:cNvPr id="24" name="TextBox 23"/>
          <p:cNvSpPr txBox="1"/>
          <p:nvPr/>
        </p:nvSpPr>
        <p:spPr>
          <a:xfrm>
            <a:off x="2057400" y="8549640"/>
            <a:ext cx="15407640" cy="1280160"/>
          </a:xfrm>
          <a:prstGeom prst="rect">
            <a:avLst/>
          </a:prstGeom>
          <a:noFill/>
        </p:spPr>
        <p:txBody>
          <a:bodyPr wrap="square" lIns="0" tIns="0" rIns="0" bIns="0" anchor="ctr">
            <a:noAutofit/>
          </a:bodyPr>
          <a:lstStyle/>
          <a:p>
            <a:pPr algn="l">
              <a:lnSpc>
                <a:spcPct val="100000"/>
              </a:lnSpc>
            </a:pPr>
            <a:r>
              <a:rPr sz="1800" b="1" i="0">
                <a:solidFill>
                  <a:srgbClr val="F0C04A"/>
                </a:solidFill>
                <a:latin typeface="ITC Avant Garde Gothic"/>
                <a:ea typeface="ITC Avant Garde Gothic"/>
                <a:cs typeface="ITC Avant Garde Gothic"/>
              </a:rPr>
              <a:t>Warning no single-bridge study gives:  </a:t>
            </a:r>
            <a:r>
              <a:rPr sz="1800" b="0" i="0">
                <a:solidFill>
                  <a:srgbClr val="FFFFFF"/>
                </a:solidFill>
                <a:latin typeface="ITC Avant Garde Gothic"/>
                <a:ea typeface="ITC Avant Garde Gothic"/>
                <a:cs typeface="ITC Avant Garde Gothic"/>
              </a:rPr>
              <a:t>losing both channels cuts off a southern pocket (O3, O4, school SCH1). Evacuate it before lahar-producing rain, or give it a shelter of its own.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349035" cy="1645920"/>
          </a:xfrm>
          <a:prstGeom prst="rect">
            <a:avLst/>
          </a:prstGeom>
        </p:spPr>
        <p:txBody>
          <a:bodyPr lIns="0" tIns="0" rIns="0" bIns="0" rtlCol="0" anchor="ctr" wrap="square">
            <a:noAutofit/>
          </a:bodyPr>
          <a:lstStyle/>
          <a:p>
            <a:pPr algn="l">
              <a:lnSpc>
                <a:spcPct val="90000"/>
              </a:lnSpc>
            </a:pPr>
            <a:r>
              <a:rPr sz="7750" b="0" i="0">
                <a:solidFill>
                  <a:srgbClr val="FFFFFF"/>
                </a:solidFill>
                <a:latin typeface="ITC Avant Garde Gothic"/>
                <a:ea typeface="ITC Avant Garde Gothic"/>
                <a:cs typeface="ITC Avant Garde Gothic"/>
              </a:rPr>
              <a:t>RESULTS AND DISCUSSION</a:t>
            </a:r>
          </a:p>
        </p:txBody>
      </p:sp>
      <p:sp>
        <p:nvSpPr>
          <p:cNvPr id="8" name="Subtitle"/>
          <p:cNvSpPr txBox="1"/>
          <p:nvPr/>
        </p:nvSpPr>
        <p:spPr>
          <a:xfrm>
            <a:off x="13974485" y="18288"/>
            <a:ext cx="3902035"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Ligtas Pinoy Center Siting</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400" b="1" i="0">
                <a:solidFill>
                  <a:srgbClr val="8B0707"/>
                </a:solidFill>
                <a:latin typeface="ITC Avant Garde Gothic"/>
                <a:ea typeface="ITC Avant Garde Gothic"/>
                <a:cs typeface="ITC Avant Garde Gothic"/>
              </a:rPr>
              <a:t>Compound scenario (Alert Level 4 + lahar), 30-minute standard: the first site goes inside the trapped pocket</a:t>
            </a:r>
          </a:p>
        </p:txBody>
      </p:sp>
      <p:graphicFrame>
        <p:nvGraphicFramePr>
          <p:cNvPr id="10" name="Table 9"/>
          <p:cNvGraphicFramePr>
            <a:graphicFrameLocks noGrp="1"/>
          </p:cNvGraphicFramePr>
          <p:nvPr/>
        </p:nvGraphicFramePr>
        <p:xfrm>
          <a:off x="548640" y="2697480"/>
          <a:ext cx="9509760" cy="2615184"/>
        </p:xfrm>
        <a:graphic>
          <a:graphicData uri="http://schemas.openxmlformats.org/drawingml/2006/table">
            <a:tbl>
              <a:tblPr firstRow="1" bandRow="0">
                <a:tableStyleId>{5C22544A-7EE6-4342-B048-85BDC9FD1C3A}</a:tableStyleId>
              </a:tblPr>
              <a:tblGrid>
                <a:gridCol w="960120"/>
                <a:gridCol w="2468880"/>
                <a:gridCol w="960120"/>
                <a:gridCol w="1691640"/>
                <a:gridCol w="1691640"/>
                <a:gridCol w="1737360"/>
              </a:tblGrid>
              <a:tr h="566928">
                <a:tc>
                  <a:txBody>
                    <a:bodyPr wrap="square"/>
                    <a:lstStyle/>
                    <a:p>
                      <a:pPr algn="ctr"/>
                      <a:r>
                        <a:rPr sz="1500" b="1" i="0">
                          <a:solidFill>
                            <a:srgbClr val="FFFFFF"/>
                          </a:solidFill>
                          <a:latin typeface="ITC Avant Garde Gothic"/>
                          <a:ea typeface="ITC Avant Garde Gothic"/>
                          <a:cs typeface="ITC Avant Garde Gothic"/>
                        </a:rPr>
                        <a:t>Sites (k)</a:t>
                      </a:r>
                    </a:p>
                  </a:txBody>
                  <a:tcPr marL="91440" marT="36576" marR="91440" marB="36576" anchor="ctr">
                    <a:solidFill>
                      <a:srgbClr val="8B0707"/>
                    </a:solidFill>
                  </a:tcPr>
                </a:tc>
                <a:tc>
                  <a:txBody>
                    <a:bodyPr wrap="square"/>
                    <a:lstStyle/>
                    <a:p>
                      <a:pPr algn="l"/>
                      <a:r>
                        <a:rPr sz="1500" b="1" i="0">
                          <a:solidFill>
                            <a:srgbClr val="FFFFFF"/>
                          </a:solidFill>
                          <a:latin typeface="ITC Avant Garde Gothic"/>
                          <a:ea typeface="ITC Avant Garde Gothic"/>
                          <a:cs typeface="ITC Avant Garde Gothic"/>
                        </a:rPr>
                        <a:t>Greedy choice</a:t>
                      </a:r>
                    </a:p>
                  </a:txBody>
                  <a:tcPr marL="91440" marT="36576" marR="91440" marB="36576" anchor="ctr">
                    <a:solidFill>
                      <a:srgbClr val="8B0707"/>
                    </a:solidFill>
                  </a:tcPr>
                </a:tc>
                <a:tc>
                  <a:txBody>
                    <a:bodyPr wrap="square"/>
                    <a:lstStyle/>
                    <a:p>
                      <a:pPr algn="r"/>
                      <a:r>
                        <a:rPr sz="1500" b="1" i="0">
                          <a:solidFill>
                            <a:srgbClr val="FFFFFF"/>
                          </a:solidFill>
                          <a:latin typeface="ITC Avant Garde Gothic"/>
                          <a:ea typeface="ITC Avant Garde Gothic"/>
                          <a:cs typeface="ITC Avant Garde Gothic"/>
                        </a:rPr>
                        <a:t>Gain</a:t>
                      </a:r>
                    </a:p>
                  </a:txBody>
                  <a:tcPr marL="91440" marT="36576" marR="91440" marB="36576" anchor="ctr">
                    <a:solidFill>
                      <a:srgbClr val="8B0707"/>
                    </a:solidFill>
                  </a:tcPr>
                </a:tc>
                <a:tc>
                  <a:txBody>
                    <a:bodyPr wrap="square"/>
                    <a:lstStyle/>
                    <a:p>
                      <a:pPr algn="r"/>
                      <a:r>
                        <a:rPr sz="1500" b="1" i="0">
                          <a:solidFill>
                            <a:srgbClr val="FFFFFF"/>
                          </a:solidFill>
                          <a:latin typeface="ITC Avant Garde Gothic"/>
                          <a:ea typeface="ITC Avant Garde Gothic"/>
                          <a:cs typeface="ITC Avant Garde Gothic"/>
                        </a:rPr>
                        <a:t>Not sheltered</a:t>
                      </a:r>
                    </a:p>
                  </a:txBody>
                  <a:tcPr marL="91440" marT="36576" marR="91440" marB="36576" anchor="ctr">
                    <a:solidFill>
                      <a:srgbClr val="8B0707"/>
                    </a:solidFill>
                  </a:tcPr>
                </a:tc>
                <a:tc>
                  <a:txBody>
                    <a:bodyPr wrap="square"/>
                    <a:lstStyle/>
                    <a:p>
                      <a:pPr algn="r"/>
                      <a:r>
                        <a:rPr sz="1500" b="1" i="0">
                          <a:solidFill>
                            <a:srgbClr val="FFFFFF"/>
                          </a:solidFill>
                          <a:latin typeface="ITC Avant Garde Gothic"/>
                          <a:ea typeface="ITC Avant Garde Gothic"/>
                          <a:cs typeface="ITC Avant Garde Gothic"/>
                        </a:rPr>
                        <a:t>In classrooms</a:t>
                      </a:r>
                    </a:p>
                  </a:txBody>
                  <a:tcPr marL="91440" marT="36576" marR="91440" marB="36576" anchor="ctr">
                    <a:solidFill>
                      <a:srgbClr val="8B0707"/>
                    </a:solidFill>
                  </a:tcPr>
                </a:tc>
                <a:tc>
                  <a:txBody>
                    <a:bodyPr wrap="square"/>
                    <a:lstStyle/>
                    <a:p>
                      <a:pPr algn="r"/>
                      <a:r>
                        <a:rPr sz="1500" b="1" i="0">
                          <a:solidFill>
                            <a:srgbClr val="FFFFFF"/>
                          </a:solidFill>
                          <a:latin typeface="ITC Avant Garde Gothic"/>
                          <a:ea typeface="ITC Avant Garde Gothic"/>
                          <a:cs typeface="ITC Avant Garde Gothic"/>
                        </a:rPr>
                        <a:t>Rooms closed</a:t>
                      </a:r>
                    </a:p>
                  </a:txBody>
                  <a:tcPr marL="91440" marT="36576" marR="91440" marB="36576" anchor="ctr">
                    <a:solidFill>
                      <a:srgbClr val="8B0707"/>
                    </a:solidFill>
                  </a:tcPr>
                </a:tc>
              </a:tr>
              <a:tr h="512064">
                <a:tc>
                  <a:txBody>
                    <a:bodyPr wrap="square"/>
                    <a:lstStyle/>
                    <a:p>
                      <a:pPr algn="ctr"/>
                      <a:r>
                        <a:rPr sz="1600" b="1" i="0">
                          <a:solidFill>
                            <a:srgbClr val="8B0707"/>
                          </a:solidFill>
                          <a:latin typeface="ITC Avant Garde Gothic"/>
                          <a:ea typeface="ITC Avant Garde Gothic"/>
                          <a:cs typeface="ITC Avant Garde Gothic"/>
                        </a:rPr>
                        <a:t>0</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0</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450</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920</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52</a:t>
                      </a:r>
                    </a:p>
                  </a:txBody>
                  <a:tcPr marL="91440" marT="36576" marR="91440" marB="36576" anchor="ctr">
                    <a:solidFill>
                      <a:srgbClr val="FFFFFF"/>
                    </a:solidFill>
                  </a:tcPr>
                </a:tc>
              </a:tr>
              <a:tr h="512064">
                <a:tc>
                  <a:txBody>
                    <a:bodyPr wrap="square"/>
                    <a:lstStyle/>
                    <a:p>
                      <a:pPr algn="ctr"/>
                      <a:r>
                        <a:rPr sz="1600" b="1" i="0">
                          <a:solidFill>
                            <a:srgbClr val="8B0707"/>
                          </a:solidFill>
                          <a:latin typeface="ITC Avant Garde Gothic"/>
                          <a:ea typeface="ITC Avant Garde Gothic"/>
                          <a:cs typeface="ITC Avant Garde Gothic"/>
                        </a:rPr>
                        <a:t>1</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South town</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400</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50</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920</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52</a:t>
                      </a:r>
                    </a:p>
                  </a:txBody>
                  <a:tcPr marL="91440" marT="36576" marR="91440" marB="36576" anchor="ctr">
                    <a:solidFill>
                      <a:srgbClr val="FBF3F3"/>
                    </a:solidFill>
                  </a:tcPr>
                </a:tc>
              </a:tr>
              <a:tr h="512064">
                <a:tc>
                  <a:txBody>
                    <a:bodyPr wrap="square"/>
                    <a:lstStyle/>
                    <a:p>
                      <a:pPr algn="ctr"/>
                      <a:r>
                        <a:rPr sz="1600" b="1" i="0">
                          <a:solidFill>
                            <a:srgbClr val="8B0707"/>
                          </a:solidFill>
                          <a:latin typeface="ITC Avant Garde Gothic"/>
                          <a:ea typeface="ITC Avant Garde Gothic"/>
                          <a:cs typeface="ITC Avant Garde Gothic"/>
                        </a:rPr>
                        <a:t>2</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 Northeast town</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750</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50</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570</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32</a:t>
                      </a:r>
                    </a:p>
                  </a:txBody>
                  <a:tcPr marL="91440" marT="36576" marR="91440" marB="36576" anchor="ctr">
                    <a:solidFill>
                      <a:srgbClr val="FFFFFF"/>
                    </a:solidFill>
                  </a:tcPr>
                </a:tc>
              </a:tr>
              <a:tr h="512064">
                <a:tc>
                  <a:txBody>
                    <a:bodyPr wrap="square"/>
                    <a:lstStyle/>
                    <a:p>
                      <a:pPr algn="ctr"/>
                      <a:r>
                        <a:rPr sz="1600" b="1" i="0">
                          <a:solidFill>
                            <a:srgbClr val="8B0707"/>
                          </a:solidFill>
                          <a:latin typeface="ITC Avant Garde Gothic"/>
                          <a:ea typeface="ITC Avant Garde Gothic"/>
                          <a:cs typeface="ITC Avant Garde Gothic"/>
                        </a:rPr>
                        <a:t>3</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 Southwest town</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900</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50</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360</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20</a:t>
                      </a:r>
                    </a:p>
                  </a:txBody>
                  <a:tcPr marL="91440" marT="36576" marR="91440" marB="36576" anchor="ctr">
                    <a:solidFill>
                      <a:srgbClr val="FBF3F3"/>
                    </a:solidFill>
                  </a:tcPr>
                </a:tc>
              </a:tr>
            </a:tbl>
          </a:graphicData>
        </a:graphic>
      </p:graphicFrame>
      <p:sp>
        <p:nvSpPr>
          <p:cNvPr id="11" name="Rounded Rectangle 10"/>
          <p:cNvSpPr/>
          <p:nvPr/>
        </p:nvSpPr>
        <p:spPr>
          <a:xfrm>
            <a:off x="548640" y="5532120"/>
            <a:ext cx="9509760" cy="4297680"/>
          </a:xfrm>
          <a:prstGeom prst="roundRect">
            <a:avLst>
              <a:gd name="adj" fmla="val 2978"/>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2" name="TextBox 11"/>
          <p:cNvSpPr txBox="1"/>
          <p:nvPr/>
        </p:nvSpPr>
        <p:spPr>
          <a:xfrm>
            <a:off x="822960" y="5596128"/>
            <a:ext cx="9052560" cy="457200"/>
          </a:xfrm>
          <a:prstGeom prst="rect">
            <a:avLst/>
          </a:prstGeom>
          <a:noFill/>
        </p:spPr>
        <p:txBody>
          <a:bodyPr wrap="square" lIns="0" tIns="0" rIns="0" bIns="0" anchor="t">
            <a:noAutofit/>
          </a:bodyPr>
          <a:lstStyle/>
          <a:p>
            <a:pPr algn="l">
              <a:lnSpc>
                <a:spcPct val="100000"/>
              </a:lnSpc>
            </a:pPr>
            <a:r>
              <a:rPr sz="1700" b="1" i="0">
                <a:solidFill>
                  <a:srgbClr val="8B0707"/>
                </a:solidFill>
                <a:latin typeface="ITC Avant Garde Gothic"/>
                <a:ea typeface="ITC Avant Garde Gothic"/>
                <a:cs typeface="ITC Avant Garde Gothic"/>
              </a:rPr>
              <a:t>Gain of one new center alone (evacuees, test network)</a:t>
            </a:r>
          </a:p>
        </p:txBody>
      </p:sp>
      <p:graphicFrame>
        <p:nvGraphicFramePr>
          <p:cNvPr id="13" name="Chart 12"/>
          <p:cNvGraphicFramePr>
            <a:graphicFrameLocks noGrp="1"/>
          </p:cNvGraphicFramePr>
          <p:nvPr/>
        </p:nvGraphicFramePr>
        <p:xfrm>
          <a:off x="731520" y="6035040"/>
          <a:ext cx="9144000" cy="3703320"/>
        </p:xfrm>
        <a:graphic>
          <a:graphicData uri="http://schemas.openxmlformats.org/drawingml/2006/chart">
            <c:chart xmlns:c="http://schemas.openxmlformats.org/drawingml/2006/chart" r:id="rId3"/>
          </a:graphicData>
        </a:graphic>
      </p:graphicFrame>
      <p:sp>
        <p:nvSpPr>
          <p:cNvPr id="14" name="Rounded Rectangle 13"/>
          <p:cNvSpPr/>
          <p:nvPr/>
        </p:nvSpPr>
        <p:spPr>
          <a:xfrm>
            <a:off x="10424160" y="2697480"/>
            <a:ext cx="7315200" cy="4572000"/>
          </a:xfrm>
          <a:prstGeom prst="roundRect">
            <a:avLst>
              <a:gd name="adj" fmla="val 280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5" name="TextBox 14"/>
          <p:cNvSpPr txBox="1"/>
          <p:nvPr/>
        </p:nvSpPr>
        <p:spPr>
          <a:xfrm>
            <a:off x="10698480" y="2761488"/>
            <a:ext cx="6858000" cy="457200"/>
          </a:xfrm>
          <a:prstGeom prst="rect">
            <a:avLst/>
          </a:prstGeom>
          <a:noFill/>
        </p:spPr>
        <p:txBody>
          <a:bodyPr wrap="square" lIns="0" tIns="0" rIns="0" bIns="0" anchor="t">
            <a:noAutofit/>
          </a:bodyPr>
          <a:lstStyle/>
          <a:p>
            <a:pPr algn="l">
              <a:lnSpc>
                <a:spcPct val="100000"/>
              </a:lnSpc>
            </a:pPr>
            <a:r>
              <a:rPr sz="1700" b="1" i="0">
                <a:solidFill>
                  <a:srgbClr val="8B0707"/>
                </a:solidFill>
                <a:latin typeface="ITC Avant Garde Gothic"/>
                <a:ea typeface="ITC Avant Garde Gothic"/>
                <a:cs typeface="ITC Avant Garde Gothic"/>
              </a:rPr>
              <a:t>Persons in classrooms as sites are added</a:t>
            </a:r>
          </a:p>
        </p:txBody>
      </p:sp>
      <p:graphicFrame>
        <p:nvGraphicFramePr>
          <p:cNvPr id="16" name="Chart 15"/>
          <p:cNvGraphicFramePr>
            <a:graphicFrameLocks noGrp="1"/>
          </p:cNvGraphicFramePr>
          <p:nvPr/>
        </p:nvGraphicFramePr>
        <p:xfrm>
          <a:off x="10607040" y="3246120"/>
          <a:ext cx="6949440" cy="3931920"/>
        </p:xfrm>
        <a:graphic>
          <a:graphicData uri="http://schemas.openxmlformats.org/drawingml/2006/chart">
            <c:chart xmlns:c="http://schemas.openxmlformats.org/drawingml/2006/chart" r:id="rId4"/>
          </a:graphicData>
        </a:graphic>
      </p:graphicFrame>
      <p:sp>
        <p:nvSpPr>
          <p:cNvPr id="17" name="Rounded Rectangle 16"/>
          <p:cNvSpPr/>
          <p:nvPr/>
        </p:nvSpPr>
        <p:spPr>
          <a:xfrm>
            <a:off x="10424160" y="7498080"/>
            <a:ext cx="3520440" cy="2331720"/>
          </a:xfrm>
          <a:prstGeom prst="roundRect">
            <a:avLst>
              <a:gd name="adj" fmla="val 5490"/>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18" name="TextBox 17"/>
          <p:cNvSpPr txBox="1"/>
          <p:nvPr/>
        </p:nvSpPr>
        <p:spPr>
          <a:xfrm>
            <a:off x="10515600" y="7589520"/>
            <a:ext cx="3337560" cy="914400"/>
          </a:xfrm>
          <a:prstGeom prst="rect">
            <a:avLst/>
          </a:prstGeom>
          <a:noFill/>
        </p:spPr>
        <p:txBody>
          <a:bodyPr wrap="square" lIns="0" tIns="0" rIns="0" bIns="0" anchor="ctr">
            <a:noAutofit/>
          </a:bodyPr>
          <a:lstStyle/>
          <a:p>
            <a:pPr algn="ctr">
              <a:lnSpc>
                <a:spcPct val="100000"/>
              </a:lnSpc>
            </a:pPr>
            <a:r>
              <a:rPr sz="3200" b="1" i="0">
                <a:solidFill>
                  <a:srgbClr val="F0C04A"/>
                </a:solidFill>
                <a:latin typeface="ITC Avant Garde Gothic"/>
                <a:ea typeface="ITC Avant Garde Gothic"/>
                <a:cs typeface="ITC Avant Garde Gothic"/>
              </a:rPr>
              <a:t>400 of 450</a:t>
            </a:r>
          </a:p>
        </p:txBody>
      </p:sp>
      <p:sp>
        <p:nvSpPr>
          <p:cNvPr id="19" name="TextBox 18"/>
          <p:cNvSpPr txBox="1"/>
          <p:nvPr/>
        </p:nvSpPr>
        <p:spPr>
          <a:xfrm>
            <a:off x="10607040" y="8549640"/>
            <a:ext cx="3154680" cy="1188720"/>
          </a:xfrm>
          <a:prstGeom prst="rect">
            <a:avLst/>
          </a:prstGeom>
          <a:noFill/>
        </p:spPr>
        <p:txBody>
          <a:bodyPr wrap="square" lIns="0" tIns="0" rIns="0" bIns="0" anchor="t">
            <a:noAutofit/>
          </a:bodyPr>
          <a:lstStyle/>
          <a:p>
            <a:pPr algn="ctr">
              <a:lnSpc>
                <a:spcPct val="100000"/>
              </a:lnSpc>
            </a:pPr>
            <a:r>
              <a:rPr sz="1600" b="0" i="0">
                <a:solidFill>
                  <a:srgbClr val="FFFFFF"/>
                </a:solidFill>
                <a:latin typeface="ITC Avant Garde Gothic"/>
                <a:ea typeface="ITC Avant Garde Gothic"/>
                <a:cs typeface="ITC Avant Garde Gothic"/>
              </a:rPr>
              <a:t>trapped residents sheltered by the first site</a:t>
            </a:r>
          </a:p>
        </p:txBody>
      </p:sp>
      <p:sp>
        <p:nvSpPr>
          <p:cNvPr id="20" name="Rounded Rectangle 19"/>
          <p:cNvSpPr/>
          <p:nvPr/>
        </p:nvSpPr>
        <p:spPr>
          <a:xfrm>
            <a:off x="14218920" y="7498080"/>
            <a:ext cx="3520440" cy="2331720"/>
          </a:xfrm>
          <a:prstGeom prst="roundRect">
            <a:avLst>
              <a:gd name="adj" fmla="val 54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1" name="TextBox 20"/>
          <p:cNvSpPr txBox="1"/>
          <p:nvPr/>
        </p:nvSpPr>
        <p:spPr>
          <a:xfrm>
            <a:off x="14310360" y="7589520"/>
            <a:ext cx="3337560" cy="914400"/>
          </a:xfrm>
          <a:prstGeom prst="rect">
            <a:avLst/>
          </a:prstGeom>
          <a:noFill/>
        </p:spPr>
        <p:txBody>
          <a:bodyPr wrap="square" lIns="0" tIns="0" rIns="0" bIns="0" anchor="ctr">
            <a:noAutofit/>
          </a:bodyPr>
          <a:lstStyle/>
          <a:p>
            <a:pPr algn="ctr">
              <a:lnSpc>
                <a:spcPct val="100000"/>
              </a:lnSpc>
            </a:pPr>
            <a:r>
              <a:rPr sz="3200" b="1" i="0">
                <a:solidFill>
                  <a:srgbClr val="8B0707"/>
                </a:solidFill>
                <a:latin typeface="ITC Avant Garde Gothic"/>
                <a:ea typeface="ITC Avant Garde Gothic"/>
                <a:cs typeface="ITC Avant Garde Gothic"/>
              </a:rPr>
              <a:t>k = 1 to 3</a:t>
            </a:r>
          </a:p>
        </p:txBody>
      </p:sp>
      <p:sp>
        <p:nvSpPr>
          <p:cNvPr id="22" name="TextBox 21"/>
          <p:cNvSpPr txBox="1"/>
          <p:nvPr/>
        </p:nvSpPr>
        <p:spPr>
          <a:xfrm>
            <a:off x="14401800" y="8549640"/>
            <a:ext cx="3154680" cy="1188720"/>
          </a:xfrm>
          <a:prstGeom prst="rect">
            <a:avLst/>
          </a:prstGeom>
          <a:noFill/>
        </p:spPr>
        <p:txBody>
          <a:bodyPr wrap="square" lIns="0" tIns="0" rIns="0" bIns="0" anchor="t">
            <a:noAutofit/>
          </a:bodyPr>
          <a:lstStyle/>
          <a:p>
            <a:pPr algn="ctr">
              <a:lnSpc>
                <a:spcPct val="100000"/>
              </a:lnSpc>
            </a:pPr>
            <a:r>
              <a:rPr sz="1600" b="0" i="0">
                <a:solidFill>
                  <a:srgbClr val="262626"/>
                </a:solidFill>
                <a:latin typeface="ITC Avant Garde Gothic"/>
                <a:ea typeface="ITC Avant Garde Gothic"/>
                <a:cs typeface="ITC Avant Garde Gothic"/>
              </a:rPr>
              <a:t>greedy equals the exhaustive best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5385671" cy="1645920"/>
          </a:xfrm>
          <a:prstGeom prst="rect">
            <a:avLst/>
          </a:prstGeom>
        </p:spPr>
        <p:txBody>
          <a:bodyPr lIns="0" tIns="0" rIns="0" bIns="0" rtlCol="0" anchor="ctr" wrap="square">
            <a:noAutofit/>
          </a:bodyPr>
          <a:lstStyle/>
          <a:p>
            <a:pPr algn="l">
              <a:lnSpc>
                <a:spcPct val="90000"/>
              </a:lnSpc>
            </a:pPr>
            <a:r>
              <a:rPr sz="7750" b="0" i="0">
                <a:solidFill>
                  <a:srgbClr val="FFFFFF"/>
                </a:solidFill>
                <a:latin typeface="ITC Avant Garde Gothic"/>
                <a:ea typeface="ITC Avant Garde Gothic"/>
                <a:cs typeface="ITC Avant Garde Gothic"/>
              </a:rPr>
              <a:t>RESULTS AND DISCUSSION</a:t>
            </a:r>
          </a:p>
        </p:txBody>
      </p:sp>
      <p:sp>
        <p:nvSpPr>
          <p:cNvPr id="8" name="Subtitle"/>
          <p:cNvSpPr txBox="1"/>
          <p:nvPr/>
        </p:nvSpPr>
        <p:spPr>
          <a:xfrm>
            <a:off x="16011120" y="18288"/>
            <a:ext cx="186540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Verification</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500" b="1" i="0">
                <a:solidFill>
                  <a:srgbClr val="8B0707"/>
                </a:solidFill>
                <a:latin typeface="ITC Avant Garde Gothic"/>
                <a:ea typeface="ITC Avant Garde Gothic"/>
                <a:cs typeface="ITC Avant Garde Gothic"/>
              </a:rPr>
              <a:t>Ten propositions, each proven and then checked against independently written code: no check failed</a:t>
            </a:r>
          </a:p>
        </p:txBody>
      </p:sp>
      <p:graphicFrame>
        <p:nvGraphicFramePr>
          <p:cNvPr id="10" name="Table 9"/>
          <p:cNvGraphicFramePr>
            <a:graphicFrameLocks noGrp="1"/>
          </p:cNvGraphicFramePr>
          <p:nvPr/>
        </p:nvGraphicFramePr>
        <p:xfrm>
          <a:off x="548640" y="2697480"/>
          <a:ext cx="17190720" cy="7260336"/>
        </p:xfrm>
        <a:graphic>
          <a:graphicData uri="http://schemas.openxmlformats.org/drawingml/2006/table">
            <a:tbl>
              <a:tblPr firstRow="1" bandRow="0">
                <a:tableStyleId>{5C22544A-7EE6-4342-B048-85BDC9FD1C3A}</a:tableStyleId>
              </a:tblPr>
              <a:tblGrid>
                <a:gridCol w="777240"/>
                <a:gridCol w="6400800"/>
                <a:gridCol w="5166360"/>
                <a:gridCol w="4846320"/>
              </a:tblGrid>
              <a:tr h="566928">
                <a:tc>
                  <a:txBody>
                    <a:bodyPr wrap="square"/>
                    <a:lstStyle/>
                    <a:p>
                      <a:pPr algn="ctr"/>
                      <a:r>
                        <a:rPr sz="1700" b="1" i="0">
                          <a:solidFill>
                            <a:srgbClr val="FFFFFF"/>
                          </a:solidFill>
                          <a:latin typeface="ITC Avant Garde Gothic"/>
                          <a:ea typeface="ITC Avant Garde Gothic"/>
                          <a:cs typeface="ITC Avant Garde Gothic"/>
                        </a:rPr>
                        <a:t>No.</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What is proven</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Independent check</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Result</a:t>
                      </a:r>
                    </a:p>
                  </a:txBody>
                  <a:tcPr marL="91440" marT="36576" marR="91440" marB="36576" anchor="ctr">
                    <a:solidFill>
                      <a:srgbClr val="8B0707"/>
                    </a:solidFill>
                  </a:tcPr>
                </a:tc>
              </a:tr>
              <a:tr h="658368">
                <a:tc>
                  <a:txBody>
                    <a:bodyPr wrap="square"/>
                    <a:lstStyle/>
                    <a:p>
                      <a:pPr algn="ctr"/>
                      <a:r>
                        <a:rPr sz="1600" b="1" i="0">
                          <a:solidFill>
                            <a:srgbClr val="8B0707"/>
                          </a:solidFill>
                          <a:latin typeface="ITC Avant Garde Gothic"/>
                          <a:ea typeface="ITC Avant Garde Gothic"/>
                          <a:cs typeface="ITC Avant Garde Gothic"/>
                        </a:rPr>
                        <a:t>1</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Plans are in whole persons; no evacuee is split</a:t>
                      </a:r>
                    </a:p>
                  </a:txBody>
                  <a:tcPr marL="91440" marT="36576" marR="91440" marB="36576" anchor="ctr">
                    <a:solidFill>
                      <a:srgbClr val="FFFFFF"/>
                    </a:solidFill>
                  </a:tcPr>
                </a:tc>
                <a:tc rowSpan="3">
                  <a:txBody>
                    <a:bodyPr wrap="square"/>
                    <a:lstStyle/>
                    <a:p>
                      <a:pPr algn="l"/>
                      <a:r>
                        <a:rPr sz="1600" b="0" i="0">
                          <a:solidFill>
                            <a:srgbClr val="262626"/>
                          </a:solidFill>
                          <a:latin typeface="ITC Avant Garde Gothic"/>
                          <a:ea typeface="ITC Avant Garde Gothic"/>
                          <a:cs typeface="ITC Avant Garde Gothic"/>
                        </a:rPr>
                        <a:t>300 random instances vs five sequential linear programs (HiGHS)</a:t>
                      </a:r>
                    </a:p>
                  </a:txBody>
                  <a:tcPr marL="91440" marT="36576" marR="91440" marB="36576" anchor="ctr">
                    <a:solidFill>
                      <a:srgbClr val="FFFFFF"/>
                    </a:solidFill>
                  </a:tcPr>
                </a:tc>
                <a:tc rowSpan="3">
                  <a:txBody>
                    <a:bodyPr wrap="square"/>
                    <a:lstStyle/>
                    <a:p>
                      <a:pPr algn="l"/>
                      <a:r>
                        <a:rPr sz="1600" b="1" i="0">
                          <a:solidFill>
                            <a:srgbClr val="5A0505"/>
                          </a:solidFill>
                          <a:latin typeface="ITC Avant Garde Gothic"/>
                          <a:ea typeface="ITC Avant Garde Gothic"/>
                          <a:cs typeface="ITC Avant Garde Gothic"/>
                        </a:rPr>
                        <a:t>300/300 matched at all five levels (1,500 values); no fractional flow</a:t>
                      </a:r>
                    </a:p>
                  </a:txBody>
                  <a:tcPr marL="91440" marT="36576" marR="91440" marB="36576" anchor="ctr">
                    <a:solidFill>
                      <a:srgbClr val="FFFFFF"/>
                    </a:solidFill>
                  </a:tcPr>
                </a:tc>
              </a:tr>
              <a:tr h="658368">
                <a:tc>
                  <a:txBody>
                    <a:bodyPr wrap="square"/>
                    <a:lstStyle/>
                    <a:p>
                      <a:pPr algn="ctr"/>
                      <a:r>
                        <a:rPr sz="1600" b="1" i="0">
                          <a:solidFill>
                            <a:srgbClr val="8B0707"/>
                          </a:solidFill>
                          <a:latin typeface="ITC Avant Garde Gothic"/>
                          <a:ea typeface="ITC Avant Garde Gothic"/>
                          <a:cs typeface="ITC Avant Garde Gothic"/>
                        </a:rPr>
                        <a:t>2</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Placing the vulnerable first costs no one a place</a:t>
                      </a:r>
                    </a:p>
                  </a:txBody>
                  <a:tcPr marL="91440" marT="36576" marR="91440" marB="36576" anchor="ctr">
                    <a:solidFill>
                      <a:srgbClr val="FBF3F3"/>
                    </a:solidFill>
                  </a:tcPr>
                </a:tc>
                <a:tc vMerge="1">
                  <a:txBody>
                    <a:bodyPr/>
                    <a:lstStyle/>
                    <a:p/>
                  </a:txBody>
                  <a:tcPr/>
                </a:tc>
                <a:tc vMerge="1">
                  <a:txBody>
                    <a:bodyPr/>
                    <a:lstStyle/>
                    <a:p/>
                  </a:txBody>
                  <a:tcPr/>
                </a:tc>
              </a:tr>
              <a:tr h="658368">
                <a:tc>
                  <a:txBody>
                    <a:bodyPr wrap="square"/>
                    <a:lstStyle/>
                    <a:p>
                      <a:pPr algn="ctr"/>
                      <a:r>
                        <a:rPr sz="1600" b="1" i="0">
                          <a:solidFill>
                            <a:srgbClr val="8B0707"/>
                          </a:solidFill>
                          <a:latin typeface="ITC Avant Garde Gothic"/>
                          <a:ea typeface="ITC Avant Garde Gothic"/>
                          <a:cs typeface="ITC Avant Garde Gothic"/>
                        </a:rPr>
                        <a:t>3</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The penalties give the legal order exactly</a:t>
                      </a:r>
                    </a:p>
                  </a:txBody>
                  <a:tcPr marL="91440" marT="36576" marR="91440" marB="36576" anchor="ctr">
                    <a:solidFill>
                      <a:srgbClr val="FFFFFF"/>
                    </a:solidFill>
                  </a:tcPr>
                </a:tc>
                <a:tc vMerge="1">
                  <a:txBody>
                    <a:bodyPr/>
                    <a:lstStyle/>
                    <a:p/>
                  </a:txBody>
                  <a:tcPr/>
                </a:tc>
                <a:tc vMerge="1">
                  <a:txBody>
                    <a:bodyPr/>
                    <a:lstStyle/>
                    <a:p/>
                  </a:txBody>
                  <a:tcPr/>
                </a:tc>
              </a:tr>
              <a:tr h="658368">
                <a:tc>
                  <a:txBody>
                    <a:bodyPr wrap="square"/>
                    <a:lstStyle/>
                    <a:p>
                      <a:pPr algn="ctr"/>
                      <a:r>
                        <a:rPr sz="1600" b="1" i="0">
                          <a:solidFill>
                            <a:srgbClr val="8B0707"/>
                          </a:solidFill>
                          <a:latin typeface="ITC Avant Garde Gothic"/>
                          <a:ea typeface="ITC Avant Garde Gothic"/>
                          <a:cs typeface="ITC Avant Garde Gothic"/>
                        </a:rPr>
                        <a:t>4</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Packing closes at most one extra classroom per school in use</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150 instances vs an exact mixed-integer program</a:t>
                      </a:r>
                    </a:p>
                  </a:txBody>
                  <a:tcPr marL="91440" marT="36576" marR="91440" marB="36576" anchor="ctr">
                    <a:solidFill>
                      <a:srgbClr val="FBF3F3"/>
                    </a:solidFill>
                  </a:tcPr>
                </a:tc>
                <a:tc>
                  <a:txBody>
                    <a:bodyPr wrap="square"/>
                    <a:lstStyle/>
                    <a:p>
                      <a:pPr algn="l"/>
                      <a:r>
                        <a:rPr sz="1600" b="1" i="0">
                          <a:solidFill>
                            <a:srgbClr val="5A0505"/>
                          </a:solidFill>
                          <a:latin typeface="ITC Avant Garde Gothic"/>
                          <a:ea typeface="ITC Avant Garde Gothic"/>
                          <a:cs typeface="ITC Avant Garde Gothic"/>
                        </a:rPr>
                        <a:t>Bound held 150/150; packing exact in 144</a:t>
                      </a:r>
                    </a:p>
                  </a:txBody>
                  <a:tcPr marL="91440" marT="36576" marR="91440" marB="36576" anchor="ctr">
                    <a:solidFill>
                      <a:srgbClr val="FBF3F3"/>
                    </a:solidFill>
                  </a:tcPr>
                </a:tc>
              </a:tr>
              <a:tr h="585216">
                <a:tc>
                  <a:txBody>
                    <a:bodyPr wrap="square"/>
                    <a:lstStyle/>
                    <a:p>
                      <a:pPr algn="ctr"/>
                      <a:r>
                        <a:rPr sz="1600" b="1" i="0">
                          <a:solidFill>
                            <a:srgbClr val="8B0707"/>
                          </a:solidFill>
                          <a:latin typeface="ITC Avant Garde Gothic"/>
                          <a:ea typeface="ITC Avant Garde Gothic"/>
                          <a:cs typeface="ITC Avant Garde Gothic"/>
                        </a:rPr>
                        <a:t>5</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A higher alert level never frees classrooms</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52 nested alert-level checks</a:t>
                      </a:r>
                    </a:p>
                  </a:txBody>
                  <a:tcPr marL="91440" marT="36576" marR="91440" marB="36576" anchor="ctr">
                    <a:solidFill>
                      <a:srgbClr val="FFFFFF"/>
                    </a:solidFill>
                  </a:tcPr>
                </a:tc>
                <a:tc>
                  <a:txBody>
                    <a:bodyPr wrap="square"/>
                    <a:lstStyle/>
                    <a:p>
                      <a:pPr algn="l"/>
                      <a:r>
                        <a:rPr sz="1600" b="1" i="0">
                          <a:solidFill>
                            <a:srgbClr val="5A0505"/>
                          </a:solidFill>
                          <a:latin typeface="ITC Avant Garde Gothic"/>
                          <a:ea typeface="ITC Avant Garde Gothic"/>
                          <a:cs typeface="ITC Avant Garde Gothic"/>
                        </a:rPr>
                        <a:t>0 violations</a:t>
                      </a:r>
                    </a:p>
                  </a:txBody>
                  <a:tcPr marL="91440" marT="36576" marR="91440" marB="36576" anchor="ctr">
                    <a:solidFill>
                      <a:srgbClr val="FFFFFF"/>
                    </a:solidFill>
                  </a:tcPr>
                </a:tc>
              </a:tr>
              <a:tr h="585216">
                <a:tc>
                  <a:txBody>
                    <a:bodyPr wrap="square"/>
                    <a:lstStyle/>
                    <a:p>
                      <a:pPr algn="ctr"/>
                      <a:r>
                        <a:rPr sz="1600" b="1" i="0">
                          <a:solidFill>
                            <a:srgbClr val="8B0707"/>
                          </a:solidFill>
                          <a:latin typeface="ITC Avant Garde Gothic"/>
                          <a:ea typeface="ITC Avant Garde Gothic"/>
                          <a:cs typeface="ITC Avant Garde Gothic"/>
                        </a:rPr>
                        <a:t>6</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The time-expanded network is exact (Ford &amp; Fulkerson)</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660 horizon tests vs the static-flow formula</a:t>
                      </a:r>
                    </a:p>
                  </a:txBody>
                  <a:tcPr marL="91440" marT="36576" marR="91440" marB="36576" anchor="ctr">
                    <a:solidFill>
                      <a:srgbClr val="FBF3F3"/>
                    </a:solidFill>
                  </a:tcPr>
                </a:tc>
                <a:tc>
                  <a:txBody>
                    <a:bodyPr wrap="square"/>
                    <a:lstStyle/>
                    <a:p>
                      <a:pPr algn="l"/>
                      <a:r>
                        <a:rPr sz="1600" b="1" i="0">
                          <a:solidFill>
                            <a:srgbClr val="5A0505"/>
                          </a:solidFill>
                          <a:latin typeface="ITC Avant Garde Gothic"/>
                          <a:ea typeface="ITC Avant Garde Gothic"/>
                          <a:cs typeface="ITC Avant Garde Gothic"/>
                        </a:rPr>
                        <a:t>660/660 agree</a:t>
                      </a:r>
                    </a:p>
                  </a:txBody>
                  <a:tcPr marL="91440" marT="36576" marR="91440" marB="36576" anchor="ctr">
                    <a:solidFill>
                      <a:srgbClr val="FBF3F3"/>
                    </a:solidFill>
                  </a:tcPr>
                </a:tc>
              </a:tr>
              <a:tr h="658368">
                <a:tc>
                  <a:txBody>
                    <a:bodyPr wrap="square"/>
                    <a:lstStyle/>
                    <a:p>
                      <a:pPr algn="ctr"/>
                      <a:r>
                        <a:rPr sz="1600" b="1" i="0">
                          <a:solidFill>
                            <a:srgbClr val="8B0707"/>
                          </a:solidFill>
                          <a:latin typeface="ITC Avant Garde Gothic"/>
                          <a:ea typeface="ITC Avant Garde Gothic"/>
                          <a:cs typeface="ITC Avant Garde Gothic"/>
                        </a:rPr>
                        <a:t>7</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Bisection finds the clearance time exactly</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79 instances vs a minute-by-minute scan</a:t>
                      </a:r>
                    </a:p>
                  </a:txBody>
                  <a:tcPr marL="91440" marT="36576" marR="91440" marB="36576" anchor="ctr">
                    <a:solidFill>
                      <a:srgbClr val="FFFFFF"/>
                    </a:solidFill>
                  </a:tcPr>
                </a:tc>
                <a:tc>
                  <a:txBody>
                    <a:bodyPr wrap="square"/>
                    <a:lstStyle/>
                    <a:p>
                      <a:pPr algn="l"/>
                      <a:r>
                        <a:rPr sz="1600" b="1" i="0">
                          <a:solidFill>
                            <a:srgbClr val="5A0505"/>
                          </a:solidFill>
                          <a:latin typeface="ITC Avant Garde Gothic"/>
                          <a:ea typeface="ITC Avant Garde Gothic"/>
                          <a:cs typeface="ITC Avant Garde Gothic"/>
                        </a:rPr>
                        <a:t>79/79 same; 5.2 vs 26.9 max flows</a:t>
                      </a:r>
                    </a:p>
                  </a:txBody>
                  <a:tcPr marL="91440" marT="36576" marR="91440" marB="36576" anchor="ctr">
                    <a:solidFill>
                      <a:srgbClr val="FFFFFF"/>
                    </a:solidFill>
                  </a:tcPr>
                </a:tc>
              </a:tr>
              <a:tr h="658368">
                <a:tc>
                  <a:txBody>
                    <a:bodyPr wrap="square"/>
                    <a:lstStyle/>
                    <a:p>
                      <a:pPr algn="ctr"/>
                      <a:r>
                        <a:rPr sz="1600" b="1" i="0">
                          <a:solidFill>
                            <a:srgbClr val="8B0707"/>
                          </a:solidFill>
                          <a:latin typeface="ITC Avant Garde Gothic"/>
                          <a:ea typeface="ITC Avant Garde Gothic"/>
                          <a:cs typeface="ITC Avant Garde Gothic"/>
                        </a:rPr>
                        <a:t>8</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Lower bound on the clearance time from one static flow</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The same 79 instances</a:t>
                      </a:r>
                    </a:p>
                  </a:txBody>
                  <a:tcPr marL="91440" marT="36576" marR="91440" marB="36576" anchor="ctr">
                    <a:solidFill>
                      <a:srgbClr val="FBF3F3"/>
                    </a:solidFill>
                  </a:tcPr>
                </a:tc>
                <a:tc>
                  <a:txBody>
                    <a:bodyPr wrap="square"/>
                    <a:lstStyle/>
                    <a:p>
                      <a:pPr algn="l"/>
                      <a:r>
                        <a:rPr sz="1600" b="1" i="0">
                          <a:solidFill>
                            <a:srgbClr val="5A0505"/>
                          </a:solidFill>
                          <a:latin typeface="ITC Avant Garde Gothic"/>
                          <a:ea typeface="ITC Avant Garde Gothic"/>
                          <a:cs typeface="ITC Avant Garde Gothic"/>
                        </a:rPr>
                        <a:t>Never violated; bound/T* averaged 0.585</a:t>
                      </a:r>
                    </a:p>
                  </a:txBody>
                  <a:tcPr marL="91440" marT="36576" marR="91440" marB="36576" anchor="ctr">
                    <a:solidFill>
                      <a:srgbClr val="FBF3F3"/>
                    </a:solidFill>
                  </a:tcPr>
                </a:tc>
              </a:tr>
              <a:tr h="786384">
                <a:tc>
                  <a:txBody>
                    <a:bodyPr wrap="square"/>
                    <a:lstStyle/>
                    <a:p>
                      <a:pPr algn="ctr"/>
                      <a:r>
                        <a:rPr sz="1600" b="1" i="0">
                          <a:solidFill>
                            <a:srgbClr val="8B0707"/>
                          </a:solidFill>
                          <a:latin typeface="ITC Avant Garde Gothic"/>
                          <a:ea typeface="ITC Avant Garde Gothic"/>
                          <a:cs typeface="ITC Avant Garde Gothic"/>
                        </a:rPr>
                        <a:t>9</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Closures never shorten the evacuation; new shelters never add classroom use</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120 instances, 411 checks</a:t>
                      </a:r>
                    </a:p>
                  </a:txBody>
                  <a:tcPr marL="91440" marT="36576" marR="91440" marB="36576" anchor="ctr">
                    <a:solidFill>
                      <a:srgbClr val="FFFFFF"/>
                    </a:solidFill>
                  </a:tcPr>
                </a:tc>
                <a:tc>
                  <a:txBody>
                    <a:bodyPr wrap="square"/>
                    <a:lstStyle/>
                    <a:p>
                      <a:pPr algn="l"/>
                      <a:r>
                        <a:rPr sz="1600" b="1" i="0">
                          <a:solidFill>
                            <a:srgbClr val="5A0505"/>
                          </a:solidFill>
                          <a:latin typeface="ITC Avant Garde Gothic"/>
                          <a:ea typeface="ITC Avant Garde Gothic"/>
                          <a:cs typeface="ITC Avant Garde Gothic"/>
                        </a:rPr>
                        <a:t>0 violations</a:t>
                      </a:r>
                    </a:p>
                  </a:txBody>
                  <a:tcPr marL="91440" marT="36576" marR="91440" marB="36576" anchor="ctr">
                    <a:solidFill>
                      <a:srgbClr val="FFFFFF"/>
                    </a:solidFill>
                  </a:tcPr>
                </a:tc>
              </a:tr>
              <a:tr h="786384">
                <a:tc>
                  <a:txBody>
                    <a:bodyPr wrap="square"/>
                    <a:lstStyle/>
                    <a:p>
                      <a:pPr algn="ctr"/>
                      <a:r>
                        <a:rPr sz="1600" b="1" i="0">
                          <a:solidFill>
                            <a:srgbClr val="8B0707"/>
                          </a:solidFill>
                          <a:latin typeface="ITC Avant Garde Gothic"/>
                          <a:ea typeface="ITC Avant Garde Gothic"/>
                          <a:cs typeface="ITC Avant Garde Gothic"/>
                        </a:rPr>
                        <a:t>10</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Siting gain is monotone and submodular; greedy reaches at least 63.2%</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80 instances: 4,796 checks; 320 exhaustive comparisons</a:t>
                      </a:r>
                    </a:p>
                  </a:txBody>
                  <a:tcPr marL="91440" marT="36576" marR="91440" marB="36576" anchor="ctr">
                    <a:solidFill>
                      <a:srgbClr val="FBF3F3"/>
                    </a:solidFill>
                  </a:tcPr>
                </a:tc>
                <a:tc>
                  <a:txBody>
                    <a:bodyPr wrap="square"/>
                    <a:lstStyle/>
                    <a:p>
                      <a:pPr algn="l"/>
                      <a:r>
                        <a:rPr sz="1600" b="1" i="0">
                          <a:solidFill>
                            <a:srgbClr val="5A0505"/>
                          </a:solidFill>
                          <a:latin typeface="ITC Avant Garde Gothic"/>
                          <a:ea typeface="ITC Avant Garde Gothic"/>
                          <a:cs typeface="ITC Avant Garde Gothic"/>
                        </a:rPr>
                        <a:t>0 violations; greedy worst 0.890, mean 0.997, optimal in 94.7%</a:t>
                      </a:r>
                    </a:p>
                  </a:txBody>
                  <a:tcPr marL="91440" marT="36576" marR="91440" marB="36576" anchor="ctr">
                    <a:solidFill>
                      <a:srgbClr val="FBF3F3"/>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770278"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CONCLUSIONS</a:t>
            </a:r>
          </a:p>
        </p:txBody>
      </p:sp>
      <p:sp>
        <p:nvSpPr>
          <p:cNvPr id="8" name="Subtitle"/>
          <p:cNvSpPr txBox="1"/>
          <p:nvPr/>
        </p:nvSpPr>
        <p:spPr>
          <a:xfrm>
            <a:off x="14395728" y="18288"/>
            <a:ext cx="3480792"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What the Study Shows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Public data suffice to plan evacuations that keep schools open</a:t>
            </a:r>
          </a:p>
        </p:txBody>
      </p:sp>
      <p:sp>
        <p:nvSpPr>
          <p:cNvPr id="10" name="Rounded Rectangle 9"/>
          <p:cNvSpPr/>
          <p:nvPr/>
        </p:nvSpPr>
        <p:spPr>
          <a:xfrm>
            <a:off x="548640" y="2697480"/>
            <a:ext cx="11155680" cy="1298448"/>
          </a:xfrm>
          <a:prstGeom prst="roundRect">
            <a:avLst>
              <a:gd name="adj" fmla="val 985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Oval 10"/>
          <p:cNvSpPr/>
          <p:nvPr/>
        </p:nvSpPr>
        <p:spPr>
          <a:xfrm>
            <a:off x="749808" y="2916936"/>
            <a:ext cx="859536" cy="859536"/>
          </a:xfrm>
          <a:prstGeom prst="ellipse">
            <a:avLst/>
          </a:prstGeom>
          <a:solidFill>
            <a:srgbClr val="8B0707"/>
          </a:solidFill>
          <a:ln>
            <a:noFill/>
          </a:ln>
          <a:effectLst/>
        </p:spPr>
        <p:txBody>
          <a:bodyPr rtlCol="0" anchor="ctr"/>
          <a:lstStyle/>
          <a:p>
            <a:pPr algn="ctr"/>
          </a:p>
        </p:txBody>
      </p:sp>
      <p:pic>
        <p:nvPicPr>
          <p:cNvPr id="12" name="Picture 11" descr="w_gavel.png"/>
          <p:cNvPicPr>
            <a:picLocks noChangeAspect="1"/>
          </p:cNvPicPr>
          <p:nvPr/>
        </p:nvPicPr>
        <p:blipFill>
          <a:blip r:embed="rId3"/>
          <a:stretch>
            <a:fillRect/>
          </a:stretch>
        </p:blipFill>
        <p:spPr>
          <a:xfrm>
            <a:off x="921715" y="3088843"/>
            <a:ext cx="515722" cy="515722"/>
          </a:xfrm>
          <a:prstGeom prst="rect">
            <a:avLst/>
          </a:prstGeom>
        </p:spPr>
      </p:pic>
      <p:sp>
        <p:nvSpPr>
          <p:cNvPr id="13" name="TextBox 12"/>
          <p:cNvSpPr txBox="1"/>
          <p:nvPr/>
        </p:nvSpPr>
        <p:spPr>
          <a:xfrm>
            <a:off x="1828800" y="2752344"/>
            <a:ext cx="9692640" cy="1188720"/>
          </a:xfrm>
          <a:prstGeom prst="rect">
            <a:avLst/>
          </a:prstGeom>
          <a:noFill/>
        </p:spPr>
        <p:txBody>
          <a:bodyPr wrap="square" lIns="0" tIns="0" rIns="0" bIns="0" anchor="ctr">
            <a:noAutofit/>
          </a:bodyPr>
          <a:lstStyle/>
          <a:p>
            <a:pPr algn="l">
              <a:lnSpc>
                <a:spcPct val="100000"/>
              </a:lnSpc>
              <a:spcAft>
                <a:spcPts val="200"/>
              </a:spcAft>
            </a:pPr>
            <a:r>
              <a:rPr sz="1800" b="1" i="0">
                <a:solidFill>
                  <a:srgbClr val="8B0707"/>
                </a:solidFill>
                <a:latin typeface="ITC Avant Garde Gothic"/>
                <a:ea typeface="ITC Avant Garde Gothic"/>
                <a:cs typeface="ITC Avant Garde Gothic"/>
              </a:rPr>
              <a:t>The law becomes one computable plan</a:t>
            </a:r>
          </a:p>
          <a:p>
            <a:pPr algn="l">
              <a:lnSpc>
                <a:spcPct val="100000"/>
              </a:lnSpc>
            </a:pPr>
            <a:r>
              <a:rPr sz="1600" b="0" i="0">
                <a:solidFill>
                  <a:srgbClr val="262626"/>
                </a:solidFill>
                <a:latin typeface="ITC Avant Garde Gothic"/>
                <a:ea typeface="ITC Avant Garde Gothic"/>
                <a:cs typeface="ITC Avant Garde Gothic"/>
              </a:rPr>
              <a:t>The legal order of priorities is a single minimum-cost flow, solved exactly in seconds on a laptop; vulnerable first costs no one a place.</a:t>
            </a:r>
          </a:p>
        </p:txBody>
      </p:sp>
      <p:sp>
        <p:nvSpPr>
          <p:cNvPr id="14" name="Rounded Rectangle 13"/>
          <p:cNvSpPr/>
          <p:nvPr/>
        </p:nvSpPr>
        <p:spPr>
          <a:xfrm>
            <a:off x="548640" y="4160520"/>
            <a:ext cx="11155680" cy="1298448"/>
          </a:xfrm>
          <a:prstGeom prst="roundRect">
            <a:avLst>
              <a:gd name="adj" fmla="val 985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5" name="Oval 14"/>
          <p:cNvSpPr/>
          <p:nvPr/>
        </p:nvSpPr>
        <p:spPr>
          <a:xfrm>
            <a:off x="749808" y="4379976"/>
            <a:ext cx="859536" cy="859536"/>
          </a:xfrm>
          <a:prstGeom prst="ellipse">
            <a:avLst/>
          </a:prstGeom>
          <a:solidFill>
            <a:srgbClr val="8B0707"/>
          </a:solidFill>
          <a:ln>
            <a:noFill/>
          </a:ln>
          <a:effectLst/>
        </p:spPr>
        <p:txBody>
          <a:bodyPr rtlCol="0" anchor="ctr"/>
          <a:lstStyle/>
          <a:p>
            <a:pPr algn="ctr"/>
          </a:p>
        </p:txBody>
      </p:sp>
      <p:pic>
        <p:nvPicPr>
          <p:cNvPr id="16" name="Picture 15" descr="w_meeting_room.png"/>
          <p:cNvPicPr>
            <a:picLocks noChangeAspect="1"/>
          </p:cNvPicPr>
          <p:nvPr/>
        </p:nvPicPr>
        <p:blipFill>
          <a:blip r:embed="rId4"/>
          <a:stretch>
            <a:fillRect/>
          </a:stretch>
        </p:blipFill>
        <p:spPr>
          <a:xfrm>
            <a:off x="921715" y="4551883"/>
            <a:ext cx="515722" cy="515722"/>
          </a:xfrm>
          <a:prstGeom prst="rect">
            <a:avLst/>
          </a:prstGeom>
        </p:spPr>
      </p:pic>
      <p:sp>
        <p:nvSpPr>
          <p:cNvPr id="17" name="TextBox 16"/>
          <p:cNvSpPr txBox="1"/>
          <p:nvPr/>
        </p:nvSpPr>
        <p:spPr>
          <a:xfrm>
            <a:off x="1828800" y="4215384"/>
            <a:ext cx="9692640" cy="1188720"/>
          </a:xfrm>
          <a:prstGeom prst="rect">
            <a:avLst/>
          </a:prstGeom>
          <a:noFill/>
        </p:spPr>
        <p:txBody>
          <a:bodyPr wrap="square" lIns="0" tIns="0" rIns="0" bIns="0" anchor="ctr">
            <a:noAutofit/>
          </a:bodyPr>
          <a:lstStyle/>
          <a:p>
            <a:pPr algn="l">
              <a:lnSpc>
                <a:spcPct val="100000"/>
              </a:lnSpc>
              <a:spcAft>
                <a:spcPts val="200"/>
              </a:spcAft>
            </a:pPr>
            <a:r>
              <a:rPr sz="1800" b="1" i="0">
                <a:solidFill>
                  <a:srgbClr val="8B0707"/>
                </a:solidFill>
                <a:latin typeface="ITC Avant Garde Gothic"/>
                <a:ea typeface="ITC Avant Garde Gothic"/>
                <a:cs typeface="ITC Avant Garde Gothic"/>
              </a:rPr>
              <a:t>Classrooms are counted and bounded</a:t>
            </a:r>
          </a:p>
          <a:p>
            <a:pPr algn="l">
              <a:lnSpc>
                <a:spcPct val="100000"/>
              </a:lnSpc>
            </a:pPr>
            <a:r>
              <a:rPr sz="1600" b="0" i="0">
                <a:solidFill>
                  <a:srgbClr val="262626"/>
                </a:solidFill>
                <a:latin typeface="ITC Avant Garde Gothic"/>
                <a:ea typeface="ITC Avant Garde Gothic"/>
                <a:cs typeface="ITC Avant Garde Gothic"/>
              </a:rPr>
              <a:t>Packing is within one room per school in use of the true minimum; a higher alert never frees classrooms, so plan once for the highest level.</a:t>
            </a:r>
          </a:p>
        </p:txBody>
      </p:sp>
      <p:sp>
        <p:nvSpPr>
          <p:cNvPr id="18" name="Rounded Rectangle 17"/>
          <p:cNvSpPr/>
          <p:nvPr/>
        </p:nvSpPr>
        <p:spPr>
          <a:xfrm>
            <a:off x="548640" y="5623560"/>
            <a:ext cx="11155680" cy="1298448"/>
          </a:xfrm>
          <a:prstGeom prst="roundRect">
            <a:avLst>
              <a:gd name="adj" fmla="val 985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9" name="Oval 18"/>
          <p:cNvSpPr/>
          <p:nvPr/>
        </p:nvSpPr>
        <p:spPr>
          <a:xfrm>
            <a:off x="749808" y="5843016"/>
            <a:ext cx="859536" cy="859536"/>
          </a:xfrm>
          <a:prstGeom prst="ellipse">
            <a:avLst/>
          </a:prstGeom>
          <a:solidFill>
            <a:srgbClr val="8B0707"/>
          </a:solidFill>
          <a:ln>
            <a:noFill/>
          </a:ln>
          <a:effectLst/>
        </p:spPr>
        <p:txBody>
          <a:bodyPr rtlCol="0" anchor="ctr"/>
          <a:lstStyle/>
          <a:p>
            <a:pPr algn="ctr"/>
          </a:p>
        </p:txBody>
      </p:sp>
      <p:pic>
        <p:nvPicPr>
          <p:cNvPr id="20" name="Picture 19" descr="w_timer.png"/>
          <p:cNvPicPr>
            <a:picLocks noChangeAspect="1"/>
          </p:cNvPicPr>
          <p:nvPr/>
        </p:nvPicPr>
        <p:blipFill>
          <a:blip r:embed="rId5"/>
          <a:stretch>
            <a:fillRect/>
          </a:stretch>
        </p:blipFill>
        <p:spPr>
          <a:xfrm>
            <a:off x="921715" y="6014923"/>
            <a:ext cx="515722" cy="515722"/>
          </a:xfrm>
          <a:prstGeom prst="rect">
            <a:avLst/>
          </a:prstGeom>
        </p:spPr>
      </p:pic>
      <p:sp>
        <p:nvSpPr>
          <p:cNvPr id="21" name="TextBox 20"/>
          <p:cNvSpPr txBox="1"/>
          <p:nvPr/>
        </p:nvSpPr>
        <p:spPr>
          <a:xfrm>
            <a:off x="1828800" y="5678424"/>
            <a:ext cx="9692640" cy="1188720"/>
          </a:xfrm>
          <a:prstGeom prst="rect">
            <a:avLst/>
          </a:prstGeom>
          <a:noFill/>
        </p:spPr>
        <p:txBody>
          <a:bodyPr wrap="square" lIns="0" tIns="0" rIns="0" bIns="0" anchor="ctr">
            <a:noAutofit/>
          </a:bodyPr>
          <a:lstStyle/>
          <a:p>
            <a:pPr algn="l">
              <a:lnSpc>
                <a:spcPct val="100000"/>
              </a:lnSpc>
              <a:spcAft>
                <a:spcPts val="200"/>
              </a:spcAft>
            </a:pPr>
            <a:r>
              <a:rPr sz="1800" b="1" i="0">
                <a:solidFill>
                  <a:srgbClr val="8B0707"/>
                </a:solidFill>
                <a:latin typeface="ITC Avant Garde Gothic"/>
                <a:ea typeface="ITC Avant Garde Gothic"/>
                <a:cs typeface="ITC Avant Garde Gothic"/>
              </a:rPr>
              <a:t>Clearance time is exact</a:t>
            </a:r>
          </a:p>
          <a:p>
            <a:pPr algn="l">
              <a:lnSpc>
                <a:spcPct val="100000"/>
              </a:lnSpc>
            </a:pPr>
            <a:r>
              <a:rPr sz="1600" b="0" i="0">
                <a:solidFill>
                  <a:srgbClr val="262626"/>
                </a:solidFill>
                <a:latin typeface="ITC Avant Garde Gothic"/>
                <a:ea typeface="ITC Avant Garde Gothic"/>
                <a:cs typeface="ITC Avant Garde Gothic"/>
              </a:rPr>
              <a:t>Whole lahar channels, not single bridges, decide how long an evacuation takes.</a:t>
            </a:r>
          </a:p>
        </p:txBody>
      </p:sp>
      <p:sp>
        <p:nvSpPr>
          <p:cNvPr id="22" name="Rounded Rectangle 21"/>
          <p:cNvSpPr/>
          <p:nvPr/>
        </p:nvSpPr>
        <p:spPr>
          <a:xfrm>
            <a:off x="548640" y="7086600"/>
            <a:ext cx="11155680" cy="1298448"/>
          </a:xfrm>
          <a:prstGeom prst="roundRect">
            <a:avLst>
              <a:gd name="adj" fmla="val 985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3" name="Oval 22"/>
          <p:cNvSpPr/>
          <p:nvPr/>
        </p:nvSpPr>
        <p:spPr>
          <a:xfrm>
            <a:off x="749808" y="7306056"/>
            <a:ext cx="859536" cy="859536"/>
          </a:xfrm>
          <a:prstGeom prst="ellipse">
            <a:avLst/>
          </a:prstGeom>
          <a:solidFill>
            <a:srgbClr val="8B0707"/>
          </a:solidFill>
          <a:ln>
            <a:noFill/>
          </a:ln>
          <a:effectLst/>
        </p:spPr>
        <p:txBody>
          <a:bodyPr rtlCol="0" anchor="ctr"/>
          <a:lstStyle/>
          <a:p>
            <a:pPr algn="ctr"/>
          </a:p>
        </p:txBody>
      </p:sp>
      <p:pic>
        <p:nvPicPr>
          <p:cNvPr id="24" name="Picture 23" descr="w_night_shelter.png"/>
          <p:cNvPicPr>
            <a:picLocks noChangeAspect="1"/>
          </p:cNvPicPr>
          <p:nvPr/>
        </p:nvPicPr>
        <p:blipFill>
          <a:blip r:embed="rId6"/>
          <a:stretch>
            <a:fillRect/>
          </a:stretch>
        </p:blipFill>
        <p:spPr>
          <a:xfrm>
            <a:off x="921715" y="7477963"/>
            <a:ext cx="515722" cy="515722"/>
          </a:xfrm>
          <a:prstGeom prst="rect">
            <a:avLst/>
          </a:prstGeom>
        </p:spPr>
      </p:pic>
      <p:sp>
        <p:nvSpPr>
          <p:cNvPr id="25" name="TextBox 24"/>
          <p:cNvSpPr txBox="1"/>
          <p:nvPr/>
        </p:nvSpPr>
        <p:spPr>
          <a:xfrm>
            <a:off x="1828800" y="7141464"/>
            <a:ext cx="9692640" cy="1188720"/>
          </a:xfrm>
          <a:prstGeom prst="rect">
            <a:avLst/>
          </a:prstGeom>
          <a:noFill/>
        </p:spPr>
        <p:txBody>
          <a:bodyPr wrap="square" lIns="0" tIns="0" rIns="0" bIns="0" anchor="ctr">
            <a:noAutofit/>
          </a:bodyPr>
          <a:lstStyle/>
          <a:p>
            <a:pPr algn="l">
              <a:lnSpc>
                <a:spcPct val="100000"/>
              </a:lnSpc>
              <a:spcAft>
                <a:spcPts val="200"/>
              </a:spcAft>
            </a:pPr>
            <a:r>
              <a:rPr sz="1800" b="1" i="0">
                <a:solidFill>
                  <a:srgbClr val="8B0707"/>
                </a:solidFill>
                <a:latin typeface="ITC Avant Garde Gothic"/>
                <a:ea typeface="ITC Avant Garde Gothic"/>
                <a:cs typeface="ITC Avant Garde Gothic"/>
              </a:rPr>
              <a:t>Siting has a guarantee</a:t>
            </a:r>
          </a:p>
          <a:p>
            <a:pPr algn="l">
              <a:lnSpc>
                <a:spcPct val="100000"/>
              </a:lnSpc>
            </a:pPr>
            <a:r>
              <a:rPr sz="1600" b="0" i="0">
                <a:solidFill>
                  <a:srgbClr val="262626"/>
                </a:solidFill>
                <a:latin typeface="ITC Avant Garde Gothic"/>
                <a:ea typeface="ITC Avant Garde Gothic"/>
                <a:cs typeface="ITC Avant Garde Gothic"/>
              </a:rPr>
              <a:t>Greedy Ligtas Pinoy Center siting reaches at least 63.2% of the best; in tests, at least 89.0% and optimal in 94.7%.</a:t>
            </a:r>
          </a:p>
        </p:txBody>
      </p:sp>
      <p:sp>
        <p:nvSpPr>
          <p:cNvPr id="26" name="Rounded Rectangle 25"/>
          <p:cNvSpPr/>
          <p:nvPr/>
        </p:nvSpPr>
        <p:spPr>
          <a:xfrm>
            <a:off x="548640" y="8549640"/>
            <a:ext cx="11155680" cy="1298448"/>
          </a:xfrm>
          <a:prstGeom prst="roundRect">
            <a:avLst>
              <a:gd name="adj" fmla="val 985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7" name="Oval 26"/>
          <p:cNvSpPr/>
          <p:nvPr/>
        </p:nvSpPr>
        <p:spPr>
          <a:xfrm>
            <a:off x="749808" y="8769096"/>
            <a:ext cx="859536" cy="859536"/>
          </a:xfrm>
          <a:prstGeom prst="ellipse">
            <a:avLst/>
          </a:prstGeom>
          <a:solidFill>
            <a:srgbClr val="8B0707"/>
          </a:solidFill>
          <a:ln>
            <a:noFill/>
          </a:ln>
          <a:effectLst/>
        </p:spPr>
        <p:txBody>
          <a:bodyPr rtlCol="0" anchor="ctr"/>
          <a:lstStyle/>
          <a:p>
            <a:pPr algn="ctr"/>
          </a:p>
        </p:txBody>
      </p:sp>
      <p:pic>
        <p:nvPicPr>
          <p:cNvPr id="28" name="Picture 27" descr="w_verified.png"/>
          <p:cNvPicPr>
            <a:picLocks noChangeAspect="1"/>
          </p:cNvPicPr>
          <p:nvPr/>
        </p:nvPicPr>
        <p:blipFill>
          <a:blip r:embed="rId7"/>
          <a:stretch>
            <a:fillRect/>
          </a:stretch>
        </p:blipFill>
        <p:spPr>
          <a:xfrm>
            <a:off x="921715" y="8941003"/>
            <a:ext cx="515722" cy="515722"/>
          </a:xfrm>
          <a:prstGeom prst="rect">
            <a:avLst/>
          </a:prstGeom>
        </p:spPr>
      </p:pic>
      <p:sp>
        <p:nvSpPr>
          <p:cNvPr id="29" name="TextBox 28"/>
          <p:cNvSpPr txBox="1"/>
          <p:nvPr/>
        </p:nvSpPr>
        <p:spPr>
          <a:xfrm>
            <a:off x="1828800" y="8604504"/>
            <a:ext cx="9692640" cy="1188720"/>
          </a:xfrm>
          <a:prstGeom prst="rect">
            <a:avLst/>
          </a:prstGeom>
          <a:noFill/>
        </p:spPr>
        <p:txBody>
          <a:bodyPr wrap="square" lIns="0" tIns="0" rIns="0" bIns="0" anchor="ctr">
            <a:noAutofit/>
          </a:bodyPr>
          <a:lstStyle/>
          <a:p>
            <a:pPr algn="l">
              <a:lnSpc>
                <a:spcPct val="100000"/>
              </a:lnSpc>
              <a:spcAft>
                <a:spcPts val="200"/>
              </a:spcAft>
            </a:pPr>
            <a:r>
              <a:rPr sz="1800" b="1" i="0">
                <a:solidFill>
                  <a:srgbClr val="8B0707"/>
                </a:solidFill>
                <a:latin typeface="ITC Avant Garde Gothic"/>
                <a:ea typeface="ITC Avant Garde Gothic"/>
                <a:cs typeface="ITC Avant Garde Gothic"/>
              </a:rPr>
              <a:t>Every result was proven, then checked</a:t>
            </a:r>
          </a:p>
          <a:p>
            <a:pPr algn="l">
              <a:lnSpc>
                <a:spcPct val="100000"/>
              </a:lnSpc>
            </a:pPr>
            <a:r>
              <a:rPr sz="1600" b="0" i="0">
                <a:solidFill>
                  <a:srgbClr val="262626"/>
                </a:solidFill>
                <a:latin typeface="ITC Avant Garde Gothic"/>
                <a:ea typeface="ITC Avant Garde Gothic"/>
                <a:cs typeface="ITC Avant Garde Gothic"/>
              </a:rPr>
              <a:t>No check failed against independently written code.</a:t>
            </a:r>
          </a:p>
        </p:txBody>
      </p:sp>
      <p:sp>
        <p:nvSpPr>
          <p:cNvPr id="30" name="Rounded Rectangle 29"/>
          <p:cNvSpPr/>
          <p:nvPr/>
        </p:nvSpPr>
        <p:spPr>
          <a:xfrm>
            <a:off x="12070080" y="2697480"/>
            <a:ext cx="5669280" cy="3840480"/>
          </a:xfrm>
          <a:prstGeom prst="roundRect">
            <a:avLst>
              <a:gd name="adj" fmla="val 3333"/>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31" name="TextBox 30"/>
          <p:cNvSpPr txBox="1"/>
          <p:nvPr/>
        </p:nvSpPr>
        <p:spPr>
          <a:xfrm>
            <a:off x="12344400" y="2788920"/>
            <a:ext cx="5120640" cy="457200"/>
          </a:xfrm>
          <a:prstGeom prst="rect">
            <a:avLst/>
          </a:prstGeom>
          <a:noFill/>
        </p:spPr>
        <p:txBody>
          <a:bodyPr wrap="square" lIns="0" tIns="0" rIns="0" bIns="0" anchor="t">
            <a:noAutofit/>
          </a:bodyPr>
          <a:lstStyle/>
          <a:p>
            <a:pPr algn="l">
              <a:lnSpc>
                <a:spcPct val="100000"/>
              </a:lnSpc>
            </a:pPr>
            <a:r>
              <a:rPr sz="1700" b="1" i="0">
                <a:solidFill>
                  <a:srgbClr val="F0C04A"/>
                </a:solidFill>
                <a:latin typeface="ITC Avant Garde Gothic"/>
                <a:ea typeface="ITC Avant Garde Gothic"/>
                <a:cs typeface="ITC Avant Garde Gothic"/>
              </a:rPr>
              <a:t>On test network E1 (synthetic)</a:t>
            </a:r>
          </a:p>
        </p:txBody>
      </p:sp>
      <p:sp>
        <p:nvSpPr>
          <p:cNvPr id="32" name="TextBox 31"/>
          <p:cNvSpPr txBox="1"/>
          <p:nvPr/>
        </p:nvSpPr>
        <p:spPr>
          <a:xfrm>
            <a:off x="12344400" y="3291840"/>
            <a:ext cx="3017520" cy="914400"/>
          </a:xfrm>
          <a:prstGeom prst="rect">
            <a:avLst/>
          </a:prstGeom>
          <a:noFill/>
        </p:spPr>
        <p:txBody>
          <a:bodyPr wrap="square" lIns="0" tIns="0" rIns="0" bIns="0" anchor="ctr">
            <a:noAutofit/>
          </a:bodyPr>
          <a:lstStyle/>
          <a:p>
            <a:pPr algn="l">
              <a:lnSpc>
                <a:spcPct val="100000"/>
              </a:lnSpc>
            </a:pPr>
            <a:r>
              <a:rPr sz="2800" b="1" i="0">
                <a:solidFill>
                  <a:srgbClr val="FFFFFF"/>
                </a:solidFill>
                <a:latin typeface="ITC Avant Garde Gothic"/>
                <a:ea typeface="ITC Avant Garde Gothic"/>
                <a:cs typeface="ITC Avant Garde Gothic"/>
              </a:rPr>
              <a:t>14 vs 40</a:t>
            </a:r>
          </a:p>
        </p:txBody>
      </p:sp>
      <p:sp>
        <p:nvSpPr>
          <p:cNvPr id="33" name="TextBox 32"/>
          <p:cNvSpPr txBox="1"/>
          <p:nvPr/>
        </p:nvSpPr>
        <p:spPr>
          <a:xfrm>
            <a:off x="15361920" y="3291840"/>
            <a:ext cx="2148840" cy="914400"/>
          </a:xfrm>
          <a:prstGeom prst="rect">
            <a:avLst/>
          </a:prstGeom>
          <a:noFill/>
        </p:spPr>
        <p:txBody>
          <a:bodyPr wrap="square" lIns="0" tIns="0" rIns="0" bIns="0" anchor="ctr">
            <a:noAutofit/>
          </a:bodyPr>
          <a:lstStyle/>
          <a:p>
            <a:pPr algn="l">
              <a:lnSpc>
                <a:spcPct val="100000"/>
              </a:lnSpc>
            </a:pPr>
            <a:r>
              <a:rPr sz="1600" b="0" i="0">
                <a:solidFill>
                  <a:srgbClr val="F2DADA"/>
                </a:solidFill>
                <a:latin typeface="ITC Avant Garde Gothic"/>
                <a:ea typeface="ITC Avant Garde Gothic"/>
                <a:cs typeface="ITC Avant Garde Gothic"/>
              </a:rPr>
              <a:t>classrooms closed</a:t>
            </a:r>
          </a:p>
        </p:txBody>
      </p:sp>
      <p:sp>
        <p:nvSpPr>
          <p:cNvPr id="34" name="TextBox 33"/>
          <p:cNvSpPr txBox="1"/>
          <p:nvPr/>
        </p:nvSpPr>
        <p:spPr>
          <a:xfrm>
            <a:off x="12344400" y="4343400"/>
            <a:ext cx="3017520" cy="914400"/>
          </a:xfrm>
          <a:prstGeom prst="rect">
            <a:avLst/>
          </a:prstGeom>
          <a:noFill/>
        </p:spPr>
        <p:txBody>
          <a:bodyPr wrap="square" lIns="0" tIns="0" rIns="0" bIns="0" anchor="ctr">
            <a:noAutofit/>
          </a:bodyPr>
          <a:lstStyle/>
          <a:p>
            <a:pPr algn="l">
              <a:lnSpc>
                <a:spcPct val="100000"/>
              </a:lnSpc>
            </a:pPr>
            <a:r>
              <a:rPr sz="2800" b="1" i="0">
                <a:solidFill>
                  <a:srgbClr val="FFFFFF"/>
                </a:solidFill>
                <a:latin typeface="ITC Avant Garde Gothic"/>
                <a:ea typeface="ITC Avant Garde Gothic"/>
                <a:cs typeface="ITC Avant Garde Gothic"/>
              </a:rPr>
              <a:t>532 vs 1,702</a:t>
            </a:r>
          </a:p>
        </p:txBody>
      </p:sp>
      <p:sp>
        <p:nvSpPr>
          <p:cNvPr id="35" name="TextBox 34"/>
          <p:cNvSpPr txBox="1"/>
          <p:nvPr/>
        </p:nvSpPr>
        <p:spPr>
          <a:xfrm>
            <a:off x="15361920" y="4343400"/>
            <a:ext cx="2148840" cy="914400"/>
          </a:xfrm>
          <a:prstGeom prst="rect">
            <a:avLst/>
          </a:prstGeom>
          <a:noFill/>
        </p:spPr>
        <p:txBody>
          <a:bodyPr wrap="square" lIns="0" tIns="0" rIns="0" bIns="0" anchor="ctr">
            <a:noAutofit/>
          </a:bodyPr>
          <a:lstStyle/>
          <a:p>
            <a:pPr algn="l">
              <a:lnSpc>
                <a:spcPct val="100000"/>
              </a:lnSpc>
            </a:pPr>
            <a:r>
              <a:rPr sz="1600" b="0" i="0">
                <a:solidFill>
                  <a:srgbClr val="F2DADA"/>
                </a:solidFill>
                <a:latin typeface="ITC Avant Garde Gothic"/>
                <a:ea typeface="ITC Avant Garde Gothic"/>
                <a:cs typeface="ITC Avant Garde Gothic"/>
              </a:rPr>
              <a:t>learners displaced</a:t>
            </a:r>
          </a:p>
        </p:txBody>
      </p:sp>
      <p:sp>
        <p:nvSpPr>
          <p:cNvPr id="36" name="TextBox 35"/>
          <p:cNvSpPr txBox="1"/>
          <p:nvPr/>
        </p:nvSpPr>
        <p:spPr>
          <a:xfrm>
            <a:off x="12344400" y="5394960"/>
            <a:ext cx="3017520" cy="914400"/>
          </a:xfrm>
          <a:prstGeom prst="rect">
            <a:avLst/>
          </a:prstGeom>
          <a:noFill/>
        </p:spPr>
        <p:txBody>
          <a:bodyPr wrap="square" lIns="0" tIns="0" rIns="0" bIns="0" anchor="ctr">
            <a:noAutofit/>
          </a:bodyPr>
          <a:lstStyle/>
          <a:p>
            <a:pPr algn="l">
              <a:lnSpc>
                <a:spcPct val="100000"/>
              </a:lnSpc>
            </a:pPr>
            <a:r>
              <a:rPr sz="2800" b="1" i="0">
                <a:solidFill>
                  <a:srgbClr val="FFFFFF"/>
                </a:solidFill>
                <a:latin typeface="ITC Avant Garde Gothic"/>
                <a:ea typeface="ITC Avant Garde Gothic"/>
                <a:cs typeface="ITC Avant Garde Gothic"/>
              </a:rPr>
              <a:t>+1.70 min</a:t>
            </a:r>
          </a:p>
        </p:txBody>
      </p:sp>
      <p:sp>
        <p:nvSpPr>
          <p:cNvPr id="37" name="TextBox 36"/>
          <p:cNvSpPr txBox="1"/>
          <p:nvPr/>
        </p:nvSpPr>
        <p:spPr>
          <a:xfrm>
            <a:off x="15361920" y="5394960"/>
            <a:ext cx="2148840" cy="914400"/>
          </a:xfrm>
          <a:prstGeom prst="rect">
            <a:avLst/>
          </a:prstGeom>
          <a:noFill/>
        </p:spPr>
        <p:txBody>
          <a:bodyPr wrap="square" lIns="0" tIns="0" rIns="0" bIns="0" anchor="ctr">
            <a:noAutofit/>
          </a:bodyPr>
          <a:lstStyle/>
          <a:p>
            <a:pPr algn="l">
              <a:lnSpc>
                <a:spcPct val="100000"/>
              </a:lnSpc>
            </a:pPr>
            <a:r>
              <a:rPr sz="1600" b="0" i="0">
                <a:solidFill>
                  <a:srgbClr val="F2DADA"/>
                </a:solidFill>
                <a:latin typeface="ITC Avant Garde Gothic"/>
                <a:ea typeface="ITC Avant Garde Gothic"/>
                <a:cs typeface="ITC Avant Garde Gothic"/>
              </a:rPr>
              <a:t>mean travel</a:t>
            </a:r>
          </a:p>
        </p:txBody>
      </p:sp>
      <p:sp>
        <p:nvSpPr>
          <p:cNvPr id="38" name="Rounded Rectangle 37"/>
          <p:cNvSpPr/>
          <p:nvPr/>
        </p:nvSpPr>
        <p:spPr>
          <a:xfrm>
            <a:off x="12070080" y="6766560"/>
            <a:ext cx="5669280" cy="3063240"/>
          </a:xfrm>
          <a:prstGeom prst="roundRect">
            <a:avLst>
              <a:gd name="adj" fmla="val 417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9" name="TextBox 38"/>
          <p:cNvSpPr txBox="1"/>
          <p:nvPr/>
        </p:nvSpPr>
        <p:spPr>
          <a:xfrm>
            <a:off x="12344400" y="6858000"/>
            <a:ext cx="5166360" cy="2926080"/>
          </a:xfrm>
          <a:prstGeom prst="rect">
            <a:avLst/>
          </a:prstGeom>
          <a:noFill/>
        </p:spPr>
        <p:txBody>
          <a:bodyPr wrap="square" lIns="0" tIns="0" rIns="0" bIns="0" anchor="t">
            <a:noAutofit/>
          </a:bodyPr>
          <a:lstStyle/>
          <a:p>
            <a:pPr algn="l">
              <a:lnSpc>
                <a:spcPct val="100000"/>
              </a:lnSpc>
              <a:spcAft>
                <a:spcPts val="400"/>
              </a:spcAft>
            </a:pPr>
            <a:r>
              <a:rPr sz="1800" b="1" i="0">
                <a:solidFill>
                  <a:srgbClr val="8B0707"/>
                </a:solidFill>
                <a:latin typeface="ITC Avant Garde Gothic"/>
                <a:ea typeface="ITC Avant Garde Gothic"/>
                <a:cs typeface="ITC Avant Garde Gothic"/>
              </a:rPr>
              <a:t>Limitations</a:t>
            </a:r>
          </a:p>
          <a:p>
            <a:pPr algn="l" marL="292608" indent="-292608">
              <a:lnSpc>
                <a:spcPct val="100000"/>
              </a:lnSpc>
              <a:spcAft>
                <a:spcPts val="300"/>
              </a:spcAft>
              <a:buClr>
                <a:srgbClr val="8B0707"/>
              </a:buClr>
              <a:buSzPct val="100000"/>
              <a:buFont typeface="Arial"/>
              <a:buChar char="•"/>
            </a:pPr>
            <a:r>
              <a:rPr sz="1600" b="0" i="0">
                <a:solidFill>
                  <a:srgbClr val="262626"/>
                </a:solidFill>
                <a:latin typeface="ITC Avant Garde Gothic"/>
                <a:ea typeface="ITC Avant Garde Gothic"/>
                <a:cs typeface="ITC Avant Garde Gothic"/>
              </a:rPr>
              <a:t>Worked results come from a synthetic test network</a:t>
            </a:r>
          </a:p>
          <a:p>
            <a:pPr algn="l" marL="292608" indent="-292608">
              <a:lnSpc>
                <a:spcPct val="100000"/>
              </a:lnSpc>
              <a:spcAft>
                <a:spcPts val="300"/>
              </a:spcAft>
              <a:buClr>
                <a:srgbClr val="8B0707"/>
              </a:buClr>
              <a:buSzPct val="100000"/>
              <a:buFont typeface="Arial"/>
              <a:buChar char="•"/>
            </a:pPr>
            <a:r>
              <a:rPr sz="1600" b="0" i="0">
                <a:solidFill>
                  <a:srgbClr val="262626"/>
                </a:solidFill>
                <a:latin typeface="ITC Avant Garde Gothic"/>
                <a:ea typeface="ITC Avant Garde Gothic"/>
                <a:cs typeface="ITC Avant Garde Gothic"/>
              </a:rPr>
              <a:t>Road capacities are declared; everyone leaves at once</a:t>
            </a:r>
          </a:p>
          <a:p>
            <a:pPr algn="l" marL="292608" indent="-292608">
              <a:lnSpc>
                <a:spcPct val="100000"/>
              </a:lnSpc>
              <a:spcAft>
                <a:spcPts val="300"/>
              </a:spcAft>
              <a:buClr>
                <a:srgbClr val="8B0707"/>
              </a:buClr>
              <a:buSzPct val="100000"/>
              <a:buFont typeface="Arial"/>
              <a:buChar char="•"/>
            </a:pPr>
            <a:r>
              <a:rPr sz="1600" b="0" i="0">
                <a:solidFill>
                  <a:srgbClr val="262626"/>
                </a:solidFill>
                <a:latin typeface="ITC Avant Garde Gothic"/>
                <a:ea typeface="ITC Avant Garde Gothic"/>
                <a:cs typeface="ITC Avant Garde Gothic"/>
              </a:rPr>
              <a:t>Families may be split; accessibility is one flag</a:t>
            </a:r>
          </a:p>
          <a:p>
            <a:pPr algn="l" marL="292608" indent="-292608">
              <a:lnSpc>
                <a:spcPct val="100000"/>
              </a:lnSpc>
              <a:buClr>
                <a:srgbClr val="8B0707"/>
              </a:buClr>
              <a:buSzPct val="100000"/>
              <a:buFont typeface="Arial"/>
              <a:buChar char="•"/>
            </a:pPr>
            <a:r>
              <a:rPr sz="1600" b="0" i="0">
                <a:solidFill>
                  <a:srgbClr val="262626"/>
                </a:solidFill>
                <a:latin typeface="ITC Avant Garde Gothic"/>
                <a:ea typeface="ITC Avant Garde Gothic"/>
                <a:cs typeface="ITC Avant Garde Gothic"/>
              </a:rPr>
              <a:t>Floor areas not yet surveyed; ashfall not modeled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5485374"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RECOMMENDATIONS</a:t>
            </a:r>
          </a:p>
        </p:txBody>
      </p:sp>
      <p:sp>
        <p:nvSpPr>
          <p:cNvPr id="8" name="Subtitle"/>
          <p:cNvSpPr txBox="1"/>
          <p:nvPr/>
        </p:nvSpPr>
        <p:spPr>
          <a:xfrm>
            <a:off x="16110823" y="18288"/>
            <a:ext cx="1765697"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Next Steps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From a verified model to a pilot with the Provincial Government and DepEd Albay</a:t>
            </a:r>
          </a:p>
        </p:txBody>
      </p:sp>
      <p:sp>
        <p:nvSpPr>
          <p:cNvPr id="10" name="Rounded Rectangle 9"/>
          <p:cNvSpPr/>
          <p:nvPr/>
        </p:nvSpPr>
        <p:spPr>
          <a:xfrm>
            <a:off x="548640" y="2697480"/>
            <a:ext cx="3920490" cy="4160520"/>
          </a:xfrm>
          <a:prstGeom prst="roundRect">
            <a:avLst>
              <a:gd name="adj" fmla="val 32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Oval 10"/>
          <p:cNvSpPr/>
          <p:nvPr/>
        </p:nvSpPr>
        <p:spPr>
          <a:xfrm>
            <a:off x="2005965" y="2926080"/>
            <a:ext cx="1005840" cy="1005840"/>
          </a:xfrm>
          <a:prstGeom prst="ellipse">
            <a:avLst/>
          </a:prstGeom>
          <a:solidFill>
            <a:srgbClr val="8B0707"/>
          </a:solidFill>
          <a:ln>
            <a:noFill/>
          </a:ln>
          <a:effectLst/>
        </p:spPr>
        <p:txBody>
          <a:bodyPr rtlCol="0" anchor="ctr"/>
          <a:lstStyle/>
          <a:p>
            <a:pPr algn="ctr"/>
          </a:p>
        </p:txBody>
      </p:sp>
      <p:pic>
        <p:nvPicPr>
          <p:cNvPr id="12" name="Picture 11" descr="w_inventory_2.png"/>
          <p:cNvPicPr>
            <a:picLocks noChangeAspect="1"/>
          </p:cNvPicPr>
          <p:nvPr/>
        </p:nvPicPr>
        <p:blipFill>
          <a:blip r:embed="rId3"/>
          <a:stretch>
            <a:fillRect/>
          </a:stretch>
        </p:blipFill>
        <p:spPr>
          <a:xfrm>
            <a:off x="2207133" y="3127248"/>
            <a:ext cx="603504" cy="603504"/>
          </a:xfrm>
          <a:prstGeom prst="rect">
            <a:avLst/>
          </a:prstGeom>
        </p:spPr>
      </p:pic>
      <p:sp>
        <p:nvSpPr>
          <p:cNvPr id="13" name="Oval 12"/>
          <p:cNvSpPr/>
          <p:nvPr/>
        </p:nvSpPr>
        <p:spPr>
          <a:xfrm>
            <a:off x="2783205" y="2788920"/>
            <a:ext cx="457200" cy="457200"/>
          </a:xfrm>
          <a:prstGeom prst="ellipse">
            <a:avLst/>
          </a:prstGeom>
          <a:solidFill>
            <a:srgbClr val="F0C04A"/>
          </a:solidFill>
          <a:ln>
            <a:noFill/>
          </a:ln>
          <a:effectLst/>
        </p:spPr>
        <p:txBody>
          <a:bodyPr rtlCol="0" anchor="ctr"/>
          <a:lstStyle/>
          <a:p>
            <a:pPr algn="ctr"/>
          </a:p>
        </p:txBody>
      </p:sp>
      <p:sp>
        <p:nvSpPr>
          <p:cNvPr id="14" name="TextBox 13"/>
          <p:cNvSpPr txBox="1"/>
          <p:nvPr/>
        </p:nvSpPr>
        <p:spPr>
          <a:xfrm>
            <a:off x="2783205" y="2788920"/>
            <a:ext cx="457200" cy="457200"/>
          </a:xfrm>
          <a:prstGeom prst="rect">
            <a:avLst/>
          </a:prstGeom>
          <a:noFill/>
        </p:spPr>
        <p:txBody>
          <a:bodyPr wrap="square" lIns="0" tIns="0" rIns="0" bIns="0" anchor="ctr">
            <a:noAutofit/>
          </a:bodyPr>
          <a:lstStyle/>
          <a:p>
            <a:pPr algn="ctr">
              <a:lnSpc>
                <a:spcPct val="100000"/>
              </a:lnSpc>
            </a:pPr>
            <a:r>
              <a:rPr sz="1600" b="1" i="0">
                <a:solidFill>
                  <a:srgbClr val="5A0505"/>
                </a:solidFill>
                <a:latin typeface="ITC Avant Garde Gothic"/>
                <a:ea typeface="ITC Avant Garde Gothic"/>
                <a:cs typeface="ITC Avant Garde Gothic"/>
              </a:rPr>
              <a:t>1</a:t>
            </a:r>
          </a:p>
        </p:txBody>
      </p:sp>
      <p:sp>
        <p:nvSpPr>
          <p:cNvPr id="15" name="TextBox 14"/>
          <p:cNvSpPr txBox="1"/>
          <p:nvPr/>
        </p:nvSpPr>
        <p:spPr>
          <a:xfrm>
            <a:off x="777240" y="4069080"/>
            <a:ext cx="3463290" cy="502920"/>
          </a:xfrm>
          <a:prstGeom prst="rect">
            <a:avLst/>
          </a:prstGeom>
          <a:noFill/>
        </p:spPr>
        <p:txBody>
          <a:bodyPr wrap="square" lIns="0" tIns="0" rIns="0" bIns="0" anchor="t">
            <a:noAutofit/>
          </a:bodyPr>
          <a:lstStyle/>
          <a:p>
            <a:pPr algn="ctr">
              <a:lnSpc>
                <a:spcPct val="100000"/>
              </a:lnSpc>
            </a:pPr>
            <a:r>
              <a:rPr sz="1900" b="1" i="0">
                <a:solidFill>
                  <a:srgbClr val="8B0707"/>
                </a:solidFill>
                <a:latin typeface="ITC Avant Garde Gothic"/>
                <a:ea typeface="ITC Avant Garde Gothic"/>
                <a:cs typeface="ITC Avant Garde Gothic"/>
              </a:rPr>
              <a:t>Shelter inventory</a:t>
            </a:r>
          </a:p>
        </p:txBody>
      </p:sp>
      <p:sp>
        <p:nvSpPr>
          <p:cNvPr id="16" name="TextBox 15"/>
          <p:cNvSpPr txBox="1"/>
          <p:nvPr/>
        </p:nvSpPr>
        <p:spPr>
          <a:xfrm>
            <a:off x="822960" y="4617720"/>
            <a:ext cx="3371850" cy="214884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Floor areas of gyms, halls, and classrooms, accessibility, and contacts for every evacuation center and school in the danger-zone municipalities.</a:t>
            </a:r>
          </a:p>
        </p:txBody>
      </p:sp>
      <p:sp>
        <p:nvSpPr>
          <p:cNvPr id="17" name="Chevron 16"/>
          <p:cNvSpPr/>
          <p:nvPr/>
        </p:nvSpPr>
        <p:spPr>
          <a:xfrm>
            <a:off x="4588002" y="4572000"/>
            <a:ext cx="274320" cy="548640"/>
          </a:xfrm>
          <a:prstGeom prst="chevron">
            <a:avLst/>
          </a:prstGeom>
          <a:solidFill>
            <a:srgbClr val="8B0707"/>
          </a:solidFill>
          <a:ln>
            <a:noFill/>
          </a:ln>
          <a:effectLst/>
        </p:spPr>
        <p:txBody>
          <a:bodyPr rtlCol="0" anchor="ctr"/>
          <a:lstStyle/>
          <a:p>
            <a:pPr algn="ctr"/>
          </a:p>
        </p:txBody>
      </p:sp>
      <p:sp>
        <p:nvSpPr>
          <p:cNvPr id="18" name="Rounded Rectangle 17"/>
          <p:cNvSpPr/>
          <p:nvPr/>
        </p:nvSpPr>
        <p:spPr>
          <a:xfrm>
            <a:off x="4972050" y="2697480"/>
            <a:ext cx="3920490" cy="4160520"/>
          </a:xfrm>
          <a:prstGeom prst="roundRect">
            <a:avLst>
              <a:gd name="adj" fmla="val 32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9" name="Oval 18"/>
          <p:cNvSpPr/>
          <p:nvPr/>
        </p:nvSpPr>
        <p:spPr>
          <a:xfrm>
            <a:off x="6429375" y="2926080"/>
            <a:ext cx="1005840" cy="1005840"/>
          </a:xfrm>
          <a:prstGeom prst="ellipse">
            <a:avLst/>
          </a:prstGeom>
          <a:solidFill>
            <a:srgbClr val="8B0707"/>
          </a:solidFill>
          <a:ln>
            <a:noFill/>
          </a:ln>
          <a:effectLst/>
        </p:spPr>
        <p:txBody>
          <a:bodyPr rtlCol="0" anchor="ctr"/>
          <a:lstStyle/>
          <a:p>
            <a:pPr algn="ctr"/>
          </a:p>
        </p:txBody>
      </p:sp>
      <p:pic>
        <p:nvPicPr>
          <p:cNvPr id="20" name="Picture 19" descr="w_fact_check.png"/>
          <p:cNvPicPr>
            <a:picLocks noChangeAspect="1"/>
          </p:cNvPicPr>
          <p:nvPr/>
        </p:nvPicPr>
        <p:blipFill>
          <a:blip r:embed="rId4"/>
          <a:stretch>
            <a:fillRect/>
          </a:stretch>
        </p:blipFill>
        <p:spPr>
          <a:xfrm>
            <a:off x="6630543" y="3127248"/>
            <a:ext cx="603504" cy="603504"/>
          </a:xfrm>
          <a:prstGeom prst="rect">
            <a:avLst/>
          </a:prstGeom>
        </p:spPr>
      </p:pic>
      <p:sp>
        <p:nvSpPr>
          <p:cNvPr id="21" name="Oval 20"/>
          <p:cNvSpPr/>
          <p:nvPr/>
        </p:nvSpPr>
        <p:spPr>
          <a:xfrm>
            <a:off x="7206615" y="2788920"/>
            <a:ext cx="457200" cy="457200"/>
          </a:xfrm>
          <a:prstGeom prst="ellipse">
            <a:avLst/>
          </a:prstGeom>
          <a:solidFill>
            <a:srgbClr val="F0C04A"/>
          </a:solidFill>
          <a:ln>
            <a:noFill/>
          </a:ln>
          <a:effectLst/>
        </p:spPr>
        <p:txBody>
          <a:bodyPr rtlCol="0" anchor="ctr"/>
          <a:lstStyle/>
          <a:p>
            <a:pPr algn="ctr"/>
          </a:p>
        </p:txBody>
      </p:sp>
      <p:sp>
        <p:nvSpPr>
          <p:cNvPr id="22" name="TextBox 21"/>
          <p:cNvSpPr txBox="1"/>
          <p:nvPr/>
        </p:nvSpPr>
        <p:spPr>
          <a:xfrm>
            <a:off x="7206615" y="2788920"/>
            <a:ext cx="457200" cy="457200"/>
          </a:xfrm>
          <a:prstGeom prst="rect">
            <a:avLst/>
          </a:prstGeom>
          <a:noFill/>
        </p:spPr>
        <p:txBody>
          <a:bodyPr wrap="square" lIns="0" tIns="0" rIns="0" bIns="0" anchor="ctr">
            <a:noAutofit/>
          </a:bodyPr>
          <a:lstStyle/>
          <a:p>
            <a:pPr algn="ctr">
              <a:lnSpc>
                <a:spcPct val="100000"/>
              </a:lnSpc>
            </a:pPr>
            <a:r>
              <a:rPr sz="1600" b="1" i="0">
                <a:solidFill>
                  <a:srgbClr val="5A0505"/>
                </a:solidFill>
                <a:latin typeface="ITC Avant Garde Gothic"/>
                <a:ea typeface="ITC Avant Garde Gothic"/>
                <a:cs typeface="ITC Avant Garde Gothic"/>
              </a:rPr>
              <a:t>2</a:t>
            </a:r>
          </a:p>
        </p:txBody>
      </p:sp>
      <p:sp>
        <p:nvSpPr>
          <p:cNvPr id="23" name="TextBox 22"/>
          <p:cNvSpPr txBox="1"/>
          <p:nvPr/>
        </p:nvSpPr>
        <p:spPr>
          <a:xfrm>
            <a:off x="5200650" y="4069080"/>
            <a:ext cx="3463290" cy="502920"/>
          </a:xfrm>
          <a:prstGeom prst="rect">
            <a:avLst/>
          </a:prstGeom>
          <a:noFill/>
        </p:spPr>
        <p:txBody>
          <a:bodyPr wrap="square" lIns="0" tIns="0" rIns="0" bIns="0" anchor="t">
            <a:noAutofit/>
          </a:bodyPr>
          <a:lstStyle/>
          <a:p>
            <a:pPr algn="ctr">
              <a:lnSpc>
                <a:spcPct val="100000"/>
              </a:lnSpc>
            </a:pPr>
            <a:r>
              <a:rPr sz="1900" b="1" i="0">
                <a:solidFill>
                  <a:srgbClr val="8B0707"/>
                </a:solidFill>
                <a:latin typeface="ITC Avant Garde Gothic"/>
                <a:ea typeface="ITC Avant Garde Gothic"/>
                <a:cs typeface="ITC Avant Garde Gothic"/>
              </a:rPr>
              <a:t>Field validation</a:t>
            </a:r>
          </a:p>
        </p:txBody>
      </p:sp>
      <p:sp>
        <p:nvSpPr>
          <p:cNvPr id="24" name="TextBox 23"/>
          <p:cNvSpPr txBox="1"/>
          <p:nvPr/>
        </p:nvSpPr>
        <p:spPr>
          <a:xfrm>
            <a:off x="5246370" y="4617720"/>
            <a:ext cx="3371850" cy="214884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Calibrate road capacities from drills (trucks, loads, trip times); replay the January and May 2026 evacuations from DSWD records.</a:t>
            </a:r>
          </a:p>
        </p:txBody>
      </p:sp>
      <p:sp>
        <p:nvSpPr>
          <p:cNvPr id="25" name="Chevron 24"/>
          <p:cNvSpPr/>
          <p:nvPr/>
        </p:nvSpPr>
        <p:spPr>
          <a:xfrm>
            <a:off x="9011412" y="4572000"/>
            <a:ext cx="274320" cy="548640"/>
          </a:xfrm>
          <a:prstGeom prst="chevron">
            <a:avLst/>
          </a:prstGeom>
          <a:solidFill>
            <a:srgbClr val="8B0707"/>
          </a:solidFill>
          <a:ln>
            <a:noFill/>
          </a:ln>
          <a:effectLst/>
        </p:spPr>
        <p:txBody>
          <a:bodyPr rtlCol="0" anchor="ctr"/>
          <a:lstStyle/>
          <a:p>
            <a:pPr algn="ctr"/>
          </a:p>
        </p:txBody>
      </p:sp>
      <p:sp>
        <p:nvSpPr>
          <p:cNvPr id="26" name="Rounded Rectangle 25"/>
          <p:cNvSpPr/>
          <p:nvPr/>
        </p:nvSpPr>
        <p:spPr>
          <a:xfrm>
            <a:off x="9395460" y="2697480"/>
            <a:ext cx="3920490" cy="4160520"/>
          </a:xfrm>
          <a:prstGeom prst="roundRect">
            <a:avLst>
              <a:gd name="adj" fmla="val 32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7" name="Oval 26"/>
          <p:cNvSpPr/>
          <p:nvPr/>
        </p:nvSpPr>
        <p:spPr>
          <a:xfrm>
            <a:off x="10852785" y="2926080"/>
            <a:ext cx="1005840" cy="1005840"/>
          </a:xfrm>
          <a:prstGeom prst="ellipse">
            <a:avLst/>
          </a:prstGeom>
          <a:solidFill>
            <a:srgbClr val="8B0707"/>
          </a:solidFill>
          <a:ln>
            <a:noFill/>
          </a:ln>
          <a:effectLst/>
        </p:spPr>
        <p:txBody>
          <a:bodyPr rtlCol="0" anchor="ctr"/>
          <a:lstStyle/>
          <a:p>
            <a:pPr algn="ctr"/>
          </a:p>
        </p:txBody>
      </p:sp>
      <p:pic>
        <p:nvPicPr>
          <p:cNvPr id="28" name="Picture 27" descr="w_handshake.png"/>
          <p:cNvPicPr>
            <a:picLocks noChangeAspect="1"/>
          </p:cNvPicPr>
          <p:nvPr/>
        </p:nvPicPr>
        <p:blipFill>
          <a:blip r:embed="rId5"/>
          <a:stretch>
            <a:fillRect/>
          </a:stretch>
        </p:blipFill>
        <p:spPr>
          <a:xfrm>
            <a:off x="11053953" y="3127248"/>
            <a:ext cx="603504" cy="603504"/>
          </a:xfrm>
          <a:prstGeom prst="rect">
            <a:avLst/>
          </a:prstGeom>
        </p:spPr>
      </p:pic>
      <p:sp>
        <p:nvSpPr>
          <p:cNvPr id="29" name="Oval 28"/>
          <p:cNvSpPr/>
          <p:nvPr/>
        </p:nvSpPr>
        <p:spPr>
          <a:xfrm>
            <a:off x="11630025" y="2788920"/>
            <a:ext cx="457200" cy="457200"/>
          </a:xfrm>
          <a:prstGeom prst="ellipse">
            <a:avLst/>
          </a:prstGeom>
          <a:solidFill>
            <a:srgbClr val="F0C04A"/>
          </a:solidFill>
          <a:ln>
            <a:noFill/>
          </a:ln>
          <a:effectLst/>
        </p:spPr>
        <p:txBody>
          <a:bodyPr rtlCol="0" anchor="ctr"/>
          <a:lstStyle/>
          <a:p>
            <a:pPr algn="ctr"/>
          </a:p>
        </p:txBody>
      </p:sp>
      <p:sp>
        <p:nvSpPr>
          <p:cNvPr id="30" name="TextBox 29"/>
          <p:cNvSpPr txBox="1"/>
          <p:nvPr/>
        </p:nvSpPr>
        <p:spPr>
          <a:xfrm>
            <a:off x="11630025" y="2788920"/>
            <a:ext cx="457200" cy="457200"/>
          </a:xfrm>
          <a:prstGeom prst="rect">
            <a:avLst/>
          </a:prstGeom>
          <a:noFill/>
        </p:spPr>
        <p:txBody>
          <a:bodyPr wrap="square" lIns="0" tIns="0" rIns="0" bIns="0" anchor="ctr">
            <a:noAutofit/>
          </a:bodyPr>
          <a:lstStyle/>
          <a:p>
            <a:pPr algn="ctr">
              <a:lnSpc>
                <a:spcPct val="100000"/>
              </a:lnSpc>
            </a:pPr>
            <a:r>
              <a:rPr sz="1600" b="1" i="0">
                <a:solidFill>
                  <a:srgbClr val="5A0505"/>
                </a:solidFill>
                <a:latin typeface="ITC Avant Garde Gothic"/>
                <a:ea typeface="ITC Avant Garde Gothic"/>
                <a:cs typeface="ITC Avant Garde Gothic"/>
              </a:rPr>
              <a:t>3</a:t>
            </a:r>
          </a:p>
        </p:txBody>
      </p:sp>
      <p:sp>
        <p:nvSpPr>
          <p:cNvPr id="31" name="TextBox 30"/>
          <p:cNvSpPr txBox="1"/>
          <p:nvPr/>
        </p:nvSpPr>
        <p:spPr>
          <a:xfrm>
            <a:off x="9624060" y="4069080"/>
            <a:ext cx="3463290" cy="502920"/>
          </a:xfrm>
          <a:prstGeom prst="rect">
            <a:avLst/>
          </a:prstGeom>
          <a:noFill/>
        </p:spPr>
        <p:txBody>
          <a:bodyPr wrap="square" lIns="0" tIns="0" rIns="0" bIns="0" anchor="t">
            <a:noAutofit/>
          </a:bodyPr>
          <a:lstStyle/>
          <a:p>
            <a:pPr algn="ctr">
              <a:lnSpc>
                <a:spcPct val="100000"/>
              </a:lnSpc>
            </a:pPr>
            <a:r>
              <a:rPr sz="1900" b="1" i="0">
                <a:solidFill>
                  <a:srgbClr val="8B0707"/>
                </a:solidFill>
                <a:latin typeface="ITC Avant Garde Gothic"/>
                <a:ea typeface="ITC Avant Garde Gothic"/>
                <a:cs typeface="ITC Avant Garde Gothic"/>
              </a:rPr>
              <a:t>Pilot as advice</a:t>
            </a:r>
          </a:p>
        </p:txBody>
      </p:sp>
      <p:sp>
        <p:nvSpPr>
          <p:cNvPr id="32" name="TextBox 31"/>
          <p:cNvSpPr txBox="1"/>
          <p:nvPr/>
        </p:nvSpPr>
        <p:spPr>
          <a:xfrm>
            <a:off x="9669780" y="4617720"/>
            <a:ext cx="3371850" cy="214884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PDRRMO, APSEMO, and the Schools Division Offices test the plan as advice to the officer who signs the order, never as an automatic order.</a:t>
            </a:r>
          </a:p>
        </p:txBody>
      </p:sp>
      <p:sp>
        <p:nvSpPr>
          <p:cNvPr id="33" name="Chevron 32"/>
          <p:cNvSpPr/>
          <p:nvPr/>
        </p:nvSpPr>
        <p:spPr>
          <a:xfrm>
            <a:off x="13434822" y="4572000"/>
            <a:ext cx="274320" cy="548640"/>
          </a:xfrm>
          <a:prstGeom prst="chevron">
            <a:avLst/>
          </a:prstGeom>
          <a:solidFill>
            <a:srgbClr val="8B0707"/>
          </a:solidFill>
          <a:ln>
            <a:noFill/>
          </a:ln>
          <a:effectLst/>
        </p:spPr>
        <p:txBody>
          <a:bodyPr rtlCol="0" anchor="ctr"/>
          <a:lstStyle/>
          <a:p>
            <a:pPr algn="ctr"/>
          </a:p>
        </p:txBody>
      </p:sp>
      <p:sp>
        <p:nvSpPr>
          <p:cNvPr id="34" name="Rounded Rectangle 33"/>
          <p:cNvSpPr/>
          <p:nvPr/>
        </p:nvSpPr>
        <p:spPr>
          <a:xfrm>
            <a:off x="13818870" y="2697480"/>
            <a:ext cx="3920490" cy="4160520"/>
          </a:xfrm>
          <a:prstGeom prst="roundRect">
            <a:avLst>
              <a:gd name="adj" fmla="val 32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5" name="Oval 34"/>
          <p:cNvSpPr/>
          <p:nvPr/>
        </p:nvSpPr>
        <p:spPr>
          <a:xfrm>
            <a:off x="15276195" y="2926080"/>
            <a:ext cx="1005840" cy="1005840"/>
          </a:xfrm>
          <a:prstGeom prst="ellipse">
            <a:avLst/>
          </a:prstGeom>
          <a:solidFill>
            <a:srgbClr val="8B0707"/>
          </a:solidFill>
          <a:ln>
            <a:noFill/>
          </a:ln>
          <a:effectLst/>
        </p:spPr>
        <p:txBody>
          <a:bodyPr rtlCol="0" anchor="ctr"/>
          <a:lstStyle/>
          <a:p>
            <a:pPr algn="ctr"/>
          </a:p>
        </p:txBody>
      </p:sp>
      <p:pic>
        <p:nvPicPr>
          <p:cNvPr id="36" name="Picture 35" descr="w_night_shelter.png"/>
          <p:cNvPicPr>
            <a:picLocks noChangeAspect="1"/>
          </p:cNvPicPr>
          <p:nvPr/>
        </p:nvPicPr>
        <p:blipFill>
          <a:blip r:embed="rId6"/>
          <a:stretch>
            <a:fillRect/>
          </a:stretch>
        </p:blipFill>
        <p:spPr>
          <a:xfrm>
            <a:off x="15477363" y="3127248"/>
            <a:ext cx="603504" cy="603504"/>
          </a:xfrm>
          <a:prstGeom prst="rect">
            <a:avLst/>
          </a:prstGeom>
        </p:spPr>
      </p:pic>
      <p:sp>
        <p:nvSpPr>
          <p:cNvPr id="37" name="Oval 36"/>
          <p:cNvSpPr/>
          <p:nvPr/>
        </p:nvSpPr>
        <p:spPr>
          <a:xfrm>
            <a:off x="16053435" y="2788920"/>
            <a:ext cx="457200" cy="457200"/>
          </a:xfrm>
          <a:prstGeom prst="ellipse">
            <a:avLst/>
          </a:prstGeom>
          <a:solidFill>
            <a:srgbClr val="F0C04A"/>
          </a:solidFill>
          <a:ln>
            <a:noFill/>
          </a:ln>
          <a:effectLst/>
        </p:spPr>
        <p:txBody>
          <a:bodyPr rtlCol="0" anchor="ctr"/>
          <a:lstStyle/>
          <a:p>
            <a:pPr algn="ctr"/>
          </a:p>
        </p:txBody>
      </p:sp>
      <p:sp>
        <p:nvSpPr>
          <p:cNvPr id="38" name="TextBox 37"/>
          <p:cNvSpPr txBox="1"/>
          <p:nvPr/>
        </p:nvSpPr>
        <p:spPr>
          <a:xfrm>
            <a:off x="16053435" y="2788920"/>
            <a:ext cx="457200" cy="457200"/>
          </a:xfrm>
          <a:prstGeom prst="rect">
            <a:avLst/>
          </a:prstGeom>
          <a:noFill/>
        </p:spPr>
        <p:txBody>
          <a:bodyPr wrap="square" lIns="0" tIns="0" rIns="0" bIns="0" anchor="ctr">
            <a:noAutofit/>
          </a:bodyPr>
          <a:lstStyle/>
          <a:p>
            <a:pPr algn="ctr">
              <a:lnSpc>
                <a:spcPct val="100000"/>
              </a:lnSpc>
            </a:pPr>
            <a:r>
              <a:rPr sz="1600" b="1" i="0">
                <a:solidFill>
                  <a:srgbClr val="5A0505"/>
                </a:solidFill>
                <a:latin typeface="ITC Avant Garde Gothic"/>
                <a:ea typeface="ITC Avant Garde Gothic"/>
                <a:cs typeface="ITC Avant Garde Gothic"/>
              </a:rPr>
              <a:t>4</a:t>
            </a:r>
          </a:p>
        </p:txBody>
      </p:sp>
      <p:sp>
        <p:nvSpPr>
          <p:cNvPr id="39" name="TextBox 38"/>
          <p:cNvSpPr txBox="1"/>
          <p:nvPr/>
        </p:nvSpPr>
        <p:spPr>
          <a:xfrm>
            <a:off x="14047470" y="4069080"/>
            <a:ext cx="3463290" cy="502920"/>
          </a:xfrm>
          <a:prstGeom prst="rect">
            <a:avLst/>
          </a:prstGeom>
          <a:noFill/>
        </p:spPr>
        <p:txBody>
          <a:bodyPr wrap="square" lIns="0" tIns="0" rIns="0" bIns="0" anchor="t">
            <a:noAutofit/>
          </a:bodyPr>
          <a:lstStyle/>
          <a:p>
            <a:pPr algn="ctr">
              <a:lnSpc>
                <a:spcPct val="100000"/>
              </a:lnSpc>
            </a:pPr>
            <a:r>
              <a:rPr sz="1900" b="1" i="0">
                <a:solidFill>
                  <a:srgbClr val="8B0707"/>
                </a:solidFill>
                <a:latin typeface="ITC Avant Garde Gothic"/>
                <a:ea typeface="ITC Avant Garde Gothic"/>
                <a:cs typeface="ITC Avant Garde Gothic"/>
              </a:rPr>
              <a:t>Ligtas Pinoy Centers</a:t>
            </a:r>
          </a:p>
        </p:txBody>
      </p:sp>
      <p:sp>
        <p:nvSpPr>
          <p:cNvPr id="40" name="TextBox 39"/>
          <p:cNvSpPr txBox="1"/>
          <p:nvPr/>
        </p:nvSpPr>
        <p:spPr>
          <a:xfrm>
            <a:off x="14093190" y="4617720"/>
            <a:ext cx="3371850" cy="214884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LGUs rank candidate lots under RA 12076 by the classrooms they would free, then weigh land, cost, and hazard.</a:t>
            </a:r>
          </a:p>
        </p:txBody>
      </p:sp>
      <p:sp>
        <p:nvSpPr>
          <p:cNvPr id="41" name="Rounded Rectangle 40"/>
          <p:cNvSpPr/>
          <p:nvPr/>
        </p:nvSpPr>
        <p:spPr>
          <a:xfrm>
            <a:off x="548640" y="7178040"/>
            <a:ext cx="8412480" cy="2651760"/>
          </a:xfrm>
          <a:prstGeom prst="roundRect">
            <a:avLst>
              <a:gd name="adj" fmla="val 4827"/>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42" name="Oval 41"/>
          <p:cNvSpPr/>
          <p:nvPr/>
        </p:nvSpPr>
        <p:spPr>
          <a:xfrm>
            <a:off x="822960" y="8092440"/>
            <a:ext cx="914400" cy="914400"/>
          </a:xfrm>
          <a:prstGeom prst="ellipse">
            <a:avLst/>
          </a:prstGeom>
          <a:solidFill>
            <a:srgbClr val="8B0707"/>
          </a:solidFill>
          <a:ln>
            <a:noFill/>
          </a:ln>
          <a:effectLst/>
        </p:spPr>
        <p:txBody>
          <a:bodyPr rtlCol="0" anchor="ctr"/>
          <a:lstStyle/>
          <a:p>
            <a:pPr algn="ctr"/>
          </a:p>
        </p:txBody>
      </p:sp>
      <p:pic>
        <p:nvPicPr>
          <p:cNvPr id="43" name="Picture 42" descr="w_science.png"/>
          <p:cNvPicPr>
            <a:picLocks noChangeAspect="1"/>
          </p:cNvPicPr>
          <p:nvPr/>
        </p:nvPicPr>
        <p:blipFill>
          <a:blip r:embed="rId7"/>
          <a:stretch>
            <a:fillRect/>
          </a:stretch>
        </p:blipFill>
        <p:spPr>
          <a:xfrm>
            <a:off x="1005840" y="8275320"/>
            <a:ext cx="548640" cy="548640"/>
          </a:xfrm>
          <a:prstGeom prst="rect">
            <a:avLst/>
          </a:prstGeom>
        </p:spPr>
      </p:pic>
      <p:sp>
        <p:nvSpPr>
          <p:cNvPr id="44" name="TextBox 43"/>
          <p:cNvSpPr txBox="1"/>
          <p:nvPr/>
        </p:nvSpPr>
        <p:spPr>
          <a:xfrm>
            <a:off x="2011680" y="7269480"/>
            <a:ext cx="6720840" cy="2468880"/>
          </a:xfrm>
          <a:prstGeom prst="rect">
            <a:avLst/>
          </a:prstGeom>
          <a:noFill/>
        </p:spPr>
        <p:txBody>
          <a:bodyPr wrap="square" lIns="0" tIns="0" rIns="0" bIns="0" anchor="ctr">
            <a:noAutofit/>
          </a:bodyPr>
          <a:lstStyle/>
          <a:p>
            <a:pPr algn="l">
              <a:lnSpc>
                <a:spcPct val="100000"/>
              </a:lnSpc>
              <a:spcAft>
                <a:spcPts val="400"/>
              </a:spcAft>
            </a:pPr>
            <a:r>
              <a:rPr sz="1900" b="1" i="0">
                <a:solidFill>
                  <a:srgbClr val="8B0707"/>
                </a:solidFill>
                <a:latin typeface="ITC Avant Garde Gothic"/>
                <a:ea typeface="ITC Avant Garde Gothic"/>
                <a:cs typeface="ITC Avant Garde Gothic"/>
              </a:rPr>
              <a:t>For future researchers</a:t>
            </a:r>
          </a:p>
          <a:p>
            <a:pPr algn="l">
              <a:lnSpc>
                <a:spcPct val="100000"/>
              </a:lnSpc>
            </a:pPr>
            <a:r>
              <a:rPr sz="1600" b="0" i="0">
                <a:solidFill>
                  <a:srgbClr val="262626"/>
                </a:solidFill>
                <a:latin typeface="ITC Avant Garde Gothic"/>
                <a:ea typeface="ITC Avant Garde Gothic"/>
                <a:cs typeface="ITC Avant Garde Gothic"/>
              </a:rPr>
              <a:t>Add departure waves, keep families together (whole-family flows), and route vehicles for vulnerable residents who cannot walk to a pick-up point.</a:t>
            </a:r>
          </a:p>
        </p:txBody>
      </p:sp>
      <p:sp>
        <p:nvSpPr>
          <p:cNvPr id="45" name="Rounded Rectangle 44"/>
          <p:cNvSpPr/>
          <p:nvPr/>
        </p:nvSpPr>
        <p:spPr>
          <a:xfrm>
            <a:off x="9326880" y="7178040"/>
            <a:ext cx="8412480" cy="2651760"/>
          </a:xfrm>
          <a:prstGeom prst="roundRect">
            <a:avLst>
              <a:gd name="adj" fmla="val 4827"/>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46" name="Oval 45"/>
          <p:cNvSpPr/>
          <p:nvPr/>
        </p:nvSpPr>
        <p:spPr>
          <a:xfrm>
            <a:off x="9601200" y="8092440"/>
            <a:ext cx="914400" cy="914400"/>
          </a:xfrm>
          <a:prstGeom prst="ellipse">
            <a:avLst/>
          </a:prstGeom>
          <a:solidFill>
            <a:srgbClr val="8B0707"/>
          </a:solidFill>
          <a:ln>
            <a:noFill/>
          </a:ln>
          <a:effectLst/>
        </p:spPr>
        <p:txBody>
          <a:bodyPr rtlCol="0" anchor="ctr"/>
          <a:lstStyle/>
          <a:p>
            <a:pPr algn="ctr"/>
          </a:p>
        </p:txBody>
      </p:sp>
      <p:pic>
        <p:nvPicPr>
          <p:cNvPr id="47" name="Picture 46" descr="w_public.png"/>
          <p:cNvPicPr>
            <a:picLocks noChangeAspect="1"/>
          </p:cNvPicPr>
          <p:nvPr/>
        </p:nvPicPr>
        <p:blipFill>
          <a:blip r:embed="rId8"/>
          <a:stretch>
            <a:fillRect/>
          </a:stretch>
        </p:blipFill>
        <p:spPr>
          <a:xfrm>
            <a:off x="9784080" y="8275320"/>
            <a:ext cx="548640" cy="548640"/>
          </a:xfrm>
          <a:prstGeom prst="rect">
            <a:avLst/>
          </a:prstGeom>
        </p:spPr>
      </p:pic>
      <p:sp>
        <p:nvSpPr>
          <p:cNvPr id="48" name="TextBox 47"/>
          <p:cNvSpPr txBox="1"/>
          <p:nvPr/>
        </p:nvSpPr>
        <p:spPr>
          <a:xfrm>
            <a:off x="10789920" y="7269480"/>
            <a:ext cx="6720840" cy="2468880"/>
          </a:xfrm>
          <a:prstGeom prst="rect">
            <a:avLst/>
          </a:prstGeom>
          <a:noFill/>
        </p:spPr>
        <p:txBody>
          <a:bodyPr wrap="square" lIns="0" tIns="0" rIns="0" bIns="0" anchor="ctr">
            <a:noAutofit/>
          </a:bodyPr>
          <a:lstStyle/>
          <a:p>
            <a:pPr algn="l">
              <a:lnSpc>
                <a:spcPct val="100000"/>
              </a:lnSpc>
              <a:spcAft>
                <a:spcPts val="400"/>
              </a:spcAft>
            </a:pPr>
            <a:r>
              <a:rPr sz="1900" b="1" i="0">
                <a:solidFill>
                  <a:srgbClr val="8B0707"/>
                </a:solidFill>
                <a:latin typeface="ITC Avant Garde Gothic"/>
                <a:ea typeface="ITC Avant Garde Gothic"/>
                <a:cs typeface="ITC Avant Garde Gothic"/>
              </a:rPr>
              <a:t>Beyond Albay</a:t>
            </a:r>
          </a:p>
          <a:p>
            <a:pPr algn="l">
              <a:lnSpc>
                <a:spcPct val="100000"/>
              </a:lnSpc>
            </a:pPr>
            <a:r>
              <a:rPr sz="1600" b="0" i="0">
                <a:solidFill>
                  <a:srgbClr val="262626"/>
                </a:solidFill>
                <a:latin typeface="ITC Avant Garde Gothic"/>
                <a:ea typeface="ITC Avant Garde Gothic"/>
                <a:cs typeface="ITC Avant Garde Gothic"/>
              </a:rPr>
              <a:t>The inputs are public registers, OpenStreetMap, and the Sphere indicator, so any province that shelters evacuees in schools can adopt the model.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5262560"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REFERENCES</a:t>
            </a:r>
          </a:p>
        </p:txBody>
      </p:sp>
      <p:sp>
        <p:nvSpPr>
          <p:cNvPr id="8" name="Subtitle"/>
          <p:cNvSpPr txBox="1"/>
          <p:nvPr/>
        </p:nvSpPr>
        <p:spPr>
          <a:xfrm>
            <a:off x="15888010" y="18288"/>
            <a:ext cx="198851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Key Sources</a:t>
            </a:r>
          </a:p>
        </p:txBody>
      </p:sp>
      <p:sp>
        <p:nvSpPr>
          <p:cNvPr id="9" name="Oval 8"/>
          <p:cNvSpPr/>
          <p:nvPr/>
        </p:nvSpPr>
        <p:spPr>
          <a:xfrm>
            <a:off x="548640" y="1892808"/>
            <a:ext cx="566928" cy="566928"/>
          </a:xfrm>
          <a:prstGeom prst="ellipse">
            <a:avLst/>
          </a:prstGeom>
          <a:solidFill>
            <a:srgbClr val="8B0707"/>
          </a:solidFill>
          <a:ln>
            <a:noFill/>
          </a:ln>
          <a:effectLst/>
        </p:spPr>
        <p:txBody>
          <a:bodyPr rtlCol="0" anchor="ctr"/>
          <a:lstStyle/>
          <a:p>
            <a:pPr algn="ctr"/>
          </a:p>
        </p:txBody>
      </p:sp>
      <p:pic>
        <p:nvPicPr>
          <p:cNvPr id="10" name="Picture 9" descr="w_menu_book.png"/>
          <p:cNvPicPr>
            <a:picLocks noChangeAspect="1"/>
          </p:cNvPicPr>
          <p:nvPr/>
        </p:nvPicPr>
        <p:blipFill>
          <a:blip r:embed="rId3"/>
          <a:stretch>
            <a:fillRect/>
          </a:stretch>
        </p:blipFill>
        <p:spPr>
          <a:xfrm>
            <a:off x="662026" y="2006194"/>
            <a:ext cx="340157" cy="340157"/>
          </a:xfrm>
          <a:prstGeom prst="rect">
            <a:avLst/>
          </a:prstGeom>
        </p:spPr>
      </p:pic>
      <p:sp>
        <p:nvSpPr>
          <p:cNvPr id="11" name="TextBox 10"/>
          <p:cNvSpPr txBox="1"/>
          <p:nvPr/>
        </p:nvSpPr>
        <p:spPr>
          <a:xfrm>
            <a:off x="1280160" y="1883664"/>
            <a:ext cx="16459200" cy="566928"/>
          </a:xfrm>
          <a:prstGeom prst="rect">
            <a:avLst/>
          </a:prstGeom>
          <a:noFill/>
        </p:spPr>
        <p:txBody>
          <a:bodyPr wrap="square" lIns="0" tIns="0" rIns="0" bIns="0" anchor="ctr">
            <a:noAutofit/>
          </a:bodyPr>
          <a:lstStyle/>
          <a:p>
            <a:pPr algn="l">
              <a:lnSpc>
                <a:spcPct val="100000"/>
              </a:lnSpc>
            </a:pPr>
            <a:r>
              <a:rPr sz="2400" b="1" i="0">
                <a:solidFill>
                  <a:srgbClr val="8B0707"/>
                </a:solidFill>
                <a:latin typeface="ITC Avant Garde Gothic"/>
                <a:ea typeface="ITC Avant Garde Gothic"/>
                <a:cs typeface="ITC Avant Garde Gothic"/>
              </a:rPr>
              <a:t>Key sources cited in this presentation; the full list is in the paper</a:t>
            </a:r>
          </a:p>
        </p:txBody>
      </p:sp>
      <p:sp>
        <p:nvSpPr>
          <p:cNvPr id="12" name="Rounded Rectangle 11"/>
          <p:cNvSpPr/>
          <p:nvPr/>
        </p:nvSpPr>
        <p:spPr>
          <a:xfrm>
            <a:off x="548640" y="2697480"/>
            <a:ext cx="8412480" cy="7132320"/>
          </a:xfrm>
          <a:prstGeom prst="roundRect">
            <a:avLst>
              <a:gd name="adj" fmla="val 1794"/>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3" name="TextBox 12"/>
          <p:cNvSpPr txBox="1"/>
          <p:nvPr/>
        </p:nvSpPr>
        <p:spPr>
          <a:xfrm>
            <a:off x="822960" y="2834640"/>
            <a:ext cx="7909560" cy="6903720"/>
          </a:xfrm>
          <a:prstGeom prst="rect">
            <a:avLst/>
          </a:prstGeom>
          <a:noFill/>
        </p:spPr>
        <p:txBody>
          <a:bodyPr wrap="square" lIns="0" tIns="0" rIns="0" bIns="0" anchor="t">
            <a:noAutofit/>
          </a:bodyPr>
          <a:lstStyle/>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Ahuja, R. K., Magnanti, T. L., &amp; Orlin, J. B. (1993). </a:t>
            </a:r>
            <a:r>
              <a:rPr sz="1600" b="0" i="1">
                <a:solidFill>
                  <a:srgbClr val="262626"/>
                </a:solidFill>
                <a:latin typeface="ITC Avant Garde Gothic"/>
                <a:ea typeface="ITC Avant Garde Gothic"/>
                <a:cs typeface="ITC Avant Garde Gothic"/>
              </a:rPr>
              <a:t>Network flows: Theory, algorithms, and applications</a:t>
            </a:r>
            <a:r>
              <a:rPr sz="1600" b="0" i="0">
                <a:solidFill>
                  <a:srgbClr val="262626"/>
                </a:solidFill>
                <a:latin typeface="ITC Avant Garde Gothic"/>
                <a:ea typeface="ITC Avant Garde Gothic"/>
                <a:cs typeface="ITC Avant Garde Gothic"/>
              </a:rPr>
              <a:t>. Prentice Hall.</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Church, R., &amp; ReVelle, C. (1974). The maximal covering location problem. </a:t>
            </a:r>
            <a:r>
              <a:rPr sz="1600" b="0" i="1">
                <a:solidFill>
                  <a:srgbClr val="262626"/>
                </a:solidFill>
                <a:latin typeface="ITC Avant Garde Gothic"/>
                <a:ea typeface="ITC Avant Garde Gothic"/>
                <a:cs typeface="ITC Avant Garde Gothic"/>
              </a:rPr>
              <a:t>Papers of the Regional Science Association, 32</a:t>
            </a:r>
            <a:r>
              <a:rPr sz="1600" b="0" i="0">
                <a:solidFill>
                  <a:srgbClr val="262626"/>
                </a:solidFill>
                <a:latin typeface="ITC Avant Garde Gothic"/>
                <a:ea typeface="ITC Avant Garde Gothic"/>
                <a:cs typeface="ITC Avant Garde Gothic"/>
              </a:rPr>
              <a:t>(1), 101–118.</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Daily Tribune. (2026, May 4). </a:t>
            </a:r>
            <a:r>
              <a:rPr sz="1600" b="0" i="1">
                <a:solidFill>
                  <a:srgbClr val="262626"/>
                </a:solidFill>
                <a:latin typeface="ITC Avant Garde Gothic"/>
                <a:ea typeface="ITC Avant Garde Gothic"/>
                <a:cs typeface="ITC Avant Garde Gothic"/>
              </a:rPr>
              <a:t>DepEd urges Albay schools to prioritize safety as Mayon Volcano unrest intensifies, evacuation centers activated</a:t>
            </a:r>
            <a:r>
              <a:rPr sz="1600" b="0" i="0">
                <a:solidFill>
                  <a:srgbClr val="262626"/>
                </a:solidFill>
                <a:latin typeface="ITC Avant Garde Gothic"/>
                <a:ea typeface="ITC Avant Garde Gothic"/>
                <a:cs typeface="ITC Avant Garde Gothic"/>
              </a:rPr>
              <a:t>.</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Department of Education. (2010). </a:t>
            </a:r>
            <a:r>
              <a:rPr sz="1600" b="0" i="1">
                <a:solidFill>
                  <a:srgbClr val="262626"/>
                </a:solidFill>
                <a:latin typeface="ITC Avant Garde Gothic"/>
                <a:ea typeface="ITC Avant Garde Gothic"/>
                <a:cs typeface="ITC Avant Garde Gothic"/>
              </a:rPr>
              <a:t>Educational facilities manual</a:t>
            </a:r>
            <a:r>
              <a:rPr sz="1600" b="0" i="0">
                <a:solidFill>
                  <a:srgbClr val="262626"/>
                </a:solidFill>
                <a:latin typeface="ITC Avant Garde Gothic"/>
                <a:ea typeface="ITC Avant Garde Gothic"/>
                <a:cs typeface="ITC Avant Garde Gothic"/>
              </a:rPr>
              <a:t> (Rev. ed.).</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Ford, L. R., Jr., &amp; Fulkerson, D. R. (1958). Constructing maximal dynamic flows from static flows. </a:t>
            </a:r>
            <a:r>
              <a:rPr sz="1600" b="0" i="1">
                <a:solidFill>
                  <a:srgbClr val="262626"/>
                </a:solidFill>
                <a:latin typeface="ITC Avant Garde Gothic"/>
                <a:ea typeface="ITC Avant Garde Gothic"/>
                <a:cs typeface="ITC Avant Garde Gothic"/>
              </a:rPr>
              <a:t>Operations Research, 6</a:t>
            </a:r>
            <a:r>
              <a:rPr sz="1600" b="0" i="0">
                <a:solidFill>
                  <a:srgbClr val="262626"/>
                </a:solidFill>
                <a:latin typeface="ITC Avant Garde Gothic"/>
                <a:ea typeface="ITC Avant Garde Gothic"/>
                <a:cs typeface="ITC Avant Garde Gothic"/>
              </a:rPr>
              <a:t>(3), 419–433.</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Ford, L. R., Jr., &amp; Fulkerson, D. R. (1962). </a:t>
            </a:r>
            <a:r>
              <a:rPr sz="1600" b="0" i="1">
                <a:solidFill>
                  <a:srgbClr val="262626"/>
                </a:solidFill>
                <a:latin typeface="ITC Avant Garde Gothic"/>
                <a:ea typeface="ITC Avant Garde Gothic"/>
                <a:cs typeface="ITC Avant Garde Gothic"/>
              </a:rPr>
              <a:t>Flows in networks</a:t>
            </a:r>
            <a:r>
              <a:rPr sz="1600" b="0" i="0">
                <a:solidFill>
                  <a:srgbClr val="262626"/>
                </a:solidFill>
                <a:latin typeface="ITC Avant Garde Gothic"/>
                <a:ea typeface="ITC Avant Garde Gothic"/>
                <a:cs typeface="ITC Avant Garde Gothic"/>
              </a:rPr>
              <a:t>. Princeton University Press.</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Gale, D. (1957). A theorem on flows in networks. </a:t>
            </a:r>
            <a:r>
              <a:rPr sz="1600" b="0" i="1">
                <a:solidFill>
                  <a:srgbClr val="262626"/>
                </a:solidFill>
                <a:latin typeface="ITC Avant Garde Gothic"/>
                <a:ea typeface="ITC Avant Garde Gothic"/>
                <a:cs typeface="ITC Avant Garde Gothic"/>
              </a:rPr>
              <a:t>Pacific Journal of Mathematics, 7</a:t>
            </a:r>
            <a:r>
              <a:rPr sz="1600" b="0" i="0">
                <a:solidFill>
                  <a:srgbClr val="262626"/>
                </a:solidFill>
                <a:latin typeface="ITC Avant Garde Gothic"/>
                <a:ea typeface="ITC Avant Garde Gothic"/>
                <a:cs typeface="ITC Avant Garde Gothic"/>
              </a:rPr>
              <a:t>(2), 1073–1082.</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Hamacher, H. W., &amp; Tjandra, S. A. (2002). Mathematical modelling of evacuation problems: A state of the art. In </a:t>
            </a:r>
            <a:r>
              <a:rPr sz="1600" b="0" i="1">
                <a:solidFill>
                  <a:srgbClr val="262626"/>
                </a:solidFill>
                <a:latin typeface="ITC Avant Garde Gothic"/>
                <a:ea typeface="ITC Avant Garde Gothic"/>
                <a:cs typeface="ITC Avant Garde Gothic"/>
              </a:rPr>
              <a:t>Pedestrian and evacuation dynamics</a:t>
            </a:r>
            <a:r>
              <a:rPr sz="1600" b="0" i="0">
                <a:solidFill>
                  <a:srgbClr val="262626"/>
                </a:solidFill>
                <a:latin typeface="ITC Avant Garde Gothic"/>
                <a:ea typeface="ITC Avant Garde Gothic"/>
                <a:cs typeface="ITC Avant Garde Gothic"/>
              </a:rPr>
              <a:t> (pp. 227–266). Springer.</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Interaksyon. (2026, January 6). </a:t>
            </a:r>
            <a:r>
              <a:rPr sz="1600" b="0" i="1">
                <a:solidFill>
                  <a:srgbClr val="262626"/>
                </a:solidFill>
                <a:latin typeface="ITC Avant Garde Gothic"/>
                <a:ea typeface="ITC Avant Garde Gothic"/>
                <a:cs typeface="ITC Avant Garde Gothic"/>
              </a:rPr>
              <a:t>Philippines raises alert level at restive Mayon volcano</a:t>
            </a:r>
            <a:r>
              <a:rPr sz="1600" b="0" i="0">
                <a:solidFill>
                  <a:srgbClr val="262626"/>
                </a:solidFill>
                <a:latin typeface="ITC Avant Garde Gothic"/>
                <a:ea typeface="ITC Avant Garde Gothic"/>
                <a:cs typeface="ITC Avant Garde Gothic"/>
              </a:rPr>
              <a:t>. Philstar.com.</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Nemhauser, G. L., Wolsey, L. A., &amp; Fisher, M. L. (1978). An analysis of approximations for maximizing submodular set functions, I. </a:t>
            </a:r>
            <a:r>
              <a:rPr sz="1600" b="0" i="1">
                <a:solidFill>
                  <a:srgbClr val="262626"/>
                </a:solidFill>
                <a:latin typeface="ITC Avant Garde Gothic"/>
                <a:ea typeface="ITC Avant Garde Gothic"/>
                <a:cs typeface="ITC Avant Garde Gothic"/>
              </a:rPr>
              <a:t>Mathematical Programming, 14</a:t>
            </a:r>
            <a:r>
              <a:rPr sz="1600" b="0" i="0">
                <a:solidFill>
                  <a:srgbClr val="262626"/>
                </a:solidFill>
                <a:latin typeface="ITC Avant Garde Gothic"/>
                <a:ea typeface="ITC Avant Garde Gothic"/>
                <a:cs typeface="ITC Avant Garde Gothic"/>
              </a:rPr>
              <a:t>(1), 265–294.</a:t>
            </a:r>
          </a:p>
        </p:txBody>
      </p:sp>
      <p:sp>
        <p:nvSpPr>
          <p:cNvPr id="14" name="Rounded Rectangle 13"/>
          <p:cNvSpPr/>
          <p:nvPr/>
        </p:nvSpPr>
        <p:spPr>
          <a:xfrm>
            <a:off x="9326880" y="2697480"/>
            <a:ext cx="8412480" cy="7132320"/>
          </a:xfrm>
          <a:prstGeom prst="roundRect">
            <a:avLst>
              <a:gd name="adj" fmla="val 1794"/>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5" name="TextBox 14"/>
          <p:cNvSpPr txBox="1"/>
          <p:nvPr/>
        </p:nvSpPr>
        <p:spPr>
          <a:xfrm>
            <a:off x="9601200" y="2834640"/>
            <a:ext cx="7909560" cy="6903720"/>
          </a:xfrm>
          <a:prstGeom prst="rect">
            <a:avLst/>
          </a:prstGeom>
          <a:noFill/>
        </p:spPr>
        <p:txBody>
          <a:bodyPr wrap="square" lIns="0" tIns="0" rIns="0" bIns="0" anchor="t">
            <a:noAutofit/>
          </a:bodyPr>
          <a:lstStyle/>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Philippine Daily Inquirer. (2016). </a:t>
            </a:r>
            <a:r>
              <a:rPr sz="1600" b="0" i="1">
                <a:solidFill>
                  <a:srgbClr val="262626"/>
                </a:solidFill>
                <a:latin typeface="ITC Avant Garde Gothic"/>
                <a:ea typeface="ITC Avant Garde Gothic"/>
                <a:cs typeface="ITC Avant Garde Gothic"/>
              </a:rPr>
              <a:t>Albay survivors remember 'Reming' a decade after</a:t>
            </a:r>
            <a:r>
              <a:rPr sz="1600" b="0" i="0">
                <a:solidFill>
                  <a:srgbClr val="262626"/>
                </a:solidFill>
                <a:latin typeface="ITC Avant Garde Gothic"/>
                <a:ea typeface="ITC Avant Garde Gothic"/>
                <a:cs typeface="ITC Avant Garde Gothic"/>
              </a:rPr>
              <a:t>.</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Philippine Daily Inquirer. (2026a). </a:t>
            </a:r>
            <a:r>
              <a:rPr sz="1600" b="0" i="1">
                <a:solidFill>
                  <a:srgbClr val="262626"/>
                </a:solidFill>
                <a:latin typeface="ITC Avant Garde Gothic"/>
                <a:ea typeface="ITC Avant Garde Gothic"/>
                <a:cs typeface="ITC Avant Garde Gothic"/>
              </a:rPr>
              <a:t>4,000 students shift to modular, blended learning amid Mayon unrest</a:t>
            </a:r>
            <a:r>
              <a:rPr sz="1600" b="0" i="0">
                <a:solidFill>
                  <a:srgbClr val="262626"/>
                </a:solidFill>
                <a:latin typeface="ITC Avant Garde Gothic"/>
                <a:ea typeface="ITC Avant Garde Gothic"/>
                <a:cs typeface="ITC Avant Garde Gothic"/>
              </a:rPr>
              <a:t>.</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Philippine Star. (2026, May 6). </a:t>
            </a:r>
            <a:r>
              <a:rPr sz="1600" b="0" i="1">
                <a:solidFill>
                  <a:srgbClr val="262626"/>
                </a:solidFill>
                <a:latin typeface="ITC Avant Garde Gothic"/>
                <a:ea typeface="ITC Avant Garde Gothic"/>
                <a:cs typeface="ITC Avant Garde Gothic"/>
              </a:rPr>
              <a:t>Mayon ashfall affects 132 schools</a:t>
            </a:r>
            <a:r>
              <a:rPr sz="1600" b="0" i="0">
                <a:solidFill>
                  <a:srgbClr val="262626"/>
                </a:solidFill>
                <a:latin typeface="ITC Avant Garde Gothic"/>
                <a:ea typeface="ITC Avant Garde Gothic"/>
                <a:cs typeface="ITC Avant Garde Gothic"/>
              </a:rPr>
              <a:t>.</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Philippine Statistics Authority. (2021). </a:t>
            </a:r>
            <a:r>
              <a:rPr sz="1600" b="0" i="1">
                <a:solidFill>
                  <a:srgbClr val="262626"/>
                </a:solidFill>
                <a:latin typeface="ITC Avant Garde Gothic"/>
                <a:ea typeface="ITC Avant Garde Gothic"/>
                <a:cs typeface="ITC Avant Garde Gothic"/>
              </a:rPr>
              <a:t>2020 Census of Population and Housing population counts</a:t>
            </a:r>
            <a:r>
              <a:rPr sz="1600" b="0" i="0">
                <a:solidFill>
                  <a:srgbClr val="262626"/>
                </a:solidFill>
                <a:latin typeface="ITC Avant Garde Gothic"/>
                <a:ea typeface="ITC Avant Garde Gothic"/>
                <a:cs typeface="ITC Avant Garde Gothic"/>
              </a:rPr>
              <a:t> [Press release].</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ReliefWeb. (2023). </a:t>
            </a:r>
            <a:r>
              <a:rPr sz="1600" b="0" i="1">
                <a:solidFill>
                  <a:srgbClr val="262626"/>
                </a:solidFill>
                <a:latin typeface="ITC Avant Garde Gothic"/>
                <a:ea typeface="ITC Avant Garde Gothic"/>
                <a:cs typeface="ITC Avant Garde Gothic"/>
              </a:rPr>
              <a:t>Philippines: Mayon Volcano – Jun 2023</a:t>
            </a:r>
            <a:r>
              <a:rPr sz="1600" b="0" i="0">
                <a:solidFill>
                  <a:srgbClr val="262626"/>
                </a:solidFill>
                <a:latin typeface="ITC Avant Garde Gothic"/>
                <a:ea typeface="ITC Avant Garde Gothic"/>
                <a:cs typeface="ITC Avant Garde Gothic"/>
              </a:rPr>
              <a:t>.</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Republic Act No. 10821. (2016). </a:t>
            </a:r>
            <a:r>
              <a:rPr sz="1600" b="0" i="1">
                <a:solidFill>
                  <a:srgbClr val="262626"/>
                </a:solidFill>
                <a:latin typeface="ITC Avant Garde Gothic"/>
                <a:ea typeface="ITC Avant Garde Gothic"/>
                <a:cs typeface="ITC Avant Garde Gothic"/>
              </a:rPr>
              <a:t>Children's Emergency Relief and Protection Act</a:t>
            </a:r>
            <a:r>
              <a:rPr sz="1600" b="0" i="0">
                <a:solidFill>
                  <a:srgbClr val="262626"/>
                </a:solidFill>
                <a:latin typeface="ITC Avant Garde Gothic"/>
                <a:ea typeface="ITC Avant Garde Gothic"/>
                <a:cs typeface="ITC Avant Garde Gothic"/>
              </a:rPr>
              <a:t>.</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Republic Act No. 12076. (2024). </a:t>
            </a:r>
            <a:r>
              <a:rPr sz="1600" b="0" i="1">
                <a:solidFill>
                  <a:srgbClr val="262626"/>
                </a:solidFill>
                <a:latin typeface="ITC Avant Garde Gothic"/>
                <a:ea typeface="ITC Avant Garde Gothic"/>
                <a:cs typeface="ITC Avant Garde Gothic"/>
              </a:rPr>
              <a:t>Ligtas Pinoy Centers Act</a:t>
            </a:r>
            <a:r>
              <a:rPr sz="1600" b="0" i="0">
                <a:solidFill>
                  <a:srgbClr val="262626"/>
                </a:solidFill>
                <a:latin typeface="ITC Avant Garde Gothic"/>
                <a:ea typeface="ITC Avant Garde Gothic"/>
                <a:cs typeface="ITC Avant Garde Gothic"/>
              </a:rPr>
              <a:t>.</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Schools Division Office of Muntinlupa City. (2026). </a:t>
            </a:r>
            <a:r>
              <a:rPr sz="1600" b="0" i="1">
                <a:solidFill>
                  <a:srgbClr val="262626"/>
                </a:solidFill>
                <a:latin typeface="ITC Avant Garde Gothic"/>
                <a:ea typeface="ITC Avant Garde Gothic"/>
                <a:cs typeface="ITC Avant Garde Gothic"/>
              </a:rPr>
              <a:t>Unnumbered memorandum No. 174, s. 2026</a:t>
            </a:r>
            <a:r>
              <a:rPr sz="1600" b="0" i="0">
                <a:solidFill>
                  <a:srgbClr val="262626"/>
                </a:solidFill>
                <a:latin typeface="ITC Avant Garde Gothic"/>
                <a:ea typeface="ITC Avant Garde Gothic"/>
                <a:cs typeface="ITC Avant Garde Gothic"/>
              </a:rPr>
              <a:t> [Use of schools as evacuation centers].</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Sphere Association. (2018). </a:t>
            </a:r>
            <a:r>
              <a:rPr sz="1600" b="0" i="1">
                <a:solidFill>
                  <a:srgbClr val="262626"/>
                </a:solidFill>
                <a:latin typeface="ITC Avant Garde Gothic"/>
                <a:ea typeface="ITC Avant Garde Gothic"/>
                <a:cs typeface="ITC Avant Garde Gothic"/>
              </a:rPr>
              <a:t>The Sphere handbook</a:t>
            </a:r>
            <a:r>
              <a:rPr sz="1600" b="0" i="0">
                <a:solidFill>
                  <a:srgbClr val="262626"/>
                </a:solidFill>
                <a:latin typeface="ITC Avant Garde Gothic"/>
                <a:ea typeface="ITC Avant Garde Gothic"/>
                <a:cs typeface="ITC Avant Garde Gothic"/>
              </a:rPr>
              <a:t> (4th 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
        <p:cNvGrpSpPr/>
        <p:nvPr/>
      </p:nvGrpSpPr>
      <p:grpSpPr>
        <a:xfrm>
          <a:off x="0" y="0"/>
          <a:ext cx="0" cy="0"/>
          <a:chOff x="0" y="0"/>
          <a:chExt cx="0" cy="0"/>
        </a:xfrm>
      </p:grpSpPr>
      <p:sp>
        <p:nvSpPr>
          <p:cNvPr id="2" name="Freeform 2"/>
          <p:cNvSpPr/>
          <p:nvPr/>
        </p:nvSpPr>
        <p:spPr>
          <a:xfrm flipV="1">
            <a:off x="-308939" y="-440152"/>
            <a:ext cx="3942365" cy="3942365"/>
          </a:xfrm>
          <a:custGeom>
            <a:avLst/>
            <a:gdLst/>
            <a:ahLst/>
            <a:cxnLst/>
            <a:rect l="l" t="t" r="r" b="b"/>
            <a:pathLst>
              <a:path w="3942365" h="3942365">
                <a:moveTo>
                  <a:pt x="0" y="3942365"/>
                </a:moveTo>
                <a:lnTo>
                  <a:pt x="3942365" y="3942365"/>
                </a:lnTo>
                <a:lnTo>
                  <a:pt x="3942365" y="0"/>
                </a:lnTo>
                <a:lnTo>
                  <a:pt x="0" y="0"/>
                </a:lnTo>
                <a:lnTo>
                  <a:pt x="0" y="3942365"/>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3" name="TextBox 3"/>
          <p:cNvSpPr txBox="1"/>
          <p:nvPr/>
        </p:nvSpPr>
        <p:spPr>
          <a:xfrm>
            <a:off x="1828800" y="2697480"/>
            <a:ext cx="14630400" cy="4480560"/>
          </a:xfrm>
          <a:prstGeom prst="rect">
            <a:avLst/>
          </a:prstGeom>
        </p:spPr>
        <p:txBody>
          <a:bodyPr lIns="0" tIns="0" rIns="0" bIns="0" rtlCol="0" anchor="ctr" wrap="square">
            <a:noAutofit/>
          </a:bodyPr>
          <a:lstStyle/>
          <a:p>
            <a:pPr algn="ctr">
              <a:lnSpc>
                <a:spcPct val="90000"/>
              </a:lnSpc>
            </a:pPr>
            <a:r>
              <a:rPr sz="16481" b="0" i="0">
                <a:solidFill>
                  <a:srgbClr val="FFFFFF"/>
                </a:solidFill>
                <a:latin typeface="ITC Avant Garde Gothic"/>
                <a:ea typeface="ITC Avant Garde Gothic"/>
                <a:cs typeface="ITC Avant Garde Gothic"/>
              </a:rPr>
              <a:t>QUESTIONS</a:t>
            </a:r>
          </a:p>
          <a:p>
            <a:pPr algn="ctr">
              <a:lnSpc>
                <a:spcPct val="90000"/>
              </a:lnSpc>
            </a:pPr>
            <a:r>
              <a:rPr sz="16481" b="0" i="0">
                <a:solidFill>
                  <a:srgbClr val="FFFFFF"/>
                </a:solidFill>
                <a:latin typeface="ITC Avant Garde Gothic"/>
                <a:ea typeface="ITC Avant Garde Gothic"/>
                <a:cs typeface="ITC Avant Garde Gothic"/>
              </a:rPr>
              <a:t>&amp; ANSWER</a:t>
            </a:r>
          </a:p>
        </p:txBody>
      </p:sp>
      <p:sp>
        <p:nvSpPr>
          <p:cNvPr id="4" name="Freeform 4"/>
          <p:cNvSpPr/>
          <p:nvPr/>
        </p:nvSpPr>
        <p:spPr>
          <a:xfrm flipH="1">
            <a:off x="15910979" y="7909979"/>
            <a:ext cx="2696641" cy="2696641"/>
          </a:xfrm>
          <a:custGeom>
            <a:avLst/>
            <a:gdLst/>
            <a:ahLst/>
            <a:cxnLst/>
            <a:rect l="l" t="t" r="r" b="b"/>
            <a:pathLst>
              <a:path w="2696641" h="2696641">
                <a:moveTo>
                  <a:pt x="2696642" y="0"/>
                </a:moveTo>
                <a:lnTo>
                  <a:pt x="0" y="0"/>
                </a:lnTo>
                <a:lnTo>
                  <a:pt x="0" y="2696642"/>
                </a:lnTo>
                <a:lnTo>
                  <a:pt x="2696642" y="2696642"/>
                </a:lnTo>
                <a:lnTo>
                  <a:pt x="269664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5" name="Freeform 5"/>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3">
              <a:alphaModFix amt="26000"/>
            </a:blip>
            <a:stretch>
              <a:fillRect/>
            </a:stretch>
          </a:blipFill>
        </p:spPr>
        <p:txBody>
          <a:bodyPr/>
          <a:lstStyle/>
          <a:p>
            <a:endParaRPr lang="en-PH"/>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
        <p:cNvGrpSpPr/>
        <p:nvPr/>
      </p:nvGrpSpPr>
      <p:grpSpPr>
        <a:xfrm>
          <a:off x="0" y="0"/>
          <a:ext cx="0" cy="0"/>
          <a:chOff x="0" y="0"/>
          <a:chExt cx="0" cy="0"/>
        </a:xfrm>
      </p:grpSpPr>
      <p:sp>
        <p:nvSpPr>
          <p:cNvPr id="2" name="Freeform 2"/>
          <p:cNvSpPr/>
          <p:nvPr/>
        </p:nvSpPr>
        <p:spPr>
          <a:xfrm flipV="1">
            <a:off x="-308939" y="-440152"/>
            <a:ext cx="3942365" cy="3942365"/>
          </a:xfrm>
          <a:custGeom>
            <a:avLst/>
            <a:gdLst/>
            <a:ahLst/>
            <a:cxnLst/>
            <a:rect l="l" t="t" r="r" b="b"/>
            <a:pathLst>
              <a:path w="3942365" h="3942365">
                <a:moveTo>
                  <a:pt x="0" y="3942365"/>
                </a:moveTo>
                <a:lnTo>
                  <a:pt x="3942365" y="3942365"/>
                </a:lnTo>
                <a:lnTo>
                  <a:pt x="3942365" y="0"/>
                </a:lnTo>
                <a:lnTo>
                  <a:pt x="0" y="0"/>
                </a:lnTo>
                <a:lnTo>
                  <a:pt x="0" y="3942365"/>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3" name="TextBox 3"/>
          <p:cNvSpPr txBox="1"/>
          <p:nvPr/>
        </p:nvSpPr>
        <p:spPr>
          <a:xfrm>
            <a:off x="2691817" y="4031050"/>
            <a:ext cx="12904366" cy="2367775"/>
          </a:xfrm>
          <a:prstGeom prst="rect">
            <a:avLst/>
          </a:prstGeom>
        </p:spPr>
        <p:txBody>
          <a:bodyPr lIns="0" tIns="0" rIns="0" bIns="0" rtlCol="0" anchor="t">
            <a:spAutoFit/>
          </a:bodyPr>
          <a:lstStyle/>
          <a:p>
            <a:pPr algn="ctr">
              <a:lnSpc>
                <a:spcPts val="14833"/>
              </a:lnSpc>
            </a:pPr>
            <a:r>
              <a:rPr lang="en-US" sz="16481">
                <a:solidFill>
                  <a:srgbClr val="FFFFFF"/>
                </a:solidFill>
                <a:latin typeface="ITC Avant Garde Gothic"/>
                <a:ea typeface="ITC Avant Garde Gothic"/>
                <a:cs typeface="ITC Avant Garde Gothic"/>
                <a:sym typeface="ITC Avant Garde Gothic"/>
              </a:rPr>
              <a:t>THANK YOU</a:t>
            </a:r>
          </a:p>
        </p:txBody>
      </p:sp>
      <p:sp>
        <p:nvSpPr>
          <p:cNvPr id="4" name="Freeform 4"/>
          <p:cNvSpPr/>
          <p:nvPr/>
        </p:nvSpPr>
        <p:spPr>
          <a:xfrm flipH="1">
            <a:off x="15910979" y="7909979"/>
            <a:ext cx="2696641" cy="2696641"/>
          </a:xfrm>
          <a:custGeom>
            <a:avLst/>
            <a:gdLst/>
            <a:ahLst/>
            <a:cxnLst/>
            <a:rect l="l" t="t" r="r" b="b"/>
            <a:pathLst>
              <a:path w="2696641" h="2696641">
                <a:moveTo>
                  <a:pt x="2696642" y="0"/>
                </a:moveTo>
                <a:lnTo>
                  <a:pt x="0" y="0"/>
                </a:lnTo>
                <a:lnTo>
                  <a:pt x="0" y="2696642"/>
                </a:lnTo>
                <a:lnTo>
                  <a:pt x="2696642" y="2696642"/>
                </a:lnTo>
                <a:lnTo>
                  <a:pt x="269664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5" name="Freeform 5"/>
          <p:cNvSpPr/>
          <p:nvPr/>
        </p:nvSpPr>
        <p:spPr>
          <a:xfrm>
            <a:off x="5486400" y="7677223"/>
            <a:ext cx="7315200" cy="465513"/>
          </a:xfrm>
          <a:custGeom>
            <a:avLst/>
            <a:gdLst/>
            <a:ahLst/>
            <a:cxnLst/>
            <a:rect l="l" t="t" r="r" b="b"/>
            <a:pathLst>
              <a:path w="7315200" h="465513">
                <a:moveTo>
                  <a:pt x="0" y="0"/>
                </a:moveTo>
                <a:lnTo>
                  <a:pt x="7315200" y="0"/>
                </a:lnTo>
                <a:lnTo>
                  <a:pt x="7315200" y="465513"/>
                </a:lnTo>
                <a:lnTo>
                  <a:pt x="0" y="4655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6" name="Freeform 6"/>
          <p:cNvSpPr/>
          <p:nvPr/>
        </p:nvSpPr>
        <p:spPr>
          <a:xfrm>
            <a:off x="7534466" y="-2049686"/>
            <a:ext cx="3219068" cy="3219068"/>
          </a:xfrm>
          <a:custGeom>
            <a:avLst/>
            <a:gdLst/>
            <a:ahLst/>
            <a:cxnLst/>
            <a:rect l="l" t="t" r="r" b="b"/>
            <a:pathLst>
              <a:path w="3219068" h="3219068">
                <a:moveTo>
                  <a:pt x="0" y="0"/>
                </a:moveTo>
                <a:lnTo>
                  <a:pt x="3219068" y="0"/>
                </a:lnTo>
                <a:lnTo>
                  <a:pt x="3219068" y="3219068"/>
                </a:lnTo>
                <a:lnTo>
                  <a:pt x="0" y="321906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7" name="Freeform 7"/>
          <p:cNvSpPr/>
          <p:nvPr/>
        </p:nvSpPr>
        <p:spPr>
          <a:xfrm>
            <a:off x="-837818" y="7909979"/>
            <a:ext cx="3219068" cy="3219068"/>
          </a:xfrm>
          <a:custGeom>
            <a:avLst/>
            <a:gdLst/>
            <a:ahLst/>
            <a:cxnLst/>
            <a:rect l="l" t="t" r="r" b="b"/>
            <a:pathLst>
              <a:path w="3219068" h="3219068">
                <a:moveTo>
                  <a:pt x="0" y="0"/>
                </a:moveTo>
                <a:lnTo>
                  <a:pt x="3219068" y="0"/>
                </a:lnTo>
                <a:lnTo>
                  <a:pt x="3219068" y="3219069"/>
                </a:lnTo>
                <a:lnTo>
                  <a:pt x="0" y="3219069"/>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8" name="Freeform 8"/>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5">
              <a:alphaModFix amt="26000"/>
            </a:blip>
            <a:stretch>
              <a:fillRect/>
            </a:stretch>
          </a:blipFill>
        </p:spPr>
        <p:txBody>
          <a:bodyPr/>
          <a:lstStyle/>
          <a:p>
            <a:endParaRPr lang="en-PH"/>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25</Slides>
  <Notes>25</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LIGTA-S: Safe Shelter, Open Schools: A Verified Network-Flow Model for Planning Evacuations in Albay by Hazard Zone, Shelter Capacity, and Vulnerability While Keeping Classrooms Open</dc:title>
  <cp:lastModifiedBy>De Asis, Dave Justin Ll.</cp:lastModifiedBy>
  <cp:revision>3</cp:revision>
  <dcterms:created xsi:type="dcterms:W3CDTF">2006-08-16T00:00:00Z</dcterms:created>
  <dcterms:modified xsi:type="dcterms:W3CDTF">2026-10-18T08:00:00Z</dcterms:modified>
  <dc:identifier>DAHXUrdeoSg</dc:identifier>
  <dc:creator>De Asis, Dave Justin Ll.</dc:creator>
  <dc:subject>Research defense, Mathematics and Computational Sciences, Team (MCS-T)</dc:subject>
  <cp:keywords>LIGTA-S; evacuation planning; minimum-cost flow; Albay; Legazpi City Science High School</cp:keywords>
  <dc:description/>
</cp:coreProperties>
</file>