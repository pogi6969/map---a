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03" r:id="rId31"/>
    <p:sldId id="304" r:id="rId30"/>
    <p:sldId id="305" r:id="rId29"/>
    <p:sldId id="306" r:id="rId28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7" r:id="rId27"/>
    <p:sldId id="264" r:id="rId10"/>
    <p:sldId id="265" r:id="rId11"/>
  </p:sldIdLst>
  <p:sldSz cx="18288000" cy="10287000"/>
  <p:notesSz cx="6858000" cy="9144000"/>
  <p:embeddedFontLst>
    <p:embeddedFont>
      <p:font typeface="ITC Avant Garde Gothic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24.xml"/><Relationship Id="rId11" Type="http://schemas.openxmlformats.org/officeDocument/2006/relationships/slide" Target="slides/slide25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30.xml"/><Relationship Id="rId28" Type="http://schemas.openxmlformats.org/officeDocument/2006/relationships/slide" Target="slides/slide29.xml"/><Relationship Id="rId29" Type="http://schemas.openxmlformats.org/officeDocument/2006/relationships/slide" Target="slides/slide28.xml"/><Relationship Id="rId30" Type="http://schemas.openxmlformats.org/officeDocument/2006/relationships/slide" Target="slides/slide27.xml"/><Relationship Id="rId31" Type="http://schemas.openxmlformats.org/officeDocument/2006/relationships/slide" Target="slides/slide26.xml"/><Relationship Id="rId32" Type="http://schemas.openxmlformats.org/officeDocument/2006/relationships/notesMaster" Target="notesMasters/notesMaster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day, honorable judges. We are the LIGTA-S team from Legazpi City Science High School. I am Dave Justin De Asis, the lead researcher, with Peter John Brimbuela and Yeaseong Shin, under our research adviser, Dick Anthony M. Calleja. LIGTA-S is said like the Filipino word ligtas, which means safe.</a:t>
            </a:r>
          </a:p>
          <a:p/>
          <a:p>
            <a:r>
              <a:t>Our study is titled Safe Shelter, Open Schools: A Verified Network-Flow Model for Planning Evacuations in Albay by Hazard Zone, Shelter Capacity, and Vulnerability While Keeping Classrooms Open.</a:t>
            </a:r>
          </a:p>
          <a:p/>
          <a:p>
            <a:r>
              <a:t>In one sentence: we built a planning model that gives every evacuee a shelter with room, protects vulnerable residents first, and uses classrooms only when nothing else is left, and we proved and then tested that it behaves the way the law intends.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the title before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study title and the researchers, then go to the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two lines on the screen slowly, then introduce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once to play the rationale video. It runs 2 min 38 s. Stay silent and let it play to the title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Blank slide. Keep it up until it is your turn, then click to the rationale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 We are happy to answer your questions.</a:t>
            </a:r>
          </a:p>
          <a:p/>
          <a:p>
            <a:r>
              <a:t>Points to keep ready:</a:t>
            </a:r>
          </a:p>
          <a:p>
            <a:r>
              <a:t>- Why a synthetic test network? The worked instance shows that the pipeline obeys its own rules; it is not an estimate for Albay. Verified inventories will replace it without any change to the mathematics.</a:t>
            </a:r>
          </a:p>
          <a:p>
            <a:r>
              <a:t>- Why penalties instead of five separate programs? One minimum-cost flow with the penalties gives exactly the same plan (Proposition 3), and it matched five sequential linear programs in all 300 tests.</a:t>
            </a:r>
          </a:p>
          <a:p>
            <a:r>
              <a:t>- Is 18 per classroom realistic? It follows the Sphere indicator of 3.5 square meters on a 63-square-meter DepEd classroom; the planned sweeps repeat everything at 4.5 square meters.</a:t>
            </a:r>
          </a:p>
          <a:p>
            <a:r>
              <a:t>- Why not minimize classrooms exactly? That is an integer program; packing is provably within one room per school in use, and it was exact in 144 of 150 tests.</a:t>
            </a:r>
          </a:p>
          <a:p>
            <a:r>
              <a:t>- Does the model order evacuations? No. It plans; the decision stays with the PDRRMO, APSEMO, DepEd, and the Provincial Government.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behalf of the LIGTA-S team, thank you. Safe shelter for every family, and open schools for every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2026 numbers, then the key idea: the mosquito bites by day where people gather, but cases are filed by home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problems row by row; each row ends with the part of the model that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one strand of literature and how this study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gap and the part of the model that closes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layers from top to bottom: where people spend the day, how dengue spreads, and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MCS comes into play: the matrix and eigenvalue give the reproduction number, optimisation gives the cheapest plan with a certificate, and every result was proven and checked against independent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each group and what the model gives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Sustainable Development Goals the study serves. They are intended uses; none has been measured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general objective, then the eight specific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primary question, then Q1 to Q8.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tested on the Albay instance, not on the test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the eight steps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equation in one sentence: time away, people present, the two-generation matrix, the bounds, the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control program, the inversion with its error bound, the alarm, and the season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six barangays; B1 has the central school and the public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two percentage columns: cases by home versus transmission by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five strategies; the least-cost plan is cheapest and certified.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inversion table, then the alarm delays at the same 5% false-alarm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result column: every check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four main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five next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need to read; show for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notesSlide" Target="../notesSlides/notesSlide3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notesSlide" Target="../notesSlides/notesSlide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8.xml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52.png"/><Relationship Id="rId13" Type="http://schemas.openxmlformats.org/officeDocument/2006/relationships/image" Target="../media/image6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9.xml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0.xml"/><Relationship Id="rId10" Type="http://schemas.openxmlformats.org/officeDocument/2006/relationships/image" Target="../media/image6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1.xml"/><Relationship Id="rId10" Type="http://schemas.openxmlformats.org/officeDocument/2006/relationships/image" Target="../media/image6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3.xml"/><Relationship Id="rId10" Type="http://schemas.openxmlformats.org/officeDocument/2006/relationships/image" Target="../media/image6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3200400" y="630936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804672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Acronym"/>
          <p:cNvSpPr txBox="1"/>
          <p:nvPr/>
        </p:nvSpPr>
        <p:spPr>
          <a:xfrm>
            <a:off x="3108960" y="640080"/>
            <a:ext cx="12070080" cy="2194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BANTA-Y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52928"/>
            <a:ext cx="1207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>Say it like bantay (BAN-tai), the Filipino word for watch or guard</a:t>
            </a:r>
            <a:r>
              <a:rPr sz="2400" b="0" i="1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Title"/>
          <p:cNvSpPr txBox="1"/>
          <p:nvPr/>
        </p:nvSpPr>
        <p:spPr>
          <a:xfrm>
            <a:off x="914400" y="3474720"/>
            <a:ext cx="16459200" cy="2606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People Go, Dengue Goes: A Verified Mobility-Coupled Network Model for Ranking Dengue Hotspots, Issuing Early Warnings, and Allocating Vector Control at Least Cost in Albay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409944"/>
            <a:ext cx="1188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De Asis, Dave Justin 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995160"/>
            <a:ext cx="1188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◆   LEAD RESEARCHER  ·  FOUNDER OF THE BANTA-Y RESEARCH &amp; APPLICATION   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7397496"/>
            <a:ext cx="1188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Brimbuela, Peter John A.     •     Shin, Yeaseong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8202168"/>
            <a:ext cx="12801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Adviser: </a:t>
            </a:r>
            <a:r>
              <a:rPr sz="2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Calleja, Dick Anthony 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8659368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2E6E6"/>
                </a:solidFill>
                <a:latin typeface="Times New Roman"/>
                <a:ea typeface="Times New Roman"/>
                <a:cs typeface="Times New Roman"/>
              </a:rPr>
              <a:t>Legazpi City Science High School  •  Legazpi City, Albay  •  Mathematics and Computational Sciences, Team (MCS-T)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INTRODUCTION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Background of the Study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Albay's 2026 dengue surge: cases are filed at home, but infections happen where people spend the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864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2,179 cases · 14 deaths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Albay, January 1 to September 12,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882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882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+84%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882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over the 1,183 cases of the same months of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900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8900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2,888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00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by September 21,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62918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74918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State of calamity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4918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declared Sept 10; public schools closed Sept 14 to 18 for cleanup and fogging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47480"/>
            <a:ext cx="8445360" cy="36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367480"/>
            <a:ext cx="70000" cy="33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53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Most cases by municipality (by home address)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5868340"/>
            <a:ext cx="8185360" cy="28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Legazpi City 486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Bacacay 296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Daraga 220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Tabaco 181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Malilipot 171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4000" y="5247480"/>
            <a:ext cx="8445360" cy="36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294000" y="5367480"/>
            <a:ext cx="70000" cy="33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4000" y="53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Why place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4000" y="5868340"/>
            <a:ext cx="8185360" cy="28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Aedes aegypti bites by day and stays close to where it breeds.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People carry the virus between homes, schools, markets and workplaces (Stoddard et al., 2013).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DOH 4S: search and destroy, self-protection, seek early consultation, support fogging only in hotspots.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9600000"/>
            <a:ext cx="17190720" cy="3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262626"/>
                </a:solidFill>
                <a:latin typeface="ITC Avant Garde Gothic"/>
              </a:rPr>
              <a:t>Sources: Daily Tribune, 2026; Philippine Information Agency (DOH 4S strategy).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INTRODUCTION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Statement of the Problem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Nine problems in dengue control, each answered by one part of the model.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6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5157216"/>
                <a:gridCol w="6016752"/>
                <a:gridCol w="5157216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No.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Problem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What goes wrong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Model component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Cases are recorded where patients live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Cleanup goes to homes while the source persists elsewhere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Residence-to-place inversion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Province-wide figures look moderate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Pockets of intense transmission stay hidden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Local exposure numbers and bounds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Brigades have fixed team-days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Effort is spread evenly or by guesswork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Least-cost control (convex program)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Outbreaks are seen only after wards fill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Response begins weeks late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Poisson CUSUM alarm with proven delay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No ranking of places to treat first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barangay with most cases goes first by default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Place shares and hotspot score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Schools and markets draw people from many barangays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One busy place seeds cases across town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Residence-time matrix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effect of a plan is unknown in advance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Success is judged after the season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Network reproduction number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rainy season multiplies mosquitoes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A plan that works in March fails in August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Season factor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P9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Officials need assurance a plan is enough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Plans are approved without a guarantee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Certificate and certified interval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RRL/RRS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RRL/RRS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Related Literature and Studies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Models of movement and dengue exist; none gives an Albay health office a verified, least-cost plan by place.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160"/>
                <a:gridCol w="7640320"/>
                <a:gridCol w="5730240"/>
              </a:tblGrid>
              <a:tr h="66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Area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Key sources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Use in the present study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Dengue and its vector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Bhatt et al. (2013); WHO (2012)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Burden and the case for vector control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Dengue in the Philippines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OCHA (2019); Edillo et al. (2015); RA 11332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Reporting by address; national context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Reproduction numbers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Diekmann et al. (1990); van den Driessche &amp; Watmough (2002); Smith et al. (2012)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Next-generation matrix of the model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Human movement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Stoddard et al. (2009, 2013); Cosner et al. (2009)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Residence-time (Lagrangian) coupling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Uneven exposure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Dye &amp; Hasibeder (1986)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Averages understate the risk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Weather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Mordecai et al. (2017); Su (2008); Sumi et al. (2017)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Parameter ranges and the season factor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Vector control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Esu et al. (2010); Bowman et al. (2016)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Control acts on mosquito numbers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Outbreak detection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Page (1954); Lucas (1985); Brook &amp; Evans (1972); Hussain-Alkhateeb et al. (2018)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CUSUM alarm and exact run length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Matrix tools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Horn &amp; Johnson (2013); Overton (1988); Varah (1975)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Bounds, convexity and the inversion error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RRL/RRS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RRL/RRS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Research Gap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Six gaps remain after the review, and each one is closed by a part of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G1 Cases by home, infections by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tool turns cases by residence into infections by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G2 No provincial R0 with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residence-time model of a Philippine province from open data, with bounds a barangay can compute.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G3 No least-cost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method gives the cheapest plan that provably brings transmission below its threshold.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G4 No ranking of places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Hotspots are named by case counts, not by how much transmission each place carries.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G5 Alarms without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Delays and false-alarm rates of thresholds are rarely computed.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G6 No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Planning tools seldom show their formulas were checked against independent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THEORETICAL/CONCEPTUAL FRAMEWORK PARADIGM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THEORETICAL/CONCEPTUAL FRAMEWORK PARADIGM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Conceptual Framework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layers turn open data into dengue decisions: movement, transmission, and decision.</a:t>
            </a:r>
          </a:p>
        </p:txBody>
      </p:sp>
      <p:pic>
        <p:nvPicPr>
          <p:cNvPr id="10" name="Picture 9" descr="fig_frame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6727" y="2697480"/>
            <a:ext cx="10454545" cy="6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HOW MCS COMES INTO PLAY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HOW MCS COMES INTO PLAY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 Essence of MCS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Mathematics states the problem exactly, computation solves it at scale, and science grounds it in open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Open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376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376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Graph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1888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888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Algorithm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3400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9400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Numbers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94912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20912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Optimisation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486424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12424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864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864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Mathematical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64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Daily movement becomes a residence-time matrix; transmission becomes a symmetric matrix whose largest eigenvalue is the reproduction number; the cheapest control becomes a convex program. Twelve propositions are proven.</a:t>
            </a:r>
          </a:p>
        </p:txBody>
      </p:sp>
      <p:pic>
        <p:nvPicPr>
          <p:cNvPr id="25" name="Picture 24" descr="mcs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40" y="7693135"/>
            <a:ext cx="5130240" cy="41372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7888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5888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888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Computational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888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An eigen-solver ranks places in under a second for 720 barangays; an interior-point method finds the least-cost plan with a certified gap; a Markov chain gives the alarm's exact run length.</a:t>
            </a:r>
          </a:p>
        </p:txBody>
      </p:sp>
      <p:pic>
        <p:nvPicPr>
          <p:cNvPr id="30" name="Picture 29" descr="mcs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8880" y="7618257"/>
            <a:ext cx="5130239" cy="56348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220912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38912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0912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Sciences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912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Inputs come from the PSA census, DepEd schools, case bulletins and published Aedes aegypti parameters. Every number is reproduced by one seeded script; test-network results are labelled synthetic.</a:t>
            </a:r>
          </a:p>
        </p:txBody>
      </p:sp>
      <p:pic>
        <p:nvPicPr>
          <p:cNvPr id="35" name="Picture 34" descr="mcs_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68595" y="7250000"/>
            <a:ext cx="5011290" cy="13000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48640" y="8950000"/>
            <a:ext cx="17190720" cy="7600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8950000"/>
            <a:ext cx="17190720" cy="760000"/>
          </a:xfrm>
          <a:prstGeom prst="rect">
            <a:avLst/>
          </a:prstGeom>
          <a:noFill/>
        </p:spPr>
        <p:txBody>
          <a:bodyPr wrap="square" anchor="ctr" lIns="60000" rIns="60000" tIns="30000" bIns="30000">
            <a:spAutoFit/>
          </a:bodyPr>
          <a:lstStyle/>
          <a:p>
            <a:pPr algn="ctr">
              <a:spcAft>
                <a:spcPts val="769"/>
              </a:spcAft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12 results, proven, then verified:  300/300 R0 values  ·  120/120 control plans  ·  10,000 alarm checks  ·  0 violations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SIGNIFICANCE OF THE STUDY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SIGNIFICANCE OF THE STUDY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Who Benefits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Every team-day sent to the right place lowers transmission the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Households and schools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See whether the places they visit by day carry the most transmission, and when cleanup days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Barangay health workers and brigades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ranking per team-day and a schedule of team-days per barangay.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Provincial and municipal health offices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monthly reproduction number, infections by place, and an alarm with a known false-alarm rate.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Budget and disaster planners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How many team-days a stronger rainy season will need, before the rains.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DOH 4S campaign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Search-and-destroy and hotspot fogging aimed at the places that carry transmission.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Future researchers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An open, verified pipeline for any province and any Aedes-borne disease.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SUSTAINABLE DEVELOPMENT GOALS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SUSTAINABLE DEVELOPMENT GOALS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Goals Served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goals, one model: target dengue where it spreads and warn before wards fill.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dg-0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3760" y="2897480"/>
            <a:ext cx="3300000" cy="33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864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3.3 and 3.d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End the epidemics of neglected tropical diseases, dengue among them, and strengthen early warning.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888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dg-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000" y="2897480"/>
            <a:ext cx="3300000" cy="33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2888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4.a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8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Safe learning environments: schools are often the places that carry the most transmission.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912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dg-1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24240" y="2897480"/>
            <a:ext cx="3300000" cy="33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5912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17.18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5912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Open, reusable data: an Albay data set any health office can rebuild and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9700000"/>
            <a:ext cx="17190720" cy="33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 i="1">
                <a:solidFill>
                  <a:srgbClr val="554A4A"/>
                </a:solidFill>
                <a:latin typeface="ITC Avant Garde Gothic"/>
              </a:rPr>
              <a:t>SDG icons: United Nations. These are intended uses of the model; none has been measured in practice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OBJECTIVES OF THE STUDY / SOP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 OF THE STUDY / SOP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Build, prove, and verify a network model of dengue in Albay that follows residents through their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Specific objectives 1 to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1. Represent barangays, residents, mosquitoes and time away as a residence-time network from open data.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2. Derive the reproduction number and prove its threshold, symmetric form and computable bounds.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3. Rank places by their share of transmission and prove what the ranking measures.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4. Formulate least-cost control as a convex program, with a certificate plan and a certified gap.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Specific objectives 5 to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5. Recover the places of infection from cases by residence, with a proven error bound.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6. Design an outbreak alarm with a proven delay and an exact false-alarm rate.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7. Test each proven property against separately written reference code.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8. Run the pipeline on a test network and state the Albay hypotheses in advance.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OBJECTIVES OF THE STUDY / SOP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 OF THE STUDY / SOP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Statement of the Problem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Can open data tell where dengue spreads, how much control is enough and where, and when an outbreak begins?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Questions Q1 to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Q1. Can daily movement between barangays be written as a matrix from travel times and attraction?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Q2. What is the reproduction number on such a network, and can each barangay bound it?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Q3. Does treating a province as well mixed ever overstate its safety?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Q4. Which places carry the most transmission, and does that predict where control works fastest?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Questions Q5 to Q8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Q5. Can least-cost vector control be solved exactly, and how much does it save?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Q6. Can cases counted at home be traced to places of infection, and how large is the error?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Q7. How quickly does a CUSUM alarm detect a rise, and how often does it sound falsely?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Q8. Do the proofs hold against separate code, and what does the pipeline show on a test network?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HYPOTHESES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HYPOTHESES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Fixed in Advance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Eight model hypotheses for the Albay open-data instance, each with its decision rule.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19" cy="6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363"/>
                <a:gridCol w="15868356"/>
              </a:tblGrid>
              <a:tr h="760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ITC Avant Garde Gothic"/>
                        </a:rPr>
                        <a:t>Code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ITC Avant Garde Gothic"/>
                        </a:rPr>
                        <a:t>Hypothesis and decision rule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Network R0 exceeds the provincial-average value by at least 10% (bootstrap interval above 1.10).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In most municipalities with 10+ barangays, the top transmission share sits at a central school or market.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In at least half the municipalities, the top barangay by cases is not the top by inferred infections.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least-cost plan costs at least 25% less than uniform control in most municipalities.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certificate plan costs at most 30% more than the least-cost plan.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On 2026 data, the CUSUM alarm sounds before the single-week rule in at least 12 of 18 municipalities.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ranking of places is stable across sensitivity sweeps (Spearman's rho above 0.8).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Monotonicity is exact by Propositions 7 and 10; any violation is treated as a data error.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Research Design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Fully computational: every number comes from a proof, a declared parameter, a public report, or a test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1 Barangays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Census populations and barangay centers.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882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90882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882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2 Travel and attraction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882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Travel times from the companion model; schools, markets, jobs.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900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26900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900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3 Residence-time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900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Share of biting hours in each place.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918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362918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7918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4 Mosquitoes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7918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Survey indices to adults per resident.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4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5 Transmission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4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R0, local exposure numbers, place shares.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882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90882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882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6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882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Five strategies to the same target; season factor.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900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26900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900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7 Places and alarms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900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Inversion of cases; CUSUM on weekly counts.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918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362918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7918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8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7918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Every proposition checked against independent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 Model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From where people spend the day to the reproduction number and the places that carry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64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Where residents spend the day</a:t>
            </a:r>
          </a:p>
        </p:txBody>
      </p:sp>
      <p:pic>
        <p:nvPicPr>
          <p:cNvPr id="12" name="Picture 11" descr="m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40" y="3914478"/>
            <a:ext cx="8045360" cy="136600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4400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People present and mosquito density</a:t>
            </a:r>
          </a:p>
        </p:txBody>
      </p:sp>
      <p:pic>
        <p:nvPicPr>
          <p:cNvPr id="15" name="Picture 14" descr="m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4000" y="4227794"/>
            <a:ext cx="8045360" cy="7393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864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Reproduction number</a:t>
            </a:r>
          </a:p>
        </p:txBody>
      </p:sp>
      <p:pic>
        <p:nvPicPr>
          <p:cNvPr id="18" name="Picture 17" descr="mcs_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640" y="7723070"/>
            <a:ext cx="8045360" cy="6488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4400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Bounds and place shares</a:t>
            </a:r>
          </a:p>
        </p:txBody>
      </p:sp>
      <p:pic>
        <p:nvPicPr>
          <p:cNvPr id="21" name="Picture 20" descr="m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4000" y="7516679"/>
            <a:ext cx="8045360" cy="10616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Control, Infection Places, Alarm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decision tools, each with a guarantee.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64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Least-cost vector control (convex)</a:t>
            </a:r>
          </a:p>
        </p:txBody>
      </p:sp>
      <p:pic>
        <p:nvPicPr>
          <p:cNvPr id="12" name="Picture 11" descr="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40" y="4285897"/>
            <a:ext cx="8045360" cy="6231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4400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Infections by place from cases by residence</a:t>
            </a:r>
          </a:p>
        </p:txBody>
      </p:sp>
      <p:pic>
        <p:nvPicPr>
          <p:cNvPr id="15" name="Picture 14" descr="c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4000" y="3982614"/>
            <a:ext cx="8045360" cy="122973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864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Poisson CUSUM alarm</a:t>
            </a:r>
          </a:p>
        </p:txBody>
      </p:sp>
      <p:pic>
        <p:nvPicPr>
          <p:cNvPr id="18" name="Picture 17" descr="c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640" y="7851158"/>
            <a:ext cx="8045360" cy="3926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4400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Season factor</a:t>
            </a:r>
          </a:p>
        </p:txBody>
      </p:sp>
      <p:pic>
        <p:nvPicPr>
          <p:cNvPr id="21" name="Picture 20" descr="c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4000" y="7526778"/>
            <a:ext cx="8045360" cy="10414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Test Network D1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Test network D1: a synthetic town of six barangays used to check every step (not Albay 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0199997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48"/>
                <a:gridCol w="3165517"/>
                <a:gridCol w="1406896"/>
                <a:gridCol w="1758620"/>
                <a:gridCol w="1406896"/>
                <a:gridCol w="1758620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Description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Residents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Mosquitoes per resident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Share of day away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Team-days for full control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Poblacion: central school and public market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4,000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5.3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0.20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19.52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Urban residential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6,000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0.40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29.26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Peri-urban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3,500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17.08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Rural upland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2,000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2.3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0.25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9.76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Rural lowland (rice fields)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1,800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8.78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Coastal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2,500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12.20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fig_d1_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8640" y="3093002"/>
            <a:ext cx="6690720" cy="4808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Where Transmission Happens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Homes point to B2, but 42.6% of transmission happens at B1, the school and the market (test network D1).</a:t>
            </a:r>
          </a:p>
        </p:txBody>
      </p:sp>
      <p:pic>
        <p:nvPicPr>
          <p:cNvPr id="10" name="Picture 9" descr="fig_d1_shar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181855"/>
            <a:ext cx="10600000" cy="56312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448640" y="26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598640" y="27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R0 = 1.214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8640" y="35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network reproduction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640" y="43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98640" y="44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42.6%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98640" y="52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of transmission at B1 (school + market)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48640" y="60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598640" y="61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8640" y="69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of cases filed at B2 (residential)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48640" y="77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598640" y="78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1.759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98640" y="86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R0 of B1 if nobody moved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Least-Cost Vector Control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The certified least-cost plan needs 40% fewer team-days than spraying everywhere (test network D1).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432560"/>
                <a:gridCol w="1432560"/>
                <a:gridCol w="1432560"/>
                <a:gridCol w="1432560"/>
                <a:gridCol w="1432560"/>
                <a:gridCol w="1432560"/>
                <a:gridCol w="2148840"/>
                <a:gridCol w="2148840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Strategy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Team-days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R0 reached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Spray everywhere equally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37.47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Spray where cases live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46%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59%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35%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31%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17%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17%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38.88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Place-share heuristic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28%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21%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29.54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Quick certificate (LP)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80%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21%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22%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26.49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0.924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Least cost (certified)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80%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11%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16%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22.60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7197480"/>
            <a:ext cx="1719072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7317480"/>
            <a:ext cx="70000" cy="20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40" y="7287480"/>
            <a:ext cx="1693072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Season factor and the team-days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40" y="7818340"/>
            <a:ext cx="16930720" cy="15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factor 0.6: 0.0  ·  factor 0.8: 11.9  ·  factor 1.0: 22.6  ·  factor 1.2: 34.9  ·  factor 1.4: 44.3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Below a season factor of 0.68, dengue cannot take hold in D1; each rise of 0.2 adds about 10 to 12 team-days.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Infection Places and Early Warning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Cases by residence point to B2; the inversion points to B1. The CUSUM alarm warns 1.7 weeks sooner (test network D1).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8300000" cy="4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500"/>
                <a:gridCol w="2075000"/>
                <a:gridCol w="2593750"/>
                <a:gridCol w="2593750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Cases by residence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Infections by place (truth)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Infections by place (inferred)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76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138.8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151.0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91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59.1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55.8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43.9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40.0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39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42.7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32.5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24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19.3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15.5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25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16.2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13.2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fig_cusu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7333" y="2697480"/>
            <a:ext cx="6133333" cy="460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7497480"/>
            <a:ext cx="17190720" cy="21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7617480"/>
            <a:ext cx="70000" cy="18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40" y="7587480"/>
            <a:ext cx="1693072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Mean weeks from outbreak start to alarm (5,000 simulated years, same 5% false-alarm 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40" y="8118340"/>
            <a:ext cx="16930720" cy="13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CUSUM: 4.84 weeks (median 5)   ·   single-week threshold: 6.52 weeks (median 7)   ·   neither missed an outbreak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Verification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Twelve propositions, each proven and then checked against independent code: no failures.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19" cy="6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6094"/>
                <a:gridCol w="7078531"/>
                <a:gridCol w="5056094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Property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Independent check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Result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Reproduction number (Prop. 1)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networks vs numerical next-generation matrix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max difference 5.3e-15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Threshold (Prop. 2)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Jacobians; 40 simulations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300/300 and 40/40 agree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Bounds (Props. 4, 5)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500 networks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 violations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Shares and gradient (Prop. 6)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networks vs finite differences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gradient error 1.8e-09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Convexity (Prop. 7)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6,000 pairs of plans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 violations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Least-cost control (Props. 8, 9)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40 grid + 80 SLSQP cases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all consistent; gap ≤ 9.9e-08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Inversion (Prop. 11)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exact + 400 noisy cases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closer to truth in 373 of 400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Alarm (Prop. 12)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 designs vs 20,000 runs; 10,000 sequences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all within 95%; 0 violations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Model solutions (Prop. 3)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 one-year simulations, RK4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states ≥ 0; order 3.97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CONCLUSIONS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CONCLUSIONS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What the Study Shows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Open data and routine case reports suffice to target dengue control by place, with guarantees.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Where it spreads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6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The reproduction number is a symmetric eigenvalue; place shares rank the true hotspots (B1 42.6% vs B2 by cases).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How much is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6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Least-cost control is a convex program; the certified plan used 22.60 team-days, 40% below uniform spraying.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40" y="62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Where people got infected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40" y="681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Cases by residence can be traced to places with a proven error bound when residents stay home over half the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29400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4000" y="62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When to warn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4000" y="681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The CUSUM alarm warned 1.7 weeks sooner than a single-week rule at the same false-alarm rate.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RECOMMENDATIONS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Next Steps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From a verified model to a pilot with the Provincial Health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Build the Albay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All 720 barangays with census, travel times, schools, markets and mosquito surveys.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Ask about daily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short school questionnaire to estimate where families spend the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Record where cases were by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One more line on the case form: where the patient spent most daytime hours.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Let parameters follow the weather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Temperature-dependent biting and survival; season factor from rainfall.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Pilot the brigade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One municipality follows the least-cost plan for a season; compare with a neighbor.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Release BANTA-Y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The offline app for health offices and brigades, with the 4S checklist.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REFERENCES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Key Sources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Key sources cited in this presentation; the full list is in the paper.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8445360" cy="6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Bhatt, S., et al. (2013). The global distribution and burden of dengue. Nature, 496, 504-507.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Brook, D., &amp; Evans, D. A. (1972). An approach to the probability distribution of CUSUM run length. Biometrika, 59, 539-549.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Cosner, C., et al. (2009). The effects of human movement on the persistence of vector-borne diseases. J. Theor. Biol., 258, 550-560.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Daily Tribune. (2026a-d). Albay dengue reports, September-October 2026.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Diekmann, O., Heesterbeek, J. A. P., &amp; Metz, J. A. J. (1990). J. Math. Biol., 28, 365-382.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Horn, R. A., &amp; Johnson, C. R. (2013). Matrix analysis (2nd ed.). Cambridge University Press.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Mordecai, E. A., et al. (2017). PLOS Neglected Tropical Diseases, 11(4), e0005568.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Page, E. S. (1954). Continuous inspection schemes. Biometrika, 41, 100-115.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000" y="2697480"/>
            <a:ext cx="8445360" cy="6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Philippine Statistics Authority. (2021). 2020 Census of Population and Housing.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Smith, D. L., et al. (2012). Ross, Macdonald, and a theory for mosquito-transmitted pathogens. PLOS Pathogens, 8, e1002588.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Stoddard, S. T., et al. (2013). House-to-house human movement drives dengue virus transmission. PNAS, 110, 994-999.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United Nations General Assembly. (2015). Transforming our world: The 2030 Agenda (A/RES/70/1).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van den Driessche, P., &amp; Watmough, J. (2002). Mathematical Biosciences, 180, 29-48.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Varah, J. M. (1975). Linear Algebra and Its Applications, 11, 3-5.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World Health Organization. (2012). Global strategy for dengue prevention and control 2012-2020.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828800" y="2697480"/>
            <a:ext cx="14630400" cy="448056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ctr">
              <a:lnSpc>
                <a:spcPct val="90000"/>
              </a:lnSpc>
            </a:pPr>
            <a:r>
              <a:rPr sz="16481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QUESTIONS</a:t>
            </a:r>
          </a:p>
          <a:p>
            <a:pPr algn="ctr">
              <a:lnSpc>
                <a:spcPct val="90000"/>
              </a:lnSpc>
            </a:pPr>
            <a:r>
              <a:rPr sz="16481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&amp; ANSWER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91817" y="4031050"/>
            <a:ext cx="12904366" cy="2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5486400" y="7677223"/>
            <a:ext cx="7315200" cy="465513"/>
          </a:xfrm>
          <a:custGeom>
            <a:avLst/>
            <a:gdLst/>
            <a:ahLst/>
            <a:cxnLst/>
            <a:rect l="l" t="t" r="r" b="b"/>
            <a:pathLst>
              <a:path w="7315200" h="465513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7534466" y="-2049686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-837818" y="7909979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7" name="Google Shape;107;g600db3a426f8adcd_1"/>
          <p:cNvSpPr/>
          <p:nvPr/>
        </p:nvSpPr>
        <p:spPr>
          <a:xfrm rot="10800000" flipH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 extrusionOk="0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8" name="Google Shape;108;g600db3a426f8adcd_1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 extrusionOk="0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9" name="Google Shape;109;g600db3a426f8adcd_1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 extrusionOk="0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6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7" name="Google Shape;107;g600db3a426f8adcd_1">
            <a:extLst>
              <a:ext uri="{FF2B5EF4-FFF2-40B4-BE49-F238E27FC236}">
                <a16:creationId xmlns:a16="http://schemas.microsoft.com/office/drawing/2014/main" id="{E65FD482-402C-9AF3-7CD8-EA9E4CE7E251}"/>
              </a:ext>
            </a:extLst>
          </p:cNvPr>
          <p:cNvSpPr/>
          <p:nvPr/>
        </p:nvSpPr>
        <p:spPr>
          <a:xfrm rot="10800000" flipH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 extrusionOk="0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8" name="Google Shape;108;g600db3a426f8adcd_1">
            <a:extLst>
              <a:ext uri="{FF2B5EF4-FFF2-40B4-BE49-F238E27FC236}">
                <a16:creationId xmlns:a16="http://schemas.microsoft.com/office/drawing/2014/main" id="{A9351546-7740-5B25-F571-60A2FA03ECFA}"/>
              </a:ext>
            </a:extLst>
          </p:cNvPr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 extrusionOk="0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9" name="Google Shape;109;g600db3a426f8adcd_1">
            <a:extLst>
              <a:ext uri="{FF2B5EF4-FFF2-40B4-BE49-F238E27FC236}">
                <a16:creationId xmlns:a16="http://schemas.microsoft.com/office/drawing/2014/main" id="{622744CE-ED75-0CE4-D979-3732E845399D}"/>
              </a:ext>
            </a:extLst>
          </p:cNvPr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 extrusionOk="0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6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pic>
        <p:nvPicPr>
          <p:cNvPr id="110" name="Rationale video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533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2" name="Google Shape;142;p5"/>
          <p:cNvSpPr/>
          <p:nvPr/>
        </p:nvSpPr>
        <p:spPr>
          <a:xfrm rot="10800000" flipH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 extrusionOk="0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43" name="Google Shape;143;p5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 extrusionOk="0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44" name="Google Shape;144;p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 extrusionOk="0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26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45" name="Google Shape;145;p5"/>
          <p:cNvSpPr/>
          <p:nvPr/>
        </p:nvSpPr>
        <p:spPr>
          <a:xfrm>
            <a:off x="0" y="3154680"/>
            <a:ext cx="18288000" cy="3977640"/>
          </a:xfrm>
          <a:prstGeom prst="rect">
            <a:avLst/>
          </a:prstGeom>
          <a:solidFill>
            <a:srgbClr val="000000">
              <a:alpha val="4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5"/>
          <p:cNvCxnSpPr/>
          <p:nvPr/>
        </p:nvCxnSpPr>
        <p:spPr>
          <a:xfrm>
            <a:off x="0" y="3154680"/>
            <a:ext cx="18288000" cy="0"/>
          </a:xfrm>
          <a:prstGeom prst="straightConnector1">
            <a:avLst/>
          </a:prstGeom>
          <a:noFill/>
          <a:ln w="15875" cap="flat" cmpd="sng">
            <a:solidFill>
              <a:srgbClr val="F0C04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5"/>
          <p:cNvCxnSpPr/>
          <p:nvPr/>
        </p:nvCxnSpPr>
        <p:spPr>
          <a:xfrm>
            <a:off x="0" y="7132320"/>
            <a:ext cx="18288000" cy="0"/>
          </a:xfrm>
          <a:prstGeom prst="straightConnector1">
            <a:avLst/>
          </a:prstGeom>
          <a:noFill/>
          <a:ln w="15875" cap="flat" cmpd="sng">
            <a:solidFill>
              <a:srgbClr val="F0C04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5"/>
          <p:cNvSpPr txBox="1"/>
          <p:nvPr/>
        </p:nvSpPr>
        <p:spPr>
          <a:xfrm>
            <a:off x="731520" y="3467055"/>
            <a:ext cx="168249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Questrial"/>
              <a:buNone/>
            </a:pPr>
            <a:r>
              <a:rPr lang="en-US" sz="5000" b="1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HOMES SHOW WHERE DENGUE IS REPORTED,</a:t>
            </a:r>
            <a:endParaRPr sz="66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Questrial"/>
              <a:buNone/>
            </a:pPr>
            <a:r>
              <a:rPr lang="en-US" sz="5000" b="1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OUR MODEL SHOWS WHERE IT SPREADS.</a:t>
            </a:r>
            <a:endParaRPr sz="6600" b="0" i="0" u="none" strike="noStrike" cap="none" dirty="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0" y="6143543"/>
            <a:ext cx="18288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C04A"/>
              </a:buClr>
              <a:buSzPts val="3000"/>
              <a:buFont typeface="Questrial"/>
              <a:buNone/>
            </a:pPr>
            <a:r>
              <a:rPr lang="en-US" sz="5200" b="1" i="0" u="none" strike="noStrike" cap="none" spc="300">
                <a:solidFill>
                  <a:srgbClr val="F0C04A"/>
                </a:solidFill>
                <a:latin typeface="Questrial"/>
                <a:ea typeface="Questrial"/>
                <a:cs typeface="Questrial"/>
                <a:sym typeface="Questrial"/>
              </a:rPr>
              <a:t>TARGETING DENGUE BY PLACE ACROSS ALBAY</a:t>
            </a:r>
            <a:endParaRPr sz="70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15679" y="9372618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est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LEGAZPI CITY SCIENCE HIGH SCHOOL</a:t>
            </a:r>
            <a:endParaRPr sz="30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estrial"/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MCS-T: DE ASIS</a:t>
            </a:r>
            <a:endParaRPr sz="30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6924" y="8716928"/>
            <a:ext cx="1638739" cy="1540562"/>
          </a:xfrm>
          <a:custGeom>
            <a:avLst/>
            <a:gdLst/>
            <a:ahLst/>
            <a:cxnLst/>
            <a:rect l="l" t="t" r="r" b="b"/>
            <a:pathLst>
              <a:path w="2392319" h="2426082" extrusionOk="0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3200400" y="630936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804672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Acronym"/>
          <p:cNvSpPr txBox="1"/>
          <p:nvPr/>
        </p:nvSpPr>
        <p:spPr>
          <a:xfrm>
            <a:off x="3108960" y="640080"/>
            <a:ext cx="12070080" cy="2194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BANTA-Y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52928"/>
            <a:ext cx="1207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>Say it like bantay (BAN-tai), the Filipino word for watch or guard</a:t>
            </a:r>
            <a:r>
              <a:rPr sz="2400" b="0" i="1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Title"/>
          <p:cNvSpPr txBox="1"/>
          <p:nvPr/>
        </p:nvSpPr>
        <p:spPr>
          <a:xfrm>
            <a:off x="914400" y="3474720"/>
            <a:ext cx="16459200" cy="2606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People Go, Dengue Goes: A Verified Mobility-Coupled Network Model for Ranking Dengue Hotspots, Issuing Early Warnings, and Allocating Vector Control at Least Cost in Albay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409944"/>
            <a:ext cx="1188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De Asis, Dave Justin 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995160"/>
            <a:ext cx="1188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◆   LEAD RESEARCHER  ·  FOUNDER OF THE BANTA-Y RESEARCH &amp; APPLICATION   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7397496"/>
            <a:ext cx="1188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Brimbuela, Peter John A.     •     Shin, Yeaseong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8202168"/>
            <a:ext cx="12801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Adviser: </a:t>
            </a:r>
            <a:r>
              <a:rPr sz="2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Calleja, Dick Anthony 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8659368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2E6E6"/>
                </a:solidFill>
                <a:latin typeface="Times New Roman"/>
                <a:ea typeface="Times New Roman"/>
                <a:cs typeface="Times New Roman"/>
              </a:rPr>
              <a:t>Legazpi City Science High School  •  Legazpi City, Albay  •  Mathematics and Computational Sciences, Team (MCS-T)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3200400" y="630936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804672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Acronym"/>
          <p:cNvSpPr txBox="1"/>
          <p:nvPr/>
        </p:nvSpPr>
        <p:spPr>
          <a:xfrm>
            <a:off x="3108960" y="640080"/>
            <a:ext cx="12070080" cy="2194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BANTA-Y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52928"/>
            <a:ext cx="1207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>Say it like bantay (BAN-tai), the Filipino word for watch or guard</a:t>
            </a:r>
            <a:r>
              <a:rPr sz="2400" b="0" i="1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Title"/>
          <p:cNvSpPr txBox="1"/>
          <p:nvPr/>
        </p:nvSpPr>
        <p:spPr>
          <a:xfrm>
            <a:off x="914400" y="3474720"/>
            <a:ext cx="16459200" cy="2606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People Go, Dengue Goes: A Verified Mobility-Coupled Network Model for Ranking Dengue Hotspots, Issuing Early Warnings, and Allocating Vector Control at Least Cost in Albay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409944"/>
            <a:ext cx="1188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De Asis, Dave Justin 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995160"/>
            <a:ext cx="1188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◆   LEAD RESEARCHER  ·  FOUNDER OF THE BANTA-Y RESEARCH &amp; APPLICATION   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7397496"/>
            <a:ext cx="1188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Brimbuela, Peter John A.     •     Shin, Yeaseong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8202168"/>
            <a:ext cx="12801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Adviser: </a:t>
            </a:r>
            <a:r>
              <a:rPr sz="2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Calleja, Dick Anthony 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8659368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2E6E6"/>
                </a:solidFill>
                <a:latin typeface="Times New Roman"/>
                <a:ea typeface="Times New Roman"/>
                <a:cs typeface="Times New Roman"/>
              </a:rPr>
              <a:t>Legazpi City Science High School  •  Legazpi City, Albay  •  Mathematics and Computational Sciences, Team (MCS-T)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25</Slides>
  <Notes>25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BANTA-Y: Where People Go, Dengue Goes</dc:title>
  <cp:lastModifiedBy>De Asis, Dave Justin Ll.</cp:lastModifiedBy>
  <cp:revision>3</cp:revision>
  <dcterms:created xsi:type="dcterms:W3CDTF">2006-08-16T00:00:00Z</dcterms:created>
  <dcterms:modified xsi:type="dcterms:W3CDTF">2026-10-18T08:00:00Z</dcterms:modified>
  <dc:identifier>DAHXUrdeoSg</dc:identifier>
  <dc:creator>De Asis, Dave Justin Ll.</dc:creator>
  <dc:subject>Research defense, Mathematics and Computational Sciences, Team (MCS-T)</dc:subject>
  <cp:keywords>LIGTA-S; evacuation planning; minimum-cost flow; Albay; Legazpi City Science High School</cp:keywords>
  <dc:description/>
</cp:coreProperties>
</file>