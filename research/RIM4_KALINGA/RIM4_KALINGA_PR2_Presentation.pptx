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64" r:id="rId14"/>
    <p:sldId id="265" r:id="rId15"/>
  </p:sldIdLst>
  <p:sldSz cx="18288000" cy="10287000"/>
  <p:notesSz cx="6858000" cy="9144000"/>
  <p:embeddedFontLst>
    <p:embeddedFont>
      <p:font typeface="ITC Avant Garde Gothic" charset="1" panose="020B0502020202020204"/>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14" Type="http://schemas.openxmlformats.org/officeDocument/2006/relationships/slide" Target="slides/slide16.xml"/><Relationship Id="rId15" Type="http://schemas.openxmlformats.org/officeDocument/2006/relationships/slide" Target="slides/slide17.xml"/><Relationship Id="rId16" Type="http://schemas.openxmlformats.org/officeDocument/2006/relationships/font" Target="fonts/font16.fntdata"/><Relationship Id="rId25" Type="http://schemas.openxmlformats.org/officeDocument/2006/relationships/notesMaster" Target="notesMasters/notesMaster1.xml"/><Relationship Id="rId26" Type="http://schemas.openxmlformats.org/officeDocument/2006/relationships/slide" Target="slides/slide2.xml"/><Relationship Id="rId27" Type="http://schemas.openxmlformats.org/officeDocument/2006/relationships/slide" Target="slides/slide3.xml"/><Relationship Id="rId28" Type="http://schemas.openxmlformats.org/officeDocument/2006/relationships/slide" Target="slides/slide4.xml"/><Relationship Id="rId29" Type="http://schemas.openxmlformats.org/officeDocument/2006/relationships/slide" Target="slides/slide5.xml"/><Relationship Id="rId30" Type="http://schemas.openxmlformats.org/officeDocument/2006/relationships/slide" Target="slides/slide6.xml"/><Relationship Id="rId31" Type="http://schemas.openxmlformats.org/officeDocument/2006/relationships/slide" Target="slides/slide7.xml"/><Relationship Id="rId32" Type="http://schemas.openxmlformats.org/officeDocument/2006/relationships/slide" Target="slides/slide8.xml"/><Relationship Id="rId33" Type="http://schemas.openxmlformats.org/officeDocument/2006/relationships/slide" Target="slides/slide9.xml"/><Relationship Id="rId34" Type="http://schemas.openxmlformats.org/officeDocument/2006/relationships/slide" Target="slides/slide10.xml"/><Relationship Id="rId35" Type="http://schemas.openxmlformats.org/officeDocument/2006/relationships/slide" Target="slides/slide11.xml"/><Relationship Id="rId36" Type="http://schemas.openxmlformats.org/officeDocument/2006/relationships/slide" Target="slides/slide12.xml"/><Relationship Id="rId37" Type="http://schemas.openxmlformats.org/officeDocument/2006/relationships/slide" Target="slides/slide13.xml"/><Relationship Id="rId38" Type="http://schemas.openxmlformats.org/officeDocument/2006/relationships/slide" Target="slides/slide14.xml"/><Relationship Id="rId39"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 1]  |  0:00 to 0:15</a:t>
            </a:r>
          </a:p>
          <a:p/>
          <a:p>
            <a:r>
              <a:t>Good morning to the panel. We are [names], with our adviser, [adviser]. Our entry is KALINGA, a low-cost Baymax-inspired wearable health pendant with a family monitoring app.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 3]  |  4:35 to 4:42</a:t>
            </a:r>
          </a:p>
          <a:p/>
          <a:p>
            <a:r>
              <a:t>That ends our presentation. We are now ready for your questions. Thank you.</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slide up after the closing line of slide 17.</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 1]  |  0:15 to 0:40</a:t>
            </a:r>
          </a:p>
          <a:p/>
          <a:p>
            <a:r>
              <a:t>Many older adults are alone at home while their families work. Falls go unnoticed, doses are missed, and fevers rise unseen. The products that help each do one job and cost more together. Our purpose: one affordable pendant that checks, reminds, and alerts the family through an app.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 1]  |  0:40 to 0:58</a:t>
            </a:r>
          </a:p>
          <a:p/>
          <a:p>
            <a:r>
              <a:t>The literature tells us how pulse oximeters and infrared thermometers work, how falls can be detected with an accelerometer, why timed doses help, and how to test accuracy and usability.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 1]  |  0:58 to 1:15</a:t>
            </a:r>
          </a:p>
          <a:p/>
          <a:p>
            <a:r>
              <a:t>Related studies gave us the fall rule, the limits of pulse oximetry, and the agreement method. None joins all of these in one low-cost wearable.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 2]  |  1:15 to 1:35</a:t>
            </a:r>
          </a:p>
          <a:p/>
          <a:p>
            <a:r>
              <a:t>Four gaps: help comes late, so the pendant alerts in seconds; doses are missed, so a carousel opens the right slot on time; cheap sensors vary, so we calibrate and test; the family is far, so a live app shows everything.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 2]  |  1:35 to 1:58</a:t>
            </a:r>
          </a:p>
          <a:p/>
          <a:p>
            <a:r>
              <a:t>Inputs are the sensors, the servo, the battery, the 3D printer, and Firebase. We print, wire, program, calibrate, and test. Outputs answer each objective, and the results tune the pendant.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 2]  |  1:58 to 2:15</a:t>
            </a:r>
          </a:p>
          <a:p/>
          <a:p>
            <a:r>
              <a:t>Older adults get checks and help at a button press, families see everything from work, and health workers get a low-cost aid. The study supports SDGs 3, 9, and 10.</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 2]  |  2:15 to 2:35</a:t>
            </a:r>
          </a:p>
          <a:p/>
          <a:p>
            <a:r>
              <a:t>Our general objective: develop and evaluate KALINGA. Specifically: accuracy, falls and alerts, doses, data delivery and battery, usability, and cost.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 3]  |  2:35 to 2:50</a:t>
            </a:r>
          </a:p>
          <a:p/>
          <a:p>
            <a:r>
              <a:t>H₀1: no difference between KALINGA and the reference; paired t-test. H₀2: the fall decision is not associated with the true event; chi-square. H₀3: the SUS score is not different from 68; one-sample t-test.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 3]  |  2:50 to 3:05</a:t>
            </a:r>
          </a:p>
          <a:p/>
          <a:p>
            <a:r>
              <a:t>We cover one pendant and the app, spot checks, four kinds of alerts, and a four-slot carousel. It is not a medical device, and only we simulate falls.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 3]  |  3:05 to 3:22</a:t>
            </a:r>
          </a:p>
          <a:p/>
          <a:p>
            <a:r>
              <a:t>This is a quantitative developmental study. We build and calibrate, then test against reference instruments and in five days of daily use.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 3]  |  3:22 to 3:40</a:t>
            </a:r>
          </a:p>
          <a:p/>
          <a:p>
            <a:r>
              <a:t>KALINGA is a 3D-printed, Baymax-inspired pendant with a forehead thermometer, a finger pad, a fall sensor, an SOS button, and a four-slot pill carousel. Parts are estimated at about 2,150 pesos.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 1]  |  3:40 to 4:00</a:t>
            </a:r>
          </a:p>
          <a:p/>
          <a:p>
            <a:r>
              <a:t>Ten steps: IRB approval; CAD design; 3D printing; wiring; programming and app setup; calibration; agreement trials; simulated falls; dose, battery, and usability tests; and analysis.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 1]  |  4:00 to 4:20</a:t>
            </a:r>
          </a:p>
          <a:p/>
          <a:p>
            <a:r>
              <a:t>Accuracy is judged by bias, limits of agreement, and Arms; falls by sensitivity and specificity; alerts by time to the app. We use Excel and JASP at alpha 0.05.</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 1]  |  4:20 to 4:35</a:t>
            </a:r>
          </a:p>
          <a:p/>
          <a:p>
            <a:r>
              <a:t>The IRB approves our plan first, and everyone gives consent. We use placebo tablets, simulate falls only on mats, and protect the data under the Data Privacy Act.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7.png"/><Relationship Id="rId7" Type="http://schemas.openxmlformats.org/officeDocument/2006/relationships/image" Target="../media/image8.svg"/><Relationship Id="rId8" Type="http://schemas.openxmlformats.org/officeDocument/2006/relationships/image" Target="../media/image3.png"/><Relationship Id="rId9" Type="http://schemas.openxmlformats.org/officeDocument/2006/relationships/notesSlide" Target="../notesSlides/notesSlide18.xml"/></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8B0707"/>
        </a:solidFill>
      </p:bgPr>
    </p:bg>
    <p:spTree>
      <p:nvGrpSpPr>
        <p:cNvPr id="1" name=""/>
        <p:cNvGrpSpPr/>
        <p:nvPr/>
      </p:nvGrpSpPr>
      <p:grpSpPr>
        <a:xfrm>
          <a:off x="0" y="0"/>
          <a:ext cx="0" cy="0"/>
          <a:chOff x="0" y="0"/>
          <a:chExt cx="0" cy="0"/>
        </a:xfrm>
      </p:grpSpPr>
      <p:sp>
        <p:nvSpPr>
          <p:cNvPr name="Freeform 2" id="2"/>
          <p:cNvSpPr/>
          <p:nvPr/>
        </p:nvSpPr>
        <p:spPr>
          <a:xfrm flipH="false" flipV="true" rot="0">
            <a:off x="-308939" y="-440152"/>
            <a:ext cx="3942365" cy="3942365"/>
          </a:xfrm>
          <a:custGeom>
            <a:avLst/>
            <a:gdLst/>
            <a:ahLst/>
            <a:cxnLst/>
            <a:rect r="r" b="b" t="t" l="l"/>
            <a:pathLst>
              <a:path h="3942365" w="3942365">
                <a:moveTo>
                  <a:pt x="0" y="3942365"/>
                </a:moveTo>
                <a:lnTo>
                  <a:pt x="3942365" y="3942365"/>
                </a:lnTo>
                <a:lnTo>
                  <a:pt x="3942365" y="0"/>
                </a:lnTo>
                <a:lnTo>
                  <a:pt x="0" y="0"/>
                </a:lnTo>
                <a:lnTo>
                  <a:pt x="0" y="394236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5910979" y="7909979"/>
            <a:ext cx="2696641" cy="2696641"/>
          </a:xfrm>
          <a:custGeom>
            <a:avLst/>
            <a:gdLst/>
            <a:ahLst/>
            <a:cxnLst/>
            <a:rect r="r" b="b" t="t" l="l"/>
            <a:pathLst>
              <a:path h="2696641" w="2696641">
                <a:moveTo>
                  <a:pt x="2696642" y="0"/>
                </a:moveTo>
                <a:lnTo>
                  <a:pt x="0" y="0"/>
                </a:lnTo>
                <a:lnTo>
                  <a:pt x="0" y="2696642"/>
                </a:lnTo>
                <a:lnTo>
                  <a:pt x="2696642" y="2696642"/>
                </a:lnTo>
                <a:lnTo>
                  <a:pt x="269664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4983" y="0"/>
            <a:ext cx="18497965" cy="10416667"/>
          </a:xfrm>
          <a:custGeom>
            <a:avLst/>
            <a:gdLst/>
            <a:ahLst/>
            <a:cxnLst/>
            <a:rect r="r" b="b" t="t" l="l"/>
            <a:pathLst>
              <a:path h="10416667" w="18497965">
                <a:moveTo>
                  <a:pt x="0" y="0"/>
                </a:moveTo>
                <a:lnTo>
                  <a:pt x="18497966" y="0"/>
                </a:lnTo>
                <a:lnTo>
                  <a:pt x="18497966" y="10416667"/>
                </a:lnTo>
                <a:lnTo>
                  <a:pt x="0" y="10416667"/>
                </a:lnTo>
                <a:lnTo>
                  <a:pt x="0" y="0"/>
                </a:lnTo>
                <a:close/>
              </a:path>
            </a:pathLst>
          </a:custGeom>
          <a:blipFill>
            <a:blip r:embed="rId4">
              <a:alphaModFix amt="26000"/>
            </a:blip>
            <a:stretch>
              <a:fillRect l="0" t="0" r="0" b="0"/>
            </a:stretch>
          </a:blipFill>
        </p:spPr>
      </p:sp>
      <p:sp>
        <p:nvSpPr>
          <p:cNvPr name="Freeform 5" id="5"/>
          <p:cNvSpPr/>
          <p:nvPr/>
        </p:nvSpPr>
        <p:spPr>
          <a:xfrm flipH="false" flipV="false" rot="0">
            <a:off x="699585" y="546888"/>
            <a:ext cx="2392319" cy="2426082"/>
          </a:xfrm>
          <a:custGeom>
            <a:avLst/>
            <a:gdLst/>
            <a:ahLst/>
            <a:cxnLst/>
            <a:rect r="r" b="b" t="t" l="l"/>
            <a:pathLst>
              <a:path h="2426082" w="2392319">
                <a:moveTo>
                  <a:pt x="0" y="0"/>
                </a:moveTo>
                <a:lnTo>
                  <a:pt x="2392319" y="0"/>
                </a:lnTo>
                <a:lnTo>
                  <a:pt x="2392319" y="2426082"/>
                </a:lnTo>
                <a:lnTo>
                  <a:pt x="0" y="2426082"/>
                </a:lnTo>
                <a:lnTo>
                  <a:pt x="0" y="0"/>
                </a:lnTo>
                <a:close/>
              </a:path>
            </a:pathLst>
          </a:custGeom>
          <a:blipFill>
            <a:blip r:embed="rId5"/>
            <a:stretch>
              <a:fillRect l="0" t="0" r="0" b="0"/>
            </a:stretch>
          </a:blipFill>
        </p:spPr>
      </p:sp>
      <p:sp>
        <p:nvSpPr>
          <p:cNvPr name="AutoShape 7" id="7"/>
          <p:cNvSpPr/>
          <p:nvPr/>
        </p:nvSpPr>
        <p:spPr>
          <a:xfrm>
            <a:off x="3246120" y="8110728"/>
            <a:ext cx="11795760" cy="0"/>
          </a:xfrm>
          <a:prstGeom prst="line">
            <a:avLst/>
          </a:prstGeom>
          <a:ln cap="flat" w="38100">
            <a:solidFill>
              <a:srgbClr val="FFFFFF"/>
            </a:solidFill>
            <a:prstDash val="solid"/>
            <a:headEnd type="none" len="sm" w="sm"/>
            <a:tailEnd type="none" len="sm" w="sm"/>
          </a:ln>
        </p:spPr>
      </p:sp>
      <p:sp>
        <p:nvSpPr>
          <p:cNvPr name="AutoShape 8" id="8"/>
          <p:cNvSpPr/>
          <p:nvPr/>
        </p:nvSpPr>
        <p:spPr>
          <a:xfrm>
            <a:off x="3246120" y="9802368"/>
            <a:ext cx="11795760" cy="0"/>
          </a:xfrm>
          <a:prstGeom prst="line">
            <a:avLst/>
          </a:prstGeom>
          <a:ln cap="flat" w="38100">
            <a:solidFill>
              <a:srgbClr val="FFFFFF"/>
            </a:solidFill>
            <a:prstDash val="solid"/>
            <a:headEnd type="none" len="sm" w="sm"/>
            <a:tailEnd type="none" len="sm" w="sm"/>
          </a:ln>
        </p:spPr>
      </p:sp>
      <p:sp>
        <p:nvSpPr>
          <p:cNvPr id="21" name="Research title"/>
          <p:cNvSpPr txBox="1"/>
          <p:nvPr/>
        </p:nvSpPr>
        <p:spPr>
          <a:xfrm>
            <a:off x="1988820" y="2331720"/>
            <a:ext cx="14310360" cy="5669280"/>
          </a:xfrm>
          <a:prstGeom prst="rect">
            <a:avLst/>
          </a:prstGeom>
          <a:noFill/>
        </p:spPr>
        <p:txBody>
          <a:bodyPr wrap="square" lIns="0" tIns="0" rIns="0" bIns="0" anchor="b" rtlCol="0">
            <a:noAutofit/>
          </a:bodyPr>
          <a:lstStyle/>
          <a:p>
            <a:pPr algn="ctr">
              <a:lnSpc>
                <a:spcPct val="102000"/>
              </a:lnSpc>
              <a:spcBef>
                <a:spcPts val="0"/>
              </a:spcBef>
              <a:spcAft>
                <a:spcPts val="0"/>
              </a:spcAft>
              <a:buNone/>
            </a:pPr>
            <a:r>
              <a:rPr lang="en-US" sz="5700" b="0" dirty="0">
                <a:solidFill>
                  <a:srgbClr val="FFFFFF"/>
                </a:solidFill>
                <a:effectLst>
                  <a:outerShdw blurRad="63500" dist="31750" dir="5400000" algn="t" rotWithShape="0">
                    <a:srgbClr val="2A0000">
                      <a:alpha val="45000"/>
                    </a:srgbClr>
                  </a:outerShdw>
                </a:effectLst>
                <a:latin typeface="Times New Roman"/>
                <a:ea typeface="Times New Roman"/>
                <a:cs typeface="Times New Roman"/>
                <a:sym typeface="Times New Roman"/>
              </a:rPr>
              <a:t>KALINGA: A Low-Cost Baymax-Inspired Wearable Health Pendant with Vital-Sign Checks, Fall Alerts, Timed Pill Dispensing, and a Family Monitoring App</a:t>
            </a:r>
            <a:endParaRPr lang="en-US" sz="5700" dirty="0">
              <a:latin typeface="ITC Avant Garde Gothic"/>
            </a:endParaRPr>
          </a:p>
        </p:txBody>
      </p:sp>
      <p:sp>
        <p:nvSpPr>
          <p:cNvPr id="22" name="Researchers"/>
          <p:cNvSpPr txBox="1"/>
          <p:nvPr/>
        </p:nvSpPr>
        <p:spPr>
          <a:xfrm>
            <a:off x="3246120" y="8165592"/>
            <a:ext cx="11795760" cy="1591056"/>
          </a:xfrm>
          <a:prstGeom prst="rect">
            <a:avLst/>
          </a:prstGeom>
          <a:noFill/>
        </p:spPr>
        <p:txBody>
          <a:bodyPr wrap="square" lIns="0" tIns="0" rIns="0" bIns="0" anchor="ctr" rtlCol="0">
            <a:noAutofit/>
          </a:bodyPr>
          <a:lstStyle/>
          <a:p>
            <a:pPr algn="ctr">
              <a:lnSpc>
                <a:spcPct val="108000"/>
              </a:lnSpc>
              <a:spcBef>
                <a:spcPts val="0"/>
              </a:spcBef>
              <a:spcAft>
                <a:spcPts val="0"/>
              </a:spcAft>
              <a:buNone/>
            </a:pPr>
            <a:r>
              <a:rPr lang="en-US" sz="3200" dirty="0">
                <a:solidFill>
                  <a:srgbClr val="FFFFFF"/>
                </a:solidFill>
                <a:effectLst>
                  <a:outerShdw blurRad="63500" dist="31750" dir="5400000" algn="t" rotWithShape="0">
                    <a:srgbClr val="2A0000">
                      <a:alpha val="45000"/>
                    </a:srgbClr>
                  </a:outerShdw>
                </a:effectLst>
                <a:latin typeface="Times New Roman"/>
                <a:ea typeface="Times New Roman"/>
                <a:cs typeface="Times New Roman"/>
                <a:sym typeface="Times New Roman"/>
              </a:rPr>
              <a:t>[Surname, Firstname M.]</a:t>
            </a:r>
            <a:endParaRPr lang="en-US" sz="3200" dirty="0">
              <a:latin typeface="ITC Avant Garde Gothic"/>
            </a:endParaRPr>
          </a:p>
          <a:p>
            <a:pPr algn="ctr">
              <a:lnSpc>
                <a:spcPct val="108000"/>
              </a:lnSpc>
              <a:spcBef>
                <a:spcPts val="0"/>
              </a:spcBef>
              <a:spcAft>
                <a:spcPts val="0"/>
              </a:spcAft>
              <a:buNone/>
            </a:pPr>
            <a:r>
              <a:rPr lang="en-US" sz="3200" dirty="0">
                <a:solidFill>
                  <a:srgbClr val="FFFFFF"/>
                </a:solidFill>
                <a:effectLst>
                  <a:outerShdw blurRad="63500" dist="31750" dir="5400000" algn="t" rotWithShape="0">
                    <a:srgbClr val="2A0000">
                      <a:alpha val="45000"/>
                    </a:srgbClr>
                  </a:outerShdw>
                </a:effectLst>
                <a:latin typeface="Times New Roman"/>
                <a:ea typeface="Times New Roman"/>
                <a:cs typeface="Times New Roman"/>
                <a:sym typeface="Times New Roman"/>
              </a:rPr>
              <a:t>[Surname, Firstname M.]</a:t>
            </a:r>
            <a:endParaRPr lang="en-US" sz="3200" dirty="0">
              <a:latin typeface="ITC Avant Garde Gothic"/>
            </a:endParaRPr>
          </a:p>
          <a:p>
            <a:pPr algn="ctr">
              <a:lnSpc>
                <a:spcPct val="108000"/>
              </a:lnSpc>
              <a:spcBef>
                <a:spcPts val="0"/>
              </a:spcBef>
              <a:spcAft>
                <a:spcPts val="0"/>
              </a:spcAft>
              <a:buNone/>
            </a:pPr>
            <a:r>
              <a:rPr lang="en-US" sz="3200" dirty="0">
                <a:solidFill>
                  <a:srgbClr val="FFFFFF"/>
                </a:solidFill>
                <a:effectLst>
                  <a:outerShdw blurRad="63500" dist="31750" dir="5400000" algn="t" rotWithShape="0">
                    <a:srgbClr val="2A0000">
                      <a:alpha val="45000"/>
                    </a:srgbClr>
                  </a:outerShdw>
                </a:effectLst>
                <a:latin typeface="Times New Roman"/>
                <a:ea typeface="Times New Roman"/>
                <a:cs typeface="Times New Roman"/>
                <a:sym typeface="Times New Roman"/>
              </a:rPr>
              <a:t>[Surname, Firstname M.]</a:t>
            </a:r>
            <a:endParaRPr lang="en-US" sz="3200" dirty="0">
              <a:latin typeface="ITC Avant Garde Gothic"/>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104983" y="0"/>
            <a:ext cx="18497965" cy="10416667"/>
          </a:xfrm>
          <a:custGeom>
            <a:avLst/>
            <a:gdLst/>
            <a:ahLst/>
            <a:cxnLst/>
            <a:rect r="r" b="b" t="t" l="l"/>
            <a:pathLst>
              <a:path h="10416667" w="18497965">
                <a:moveTo>
                  <a:pt x="0" y="0"/>
                </a:moveTo>
                <a:lnTo>
                  <a:pt x="18497966" y="0"/>
                </a:lnTo>
                <a:lnTo>
                  <a:pt x="18497966" y="10416667"/>
                </a:lnTo>
                <a:lnTo>
                  <a:pt x="0" y="10416667"/>
                </a:lnTo>
                <a:lnTo>
                  <a:pt x="0" y="0"/>
                </a:lnTo>
                <a:close/>
              </a:path>
            </a:pathLst>
          </a:custGeom>
          <a:blipFill>
            <a:blip r:embed="rId2">
              <a:alphaModFix amt="26000"/>
            </a:blip>
            <a:stretch>
              <a:fillRect l="0" t="0" r="0" b="0"/>
            </a:stretch>
          </a:blipFill>
        </p:spPr>
      </p:sp>
      <p:grpSp>
        <p:nvGrpSpPr>
          <p:cNvPr name="Group 3" id="3"/>
          <p:cNvGrpSpPr/>
          <p:nvPr/>
        </p:nvGrpSpPr>
        <p:grpSpPr>
          <a:xfrm rot="0">
            <a:off x="-514350" y="-959494"/>
            <a:ext cx="19524889" cy="2664593"/>
            <a:chOff x="0" y="0"/>
            <a:chExt cx="5142358" cy="701786"/>
          </a:xfrm>
        </p:grpSpPr>
        <p:sp>
          <p:nvSpPr>
            <p:cNvPr name="Freeform 4" id="4"/>
            <p:cNvSpPr/>
            <p:nvPr/>
          </p:nvSpPr>
          <p:spPr>
            <a:xfrm flipH="false" flipV="false" rot="0">
              <a:off x="0" y="0"/>
              <a:ext cx="5142357" cy="701786"/>
            </a:xfrm>
            <a:custGeom>
              <a:avLst/>
              <a:gdLst/>
              <a:ahLst/>
              <a:cxnLst/>
              <a:rect r="r" b="b" t="t" l="l"/>
              <a:pathLst>
                <a:path h="701786" w="5142357">
                  <a:moveTo>
                    <a:pt x="0" y="0"/>
                  </a:moveTo>
                  <a:lnTo>
                    <a:pt x="5142357" y="0"/>
                  </a:lnTo>
                  <a:lnTo>
                    <a:pt x="5142357" y="701786"/>
                  </a:lnTo>
                  <a:lnTo>
                    <a:pt x="0" y="701786"/>
                  </a:lnTo>
                  <a:close/>
                </a:path>
              </a:pathLst>
            </a:custGeom>
            <a:solidFill>
              <a:srgbClr val="8B0707"/>
            </a:solidFill>
          </p:spPr>
        </p:sp>
        <p:sp>
          <p:nvSpPr>
            <p:cNvPr name="TextBox 5" id="5"/>
            <p:cNvSpPr txBox="true"/>
            <p:nvPr/>
          </p:nvSpPr>
          <p:spPr>
            <a:xfrm>
              <a:off x="0" y="-76200"/>
              <a:ext cx="5142358" cy="777986"/>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13886" y="324392"/>
            <a:ext cx="17376398" cy="1229762"/>
          </a:xfrm>
          <a:prstGeom prst="rect">
            <a:avLst/>
          </a:prstGeom>
        </p:spPr>
        <p:txBody>
          <a:bodyPr anchor="t" rtlCol="false" tIns="0" lIns="0" bIns="0" rIns="0">
            <a:spAutoFit/>
          </a:bodyPr>
          <a:lstStyle/>
          <a:p>
            <a:pPr algn="l">
              <a:lnSpc>
                <a:spcPts val="7720"/>
              </a:lnSpc>
            </a:pPr>
            <a:r>
              <a:rPr lang="en-US" sz="8579">
                <a:solidFill>
                  <a:srgbClr val="FFFFFF"/>
                </a:solidFill>
                <a:latin typeface="ITC Avant Garde Gothic"/>
                <a:ea typeface="ITC Avant Garde Gothic"/>
                <a:cs typeface="ITC Avant Garde Gothic"/>
                <a:sym typeface="ITC Avant Garde Gothic"/>
              </a:rPr>
              <a:t>INTRODUCTION</a:t>
            </a:r>
          </a:p>
        </p:txBody>
      </p:sp>
      <p:sp>
        <p:nvSpPr>
          <p:cNvPr id="21" name="Subtitle"/>
          <p:cNvSpPr txBox="1"/>
          <p:nvPr/>
        </p:nvSpPr>
        <p:spPr>
          <a:xfrm>
            <a:off x="9509760" y="475488"/>
            <a:ext cx="8366760" cy="731520"/>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2600" dirty="0">
                <a:solidFill>
                  <a:srgbClr val="FFFFFF">
                    <a:alpha val="92000"/>
                  </a:srgbClr>
                </a:solidFill>
                <a:latin typeface="ITC Avant Garde Gothic"/>
                <a:ea typeface="ITC Avant Garde Gothic"/>
                <a:cs typeface="ITC Avant Garde Gothic"/>
                <a:sym typeface="ITC Avant Garde Gothic"/>
              </a:rPr>
              <a:t>Background of the Study</a:t>
            </a:r>
            <a:endParaRPr lang="en-US" sz="2600" dirty="0">
              <a:latin typeface="ITC Avant Garde Gothic"/>
            </a:endParaRPr>
          </a:p>
        </p:txBody>
      </p:sp>
      <p:sp>
        <p:nvSpPr>
          <p:cNvPr id="22" name="Slide number"/>
          <p:cNvSpPr txBox="1"/>
          <p:nvPr/>
        </p:nvSpPr>
        <p:spPr>
          <a:xfrm>
            <a:off x="17007840" y="9710928"/>
            <a:ext cx="914400" cy="384048"/>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1600" dirty="0">
                <a:solidFill>
                  <a:srgbClr val="8B0707">
                    <a:alpha val="75000"/>
                  </a:srgbClr>
                </a:solidFill>
                <a:latin typeface="ITC Avant Garde Gothic"/>
                <a:ea typeface="ITC Avant Garde Gothic"/>
                <a:cs typeface="ITC Avant Garde Gothic"/>
                <a:sym typeface="ITC Avant Garde Gothic"/>
              </a:rPr>
              <a:t>2</a:t>
            </a:r>
            <a:endParaRPr lang="en-US" sz="1600" dirty="0">
              <a:latin typeface="ITC Avant Garde Gothic"/>
            </a:endParaRPr>
          </a:p>
        </p:txBody>
      </p:sp>
      <p:sp>
        <p:nvSpPr>
          <p:cNvPr id="23" name="Rectangle 22"/>
          <p:cNvSpPr/>
          <p:nvPr/>
        </p:nvSpPr>
        <p:spPr>
          <a:xfrm>
            <a:off x="822960" y="2103120"/>
            <a:ext cx="9372600" cy="5760720"/>
          </a:xfrm>
          <a:prstGeom prst="rect">
            <a:avLst/>
          </a:prstGeom>
          <a:solidFill>
            <a:srgbClr val="FFFFFF"/>
          </a:solidFill>
          <a:ln w="12700">
            <a:solidFill>
              <a:srgbClr val="E3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34440" y="2423160"/>
            <a:ext cx="8641080" cy="5257800"/>
          </a:xfrm>
          <a:prstGeom prst="rect">
            <a:avLst/>
          </a:prstGeom>
          <a:noFill/>
        </p:spPr>
        <p:txBody>
          <a:bodyPr wrap="square" anchor="t">
            <a:spAutoFit/>
          </a:bodyPr>
          <a:lstStyle/>
          <a:p>
            <a:pPr algn="l">
              <a:spcAft>
                <a:spcPts val="855"/>
              </a:spcAft>
            </a:pPr>
            <a:r>
              <a:rPr sz="1900" b="0">
                <a:solidFill>
                  <a:srgbClr val="2B2020"/>
                </a:solidFill>
                <a:latin typeface="ITC Avant Garde Gothic"/>
              </a:rPr>
              <a:t>•  Many older adults and people with chronic illness are alone at home while their families work.</a:t>
            </a:r>
          </a:p>
          <a:p>
            <a:pPr algn="l">
              <a:spcAft>
                <a:spcPts val="855"/>
              </a:spcAft>
            </a:pPr>
            <a:r>
              <a:rPr sz="1900" b="0">
                <a:solidFill>
                  <a:srgbClr val="2B2020"/>
                </a:solidFill>
                <a:latin typeface="ITC Avant Garde Gothic"/>
              </a:rPr>
              <a:t>•  Adults over 60 suffer the most fatal falls, and help often comes late (WHO, 2021).</a:t>
            </a:r>
          </a:p>
          <a:p>
            <a:pPr algn="l">
              <a:spcAft>
                <a:spcPts val="855"/>
              </a:spcAft>
            </a:pPr>
            <a:r>
              <a:rPr sz="1900" b="0">
                <a:solidFill>
                  <a:srgbClr val="2B2020"/>
                </a:solidFill>
                <a:latin typeface="ITC Avant Garde Gothic"/>
              </a:rPr>
              <a:t>•  About half of patients on long-term medicines miss or mistime doses (WHO, 2003).</a:t>
            </a:r>
          </a:p>
          <a:p>
            <a:pPr algn="l">
              <a:spcAft>
                <a:spcPts val="855"/>
              </a:spcAft>
            </a:pPr>
            <a:r>
              <a:rPr sz="1900" b="0">
                <a:solidFill>
                  <a:srgbClr val="2B2020"/>
                </a:solidFill>
                <a:latin typeface="ITC Avant Garde Gothic"/>
              </a:rPr>
              <a:t>•  Smartwatches, alert pendants, and pill dispensers each do one job and cost more together.</a:t>
            </a:r>
          </a:p>
        </p:txBody>
      </p:sp>
      <p:sp>
        <p:nvSpPr>
          <p:cNvPr id="25" name="TextBox 24"/>
          <p:cNvSpPr txBox="1"/>
          <p:nvPr/>
        </p:nvSpPr>
        <p:spPr>
          <a:xfrm>
            <a:off x="10561320" y="2075688"/>
            <a:ext cx="6903720" cy="384048"/>
          </a:xfrm>
          <a:prstGeom prst="rect">
            <a:avLst/>
          </a:prstGeom>
          <a:noFill/>
        </p:spPr>
        <p:txBody>
          <a:bodyPr wrap="square" anchor="t">
            <a:spAutoFit/>
          </a:bodyPr>
          <a:lstStyle/>
          <a:p>
            <a:pPr algn="l">
              <a:spcAft>
                <a:spcPts val="720"/>
              </a:spcAft>
            </a:pPr>
            <a:r>
              <a:rPr sz="1600">
                <a:solidFill>
                  <a:srgbClr val="6A5656"/>
                </a:solidFill>
                <a:latin typeface="ITC Avant Garde Gothic"/>
              </a:rPr>
              <a:t>Table 1. The problem in figures</a:t>
            </a:r>
          </a:p>
        </p:txBody>
      </p:sp>
      <p:graphicFrame>
        <p:nvGraphicFramePr>
          <p:cNvPr id="26" name="Table 25"/>
          <p:cNvGraphicFramePr>
            <a:graphicFrameLocks noGrp="1"/>
          </p:cNvGraphicFramePr>
          <p:nvPr/>
        </p:nvGraphicFramePr>
        <p:xfrm>
          <a:off x="10561320" y="2487168"/>
          <a:ext cx="6903720" cy="4617720"/>
        </p:xfrm>
        <a:graphic>
          <a:graphicData uri="http://schemas.openxmlformats.org/drawingml/2006/table">
            <a:tbl>
              <a:tblPr firstRow="1" bandRow="1">
                <a:tableStyleId>{5C22544A-7EE6-4342-B048-85BDC9FD1C3A}</a:tableStyleId>
              </a:tblPr>
              <a:tblGrid>
                <a:gridCol w="3108960"/>
                <a:gridCol w="1737360"/>
                <a:gridCol w="2057400"/>
              </a:tblGrid>
              <a:tr h="502920">
                <a:tc>
                  <a:txBody>
                    <a:bodyPr/>
                    <a:lstStyle/>
                    <a:p>
                      <a:r>
                        <a:rPr sz="1400" b="1">
                          <a:solidFill>
                            <a:srgbClr val="FFFFFF"/>
                          </a:solidFill>
                          <a:latin typeface="ITC Avant Garde Gothic"/>
                        </a:rPr>
                        <a:t>Indicator</a:t>
                      </a:r>
                    </a:p>
                  </a:txBody>
                  <a:tcPr>
                    <a:solidFill>
                      <a:srgbClr val="8B0707"/>
                    </a:solidFill>
                  </a:tcPr>
                </a:tc>
                <a:tc>
                  <a:txBody>
                    <a:bodyPr/>
                    <a:lstStyle/>
                    <a:p>
                      <a:r>
                        <a:rPr sz="1400" b="1">
                          <a:solidFill>
                            <a:srgbClr val="FFFFFF"/>
                          </a:solidFill>
                          <a:latin typeface="ITC Avant Garde Gothic"/>
                        </a:rPr>
                        <a:t>Value</a:t>
                      </a:r>
                    </a:p>
                  </a:txBody>
                  <a:tcPr>
                    <a:solidFill>
                      <a:srgbClr val="8B0707"/>
                    </a:solidFill>
                  </a:tcPr>
                </a:tc>
                <a:tc>
                  <a:txBody>
                    <a:bodyPr/>
                    <a:lstStyle/>
                    <a:p>
                      <a:r>
                        <a:rPr sz="1400" b="1">
                          <a:solidFill>
                            <a:srgbClr val="FFFFFF"/>
                          </a:solidFill>
                          <a:latin typeface="ITC Avant Garde Gothic"/>
                        </a:rPr>
                        <a:t>Source</a:t>
                      </a:r>
                    </a:p>
                  </a:txBody>
                  <a:tcPr>
                    <a:solidFill>
                      <a:srgbClr val="8B0707"/>
                    </a:solidFill>
                  </a:tcPr>
                </a:tc>
              </a:tr>
              <a:tr h="822960">
                <a:tc>
                  <a:txBody>
                    <a:bodyPr/>
                    <a:lstStyle/>
                    <a:p>
                      <a:r>
                        <a:rPr sz="1400" b="0">
                          <a:solidFill>
                            <a:srgbClr val="8B0707"/>
                          </a:solidFill>
                          <a:latin typeface="ITC Avant Garde Gothic"/>
                        </a:rPr>
                        <a:t>Group with the most fatal falls</a:t>
                      </a:r>
                    </a:p>
                  </a:txBody>
                  <a:tcPr>
                    <a:solidFill>
                      <a:srgbClr val="FFFFFF"/>
                    </a:solidFill>
                  </a:tcPr>
                </a:tc>
                <a:tc>
                  <a:txBody>
                    <a:bodyPr/>
                    <a:lstStyle/>
                    <a:p>
                      <a:r>
                        <a:rPr sz="1400" b="0">
                          <a:solidFill>
                            <a:srgbClr val="2B2020"/>
                          </a:solidFill>
                          <a:latin typeface="ITC Avant Garde Gothic"/>
                        </a:rPr>
                        <a:t>Adults 60+</a:t>
                      </a:r>
                    </a:p>
                  </a:txBody>
                  <a:tcPr>
                    <a:solidFill>
                      <a:srgbClr val="FFFFFF"/>
                    </a:solidFill>
                  </a:tcPr>
                </a:tc>
                <a:tc>
                  <a:txBody>
                    <a:bodyPr/>
                    <a:lstStyle/>
                    <a:p>
                      <a:r>
                        <a:rPr sz="1400" b="0">
                          <a:solidFill>
                            <a:srgbClr val="2B2020"/>
                          </a:solidFill>
                          <a:latin typeface="ITC Avant Garde Gothic"/>
                        </a:rPr>
                        <a:t>WHO (2021)</a:t>
                      </a:r>
                    </a:p>
                  </a:txBody>
                  <a:tcPr>
                    <a:solidFill>
                      <a:srgbClr val="FFFFFF"/>
                    </a:solidFill>
                  </a:tcPr>
                </a:tc>
              </a:tr>
              <a:tr h="822960">
                <a:tc>
                  <a:txBody>
                    <a:bodyPr/>
                    <a:lstStyle/>
                    <a:p>
                      <a:r>
                        <a:rPr sz="1400" b="0">
                          <a:solidFill>
                            <a:srgbClr val="8B0707"/>
                          </a:solidFill>
                          <a:latin typeface="ITC Avant Garde Gothic"/>
                        </a:rPr>
                        <a:t>Adherence to long-term medicines</a:t>
                      </a:r>
                    </a:p>
                  </a:txBody>
                  <a:tcPr>
                    <a:solidFill>
                      <a:srgbClr val="F8EAEA"/>
                    </a:solidFill>
                  </a:tcPr>
                </a:tc>
                <a:tc>
                  <a:txBody>
                    <a:bodyPr/>
                    <a:lstStyle/>
                    <a:p>
                      <a:r>
                        <a:rPr sz="1400" b="0">
                          <a:solidFill>
                            <a:srgbClr val="2B2020"/>
                          </a:solidFill>
                          <a:latin typeface="ITC Avant Garde Gothic"/>
                        </a:rPr>
                        <a:t>About 50%</a:t>
                      </a:r>
                    </a:p>
                  </a:txBody>
                  <a:tcPr>
                    <a:solidFill>
                      <a:srgbClr val="F8EAEA"/>
                    </a:solidFill>
                  </a:tcPr>
                </a:tc>
                <a:tc>
                  <a:txBody>
                    <a:bodyPr/>
                    <a:lstStyle/>
                    <a:p>
                      <a:r>
                        <a:rPr sz="1400" b="0">
                          <a:solidFill>
                            <a:srgbClr val="2B2020"/>
                          </a:solidFill>
                          <a:latin typeface="ITC Avant Garde Gothic"/>
                        </a:rPr>
                        <a:t>WHO (2003)</a:t>
                      </a:r>
                    </a:p>
                  </a:txBody>
                  <a:tcPr>
                    <a:solidFill>
                      <a:srgbClr val="F8EAEA"/>
                    </a:solidFill>
                  </a:tcPr>
                </a:tc>
              </a:tr>
              <a:tr h="822960">
                <a:tc>
                  <a:txBody>
                    <a:bodyPr/>
                    <a:lstStyle/>
                    <a:p>
                      <a:r>
                        <a:rPr sz="1400" b="0">
                          <a:solidFill>
                            <a:srgbClr val="8B0707"/>
                          </a:solidFill>
                          <a:latin typeface="ITC Avant Garde Gothic"/>
                        </a:rPr>
                        <a:t>SpO₂ accuracy limit (Arms)</a:t>
                      </a:r>
                    </a:p>
                  </a:txBody>
                  <a:tcPr>
                    <a:solidFill>
                      <a:srgbClr val="FFFFFF"/>
                    </a:solidFill>
                  </a:tcPr>
                </a:tc>
                <a:tc>
                  <a:txBody>
                    <a:bodyPr/>
                    <a:lstStyle/>
                    <a:p>
                      <a:r>
                        <a:rPr sz="1400" b="0">
                          <a:solidFill>
                            <a:srgbClr val="2B2020"/>
                          </a:solidFill>
                          <a:latin typeface="ITC Avant Garde Gothic"/>
                        </a:rPr>
                        <a:t>≤ 4%</a:t>
                      </a:r>
                    </a:p>
                  </a:txBody>
                  <a:tcPr>
                    <a:solidFill>
                      <a:srgbClr val="FFFFFF"/>
                    </a:solidFill>
                  </a:tcPr>
                </a:tc>
                <a:tc>
                  <a:txBody>
                    <a:bodyPr/>
                    <a:lstStyle/>
                    <a:p>
                      <a:r>
                        <a:rPr sz="1400" b="0">
                          <a:solidFill>
                            <a:srgbClr val="2B2020"/>
                          </a:solidFill>
                          <a:latin typeface="ITC Avant Garde Gothic"/>
                        </a:rPr>
                        <a:t>ISO (2017b)</a:t>
                      </a:r>
                    </a:p>
                  </a:txBody>
                  <a:tcPr>
                    <a:solidFill>
                      <a:srgbClr val="FFFFFF"/>
                    </a:solidFill>
                  </a:tcPr>
                </a:tc>
              </a:tr>
              <a:tr h="822960">
                <a:tc>
                  <a:txBody>
                    <a:bodyPr/>
                    <a:lstStyle/>
                    <a:p>
                      <a:r>
                        <a:rPr sz="1400" b="0">
                          <a:solidFill>
                            <a:srgbClr val="8B0707"/>
                          </a:solidFill>
                          <a:latin typeface="ITC Avant Garde Gothic"/>
                        </a:rPr>
                        <a:t>Average SUS score of products</a:t>
                      </a:r>
                    </a:p>
                  </a:txBody>
                  <a:tcPr>
                    <a:solidFill>
                      <a:srgbClr val="F8EAEA"/>
                    </a:solidFill>
                  </a:tcPr>
                </a:tc>
                <a:tc>
                  <a:txBody>
                    <a:bodyPr/>
                    <a:lstStyle/>
                    <a:p>
                      <a:r>
                        <a:rPr sz="1400" b="0">
                          <a:solidFill>
                            <a:srgbClr val="2B2020"/>
                          </a:solidFill>
                          <a:latin typeface="ITC Avant Garde Gothic"/>
                        </a:rPr>
                        <a:t>68</a:t>
                      </a:r>
                    </a:p>
                  </a:txBody>
                  <a:tcPr>
                    <a:solidFill>
                      <a:srgbClr val="F8EAEA"/>
                    </a:solidFill>
                  </a:tcPr>
                </a:tc>
                <a:tc>
                  <a:txBody>
                    <a:bodyPr/>
                    <a:lstStyle/>
                    <a:p>
                      <a:r>
                        <a:rPr sz="1400" b="0">
                          <a:solidFill>
                            <a:srgbClr val="2B2020"/>
                          </a:solidFill>
                          <a:latin typeface="ITC Avant Garde Gothic"/>
                        </a:rPr>
                        <a:t>Sauro (2011)</a:t>
                      </a:r>
                    </a:p>
                  </a:txBody>
                  <a:tcPr>
                    <a:solidFill>
                      <a:srgbClr val="F8EAEA"/>
                    </a:solidFill>
                  </a:tcPr>
                </a:tc>
              </a:tr>
              <a:tr h="822960">
                <a:tc>
                  <a:txBody>
                    <a:bodyPr/>
                    <a:lstStyle/>
                    <a:p>
                      <a:r>
                        <a:rPr sz="1400" b="0">
                          <a:solidFill>
                            <a:srgbClr val="8B0707"/>
                          </a:solidFill>
                          <a:latin typeface="ITC Avant Garde Gothic"/>
                        </a:rPr>
                        <a:t>Estimated cost of KALINGA</a:t>
                      </a:r>
                    </a:p>
                  </a:txBody>
                  <a:tcPr>
                    <a:solidFill>
                      <a:srgbClr val="FFFFFF"/>
                    </a:solidFill>
                  </a:tcPr>
                </a:tc>
                <a:tc>
                  <a:txBody>
                    <a:bodyPr/>
                    <a:lstStyle/>
                    <a:p>
                      <a:r>
                        <a:rPr sz="1400" b="0">
                          <a:solidFill>
                            <a:srgbClr val="2B2020"/>
                          </a:solidFill>
                          <a:latin typeface="ITC Avant Garde Gothic"/>
                        </a:rPr>
                        <a:t>PHP 2,150</a:t>
                      </a:r>
                    </a:p>
                  </a:txBody>
                  <a:tcPr>
                    <a:solidFill>
                      <a:srgbClr val="FFFFFF"/>
                    </a:solidFill>
                  </a:tcPr>
                </a:tc>
                <a:tc>
                  <a:txBody>
                    <a:bodyPr/>
                    <a:lstStyle/>
                    <a:p>
                      <a:r>
                        <a:rPr sz="1400" b="0">
                          <a:solidFill>
                            <a:srgbClr val="2B2020"/>
                          </a:solidFill>
                          <a:latin typeface="ITC Avant Garde Gothic"/>
                        </a:rPr>
                        <a:t>Appendix A.3</a:t>
                      </a:r>
                    </a:p>
                  </a:txBody>
                  <a:tcPr>
                    <a:solidFill>
                      <a:srgbClr val="FFFFFF"/>
                    </a:solidFill>
                  </a:tcPr>
                </a:tc>
              </a:tr>
            </a:tbl>
          </a:graphicData>
        </a:graphic>
      </p:graphicFrame>
      <p:sp>
        <p:nvSpPr>
          <p:cNvPr id="27" name="Rectangle 26"/>
          <p:cNvSpPr/>
          <p:nvPr/>
        </p:nvSpPr>
        <p:spPr>
          <a:xfrm>
            <a:off x="822960" y="8138160"/>
            <a:ext cx="16642080" cy="1417320"/>
          </a:xfrm>
          <a:prstGeom prst="rect">
            <a:avLst/>
          </a:prstGeom>
          <a:solidFill>
            <a:srgbClr val="F8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34440" y="8211312"/>
            <a:ext cx="15819120" cy="1271016"/>
          </a:xfrm>
          <a:prstGeom prst="rect">
            <a:avLst/>
          </a:prstGeom>
          <a:noFill/>
        </p:spPr>
        <p:txBody>
          <a:bodyPr wrap="square" anchor="ctr">
            <a:spAutoFit/>
          </a:bodyPr>
          <a:lstStyle/>
          <a:p>
            <a:pPr algn="l">
              <a:spcAft>
                <a:spcPts val="855"/>
              </a:spcAft>
            </a:pPr>
            <a:r>
              <a:rPr sz="1900" b="0">
                <a:solidFill>
                  <a:srgbClr val="8B0707"/>
                </a:solidFill>
                <a:latin typeface="ITC Avant Garde Gothic"/>
              </a:rPr>
              <a:t>Purpose of the study. To develop one low-cost Baymax-inspired pendant that checks vital signs, times medicine, and alerts the family through an app.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104983" y="0"/>
            <a:ext cx="18497965" cy="10416667"/>
          </a:xfrm>
          <a:custGeom>
            <a:avLst/>
            <a:gdLst/>
            <a:ahLst/>
            <a:cxnLst/>
            <a:rect r="r" b="b" t="t" l="l"/>
            <a:pathLst>
              <a:path h="10416667" w="18497965">
                <a:moveTo>
                  <a:pt x="0" y="0"/>
                </a:moveTo>
                <a:lnTo>
                  <a:pt x="18497966" y="0"/>
                </a:lnTo>
                <a:lnTo>
                  <a:pt x="18497966" y="10416667"/>
                </a:lnTo>
                <a:lnTo>
                  <a:pt x="0" y="10416667"/>
                </a:lnTo>
                <a:lnTo>
                  <a:pt x="0" y="0"/>
                </a:lnTo>
                <a:close/>
              </a:path>
            </a:pathLst>
          </a:custGeom>
          <a:blipFill>
            <a:blip r:embed="rId2">
              <a:alphaModFix amt="26000"/>
            </a:blip>
            <a:stretch>
              <a:fillRect l="0" t="0" r="0" b="0"/>
            </a:stretch>
          </a:blipFill>
        </p:spPr>
      </p:sp>
      <p:grpSp>
        <p:nvGrpSpPr>
          <p:cNvPr name="Group 3" id="3"/>
          <p:cNvGrpSpPr/>
          <p:nvPr/>
        </p:nvGrpSpPr>
        <p:grpSpPr>
          <a:xfrm rot="0">
            <a:off x="-514350" y="-959494"/>
            <a:ext cx="19524889" cy="2664593"/>
            <a:chOff x="0" y="0"/>
            <a:chExt cx="5142358" cy="701786"/>
          </a:xfrm>
        </p:grpSpPr>
        <p:sp>
          <p:nvSpPr>
            <p:cNvPr name="Freeform 4" id="4"/>
            <p:cNvSpPr/>
            <p:nvPr/>
          </p:nvSpPr>
          <p:spPr>
            <a:xfrm flipH="false" flipV="false" rot="0">
              <a:off x="0" y="0"/>
              <a:ext cx="5142357" cy="701786"/>
            </a:xfrm>
            <a:custGeom>
              <a:avLst/>
              <a:gdLst/>
              <a:ahLst/>
              <a:cxnLst/>
              <a:rect r="r" b="b" t="t" l="l"/>
              <a:pathLst>
                <a:path h="701786" w="5142357">
                  <a:moveTo>
                    <a:pt x="0" y="0"/>
                  </a:moveTo>
                  <a:lnTo>
                    <a:pt x="5142357" y="0"/>
                  </a:lnTo>
                  <a:lnTo>
                    <a:pt x="5142357" y="701786"/>
                  </a:lnTo>
                  <a:lnTo>
                    <a:pt x="0" y="701786"/>
                  </a:lnTo>
                  <a:close/>
                </a:path>
              </a:pathLst>
            </a:custGeom>
            <a:solidFill>
              <a:srgbClr val="8B0707"/>
            </a:solidFill>
          </p:spPr>
        </p:sp>
        <p:sp>
          <p:nvSpPr>
            <p:cNvPr name="TextBox 5" id="5"/>
            <p:cNvSpPr txBox="true"/>
            <p:nvPr/>
          </p:nvSpPr>
          <p:spPr>
            <a:xfrm>
              <a:off x="0" y="-76200"/>
              <a:ext cx="5142358" cy="777986"/>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13886" y="324392"/>
            <a:ext cx="17376398" cy="1229762"/>
          </a:xfrm>
          <a:prstGeom prst="rect">
            <a:avLst/>
          </a:prstGeom>
        </p:spPr>
        <p:txBody>
          <a:bodyPr anchor="t" rtlCol="false" tIns="0" lIns="0" bIns="0" rIns="0">
            <a:spAutoFit/>
          </a:bodyPr>
          <a:lstStyle/>
          <a:p>
            <a:pPr algn="l">
              <a:lnSpc>
                <a:spcPts val="7720"/>
              </a:lnSpc>
            </a:pPr>
            <a:r>
              <a:rPr lang="en-US" sz="8579">
                <a:solidFill>
                  <a:srgbClr val="FFFFFF"/>
                </a:solidFill>
                <a:latin typeface="ITC Avant Garde Gothic"/>
                <a:ea typeface="ITC Avant Garde Gothic"/>
                <a:cs typeface="ITC Avant Garde Gothic"/>
                <a:sym typeface="ITC Avant Garde Gothic"/>
              </a:rPr>
              <a:t>RRL/RRS</a:t>
            </a:r>
          </a:p>
        </p:txBody>
      </p:sp>
      <p:sp>
        <p:nvSpPr>
          <p:cNvPr id="21" name="Subtitle"/>
          <p:cNvSpPr txBox="1"/>
          <p:nvPr/>
        </p:nvSpPr>
        <p:spPr>
          <a:xfrm>
            <a:off x="9509760" y="475488"/>
            <a:ext cx="8366760" cy="731520"/>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2600" dirty="0">
                <a:solidFill>
                  <a:srgbClr val="FFFFFF">
                    <a:alpha val="92000"/>
                  </a:srgbClr>
                </a:solidFill>
                <a:latin typeface="ITC Avant Garde Gothic"/>
                <a:ea typeface="ITC Avant Garde Gothic"/>
                <a:cs typeface="ITC Avant Garde Gothic"/>
                <a:sym typeface="ITC Avant Garde Gothic"/>
              </a:rPr>
              <a:t>Related Literature</a:t>
            </a:r>
            <a:endParaRPr lang="en-US" sz="2600" dirty="0">
              <a:latin typeface="ITC Avant Garde Gothic"/>
            </a:endParaRPr>
          </a:p>
        </p:txBody>
      </p:sp>
      <p:sp>
        <p:nvSpPr>
          <p:cNvPr id="22" name="Slide number"/>
          <p:cNvSpPr txBox="1"/>
          <p:nvPr/>
        </p:nvSpPr>
        <p:spPr>
          <a:xfrm>
            <a:off x="17007840" y="9710928"/>
            <a:ext cx="914400" cy="384048"/>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1600" dirty="0">
                <a:solidFill>
                  <a:srgbClr val="8B0707">
                    <a:alpha val="75000"/>
                  </a:srgbClr>
                </a:solidFill>
                <a:latin typeface="ITC Avant Garde Gothic"/>
                <a:ea typeface="ITC Avant Garde Gothic"/>
                <a:cs typeface="ITC Avant Garde Gothic"/>
                <a:sym typeface="ITC Avant Garde Gothic"/>
              </a:rPr>
              <a:t>3</a:t>
            </a:r>
            <a:endParaRPr lang="en-US" sz="1600" dirty="0">
              <a:latin typeface="ITC Avant Garde Gothic"/>
            </a:endParaRPr>
          </a:p>
        </p:txBody>
      </p:sp>
      <p:sp>
        <p:nvSpPr>
          <p:cNvPr id="23" name="TextBox 22"/>
          <p:cNvSpPr txBox="1"/>
          <p:nvPr/>
        </p:nvSpPr>
        <p:spPr>
          <a:xfrm>
            <a:off x="822960" y="2075688"/>
            <a:ext cx="16642080" cy="384048"/>
          </a:xfrm>
          <a:prstGeom prst="rect">
            <a:avLst/>
          </a:prstGeom>
          <a:noFill/>
        </p:spPr>
        <p:txBody>
          <a:bodyPr wrap="square" anchor="t">
            <a:spAutoFit/>
          </a:bodyPr>
          <a:lstStyle/>
          <a:p>
            <a:pPr algn="l">
              <a:spcAft>
                <a:spcPts val="720"/>
              </a:spcAft>
            </a:pPr>
            <a:r>
              <a:rPr sz="1600">
                <a:solidFill>
                  <a:srgbClr val="6A5656"/>
                </a:solidFill>
                <a:latin typeface="ITC Avant Garde Gothic"/>
              </a:rPr>
              <a:t>Table 2. Related literature and how the study uses it</a:t>
            </a:r>
          </a:p>
        </p:txBody>
      </p:sp>
      <p:graphicFrame>
        <p:nvGraphicFramePr>
          <p:cNvPr id="24" name="Table 23"/>
          <p:cNvGraphicFramePr>
            <a:graphicFrameLocks noGrp="1"/>
          </p:cNvGraphicFramePr>
          <p:nvPr/>
        </p:nvGraphicFramePr>
        <p:xfrm>
          <a:off x="822960" y="2487168"/>
          <a:ext cx="16642080" cy="4526280"/>
        </p:xfrm>
        <a:graphic>
          <a:graphicData uri="http://schemas.openxmlformats.org/drawingml/2006/table">
            <a:tbl>
              <a:tblPr firstRow="1" bandRow="1">
                <a:tableStyleId>{5C22544A-7EE6-4342-B048-85BDC9FD1C3A}</a:tableStyleId>
              </a:tblPr>
              <a:tblGrid>
                <a:gridCol w="3840480"/>
                <a:gridCol w="4572000"/>
                <a:gridCol w="8229600"/>
              </a:tblGrid>
              <a:tr h="502920">
                <a:tc>
                  <a:txBody>
                    <a:bodyPr/>
                    <a:lstStyle/>
                    <a:p>
                      <a:r>
                        <a:rPr sz="1600" b="1">
                          <a:solidFill>
                            <a:srgbClr val="FFFFFF"/>
                          </a:solidFill>
                          <a:latin typeface="ITC Avant Garde Gothic"/>
                        </a:rPr>
                        <a:t>Area</a:t>
                      </a:r>
                    </a:p>
                  </a:txBody>
                  <a:tcPr>
                    <a:solidFill>
                      <a:srgbClr val="8B0707"/>
                    </a:solidFill>
                  </a:tcPr>
                </a:tc>
                <a:tc>
                  <a:txBody>
                    <a:bodyPr/>
                    <a:lstStyle/>
                    <a:p>
                      <a:r>
                        <a:rPr sz="1600" b="1">
                          <a:solidFill>
                            <a:srgbClr val="FFFFFF"/>
                          </a:solidFill>
                          <a:latin typeface="ITC Avant Garde Gothic"/>
                        </a:rPr>
                        <a:t>Key sources</a:t>
                      </a:r>
                    </a:p>
                  </a:txBody>
                  <a:tcPr>
                    <a:solidFill>
                      <a:srgbClr val="8B0707"/>
                    </a:solidFill>
                  </a:tcPr>
                </a:tc>
                <a:tc>
                  <a:txBody>
                    <a:bodyPr/>
                    <a:lstStyle/>
                    <a:p>
                      <a:r>
                        <a:rPr sz="1600" b="1">
                          <a:solidFill>
                            <a:srgbClr val="FFFFFF"/>
                          </a:solidFill>
                          <a:latin typeface="ITC Avant Garde Gothic"/>
                        </a:rPr>
                        <a:t>Use in the present study</a:t>
                      </a:r>
                    </a:p>
                  </a:txBody>
                  <a:tcPr>
                    <a:solidFill>
                      <a:srgbClr val="8B0707"/>
                    </a:solidFill>
                  </a:tcPr>
                </a:tc>
              </a:tr>
              <a:tr h="1005840">
                <a:tc>
                  <a:txBody>
                    <a:bodyPr/>
                    <a:lstStyle/>
                    <a:p>
                      <a:r>
                        <a:rPr sz="1600" b="0">
                          <a:solidFill>
                            <a:srgbClr val="8B0707"/>
                          </a:solidFill>
                          <a:latin typeface="ITC Avant Garde Gothic"/>
                        </a:rPr>
                        <a:t>Pulse oximetry and IR thermometry</a:t>
                      </a:r>
                    </a:p>
                  </a:txBody>
                  <a:tcPr>
                    <a:solidFill>
                      <a:srgbClr val="FFFFFF"/>
                    </a:solidFill>
                  </a:tcPr>
                </a:tc>
                <a:tc>
                  <a:txBody>
                    <a:bodyPr/>
                    <a:lstStyle/>
                    <a:p>
                      <a:r>
                        <a:rPr sz="1600" b="0">
                          <a:solidFill>
                            <a:srgbClr val="2B2020"/>
                          </a:solidFill>
                          <a:latin typeface="ITC Avant Garde Gothic"/>
                        </a:rPr>
                        <a:t>Allen (2007); Jubran (2015); Fraden (2016)</a:t>
                      </a:r>
                    </a:p>
                  </a:txBody>
                  <a:tcPr>
                    <a:solidFill>
                      <a:srgbClr val="FFFFFF"/>
                    </a:solidFill>
                  </a:tcPr>
                </a:tc>
                <a:tc>
                  <a:txBody>
                    <a:bodyPr/>
                    <a:lstStyle/>
                    <a:p>
                      <a:r>
                        <a:rPr sz="1600" b="0">
                          <a:solidFill>
                            <a:srgbClr val="2B2020"/>
                          </a:solidFill>
                          <a:latin typeface="ITC Avant Garde Gothic"/>
                        </a:rPr>
                        <a:t>How the pendant measures</a:t>
                      </a:r>
                    </a:p>
                  </a:txBody>
                  <a:tcPr>
                    <a:solidFill>
                      <a:srgbClr val="FFFFFF"/>
                    </a:solidFill>
                  </a:tcPr>
                </a:tc>
              </a:tr>
              <a:tr h="1005840">
                <a:tc>
                  <a:txBody>
                    <a:bodyPr/>
                    <a:lstStyle/>
                    <a:p>
                      <a:r>
                        <a:rPr sz="1600" b="0">
                          <a:solidFill>
                            <a:srgbClr val="8B0707"/>
                          </a:solidFill>
                          <a:latin typeface="ITC Avant Garde Gothic"/>
                        </a:rPr>
                        <a:t>Fall detection</a:t>
                      </a:r>
                    </a:p>
                  </a:txBody>
                  <a:tcPr>
                    <a:solidFill>
                      <a:srgbClr val="F8EAEA"/>
                    </a:solidFill>
                  </a:tcPr>
                </a:tc>
                <a:tc>
                  <a:txBody>
                    <a:bodyPr/>
                    <a:lstStyle/>
                    <a:p>
                      <a:r>
                        <a:rPr sz="1600" b="0">
                          <a:solidFill>
                            <a:srgbClr val="2B2020"/>
                          </a:solidFill>
                          <a:latin typeface="ITC Avant Garde Gothic"/>
                        </a:rPr>
                        <a:t>Bourke et al. (2007); WHO (2021)</a:t>
                      </a:r>
                    </a:p>
                  </a:txBody>
                  <a:tcPr>
                    <a:solidFill>
                      <a:srgbClr val="F8EAEA"/>
                    </a:solidFill>
                  </a:tcPr>
                </a:tc>
                <a:tc>
                  <a:txBody>
                    <a:bodyPr/>
                    <a:lstStyle/>
                    <a:p>
                      <a:r>
                        <a:rPr sz="1600" b="0">
                          <a:solidFill>
                            <a:srgbClr val="2B2020"/>
                          </a:solidFill>
                          <a:latin typeface="ITC Avant Garde Gothic"/>
                        </a:rPr>
                        <a:t>Free fall, impact, stillness rule</a:t>
                      </a:r>
                    </a:p>
                  </a:txBody>
                  <a:tcPr>
                    <a:solidFill>
                      <a:srgbClr val="F8EAEA"/>
                    </a:solidFill>
                  </a:tcPr>
                </a:tc>
              </a:tr>
              <a:tr h="1005840">
                <a:tc>
                  <a:txBody>
                    <a:bodyPr/>
                    <a:lstStyle/>
                    <a:p>
                      <a:r>
                        <a:rPr sz="1600" b="0">
                          <a:solidFill>
                            <a:srgbClr val="8B0707"/>
                          </a:solidFill>
                          <a:latin typeface="ITC Avant Garde Gothic"/>
                        </a:rPr>
                        <a:t>Medicine adherence</a:t>
                      </a:r>
                    </a:p>
                  </a:txBody>
                  <a:tcPr>
                    <a:solidFill>
                      <a:srgbClr val="FFFFFF"/>
                    </a:solidFill>
                  </a:tcPr>
                </a:tc>
                <a:tc>
                  <a:txBody>
                    <a:bodyPr/>
                    <a:lstStyle/>
                    <a:p>
                      <a:r>
                        <a:rPr sz="1600" b="0">
                          <a:solidFill>
                            <a:srgbClr val="2B2020"/>
                          </a:solidFill>
                          <a:latin typeface="ITC Avant Garde Gothic"/>
                        </a:rPr>
                        <a:t>WHO (2003)</a:t>
                      </a:r>
                    </a:p>
                  </a:txBody>
                  <a:tcPr>
                    <a:solidFill>
                      <a:srgbClr val="FFFFFF"/>
                    </a:solidFill>
                  </a:tcPr>
                </a:tc>
                <a:tc>
                  <a:txBody>
                    <a:bodyPr/>
                    <a:lstStyle/>
                    <a:p>
                      <a:r>
                        <a:rPr sz="1600" b="0">
                          <a:solidFill>
                            <a:srgbClr val="2B2020"/>
                          </a:solidFill>
                          <a:latin typeface="ITC Avant Garde Gothic"/>
                        </a:rPr>
                        <a:t>Timed doses and reminders</a:t>
                      </a:r>
                    </a:p>
                  </a:txBody>
                  <a:tcPr>
                    <a:solidFill>
                      <a:srgbClr val="FFFFFF"/>
                    </a:solidFill>
                  </a:tcPr>
                </a:tc>
              </a:tr>
              <a:tr h="1005840">
                <a:tc>
                  <a:txBody>
                    <a:bodyPr/>
                    <a:lstStyle/>
                    <a:p>
                      <a:r>
                        <a:rPr sz="1600" b="0">
                          <a:solidFill>
                            <a:srgbClr val="8B0707"/>
                          </a:solidFill>
                          <a:latin typeface="ITC Avant Garde Gothic"/>
                        </a:rPr>
                        <a:t>Agreement and usability</a:t>
                      </a:r>
                    </a:p>
                  </a:txBody>
                  <a:tcPr>
                    <a:solidFill>
                      <a:srgbClr val="F8EAEA"/>
                    </a:solidFill>
                  </a:tcPr>
                </a:tc>
                <a:tc>
                  <a:txBody>
                    <a:bodyPr/>
                    <a:lstStyle/>
                    <a:p>
                      <a:r>
                        <a:rPr sz="1600" b="0">
                          <a:solidFill>
                            <a:srgbClr val="2B2020"/>
                          </a:solidFill>
                          <a:latin typeface="ITC Avant Garde Gothic"/>
                        </a:rPr>
                        <a:t>Bland &amp; Altman (1986); Brooke (1996); Sauro (2011)</a:t>
                      </a:r>
                    </a:p>
                  </a:txBody>
                  <a:tcPr>
                    <a:solidFill>
                      <a:srgbClr val="F8EAEA"/>
                    </a:solidFill>
                  </a:tcPr>
                </a:tc>
                <a:tc>
                  <a:txBody>
                    <a:bodyPr/>
                    <a:lstStyle/>
                    <a:p>
                      <a:r>
                        <a:rPr sz="1600" b="0">
                          <a:solidFill>
                            <a:srgbClr val="2B2020"/>
                          </a:solidFill>
                          <a:latin typeface="ITC Avant Garde Gothic"/>
                        </a:rPr>
                        <a:t>Tests of accuracy and SUS</a:t>
                      </a:r>
                    </a:p>
                  </a:txBody>
                  <a:tcPr>
                    <a:solidFill>
                      <a:srgbClr val="F8EAEA"/>
                    </a:solidFill>
                  </a:tcPr>
                </a:tc>
              </a:tr>
            </a:tbl>
          </a:graphicData>
        </a:graphic>
      </p:graphicFrame>
      <p:sp>
        <p:nvSpPr>
          <p:cNvPr id="25" name="Rectangle 24"/>
          <p:cNvSpPr/>
          <p:nvPr/>
        </p:nvSpPr>
        <p:spPr>
          <a:xfrm>
            <a:off x="822960" y="8595360"/>
            <a:ext cx="16642080" cy="960120"/>
          </a:xfrm>
          <a:prstGeom prst="rect">
            <a:avLst/>
          </a:prstGeom>
          <a:solidFill>
            <a:srgbClr val="F8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34440" y="8668512"/>
            <a:ext cx="15819120" cy="813816"/>
          </a:xfrm>
          <a:prstGeom prst="rect">
            <a:avLst/>
          </a:prstGeom>
          <a:noFill/>
        </p:spPr>
        <p:txBody>
          <a:bodyPr wrap="square" anchor="ctr">
            <a:spAutoFit/>
          </a:bodyPr>
          <a:lstStyle/>
          <a:p>
            <a:pPr algn="l">
              <a:spcAft>
                <a:spcPts val="765"/>
              </a:spcAft>
            </a:pPr>
            <a:r>
              <a:rPr sz="1700" b="0">
                <a:solidFill>
                  <a:srgbClr val="8B0707"/>
                </a:solidFill>
                <a:latin typeface="ITC Avant Garde Gothic"/>
              </a:rPr>
              <a:t>Synthesis. Low-cost sensors can check vital signs and detect falls, and timed doses improve adherence.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104983" y="0"/>
            <a:ext cx="18497965" cy="10416667"/>
          </a:xfrm>
          <a:custGeom>
            <a:avLst/>
            <a:gdLst/>
            <a:ahLst/>
            <a:cxnLst/>
            <a:rect r="r" b="b" t="t" l="l"/>
            <a:pathLst>
              <a:path h="10416667" w="18497965">
                <a:moveTo>
                  <a:pt x="0" y="0"/>
                </a:moveTo>
                <a:lnTo>
                  <a:pt x="18497966" y="0"/>
                </a:lnTo>
                <a:lnTo>
                  <a:pt x="18497966" y="10416667"/>
                </a:lnTo>
                <a:lnTo>
                  <a:pt x="0" y="10416667"/>
                </a:lnTo>
                <a:lnTo>
                  <a:pt x="0" y="0"/>
                </a:lnTo>
                <a:close/>
              </a:path>
            </a:pathLst>
          </a:custGeom>
          <a:blipFill>
            <a:blip r:embed="rId2">
              <a:alphaModFix amt="26000"/>
            </a:blip>
            <a:stretch>
              <a:fillRect l="0" t="0" r="0" b="0"/>
            </a:stretch>
          </a:blipFill>
        </p:spPr>
      </p:sp>
      <p:grpSp>
        <p:nvGrpSpPr>
          <p:cNvPr name="Group 3" id="3"/>
          <p:cNvGrpSpPr/>
          <p:nvPr/>
        </p:nvGrpSpPr>
        <p:grpSpPr>
          <a:xfrm rot="0">
            <a:off x="-514350" y="-959494"/>
            <a:ext cx="19524889" cy="2664593"/>
            <a:chOff x="0" y="0"/>
            <a:chExt cx="5142358" cy="701786"/>
          </a:xfrm>
        </p:grpSpPr>
        <p:sp>
          <p:nvSpPr>
            <p:cNvPr name="Freeform 4" id="4"/>
            <p:cNvSpPr/>
            <p:nvPr/>
          </p:nvSpPr>
          <p:spPr>
            <a:xfrm flipH="false" flipV="false" rot="0">
              <a:off x="0" y="0"/>
              <a:ext cx="5142357" cy="701786"/>
            </a:xfrm>
            <a:custGeom>
              <a:avLst/>
              <a:gdLst/>
              <a:ahLst/>
              <a:cxnLst/>
              <a:rect r="r" b="b" t="t" l="l"/>
              <a:pathLst>
                <a:path h="701786" w="5142357">
                  <a:moveTo>
                    <a:pt x="0" y="0"/>
                  </a:moveTo>
                  <a:lnTo>
                    <a:pt x="5142357" y="0"/>
                  </a:lnTo>
                  <a:lnTo>
                    <a:pt x="5142357" y="701786"/>
                  </a:lnTo>
                  <a:lnTo>
                    <a:pt x="0" y="701786"/>
                  </a:lnTo>
                  <a:close/>
                </a:path>
              </a:pathLst>
            </a:custGeom>
            <a:solidFill>
              <a:srgbClr val="8B0707"/>
            </a:solidFill>
          </p:spPr>
        </p:sp>
        <p:sp>
          <p:nvSpPr>
            <p:cNvPr name="TextBox 5" id="5"/>
            <p:cNvSpPr txBox="true"/>
            <p:nvPr/>
          </p:nvSpPr>
          <p:spPr>
            <a:xfrm>
              <a:off x="0" y="-76200"/>
              <a:ext cx="5142358" cy="777986"/>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13886" y="324392"/>
            <a:ext cx="17376398" cy="1229762"/>
          </a:xfrm>
          <a:prstGeom prst="rect">
            <a:avLst/>
          </a:prstGeom>
        </p:spPr>
        <p:txBody>
          <a:bodyPr anchor="t" rtlCol="false" tIns="0" lIns="0" bIns="0" rIns="0">
            <a:spAutoFit/>
          </a:bodyPr>
          <a:lstStyle/>
          <a:p>
            <a:pPr algn="l">
              <a:lnSpc>
                <a:spcPts val="7720"/>
              </a:lnSpc>
            </a:pPr>
            <a:r>
              <a:rPr lang="en-US" sz="8579">
                <a:solidFill>
                  <a:srgbClr val="FFFFFF"/>
                </a:solidFill>
                <a:latin typeface="ITC Avant Garde Gothic"/>
                <a:ea typeface="ITC Avant Garde Gothic"/>
                <a:cs typeface="ITC Avant Garde Gothic"/>
                <a:sym typeface="ITC Avant Garde Gothic"/>
              </a:rPr>
              <a:t>RRL/RRS</a:t>
            </a:r>
          </a:p>
        </p:txBody>
      </p:sp>
      <p:sp>
        <p:nvSpPr>
          <p:cNvPr id="21" name="Subtitle"/>
          <p:cNvSpPr txBox="1"/>
          <p:nvPr/>
        </p:nvSpPr>
        <p:spPr>
          <a:xfrm>
            <a:off x="9509760" y="475488"/>
            <a:ext cx="8366760" cy="731520"/>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2600" dirty="0">
                <a:solidFill>
                  <a:srgbClr val="FFFFFF">
                    <a:alpha val="92000"/>
                  </a:srgbClr>
                </a:solidFill>
                <a:latin typeface="ITC Avant Garde Gothic"/>
                <a:ea typeface="ITC Avant Garde Gothic"/>
                <a:cs typeface="ITC Avant Garde Gothic"/>
                <a:sym typeface="ITC Avant Garde Gothic"/>
              </a:rPr>
              <a:t>Related Studies</a:t>
            </a:r>
            <a:endParaRPr lang="en-US" sz="2600" dirty="0">
              <a:latin typeface="ITC Avant Garde Gothic"/>
            </a:endParaRPr>
          </a:p>
        </p:txBody>
      </p:sp>
      <p:sp>
        <p:nvSpPr>
          <p:cNvPr id="22" name="Slide number"/>
          <p:cNvSpPr txBox="1"/>
          <p:nvPr/>
        </p:nvSpPr>
        <p:spPr>
          <a:xfrm>
            <a:off x="17007840" y="9710928"/>
            <a:ext cx="914400" cy="384048"/>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1600" dirty="0">
                <a:solidFill>
                  <a:srgbClr val="8B0707">
                    <a:alpha val="75000"/>
                  </a:srgbClr>
                </a:solidFill>
                <a:latin typeface="ITC Avant Garde Gothic"/>
                <a:ea typeface="ITC Avant Garde Gothic"/>
                <a:cs typeface="ITC Avant Garde Gothic"/>
                <a:sym typeface="ITC Avant Garde Gothic"/>
              </a:rPr>
              <a:t>4</a:t>
            </a:r>
            <a:endParaRPr lang="en-US" sz="1600" dirty="0">
              <a:latin typeface="ITC Avant Garde Gothic"/>
            </a:endParaRPr>
          </a:p>
        </p:txBody>
      </p:sp>
      <p:sp>
        <p:nvSpPr>
          <p:cNvPr id="23" name="TextBox 22"/>
          <p:cNvSpPr txBox="1"/>
          <p:nvPr/>
        </p:nvSpPr>
        <p:spPr>
          <a:xfrm>
            <a:off x="822960" y="2075688"/>
            <a:ext cx="16642080" cy="384048"/>
          </a:xfrm>
          <a:prstGeom prst="rect">
            <a:avLst/>
          </a:prstGeom>
          <a:noFill/>
        </p:spPr>
        <p:txBody>
          <a:bodyPr wrap="square" anchor="t">
            <a:spAutoFit/>
          </a:bodyPr>
          <a:lstStyle/>
          <a:p>
            <a:pPr algn="l">
              <a:spcAft>
                <a:spcPts val="720"/>
              </a:spcAft>
            </a:pPr>
            <a:r>
              <a:rPr sz="1600">
                <a:solidFill>
                  <a:srgbClr val="6A5656"/>
                </a:solidFill>
                <a:latin typeface="ITC Avant Garde Gothic"/>
              </a:rPr>
              <a:t>Table 3. Related studies and their relation to the present study</a:t>
            </a:r>
          </a:p>
        </p:txBody>
      </p:sp>
      <p:graphicFrame>
        <p:nvGraphicFramePr>
          <p:cNvPr id="24" name="Table 23"/>
          <p:cNvGraphicFramePr>
            <a:graphicFrameLocks noGrp="1"/>
          </p:cNvGraphicFramePr>
          <p:nvPr/>
        </p:nvGraphicFramePr>
        <p:xfrm>
          <a:off x="822960" y="2487168"/>
          <a:ext cx="16642080" cy="4069080"/>
        </p:xfrm>
        <a:graphic>
          <a:graphicData uri="http://schemas.openxmlformats.org/drawingml/2006/table">
            <a:tbl>
              <a:tblPr firstRow="1" bandRow="1">
                <a:tableStyleId>{5C22544A-7EE6-4342-B048-85BDC9FD1C3A}</a:tableStyleId>
              </a:tblPr>
              <a:tblGrid>
                <a:gridCol w="3840480"/>
                <a:gridCol w="6217920"/>
                <a:gridCol w="6583680"/>
              </a:tblGrid>
              <a:tr h="502920">
                <a:tc>
                  <a:txBody>
                    <a:bodyPr/>
                    <a:lstStyle/>
                    <a:p>
                      <a:r>
                        <a:rPr sz="1600" b="1">
                          <a:solidFill>
                            <a:srgbClr val="FFFFFF"/>
                          </a:solidFill>
                          <a:latin typeface="ITC Avant Garde Gothic"/>
                        </a:rPr>
                        <a:t>Study</a:t>
                      </a:r>
                    </a:p>
                  </a:txBody>
                  <a:tcPr>
                    <a:solidFill>
                      <a:srgbClr val="8B0707"/>
                    </a:solidFill>
                  </a:tcPr>
                </a:tc>
                <a:tc>
                  <a:txBody>
                    <a:bodyPr/>
                    <a:lstStyle/>
                    <a:p>
                      <a:r>
                        <a:rPr sz="1600" b="1">
                          <a:solidFill>
                            <a:srgbClr val="FFFFFF"/>
                          </a:solidFill>
                          <a:latin typeface="ITC Avant Garde Gothic"/>
                        </a:rPr>
                        <a:t>What was done</a:t>
                      </a:r>
                    </a:p>
                  </a:txBody>
                  <a:tcPr>
                    <a:solidFill>
                      <a:srgbClr val="8B0707"/>
                    </a:solidFill>
                  </a:tcPr>
                </a:tc>
                <a:tc>
                  <a:txBody>
                    <a:bodyPr/>
                    <a:lstStyle/>
                    <a:p>
                      <a:r>
                        <a:rPr sz="1600" b="1">
                          <a:solidFill>
                            <a:srgbClr val="FFFFFF"/>
                          </a:solidFill>
                          <a:latin typeface="ITC Avant Garde Gothic"/>
                        </a:rPr>
                        <a:t>Relation to the present study</a:t>
                      </a:r>
                    </a:p>
                  </a:txBody>
                  <a:tcPr>
                    <a:solidFill>
                      <a:srgbClr val="8B0707"/>
                    </a:solidFill>
                  </a:tcPr>
                </a:tc>
              </a:tr>
              <a:tr h="1188720">
                <a:tc>
                  <a:txBody>
                    <a:bodyPr/>
                    <a:lstStyle/>
                    <a:p>
                      <a:r>
                        <a:rPr sz="1600" b="0">
                          <a:solidFill>
                            <a:srgbClr val="8B0707"/>
                          </a:solidFill>
                          <a:latin typeface="ITC Avant Garde Gothic"/>
                        </a:rPr>
                        <a:t>Bourke et al. (2007)</a:t>
                      </a:r>
                    </a:p>
                  </a:txBody>
                  <a:tcPr>
                    <a:solidFill>
                      <a:srgbClr val="FFFFFF"/>
                    </a:solidFill>
                  </a:tcPr>
                </a:tc>
                <a:tc>
                  <a:txBody>
                    <a:bodyPr/>
                    <a:lstStyle/>
                    <a:p>
                      <a:r>
                        <a:rPr sz="1600" b="0">
                          <a:solidFill>
                            <a:srgbClr val="2B2020"/>
                          </a:solidFill>
                          <a:latin typeface="ITC Avant Garde Gothic"/>
                        </a:rPr>
                        <a:t>Detected falls with accelerometer thresholds.</a:t>
                      </a:r>
                    </a:p>
                  </a:txBody>
                  <a:tcPr>
                    <a:solidFill>
                      <a:srgbClr val="FFFFFF"/>
                    </a:solidFill>
                  </a:tcPr>
                </a:tc>
                <a:tc>
                  <a:txBody>
                    <a:bodyPr/>
                    <a:lstStyle/>
                    <a:p>
                      <a:r>
                        <a:rPr sz="1600" b="0">
                          <a:solidFill>
                            <a:srgbClr val="2B2020"/>
                          </a:solidFill>
                          <a:latin typeface="ITC Avant Garde Gothic"/>
                        </a:rPr>
                        <a:t>Basis of the fall rule.</a:t>
                      </a:r>
                    </a:p>
                  </a:txBody>
                  <a:tcPr>
                    <a:solidFill>
                      <a:srgbClr val="FFFFFF"/>
                    </a:solidFill>
                  </a:tcPr>
                </a:tc>
              </a:tr>
              <a:tr h="1188720">
                <a:tc>
                  <a:txBody>
                    <a:bodyPr/>
                    <a:lstStyle/>
                    <a:p>
                      <a:r>
                        <a:rPr sz="1600" b="0">
                          <a:solidFill>
                            <a:srgbClr val="8B0707"/>
                          </a:solidFill>
                          <a:latin typeface="ITC Avant Garde Gothic"/>
                        </a:rPr>
                        <a:t>Jubran (2015)</a:t>
                      </a:r>
                    </a:p>
                  </a:txBody>
                  <a:tcPr>
                    <a:solidFill>
                      <a:srgbClr val="F8EAEA"/>
                    </a:solidFill>
                  </a:tcPr>
                </a:tc>
                <a:tc>
                  <a:txBody>
                    <a:bodyPr/>
                    <a:lstStyle/>
                    <a:p>
                      <a:r>
                        <a:rPr sz="1600" b="0">
                          <a:solidFill>
                            <a:srgbClr val="2B2020"/>
                          </a:solidFill>
                          <a:latin typeface="ITC Avant Garde Gothic"/>
                        </a:rPr>
                        <a:t>Reviewed pulse oximetry and its errors.</a:t>
                      </a:r>
                    </a:p>
                  </a:txBody>
                  <a:tcPr>
                    <a:solidFill>
                      <a:srgbClr val="F8EAEA"/>
                    </a:solidFill>
                  </a:tcPr>
                </a:tc>
                <a:tc>
                  <a:txBody>
                    <a:bodyPr/>
                    <a:lstStyle/>
                    <a:p>
                      <a:r>
                        <a:rPr sz="1600" b="0">
                          <a:solidFill>
                            <a:srgbClr val="2B2020"/>
                          </a:solidFill>
                          <a:latin typeface="ITC Avant Garde Gothic"/>
                        </a:rPr>
                        <a:t>Sets SpO₂ limits and cautions.</a:t>
                      </a:r>
                    </a:p>
                  </a:txBody>
                  <a:tcPr>
                    <a:solidFill>
                      <a:srgbClr val="F8EAEA"/>
                    </a:solidFill>
                  </a:tcPr>
                </a:tc>
              </a:tr>
              <a:tr h="1188720">
                <a:tc>
                  <a:txBody>
                    <a:bodyPr/>
                    <a:lstStyle/>
                    <a:p>
                      <a:r>
                        <a:rPr sz="1600" b="0">
                          <a:solidFill>
                            <a:srgbClr val="8B0707"/>
                          </a:solidFill>
                          <a:latin typeface="ITC Avant Garde Gothic"/>
                        </a:rPr>
                        <a:t>Bland &amp; Altman (1986)</a:t>
                      </a:r>
                    </a:p>
                  </a:txBody>
                  <a:tcPr>
                    <a:solidFill>
                      <a:srgbClr val="FFFFFF"/>
                    </a:solidFill>
                  </a:tcPr>
                </a:tc>
                <a:tc>
                  <a:txBody>
                    <a:bodyPr/>
                    <a:lstStyle/>
                    <a:p>
                      <a:r>
                        <a:rPr sz="1600" b="0">
                          <a:solidFill>
                            <a:srgbClr val="2B2020"/>
                          </a:solidFill>
                          <a:latin typeface="ITC Avant Garde Gothic"/>
                        </a:rPr>
                        <a:t>Proposed limits of agreement for two methods.</a:t>
                      </a:r>
                    </a:p>
                  </a:txBody>
                  <a:tcPr>
                    <a:solidFill>
                      <a:srgbClr val="FFFFFF"/>
                    </a:solidFill>
                  </a:tcPr>
                </a:tc>
                <a:tc>
                  <a:txBody>
                    <a:bodyPr/>
                    <a:lstStyle/>
                    <a:p>
                      <a:r>
                        <a:rPr sz="1600" b="0">
                          <a:solidFill>
                            <a:srgbClr val="2B2020"/>
                          </a:solidFill>
                          <a:latin typeface="ITC Avant Garde Gothic"/>
                        </a:rPr>
                        <a:t>Method used to test KALINGA.</a:t>
                      </a:r>
                    </a:p>
                  </a:txBody>
                  <a:tcPr>
                    <a:solidFill>
                      <a:srgbClr val="FFFFFF"/>
                    </a:solidFill>
                  </a:tcPr>
                </a:tc>
              </a:tr>
            </a:tbl>
          </a:graphicData>
        </a:graphic>
      </p:graphicFrame>
      <p:sp>
        <p:nvSpPr>
          <p:cNvPr id="25" name="Rectangle 24"/>
          <p:cNvSpPr/>
          <p:nvPr/>
        </p:nvSpPr>
        <p:spPr>
          <a:xfrm>
            <a:off x="822960" y="8476488"/>
            <a:ext cx="16642080" cy="1078992"/>
          </a:xfrm>
          <a:prstGeom prst="rect">
            <a:avLst/>
          </a:prstGeom>
          <a:solidFill>
            <a:srgbClr val="F8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34440" y="8549640"/>
            <a:ext cx="15819120" cy="932688"/>
          </a:xfrm>
          <a:prstGeom prst="rect">
            <a:avLst/>
          </a:prstGeom>
          <a:noFill/>
        </p:spPr>
        <p:txBody>
          <a:bodyPr wrap="square" anchor="ctr">
            <a:spAutoFit/>
          </a:bodyPr>
          <a:lstStyle/>
          <a:p>
            <a:pPr algn="l">
              <a:spcAft>
                <a:spcPts val="765"/>
              </a:spcAft>
            </a:pPr>
            <a:r>
              <a:rPr sz="1700" b="0">
                <a:solidFill>
                  <a:srgbClr val="8B0707"/>
                </a:solidFill>
                <a:latin typeface="ITC Avant Garde Gothic"/>
              </a:rPr>
              <a:t>Synthesis. No low-cost wearable joins vital checks, fall alerts, timed doses, and a family app.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104983" y="0"/>
            <a:ext cx="18497965" cy="10416667"/>
          </a:xfrm>
          <a:custGeom>
            <a:avLst/>
            <a:gdLst/>
            <a:ahLst/>
            <a:cxnLst/>
            <a:rect r="r" b="b" t="t" l="l"/>
            <a:pathLst>
              <a:path h="10416667" w="18497965">
                <a:moveTo>
                  <a:pt x="0" y="0"/>
                </a:moveTo>
                <a:lnTo>
                  <a:pt x="18497966" y="0"/>
                </a:lnTo>
                <a:lnTo>
                  <a:pt x="18497966" y="10416667"/>
                </a:lnTo>
                <a:lnTo>
                  <a:pt x="0" y="10416667"/>
                </a:lnTo>
                <a:lnTo>
                  <a:pt x="0" y="0"/>
                </a:lnTo>
                <a:close/>
              </a:path>
            </a:pathLst>
          </a:custGeom>
          <a:blipFill>
            <a:blip r:embed="rId2">
              <a:alphaModFix amt="26000"/>
            </a:blip>
            <a:stretch>
              <a:fillRect l="0" t="0" r="0" b="0"/>
            </a:stretch>
          </a:blipFill>
        </p:spPr>
      </p:sp>
      <p:grpSp>
        <p:nvGrpSpPr>
          <p:cNvPr name="Group 3" id="3"/>
          <p:cNvGrpSpPr/>
          <p:nvPr/>
        </p:nvGrpSpPr>
        <p:grpSpPr>
          <a:xfrm rot="0">
            <a:off x="-514350" y="-959494"/>
            <a:ext cx="19524889" cy="2664593"/>
            <a:chOff x="0" y="0"/>
            <a:chExt cx="5142358" cy="701786"/>
          </a:xfrm>
        </p:grpSpPr>
        <p:sp>
          <p:nvSpPr>
            <p:cNvPr name="Freeform 4" id="4"/>
            <p:cNvSpPr/>
            <p:nvPr/>
          </p:nvSpPr>
          <p:spPr>
            <a:xfrm flipH="false" flipV="false" rot="0">
              <a:off x="0" y="0"/>
              <a:ext cx="5142357" cy="701786"/>
            </a:xfrm>
            <a:custGeom>
              <a:avLst/>
              <a:gdLst/>
              <a:ahLst/>
              <a:cxnLst/>
              <a:rect r="r" b="b" t="t" l="l"/>
              <a:pathLst>
                <a:path h="701786" w="5142357">
                  <a:moveTo>
                    <a:pt x="0" y="0"/>
                  </a:moveTo>
                  <a:lnTo>
                    <a:pt x="5142357" y="0"/>
                  </a:lnTo>
                  <a:lnTo>
                    <a:pt x="5142357" y="701786"/>
                  </a:lnTo>
                  <a:lnTo>
                    <a:pt x="0" y="701786"/>
                  </a:lnTo>
                  <a:close/>
                </a:path>
              </a:pathLst>
            </a:custGeom>
            <a:solidFill>
              <a:srgbClr val="8B0707"/>
            </a:solidFill>
          </p:spPr>
        </p:sp>
        <p:sp>
          <p:nvSpPr>
            <p:cNvPr name="TextBox 5" id="5"/>
            <p:cNvSpPr txBox="true"/>
            <p:nvPr/>
          </p:nvSpPr>
          <p:spPr>
            <a:xfrm>
              <a:off x="0" y="-76200"/>
              <a:ext cx="5142358" cy="777986"/>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13886" y="292608"/>
            <a:ext cx="17376398" cy="777240"/>
          </a:xfrm>
          <a:prstGeom prst="rect">
            <a:avLst/>
          </a:prstGeom>
        </p:spPr>
        <p:txBody>
          <a:bodyPr anchor="t" rtlCol="false" tIns="0" lIns="0" bIns="0" rIns="0">
            <a:spAutoFit/>
          </a:bodyPr>
          <a:lstStyle/>
          <a:p>
            <a:pPr algn="l">
              <a:lnSpc>
                <a:spcPts val="7720"/>
              </a:lnSpc>
            </a:pPr>
            <a:r>
              <a:rPr lang="en-US" sz="4000">
                <a:solidFill>
                  <a:srgbClr val="FFFFFF"/>
                </a:solidFill>
                <a:latin typeface="ITC Avant Garde Gothic"/>
                <a:ea typeface="ITC Avant Garde Gothic"/>
                <a:cs typeface="ITC Avant Garde Gothic"/>
                <a:sym typeface="ITC Avant Garde Gothic"/>
              </a:rPr>
              <a:t>THEORETICAL/CONCEPTUAL FRAMEWORK PARADIGM</a:t>
            </a:r>
          </a:p>
        </p:txBody>
      </p:sp>
      <p:sp>
        <p:nvSpPr>
          <p:cNvPr id="21" name="Subtitle"/>
          <p:cNvSpPr txBox="1"/>
          <p:nvPr/>
        </p:nvSpPr>
        <p:spPr>
          <a:xfrm>
            <a:off x="210312" y="1097280"/>
            <a:ext cx="17373600" cy="457200"/>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2000" dirty="0">
                <a:solidFill>
                  <a:srgbClr val="FFFFFF">
                    <a:alpha val="92000"/>
                  </a:srgbClr>
                </a:solidFill>
                <a:latin typeface="ITC Avant Garde Gothic"/>
                <a:ea typeface="ITC Avant Garde Gothic"/>
                <a:cs typeface="ITC Avant Garde Gothic"/>
                <a:sym typeface="ITC Avant Garde Gothic"/>
              </a:rPr>
              <a:t>Theoretical Framework</a:t>
            </a:r>
            <a:endParaRPr lang="en-US" sz="2600" dirty="0">
              <a:latin typeface="ITC Avant Garde Gothic"/>
            </a:endParaRPr>
          </a:p>
        </p:txBody>
      </p:sp>
      <p:sp>
        <p:nvSpPr>
          <p:cNvPr id="22" name="Slide number"/>
          <p:cNvSpPr txBox="1"/>
          <p:nvPr/>
        </p:nvSpPr>
        <p:spPr>
          <a:xfrm>
            <a:off x="17007840" y="9710928"/>
            <a:ext cx="914400" cy="384048"/>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1600" dirty="0">
                <a:solidFill>
                  <a:srgbClr val="8B0707">
                    <a:alpha val="75000"/>
                  </a:srgbClr>
                </a:solidFill>
                <a:latin typeface="ITC Avant Garde Gothic"/>
                <a:ea typeface="ITC Avant Garde Gothic"/>
                <a:cs typeface="ITC Avant Garde Gothic"/>
                <a:sym typeface="ITC Avant Garde Gothic"/>
              </a:rPr>
              <a:t>5</a:t>
            </a:r>
            <a:endParaRPr lang="en-US" sz="1600" dirty="0">
              <a:latin typeface="ITC Avant Garde Gothic"/>
            </a:endParaRPr>
          </a:p>
        </p:txBody>
      </p:sp>
      <p:sp>
        <p:nvSpPr>
          <p:cNvPr id="23" name="TextBox 22"/>
          <p:cNvSpPr txBox="1"/>
          <p:nvPr/>
        </p:nvSpPr>
        <p:spPr>
          <a:xfrm>
            <a:off x="822960" y="2029968"/>
            <a:ext cx="7178040" cy="457200"/>
          </a:xfrm>
          <a:prstGeom prst="rect">
            <a:avLst/>
          </a:prstGeom>
          <a:noFill/>
        </p:spPr>
        <p:txBody>
          <a:bodyPr wrap="square" anchor="t">
            <a:spAutoFit/>
          </a:bodyPr>
          <a:lstStyle/>
          <a:p>
            <a:pPr algn="l">
              <a:spcAft>
                <a:spcPts val="810"/>
              </a:spcAft>
            </a:pPr>
            <a:r>
              <a:rPr sz="1800" b="1">
                <a:solidFill>
                  <a:srgbClr val="8B0707"/>
                </a:solidFill>
                <a:latin typeface="ITC Avant Garde Gothic"/>
              </a:rPr>
              <a:t>Research gap</a:t>
            </a:r>
          </a:p>
        </p:txBody>
      </p:sp>
      <p:sp>
        <p:nvSpPr>
          <p:cNvPr id="24" name="TextBox 23"/>
          <p:cNvSpPr txBox="1"/>
          <p:nvPr/>
        </p:nvSpPr>
        <p:spPr>
          <a:xfrm>
            <a:off x="9281160" y="2029968"/>
            <a:ext cx="8183879" cy="457200"/>
          </a:xfrm>
          <a:prstGeom prst="rect">
            <a:avLst/>
          </a:prstGeom>
          <a:noFill/>
        </p:spPr>
        <p:txBody>
          <a:bodyPr wrap="square" anchor="t">
            <a:spAutoFit/>
          </a:bodyPr>
          <a:lstStyle/>
          <a:p>
            <a:pPr algn="l">
              <a:spcAft>
                <a:spcPts val="810"/>
              </a:spcAft>
            </a:pPr>
            <a:r>
              <a:rPr sz="1800" b="1">
                <a:solidFill>
                  <a:srgbClr val="8B0707"/>
                </a:solidFill>
                <a:latin typeface="ITC Avant Garde Gothic"/>
              </a:rPr>
              <a:t>Theory or concept that addresses it</a:t>
            </a:r>
          </a:p>
        </p:txBody>
      </p:sp>
      <p:sp>
        <p:nvSpPr>
          <p:cNvPr id="25" name="Rectangle 24"/>
          <p:cNvSpPr/>
          <p:nvPr/>
        </p:nvSpPr>
        <p:spPr>
          <a:xfrm>
            <a:off x="822960" y="2560320"/>
            <a:ext cx="7178040" cy="1499616"/>
          </a:xfrm>
          <a:prstGeom prst="rect">
            <a:avLst/>
          </a:prstGeom>
          <a:solidFill>
            <a:srgbClr val="FFFFFF"/>
          </a:solidFill>
          <a:ln w="12700">
            <a:solidFill>
              <a:srgbClr val="E3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7280" y="2633472"/>
            <a:ext cx="6675120" cy="1353312"/>
          </a:xfrm>
          <a:prstGeom prst="rect">
            <a:avLst/>
          </a:prstGeom>
          <a:noFill/>
        </p:spPr>
        <p:txBody>
          <a:bodyPr wrap="square" anchor="t">
            <a:spAutoFit/>
          </a:bodyPr>
          <a:lstStyle/>
          <a:p>
            <a:pPr algn="l">
              <a:spcAft>
                <a:spcPts val="675"/>
              </a:spcAft>
            </a:pPr>
            <a:r>
              <a:rPr b="1" sz="1500">
                <a:solidFill>
                  <a:srgbClr val="8B0707"/>
                </a:solidFill>
                <a:latin typeface="ITC Avant Garde Gothic"/>
              </a:rPr>
              <a:t>G1  Help comes late</a:t>
            </a:r>
            <a:r>
              <a:rPr sz="1500" b="0">
                <a:solidFill>
                  <a:srgbClr val="2B2020"/>
                </a:solidFill>
                <a:latin typeface="ITC Avant Garde Gothic"/>
              </a:rPr>
              <a:t/>
            </a:r>
          </a:p>
          <a:p>
            <a:pPr algn="l">
              <a:spcAft>
                <a:spcPts val="675"/>
              </a:spcAft>
            </a:pPr>
            <a:r>
              <a:rPr sz="1500" b="0">
                <a:solidFill>
                  <a:srgbClr val="2B2020"/>
                </a:solidFill>
                <a:latin typeface="ITC Avant Garde Gothic"/>
              </a:rPr>
              <a:t>Falls go unnoticed for hours.</a:t>
            </a:r>
          </a:p>
        </p:txBody>
      </p:sp>
      <p:sp>
        <p:nvSpPr>
          <p:cNvPr id="27" name="Right Arrow 26"/>
          <p:cNvSpPr/>
          <p:nvPr/>
        </p:nvSpPr>
        <p:spPr>
          <a:xfrm>
            <a:off x="8138160" y="3035808"/>
            <a:ext cx="1005840" cy="548640"/>
          </a:xfrm>
          <a:prstGeom prst="rightArrow">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281160" y="2560320"/>
            <a:ext cx="8183879" cy="1499616"/>
          </a:xfrm>
          <a:prstGeom prst="rect">
            <a:avLst/>
          </a:prstGeom>
          <a:solidFill>
            <a:srgbClr val="8B07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55480" y="2633472"/>
            <a:ext cx="7680960" cy="1353312"/>
          </a:xfrm>
          <a:prstGeom prst="rect">
            <a:avLst/>
          </a:prstGeom>
          <a:noFill/>
        </p:spPr>
        <p:txBody>
          <a:bodyPr wrap="square" anchor="t">
            <a:spAutoFit/>
          </a:bodyPr>
          <a:lstStyle/>
          <a:p>
            <a:pPr algn="l">
              <a:spcAft>
                <a:spcPts val="675"/>
              </a:spcAft>
            </a:pPr>
            <a:r>
              <a:rPr sz="1500" b="0">
                <a:solidFill>
                  <a:srgbClr val="FFFFFF"/>
                </a:solidFill>
                <a:latin typeface="ITC Avant Garde Gothic"/>
              </a:rPr>
              <a:t>Threshold fall detection</a:t>
            </a:r>
          </a:p>
          <a:p>
            <a:pPr algn="l">
              <a:spcAft>
                <a:spcPts val="675"/>
              </a:spcAft>
            </a:pPr>
            <a:r>
              <a:rPr sz="1500" b="0">
                <a:solidFill>
                  <a:srgbClr val="FFFFFF"/>
                </a:solidFill>
                <a:latin typeface="ITC Avant Garde Gothic"/>
              </a:rPr>
              <a:t>Alert reaches the app in seconds.</a:t>
            </a:r>
          </a:p>
        </p:txBody>
      </p:sp>
      <p:sp>
        <p:nvSpPr>
          <p:cNvPr id="30" name="Rectangle 29"/>
          <p:cNvSpPr/>
          <p:nvPr/>
        </p:nvSpPr>
        <p:spPr>
          <a:xfrm>
            <a:off x="822960" y="4215383"/>
            <a:ext cx="7178040" cy="1499616"/>
          </a:xfrm>
          <a:prstGeom prst="rect">
            <a:avLst/>
          </a:prstGeom>
          <a:solidFill>
            <a:srgbClr val="FFFFFF"/>
          </a:solidFill>
          <a:ln w="12700">
            <a:solidFill>
              <a:srgbClr val="E3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97280" y="4288536"/>
            <a:ext cx="6675120" cy="1353312"/>
          </a:xfrm>
          <a:prstGeom prst="rect">
            <a:avLst/>
          </a:prstGeom>
          <a:noFill/>
        </p:spPr>
        <p:txBody>
          <a:bodyPr wrap="square" anchor="t">
            <a:spAutoFit/>
          </a:bodyPr>
          <a:lstStyle/>
          <a:p>
            <a:pPr algn="l">
              <a:spcAft>
                <a:spcPts val="675"/>
              </a:spcAft>
            </a:pPr>
            <a:r>
              <a:rPr b="1" sz="1500">
                <a:solidFill>
                  <a:srgbClr val="8B0707"/>
                </a:solidFill>
                <a:latin typeface="ITC Avant Garde Gothic"/>
              </a:rPr>
              <a:t>G2  Missed doses</a:t>
            </a:r>
            <a:r>
              <a:rPr sz="1500" b="0">
                <a:solidFill>
                  <a:srgbClr val="2B2020"/>
                </a:solidFill>
                <a:latin typeface="ITC Avant Garde Gothic"/>
              </a:rPr>
              <a:t/>
            </a:r>
          </a:p>
          <a:p>
            <a:pPr algn="l">
              <a:spcAft>
                <a:spcPts val="675"/>
              </a:spcAft>
            </a:pPr>
            <a:r>
              <a:rPr sz="1500" b="0">
                <a:solidFill>
                  <a:srgbClr val="2B2020"/>
                </a:solidFill>
                <a:latin typeface="ITC Avant Garde Gothic"/>
              </a:rPr>
              <a:t>Medicines are forgotten or mistimed.</a:t>
            </a:r>
          </a:p>
        </p:txBody>
      </p:sp>
      <p:sp>
        <p:nvSpPr>
          <p:cNvPr id="32" name="Right Arrow 31"/>
          <p:cNvSpPr/>
          <p:nvPr/>
        </p:nvSpPr>
        <p:spPr>
          <a:xfrm>
            <a:off x="8138160" y="4690871"/>
            <a:ext cx="1005840" cy="548640"/>
          </a:xfrm>
          <a:prstGeom prst="rightArrow">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281160" y="4215383"/>
            <a:ext cx="8183879" cy="1499616"/>
          </a:xfrm>
          <a:prstGeom prst="rect">
            <a:avLst/>
          </a:prstGeom>
          <a:solidFill>
            <a:srgbClr val="8B07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555480" y="4288536"/>
            <a:ext cx="7680960" cy="1353312"/>
          </a:xfrm>
          <a:prstGeom prst="rect">
            <a:avLst/>
          </a:prstGeom>
          <a:noFill/>
        </p:spPr>
        <p:txBody>
          <a:bodyPr wrap="square" anchor="t">
            <a:spAutoFit/>
          </a:bodyPr>
          <a:lstStyle/>
          <a:p>
            <a:pPr algn="l">
              <a:spcAft>
                <a:spcPts val="675"/>
              </a:spcAft>
            </a:pPr>
            <a:r>
              <a:rPr sz="1500" b="0">
                <a:solidFill>
                  <a:srgbClr val="FFFFFF"/>
                </a:solidFill>
                <a:latin typeface="ITC Avant Garde Gothic"/>
              </a:rPr>
              <a:t>Timed pill carousel</a:t>
            </a:r>
          </a:p>
          <a:p>
            <a:pPr algn="l">
              <a:spcAft>
                <a:spcPts val="675"/>
              </a:spcAft>
            </a:pPr>
            <a:r>
              <a:rPr sz="1500" b="0">
                <a:solidFill>
                  <a:srgbClr val="FFFFFF"/>
                </a:solidFill>
                <a:latin typeface="ITC Avant Garde Gothic"/>
              </a:rPr>
              <a:t>Opens the right slot on time.</a:t>
            </a:r>
          </a:p>
        </p:txBody>
      </p:sp>
      <p:sp>
        <p:nvSpPr>
          <p:cNvPr id="35" name="Rectangle 34"/>
          <p:cNvSpPr/>
          <p:nvPr/>
        </p:nvSpPr>
        <p:spPr>
          <a:xfrm>
            <a:off x="822960" y="5870448"/>
            <a:ext cx="7178040" cy="1499616"/>
          </a:xfrm>
          <a:prstGeom prst="rect">
            <a:avLst/>
          </a:prstGeom>
          <a:solidFill>
            <a:srgbClr val="FFFFFF"/>
          </a:solidFill>
          <a:ln w="12700">
            <a:solidFill>
              <a:srgbClr val="E3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7280" y="5943600"/>
            <a:ext cx="6675120" cy="1353312"/>
          </a:xfrm>
          <a:prstGeom prst="rect">
            <a:avLst/>
          </a:prstGeom>
          <a:noFill/>
        </p:spPr>
        <p:txBody>
          <a:bodyPr wrap="square" anchor="t">
            <a:spAutoFit/>
          </a:bodyPr>
          <a:lstStyle/>
          <a:p>
            <a:pPr algn="l">
              <a:spcAft>
                <a:spcPts val="675"/>
              </a:spcAft>
            </a:pPr>
            <a:r>
              <a:rPr b="1" sz="1500">
                <a:solidFill>
                  <a:srgbClr val="8B0707"/>
                </a:solidFill>
                <a:latin typeface="ITC Avant Garde Gothic"/>
              </a:rPr>
              <a:t>G3  Cheap sensors vary</a:t>
            </a:r>
            <a:r>
              <a:rPr sz="1500" b="0">
                <a:solidFill>
                  <a:srgbClr val="2B2020"/>
                </a:solidFill>
                <a:latin typeface="ITC Avant Garde Gothic"/>
              </a:rPr>
              <a:t/>
            </a:r>
          </a:p>
          <a:p>
            <a:pPr algn="l">
              <a:spcAft>
                <a:spcPts val="675"/>
              </a:spcAft>
            </a:pPr>
            <a:r>
              <a:rPr sz="1500" b="0">
                <a:solidFill>
                  <a:srgbClr val="2B2020"/>
                </a:solidFill>
                <a:latin typeface="ITC Avant Garde Gothic"/>
              </a:rPr>
              <a:t>Low-cost modules are rarely validated.</a:t>
            </a:r>
          </a:p>
        </p:txBody>
      </p:sp>
      <p:sp>
        <p:nvSpPr>
          <p:cNvPr id="37" name="Right Arrow 36"/>
          <p:cNvSpPr/>
          <p:nvPr/>
        </p:nvSpPr>
        <p:spPr>
          <a:xfrm>
            <a:off x="8138160" y="6345936"/>
            <a:ext cx="1005840" cy="548640"/>
          </a:xfrm>
          <a:prstGeom prst="rightArrow">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281160" y="5870448"/>
            <a:ext cx="8183879" cy="1499616"/>
          </a:xfrm>
          <a:prstGeom prst="rect">
            <a:avLst/>
          </a:prstGeom>
          <a:solidFill>
            <a:srgbClr val="8B07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555480" y="5943600"/>
            <a:ext cx="7680960" cy="1353312"/>
          </a:xfrm>
          <a:prstGeom prst="rect">
            <a:avLst/>
          </a:prstGeom>
          <a:noFill/>
        </p:spPr>
        <p:txBody>
          <a:bodyPr wrap="square" anchor="t">
            <a:spAutoFit/>
          </a:bodyPr>
          <a:lstStyle/>
          <a:p>
            <a:pPr algn="l">
              <a:spcAft>
                <a:spcPts val="675"/>
              </a:spcAft>
            </a:pPr>
            <a:r>
              <a:rPr sz="1500" b="0">
                <a:solidFill>
                  <a:srgbClr val="FFFFFF"/>
                </a:solidFill>
                <a:latin typeface="ITC Avant Garde Gothic"/>
              </a:rPr>
              <a:t>PPG, IR + agreement</a:t>
            </a:r>
          </a:p>
          <a:p>
            <a:pPr algn="l">
              <a:spcAft>
                <a:spcPts val="675"/>
              </a:spcAft>
            </a:pPr>
            <a:r>
              <a:rPr sz="1500" b="0">
                <a:solidFill>
                  <a:srgbClr val="FFFFFF"/>
                </a:solidFill>
                <a:latin typeface="ITC Avant Garde Gothic"/>
              </a:rPr>
              <a:t>Calibrate, then Bland–Altman.</a:t>
            </a:r>
          </a:p>
        </p:txBody>
      </p:sp>
      <p:sp>
        <p:nvSpPr>
          <p:cNvPr id="40" name="Rectangle 39"/>
          <p:cNvSpPr/>
          <p:nvPr/>
        </p:nvSpPr>
        <p:spPr>
          <a:xfrm>
            <a:off x="822960" y="7525512"/>
            <a:ext cx="7178040" cy="1499616"/>
          </a:xfrm>
          <a:prstGeom prst="rect">
            <a:avLst/>
          </a:prstGeom>
          <a:solidFill>
            <a:srgbClr val="FFFFFF"/>
          </a:solidFill>
          <a:ln w="12700">
            <a:solidFill>
              <a:srgbClr val="E3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97280" y="7598664"/>
            <a:ext cx="6675120" cy="1353312"/>
          </a:xfrm>
          <a:prstGeom prst="rect">
            <a:avLst/>
          </a:prstGeom>
          <a:noFill/>
        </p:spPr>
        <p:txBody>
          <a:bodyPr wrap="square" anchor="t">
            <a:spAutoFit/>
          </a:bodyPr>
          <a:lstStyle/>
          <a:p>
            <a:pPr algn="l">
              <a:spcAft>
                <a:spcPts val="675"/>
              </a:spcAft>
            </a:pPr>
            <a:r>
              <a:rPr b="1" sz="1500">
                <a:solidFill>
                  <a:srgbClr val="8B0707"/>
                </a:solidFill>
                <a:latin typeface="ITC Avant Garde Gothic"/>
              </a:rPr>
              <a:t>G4  Family far away</a:t>
            </a:r>
            <a:r>
              <a:rPr sz="1500" b="0">
                <a:solidFill>
                  <a:srgbClr val="2B2020"/>
                </a:solidFill>
                <a:latin typeface="ITC Avant Garde Gothic"/>
              </a:rPr>
              <a:t/>
            </a:r>
          </a:p>
          <a:p>
            <a:pPr algn="l">
              <a:spcAft>
                <a:spcPts val="675"/>
              </a:spcAft>
            </a:pPr>
            <a:r>
              <a:rPr sz="1500" b="0">
                <a:solidFill>
                  <a:srgbClr val="2B2020"/>
                </a:solidFill>
                <a:latin typeface="ITC Avant Garde Gothic"/>
              </a:rPr>
              <a:t>No one sees the readings.</a:t>
            </a:r>
          </a:p>
        </p:txBody>
      </p:sp>
      <p:sp>
        <p:nvSpPr>
          <p:cNvPr id="42" name="Right Arrow 41"/>
          <p:cNvSpPr/>
          <p:nvPr/>
        </p:nvSpPr>
        <p:spPr>
          <a:xfrm>
            <a:off x="8138160" y="8001000"/>
            <a:ext cx="1005840" cy="548640"/>
          </a:xfrm>
          <a:prstGeom prst="rightArrow">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281160" y="7525512"/>
            <a:ext cx="8183879" cy="1499616"/>
          </a:xfrm>
          <a:prstGeom prst="rect">
            <a:avLst/>
          </a:prstGeom>
          <a:solidFill>
            <a:srgbClr val="8B07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555480" y="7598664"/>
            <a:ext cx="7680960" cy="1353312"/>
          </a:xfrm>
          <a:prstGeom prst="rect">
            <a:avLst/>
          </a:prstGeom>
          <a:noFill/>
        </p:spPr>
        <p:txBody>
          <a:bodyPr wrap="square" anchor="t">
            <a:spAutoFit/>
          </a:bodyPr>
          <a:lstStyle/>
          <a:p>
            <a:pPr algn="l">
              <a:spcAft>
                <a:spcPts val="675"/>
              </a:spcAft>
            </a:pPr>
            <a:r>
              <a:rPr sz="1500" b="0">
                <a:solidFill>
                  <a:srgbClr val="FFFFFF"/>
                </a:solidFill>
                <a:latin typeface="ITC Avant Garde Gothic"/>
              </a:rPr>
              <a:t>IoT + cloud database</a:t>
            </a:r>
          </a:p>
          <a:p>
            <a:pPr algn="l">
              <a:spcAft>
                <a:spcPts val="675"/>
              </a:spcAft>
            </a:pPr>
            <a:r>
              <a:rPr sz="1500" b="0">
                <a:solidFill>
                  <a:srgbClr val="FFFFFF"/>
                </a:solidFill>
                <a:latin typeface="ITC Avant Garde Gothic"/>
              </a:rPr>
              <a:t>Live app for the family.</a:t>
            </a:r>
          </a:p>
        </p:txBody>
      </p:sp>
      <p:sp>
        <p:nvSpPr>
          <p:cNvPr id="45" name="TextBox 44"/>
          <p:cNvSpPr txBox="1"/>
          <p:nvPr/>
        </p:nvSpPr>
        <p:spPr>
          <a:xfrm>
            <a:off x="822960" y="9189720"/>
            <a:ext cx="16642080" cy="384048"/>
          </a:xfrm>
          <a:prstGeom prst="rect">
            <a:avLst/>
          </a:prstGeom>
          <a:noFill/>
        </p:spPr>
        <p:txBody>
          <a:bodyPr wrap="square" anchor="t">
            <a:spAutoFit/>
          </a:bodyPr>
          <a:lstStyle/>
          <a:p>
            <a:pPr algn="l">
              <a:spcAft>
                <a:spcPts val="720"/>
              </a:spcAft>
            </a:pPr>
            <a:r>
              <a:rPr sz="1600">
                <a:solidFill>
                  <a:srgbClr val="6A5656"/>
                </a:solidFill>
                <a:latin typeface="ITC Avant Garde Gothic"/>
              </a:rPr>
              <a:t>Figure 1. Research gaps (left) and the theories and concepts used to address them (right)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104983" y="0"/>
            <a:ext cx="18497965" cy="10416667"/>
          </a:xfrm>
          <a:custGeom>
            <a:avLst/>
            <a:gdLst/>
            <a:ahLst/>
            <a:cxnLst/>
            <a:rect r="r" b="b" t="t" l="l"/>
            <a:pathLst>
              <a:path h="10416667" w="18497965">
                <a:moveTo>
                  <a:pt x="0" y="0"/>
                </a:moveTo>
                <a:lnTo>
                  <a:pt x="18497966" y="0"/>
                </a:lnTo>
                <a:lnTo>
                  <a:pt x="18497966" y="10416667"/>
                </a:lnTo>
                <a:lnTo>
                  <a:pt x="0" y="10416667"/>
                </a:lnTo>
                <a:lnTo>
                  <a:pt x="0" y="0"/>
                </a:lnTo>
                <a:close/>
              </a:path>
            </a:pathLst>
          </a:custGeom>
          <a:blipFill>
            <a:blip r:embed="rId2">
              <a:alphaModFix amt="26000"/>
            </a:blip>
            <a:stretch>
              <a:fillRect l="0" t="0" r="0" b="0"/>
            </a:stretch>
          </a:blipFill>
        </p:spPr>
      </p:sp>
      <p:grpSp>
        <p:nvGrpSpPr>
          <p:cNvPr name="Group 3" id="3"/>
          <p:cNvGrpSpPr/>
          <p:nvPr/>
        </p:nvGrpSpPr>
        <p:grpSpPr>
          <a:xfrm rot="0">
            <a:off x="-514350" y="-959494"/>
            <a:ext cx="19524889" cy="2664593"/>
            <a:chOff x="0" y="0"/>
            <a:chExt cx="5142358" cy="701786"/>
          </a:xfrm>
        </p:grpSpPr>
        <p:sp>
          <p:nvSpPr>
            <p:cNvPr name="Freeform 4" id="4"/>
            <p:cNvSpPr/>
            <p:nvPr/>
          </p:nvSpPr>
          <p:spPr>
            <a:xfrm flipH="false" flipV="false" rot="0">
              <a:off x="0" y="0"/>
              <a:ext cx="5142357" cy="701786"/>
            </a:xfrm>
            <a:custGeom>
              <a:avLst/>
              <a:gdLst/>
              <a:ahLst/>
              <a:cxnLst/>
              <a:rect r="r" b="b" t="t" l="l"/>
              <a:pathLst>
                <a:path h="701786" w="5142357">
                  <a:moveTo>
                    <a:pt x="0" y="0"/>
                  </a:moveTo>
                  <a:lnTo>
                    <a:pt x="5142357" y="0"/>
                  </a:lnTo>
                  <a:lnTo>
                    <a:pt x="5142357" y="701786"/>
                  </a:lnTo>
                  <a:lnTo>
                    <a:pt x="0" y="701786"/>
                  </a:lnTo>
                  <a:close/>
                </a:path>
              </a:pathLst>
            </a:custGeom>
            <a:solidFill>
              <a:srgbClr val="8B0707"/>
            </a:solidFill>
          </p:spPr>
        </p:sp>
        <p:sp>
          <p:nvSpPr>
            <p:cNvPr name="TextBox 5" id="5"/>
            <p:cNvSpPr txBox="true"/>
            <p:nvPr/>
          </p:nvSpPr>
          <p:spPr>
            <a:xfrm>
              <a:off x="0" y="-76200"/>
              <a:ext cx="5142358" cy="777986"/>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13886" y="292608"/>
            <a:ext cx="17376398" cy="777240"/>
          </a:xfrm>
          <a:prstGeom prst="rect">
            <a:avLst/>
          </a:prstGeom>
        </p:spPr>
        <p:txBody>
          <a:bodyPr anchor="t" rtlCol="false" tIns="0" lIns="0" bIns="0" rIns="0">
            <a:spAutoFit/>
          </a:bodyPr>
          <a:lstStyle/>
          <a:p>
            <a:pPr algn="l">
              <a:lnSpc>
                <a:spcPts val="7720"/>
              </a:lnSpc>
            </a:pPr>
            <a:r>
              <a:rPr lang="en-US" sz="4000">
                <a:solidFill>
                  <a:srgbClr val="FFFFFF"/>
                </a:solidFill>
                <a:latin typeface="ITC Avant Garde Gothic"/>
                <a:ea typeface="ITC Avant Garde Gothic"/>
                <a:cs typeface="ITC Avant Garde Gothic"/>
                <a:sym typeface="ITC Avant Garde Gothic"/>
              </a:rPr>
              <a:t>THEORETICAL/CONCEPTUAL FRAMEWORK PARADIGM</a:t>
            </a:r>
          </a:p>
        </p:txBody>
      </p:sp>
      <p:sp>
        <p:nvSpPr>
          <p:cNvPr id="21" name="Subtitle"/>
          <p:cNvSpPr txBox="1"/>
          <p:nvPr/>
        </p:nvSpPr>
        <p:spPr>
          <a:xfrm>
            <a:off x="210312" y="1097280"/>
            <a:ext cx="17373600" cy="457200"/>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2000" dirty="0">
                <a:solidFill>
                  <a:srgbClr val="FFFFFF">
                    <a:alpha val="92000"/>
                  </a:srgbClr>
                </a:solidFill>
                <a:latin typeface="ITC Avant Garde Gothic"/>
                <a:ea typeface="ITC Avant Garde Gothic"/>
                <a:cs typeface="ITC Avant Garde Gothic"/>
                <a:sym typeface="ITC Avant Garde Gothic"/>
              </a:rPr>
              <a:t>Conceptual Paradigm</a:t>
            </a:r>
            <a:endParaRPr lang="en-US" sz="2600" dirty="0">
              <a:latin typeface="ITC Avant Garde Gothic"/>
            </a:endParaRPr>
          </a:p>
        </p:txBody>
      </p:sp>
      <p:sp>
        <p:nvSpPr>
          <p:cNvPr id="22" name="Slide number"/>
          <p:cNvSpPr txBox="1"/>
          <p:nvPr/>
        </p:nvSpPr>
        <p:spPr>
          <a:xfrm>
            <a:off x="17007840" y="9710928"/>
            <a:ext cx="914400" cy="384048"/>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1600" dirty="0">
                <a:solidFill>
                  <a:srgbClr val="8B0707">
                    <a:alpha val="75000"/>
                  </a:srgbClr>
                </a:solidFill>
                <a:latin typeface="ITC Avant Garde Gothic"/>
                <a:ea typeface="ITC Avant Garde Gothic"/>
                <a:cs typeface="ITC Avant Garde Gothic"/>
                <a:sym typeface="ITC Avant Garde Gothic"/>
              </a:rPr>
              <a:t>6</a:t>
            </a:r>
            <a:endParaRPr lang="en-US" sz="1600" dirty="0">
              <a:latin typeface="ITC Avant Garde Gothic"/>
            </a:endParaRPr>
          </a:p>
        </p:txBody>
      </p:sp>
      <p:sp>
        <p:nvSpPr>
          <p:cNvPr id="23" name="Rectangle 22"/>
          <p:cNvSpPr/>
          <p:nvPr/>
        </p:nvSpPr>
        <p:spPr>
          <a:xfrm>
            <a:off x="822960" y="2103120"/>
            <a:ext cx="4754880" cy="621792"/>
          </a:xfrm>
          <a:prstGeom prst="rect">
            <a:avLst/>
          </a:prstGeom>
          <a:solidFill>
            <a:srgbClr val="8B07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ITC Avant Garde Gothic"/>
              </a:rPr>
              <a:t>INPUT</a:t>
            </a:r>
          </a:p>
        </p:txBody>
      </p:sp>
      <p:sp>
        <p:nvSpPr>
          <p:cNvPr id="24" name="Rectangle 23"/>
          <p:cNvSpPr/>
          <p:nvPr/>
        </p:nvSpPr>
        <p:spPr>
          <a:xfrm>
            <a:off x="822960" y="2724912"/>
            <a:ext cx="4754880" cy="5230368"/>
          </a:xfrm>
          <a:prstGeom prst="rect">
            <a:avLst/>
          </a:prstGeom>
          <a:solidFill>
            <a:srgbClr val="FFFFFF"/>
          </a:solidFill>
          <a:ln w="12700">
            <a:solidFill>
              <a:srgbClr val="8B07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2999232"/>
            <a:ext cx="4251960" cy="4773168"/>
          </a:xfrm>
          <a:prstGeom prst="rect">
            <a:avLst/>
          </a:prstGeom>
          <a:noFill/>
        </p:spPr>
        <p:txBody>
          <a:bodyPr wrap="square" anchor="t">
            <a:spAutoFit/>
          </a:bodyPr>
          <a:lstStyle/>
          <a:p>
            <a:pPr algn="l">
              <a:spcAft>
                <a:spcPts val="720"/>
              </a:spcAft>
            </a:pPr>
            <a:r>
              <a:rPr sz="1600" b="0">
                <a:solidFill>
                  <a:srgbClr val="2B2020"/>
                </a:solidFill>
                <a:latin typeface="ITC Avant Garde Gothic"/>
              </a:rPr>
              <a:t>•  ESP32-C3, MLX90614, MAX30102, MPU6050</a:t>
            </a:r>
          </a:p>
          <a:p>
            <a:pPr algn="l">
              <a:spcAft>
                <a:spcPts val="720"/>
              </a:spcAft>
            </a:pPr>
            <a:r>
              <a:rPr sz="1600" b="0">
                <a:solidFill>
                  <a:srgbClr val="2B2020"/>
                </a:solidFill>
                <a:latin typeface="ITC Avant Garde Gothic"/>
              </a:rPr>
              <a:t>•  OLED, SG90 servo, buzzer, vibration</a:t>
            </a:r>
          </a:p>
          <a:p>
            <a:pPr algn="l">
              <a:spcAft>
                <a:spcPts val="720"/>
              </a:spcAft>
            </a:pPr>
            <a:r>
              <a:rPr sz="1600" b="0">
                <a:solidFill>
                  <a:srgbClr val="2B2020"/>
                </a:solidFill>
                <a:latin typeface="ITC Avant Garde Gothic"/>
              </a:rPr>
              <a:t>•  LiPo battery, USB-C charger</a:t>
            </a:r>
          </a:p>
          <a:p>
            <a:pPr algn="l">
              <a:spcAft>
                <a:spcPts val="720"/>
              </a:spcAft>
            </a:pPr>
            <a:r>
              <a:rPr sz="1600" b="0">
                <a:solidFill>
                  <a:srgbClr val="2B2020"/>
                </a:solidFill>
                <a:latin typeface="ITC Avant Garde Gothic"/>
              </a:rPr>
              <a:t>•  White PLA, 3D printer</a:t>
            </a:r>
          </a:p>
          <a:p>
            <a:pPr algn="l">
              <a:spcAft>
                <a:spcPts val="720"/>
              </a:spcAft>
            </a:pPr>
            <a:r>
              <a:rPr sz="1600" b="0">
                <a:solidFill>
                  <a:srgbClr val="2B2020"/>
                </a:solidFill>
                <a:latin typeface="ITC Avant Garde Gothic"/>
              </a:rPr>
              <a:t>•  Firebase, app; reference instruments</a:t>
            </a:r>
          </a:p>
        </p:txBody>
      </p:sp>
      <p:sp>
        <p:nvSpPr>
          <p:cNvPr id="26" name="Rectangle 25"/>
          <p:cNvSpPr/>
          <p:nvPr/>
        </p:nvSpPr>
        <p:spPr>
          <a:xfrm>
            <a:off x="6263640" y="2103120"/>
            <a:ext cx="5760720" cy="621792"/>
          </a:xfrm>
          <a:prstGeom prst="rect">
            <a:avLst/>
          </a:prstGeom>
          <a:solidFill>
            <a:srgbClr val="8B07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ITC Avant Garde Gothic"/>
              </a:rPr>
              <a:t>PROCESS</a:t>
            </a:r>
          </a:p>
        </p:txBody>
      </p:sp>
      <p:sp>
        <p:nvSpPr>
          <p:cNvPr id="27" name="Rectangle 26"/>
          <p:cNvSpPr/>
          <p:nvPr/>
        </p:nvSpPr>
        <p:spPr>
          <a:xfrm>
            <a:off x="6263640" y="2724912"/>
            <a:ext cx="5760720" cy="5230368"/>
          </a:xfrm>
          <a:prstGeom prst="rect">
            <a:avLst/>
          </a:prstGeom>
          <a:solidFill>
            <a:srgbClr val="FFFFFF"/>
          </a:solidFill>
          <a:ln w="12700">
            <a:solidFill>
              <a:srgbClr val="8B07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37959" y="2999232"/>
            <a:ext cx="5257800" cy="4773168"/>
          </a:xfrm>
          <a:prstGeom prst="rect">
            <a:avLst/>
          </a:prstGeom>
          <a:noFill/>
        </p:spPr>
        <p:txBody>
          <a:bodyPr wrap="square" anchor="t">
            <a:spAutoFit/>
          </a:bodyPr>
          <a:lstStyle/>
          <a:p>
            <a:pPr algn="l">
              <a:spcAft>
                <a:spcPts val="720"/>
              </a:spcAft>
            </a:pPr>
            <a:r>
              <a:rPr sz="1600" b="0">
                <a:solidFill>
                  <a:srgbClr val="2B2020"/>
                </a:solidFill>
                <a:latin typeface="ITC Avant Garde Gothic"/>
              </a:rPr>
              <a:t>1.  Design and 3D-print the shell</a:t>
            </a:r>
          </a:p>
          <a:p>
            <a:pPr algn="l">
              <a:spcAft>
                <a:spcPts val="720"/>
              </a:spcAft>
            </a:pPr>
            <a:r>
              <a:rPr sz="1600" b="0">
                <a:solidFill>
                  <a:srgbClr val="2B2020"/>
                </a:solidFill>
                <a:latin typeface="ITC Avant Garde Gothic"/>
              </a:rPr>
              <a:t>2.  Wire and program the pendant</a:t>
            </a:r>
          </a:p>
          <a:p>
            <a:pPr algn="l">
              <a:spcAft>
                <a:spcPts val="720"/>
              </a:spcAft>
            </a:pPr>
            <a:r>
              <a:rPr sz="1600" b="0">
                <a:solidFill>
                  <a:srgbClr val="2B2020"/>
                </a:solidFill>
                <a:latin typeface="ITC Avant Garde Gothic"/>
              </a:rPr>
              <a:t>3.  Set up Firebase and the app</a:t>
            </a:r>
          </a:p>
          <a:p>
            <a:pPr algn="l">
              <a:spcAft>
                <a:spcPts val="720"/>
              </a:spcAft>
            </a:pPr>
            <a:r>
              <a:rPr sz="1600" b="0">
                <a:solidFill>
                  <a:srgbClr val="2B2020"/>
                </a:solidFill>
                <a:latin typeface="ITC Avant Garde Gothic"/>
              </a:rPr>
              <a:t>4.  Calibrate sensors and fall rule</a:t>
            </a:r>
          </a:p>
          <a:p>
            <a:pPr algn="l">
              <a:spcAft>
                <a:spcPts val="720"/>
              </a:spcAft>
            </a:pPr>
            <a:r>
              <a:rPr sz="1600" b="0">
                <a:solidFill>
                  <a:srgbClr val="2B2020"/>
                </a:solidFill>
                <a:latin typeface="ITC Avant Garde Gothic"/>
              </a:rPr>
              <a:t>5.  Agreement, fall, dose, battery tests</a:t>
            </a:r>
          </a:p>
          <a:p>
            <a:pPr algn="l">
              <a:spcAft>
                <a:spcPts val="720"/>
              </a:spcAft>
            </a:pPr>
            <a:r>
              <a:rPr sz="1600" b="0">
                <a:solidFill>
                  <a:srgbClr val="2B2020"/>
                </a:solidFill>
                <a:latin typeface="ITC Avant Garde Gothic"/>
              </a:rPr>
              <a:t>6.  Usability; statistics</a:t>
            </a:r>
          </a:p>
        </p:txBody>
      </p:sp>
      <p:sp>
        <p:nvSpPr>
          <p:cNvPr id="29" name="Rectangle 28"/>
          <p:cNvSpPr/>
          <p:nvPr/>
        </p:nvSpPr>
        <p:spPr>
          <a:xfrm>
            <a:off x="12710160" y="2103120"/>
            <a:ext cx="4754880" cy="621792"/>
          </a:xfrm>
          <a:prstGeom prst="rect">
            <a:avLst/>
          </a:prstGeom>
          <a:solidFill>
            <a:srgbClr val="8B07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ITC Avant Garde Gothic"/>
              </a:rPr>
              <a:t>OUTPUT</a:t>
            </a:r>
          </a:p>
        </p:txBody>
      </p:sp>
      <p:sp>
        <p:nvSpPr>
          <p:cNvPr id="30" name="Rectangle 29"/>
          <p:cNvSpPr/>
          <p:nvPr/>
        </p:nvSpPr>
        <p:spPr>
          <a:xfrm>
            <a:off x="12710160" y="2724912"/>
            <a:ext cx="4754880" cy="5230368"/>
          </a:xfrm>
          <a:prstGeom prst="rect">
            <a:avLst/>
          </a:prstGeom>
          <a:solidFill>
            <a:srgbClr val="FFFFFF"/>
          </a:solidFill>
          <a:ln w="12700">
            <a:solidFill>
              <a:srgbClr val="8B07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984480" y="2999232"/>
            <a:ext cx="4251960" cy="4773168"/>
          </a:xfrm>
          <a:prstGeom prst="rect">
            <a:avLst/>
          </a:prstGeom>
          <a:noFill/>
        </p:spPr>
        <p:txBody>
          <a:bodyPr wrap="square" anchor="t">
            <a:spAutoFit/>
          </a:bodyPr>
          <a:lstStyle/>
          <a:p>
            <a:pPr algn="l">
              <a:spcAft>
                <a:spcPts val="720"/>
              </a:spcAft>
            </a:pPr>
            <a:r>
              <a:rPr sz="1600" b="0">
                <a:solidFill>
                  <a:srgbClr val="2B2020"/>
                </a:solidFill>
                <a:latin typeface="ITC Avant Garde Gothic"/>
              </a:rPr>
              <a:t>•  KALINGA pendant and app</a:t>
            </a:r>
          </a:p>
          <a:p>
            <a:pPr algn="l">
              <a:spcAft>
                <a:spcPts val="720"/>
              </a:spcAft>
            </a:pPr>
            <a:r>
              <a:rPr sz="1600" b="0">
                <a:solidFill>
                  <a:srgbClr val="2B2020"/>
                </a:solidFill>
                <a:latin typeface="ITC Avant Garde Gothic"/>
              </a:rPr>
              <a:t>•  Bias, limits of agreement, Arms</a:t>
            </a:r>
          </a:p>
          <a:p>
            <a:pPr algn="l">
              <a:spcAft>
                <a:spcPts val="720"/>
              </a:spcAft>
            </a:pPr>
            <a:r>
              <a:rPr sz="1600" b="0">
                <a:solidFill>
                  <a:srgbClr val="2B2020"/>
                </a:solidFill>
                <a:latin typeface="ITC Avant Garde Gothic"/>
              </a:rPr>
              <a:t>•  Fall sensitivity, specificity</a:t>
            </a:r>
          </a:p>
          <a:p>
            <a:pPr algn="l">
              <a:spcAft>
                <a:spcPts val="720"/>
              </a:spcAft>
            </a:pPr>
            <a:r>
              <a:rPr sz="1600" b="0">
                <a:solidFill>
                  <a:srgbClr val="2B2020"/>
                </a:solidFill>
                <a:latin typeface="ITC Avant Garde Gothic"/>
              </a:rPr>
              <a:t>•  Correct-slot and on-time doses</a:t>
            </a:r>
          </a:p>
          <a:p>
            <a:pPr algn="l">
              <a:spcAft>
                <a:spcPts val="720"/>
              </a:spcAft>
            </a:pPr>
            <a:r>
              <a:rPr sz="1600" b="0">
                <a:solidFill>
                  <a:srgbClr val="2B2020"/>
                </a:solidFill>
                <a:latin typeface="ITC Avant Garde Gothic"/>
              </a:rPr>
              <a:t>•  Delivery rate, battery life, SUS</a:t>
            </a:r>
          </a:p>
          <a:p>
            <a:pPr algn="l">
              <a:spcAft>
                <a:spcPts val="720"/>
              </a:spcAft>
            </a:pPr>
            <a:r>
              <a:rPr sz="1600" b="0">
                <a:solidFill>
                  <a:srgbClr val="2B2020"/>
                </a:solidFill>
                <a:latin typeface="ITC Avant Garde Gothic"/>
              </a:rPr>
              <a:t>•  Cost comparison</a:t>
            </a:r>
          </a:p>
        </p:txBody>
      </p:sp>
      <p:sp>
        <p:nvSpPr>
          <p:cNvPr id="32" name="Right Arrow 31"/>
          <p:cNvSpPr/>
          <p:nvPr/>
        </p:nvSpPr>
        <p:spPr>
          <a:xfrm>
            <a:off x="5715000" y="4956048"/>
            <a:ext cx="548640" cy="768096"/>
          </a:xfrm>
          <a:prstGeom prst="rightArrow">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ight Arrow 32"/>
          <p:cNvSpPr/>
          <p:nvPr/>
        </p:nvSpPr>
        <p:spPr>
          <a:xfrm>
            <a:off x="12161520" y="4956048"/>
            <a:ext cx="548640" cy="768096"/>
          </a:xfrm>
          <a:prstGeom prst="rightArrow">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15087600" y="7955279"/>
            <a:ext cx="0" cy="493777"/>
          </a:xfrm>
          <a:prstGeom prst="line">
            <a:avLst/>
          </a:prstGeom>
          <a:ln w="25400">
            <a:solidFill>
              <a:srgbClr val="8B0707"/>
            </a:solidFill>
            <a:prstDash val="dash"/>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3200400" y="8449056"/>
            <a:ext cx="11887200" cy="0"/>
          </a:xfrm>
          <a:prstGeom prst="line">
            <a:avLst/>
          </a:prstGeom>
          <a:ln w="25400">
            <a:solidFill>
              <a:srgbClr val="8B0707"/>
            </a:solidFill>
            <a:prstDash val="dash"/>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200400" y="7973568"/>
            <a:ext cx="0" cy="475488"/>
          </a:xfrm>
          <a:prstGeom prst="line">
            <a:avLst/>
          </a:prstGeom>
          <a:ln w="25400">
            <a:solidFill>
              <a:srgbClr val="8B0707"/>
            </a:solidFill>
            <a:prstDash val="dash"/>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212080" y="8202168"/>
            <a:ext cx="7863840" cy="493776"/>
          </a:xfrm>
          <a:prstGeom prst="rect">
            <a:avLst/>
          </a:prstGeom>
          <a:solidFill>
            <a:srgbClr val="F8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sz="1400" i="1" b="0">
                <a:solidFill>
                  <a:srgbClr val="8B0707"/>
                </a:solidFill>
                <a:latin typeface="ITC Avant Garde Gothic"/>
              </a:rPr>
              <a:t>Feedback: results tune the calibration, fall thresholds, and reminders</a:t>
            </a:r>
          </a:p>
        </p:txBody>
      </p:sp>
      <p:sp>
        <p:nvSpPr>
          <p:cNvPr id="38" name="TextBox 37"/>
          <p:cNvSpPr txBox="1"/>
          <p:nvPr/>
        </p:nvSpPr>
        <p:spPr>
          <a:xfrm>
            <a:off x="822960" y="8961120"/>
            <a:ext cx="16642080" cy="384048"/>
          </a:xfrm>
          <a:prstGeom prst="rect">
            <a:avLst/>
          </a:prstGeom>
          <a:noFill/>
        </p:spPr>
        <p:txBody>
          <a:bodyPr wrap="square" anchor="t">
            <a:spAutoFit/>
          </a:bodyPr>
          <a:lstStyle/>
          <a:p>
            <a:pPr algn="l">
              <a:spcAft>
                <a:spcPts val="720"/>
              </a:spcAft>
            </a:pPr>
            <a:r>
              <a:rPr sz="1600">
                <a:solidFill>
                  <a:srgbClr val="6A5656"/>
                </a:solidFill>
                <a:latin typeface="ITC Avant Garde Gothic"/>
              </a:rPr>
              <a:t>Figure 2. Conceptual paradigm of the study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104983" y="0"/>
            <a:ext cx="18497965" cy="10416667"/>
          </a:xfrm>
          <a:custGeom>
            <a:avLst/>
            <a:gdLst/>
            <a:ahLst/>
            <a:cxnLst/>
            <a:rect r="r" b="b" t="t" l="l"/>
            <a:pathLst>
              <a:path h="10416667" w="18497965">
                <a:moveTo>
                  <a:pt x="0" y="0"/>
                </a:moveTo>
                <a:lnTo>
                  <a:pt x="18497966" y="0"/>
                </a:lnTo>
                <a:lnTo>
                  <a:pt x="18497966" y="10416667"/>
                </a:lnTo>
                <a:lnTo>
                  <a:pt x="0" y="10416667"/>
                </a:lnTo>
                <a:lnTo>
                  <a:pt x="0" y="0"/>
                </a:lnTo>
                <a:close/>
              </a:path>
            </a:pathLst>
          </a:custGeom>
          <a:blipFill>
            <a:blip r:embed="rId2">
              <a:alphaModFix amt="26000"/>
            </a:blip>
            <a:stretch>
              <a:fillRect l="0" t="0" r="0" b="0"/>
            </a:stretch>
          </a:blipFill>
        </p:spPr>
      </p:sp>
      <p:grpSp>
        <p:nvGrpSpPr>
          <p:cNvPr name="Group 3" id="3"/>
          <p:cNvGrpSpPr/>
          <p:nvPr/>
        </p:nvGrpSpPr>
        <p:grpSpPr>
          <a:xfrm rot="0">
            <a:off x="-514350" y="-959494"/>
            <a:ext cx="19524889" cy="2664593"/>
            <a:chOff x="0" y="0"/>
            <a:chExt cx="5142358" cy="701786"/>
          </a:xfrm>
        </p:grpSpPr>
        <p:sp>
          <p:nvSpPr>
            <p:cNvPr name="Freeform 4" id="4"/>
            <p:cNvSpPr/>
            <p:nvPr/>
          </p:nvSpPr>
          <p:spPr>
            <a:xfrm flipH="false" flipV="false" rot="0">
              <a:off x="0" y="0"/>
              <a:ext cx="5142357" cy="701786"/>
            </a:xfrm>
            <a:custGeom>
              <a:avLst/>
              <a:gdLst/>
              <a:ahLst/>
              <a:cxnLst/>
              <a:rect r="r" b="b" t="t" l="l"/>
              <a:pathLst>
                <a:path h="701786" w="5142357">
                  <a:moveTo>
                    <a:pt x="0" y="0"/>
                  </a:moveTo>
                  <a:lnTo>
                    <a:pt x="5142357" y="0"/>
                  </a:lnTo>
                  <a:lnTo>
                    <a:pt x="5142357" y="701786"/>
                  </a:lnTo>
                  <a:lnTo>
                    <a:pt x="0" y="701786"/>
                  </a:lnTo>
                  <a:close/>
                </a:path>
              </a:pathLst>
            </a:custGeom>
            <a:solidFill>
              <a:srgbClr val="8B0707"/>
            </a:solidFill>
          </p:spPr>
        </p:sp>
        <p:sp>
          <p:nvSpPr>
            <p:cNvPr name="TextBox 5" id="5"/>
            <p:cNvSpPr txBox="true"/>
            <p:nvPr/>
          </p:nvSpPr>
          <p:spPr>
            <a:xfrm>
              <a:off x="0" y="-76200"/>
              <a:ext cx="5142358" cy="777986"/>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13886" y="324392"/>
            <a:ext cx="17376398" cy="1229762"/>
          </a:xfrm>
          <a:prstGeom prst="rect">
            <a:avLst/>
          </a:prstGeom>
        </p:spPr>
        <p:txBody>
          <a:bodyPr anchor="t" rtlCol="false" tIns="0" lIns="0" bIns="0" rIns="0">
            <a:spAutoFit/>
          </a:bodyPr>
          <a:lstStyle/>
          <a:p>
            <a:pPr algn="l">
              <a:lnSpc>
                <a:spcPts val="7720"/>
              </a:lnSpc>
            </a:pPr>
            <a:r>
              <a:rPr lang="en-US" sz="6000">
                <a:solidFill>
                  <a:srgbClr val="FFFFFF"/>
                </a:solidFill>
                <a:latin typeface="ITC Avant Garde Gothic"/>
                <a:ea typeface="ITC Avant Garde Gothic"/>
                <a:cs typeface="ITC Avant Garde Gothic"/>
                <a:sym typeface="ITC Avant Garde Gothic"/>
              </a:rPr>
              <a:t>SIGNIFICANCE OF THE STUDY</a:t>
            </a:r>
          </a:p>
        </p:txBody>
      </p:sp>
      <p:sp>
        <p:nvSpPr>
          <p:cNvPr id="22" name="Slide number"/>
          <p:cNvSpPr txBox="1"/>
          <p:nvPr/>
        </p:nvSpPr>
        <p:spPr>
          <a:xfrm>
            <a:off x="17007840" y="9710928"/>
            <a:ext cx="914400" cy="384048"/>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1600" dirty="0">
                <a:solidFill>
                  <a:srgbClr val="8B0707">
                    <a:alpha val="75000"/>
                  </a:srgbClr>
                </a:solidFill>
                <a:latin typeface="ITC Avant Garde Gothic"/>
                <a:ea typeface="ITC Avant Garde Gothic"/>
                <a:cs typeface="ITC Avant Garde Gothic"/>
                <a:sym typeface="ITC Avant Garde Gothic"/>
              </a:rPr>
              <a:t>7</a:t>
            </a:r>
            <a:endParaRPr lang="en-US" sz="1600" dirty="0">
              <a:latin typeface="ITC Avant Garde Gothic"/>
            </a:endParaRPr>
          </a:p>
        </p:txBody>
      </p:sp>
      <p:sp>
        <p:nvSpPr>
          <p:cNvPr id="23" name="Rectangle 22"/>
          <p:cNvSpPr/>
          <p:nvPr/>
        </p:nvSpPr>
        <p:spPr>
          <a:xfrm>
            <a:off x="822960" y="2103120"/>
            <a:ext cx="16642080" cy="6537960"/>
          </a:xfrm>
          <a:prstGeom prst="rect">
            <a:avLst/>
          </a:prstGeom>
          <a:solidFill>
            <a:srgbClr val="FFFFFF"/>
          </a:solidFill>
          <a:ln w="12700">
            <a:solidFill>
              <a:srgbClr val="E3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80160" y="2514600"/>
            <a:ext cx="7680960" cy="5989320"/>
          </a:xfrm>
          <a:prstGeom prst="rect">
            <a:avLst/>
          </a:prstGeom>
          <a:noFill/>
        </p:spPr>
        <p:txBody>
          <a:bodyPr wrap="square" anchor="t">
            <a:spAutoFit/>
          </a:bodyPr>
          <a:lstStyle/>
          <a:p>
            <a:pPr algn="l">
              <a:spcAft>
                <a:spcPts val="900"/>
              </a:spcAft>
            </a:pPr>
            <a:r>
              <a:rPr b="1" sz="2000">
                <a:solidFill>
                  <a:srgbClr val="8B0707"/>
                </a:solidFill>
                <a:latin typeface="ITC Avant Garde Gothic"/>
              </a:rPr>
              <a:t>Older adults and patients.</a:t>
            </a:r>
            <a:r>
              <a:rPr sz="2000" b="0">
                <a:solidFill>
                  <a:srgbClr val="2B2020"/>
                </a:solidFill>
                <a:latin typeface="ITC Avant Garde Gothic"/>
              </a:rPr>
              <a:t> Checks, medicine timing, and help at the press of a button.</a:t>
            </a:r>
          </a:p>
          <a:p>
            <a:pPr algn="l">
              <a:spcAft>
                <a:spcPts val="900"/>
              </a:spcAft>
            </a:pPr>
            <a:r>
              <a:rPr b="1" sz="2000">
                <a:solidFill>
                  <a:srgbClr val="8B0707"/>
                </a:solidFill>
                <a:latin typeface="ITC Avant Garde Gothic"/>
              </a:rPr>
              <a:t>Working families and OFWs.</a:t>
            </a:r>
            <a:r>
              <a:rPr sz="2000" b="0">
                <a:solidFill>
                  <a:srgbClr val="2B2020"/>
                </a:solidFill>
                <a:latin typeface="ITC Avant Garde Gothic"/>
              </a:rPr>
              <a:t> Live readings and alerts on their phones, anywhere.</a:t>
            </a:r>
          </a:p>
          <a:p>
            <a:pPr algn="l">
              <a:spcAft>
                <a:spcPts val="900"/>
              </a:spcAft>
            </a:pPr>
            <a:r>
              <a:rPr b="1" sz="2000">
                <a:solidFill>
                  <a:srgbClr val="8B0707"/>
                </a:solidFill>
                <a:latin typeface="ITC Avant Garde Gothic"/>
              </a:rPr>
              <a:t>Barangay health workers.</a:t>
            </a:r>
            <a:r>
              <a:rPr sz="2000" b="0">
                <a:solidFill>
                  <a:srgbClr val="2B2020"/>
                </a:solidFill>
                <a:latin typeface="ITC Avant Garde Gothic"/>
              </a:rPr>
              <a:t> A low-cost way to watch seniors who live alone.</a:t>
            </a:r>
          </a:p>
        </p:txBody>
      </p:sp>
      <p:sp>
        <p:nvSpPr>
          <p:cNvPr id="25" name="TextBox 24"/>
          <p:cNvSpPr txBox="1"/>
          <p:nvPr/>
        </p:nvSpPr>
        <p:spPr>
          <a:xfrm>
            <a:off x="9326880" y="2514600"/>
            <a:ext cx="7680960" cy="5989320"/>
          </a:xfrm>
          <a:prstGeom prst="rect">
            <a:avLst/>
          </a:prstGeom>
          <a:noFill/>
        </p:spPr>
        <p:txBody>
          <a:bodyPr wrap="square" anchor="t">
            <a:spAutoFit/>
          </a:bodyPr>
          <a:lstStyle/>
          <a:p>
            <a:pPr algn="l">
              <a:spcAft>
                <a:spcPts val="900"/>
              </a:spcAft>
            </a:pPr>
            <a:r>
              <a:rPr b="1" sz="2000">
                <a:solidFill>
                  <a:srgbClr val="8B0707"/>
                </a:solidFill>
                <a:latin typeface="ITC Avant Garde Gothic"/>
              </a:rPr>
              <a:t>Innovators and LGUs.</a:t>
            </a:r>
            <a:r>
              <a:rPr sz="2000" b="0">
                <a:solidFill>
                  <a:srgbClr val="2B2020"/>
                </a:solidFill>
                <a:latin typeface="ITC Avant Garde Gothic"/>
              </a:rPr>
              <a:t> A local, 3D-printable design that can be repaired and improved.</a:t>
            </a:r>
          </a:p>
          <a:p>
            <a:pPr algn="l">
              <a:spcAft>
                <a:spcPts val="900"/>
              </a:spcAft>
            </a:pPr>
            <a:r>
              <a:rPr b="1" sz="2000">
                <a:solidFill>
                  <a:srgbClr val="8B0707"/>
                </a:solidFill>
                <a:latin typeface="ITC Avant Garde Gothic"/>
              </a:rPr>
              <a:t>Future researchers.</a:t>
            </a:r>
            <a:r>
              <a:rPr sz="2000" b="0">
                <a:solidFill>
                  <a:srgbClr val="2B2020"/>
                </a:solidFill>
                <a:latin typeface="ITC Avant Garde Gothic"/>
              </a:rPr>
              <a:t> An open design and a tested method for low-cost health sensors.</a:t>
            </a:r>
          </a:p>
        </p:txBody>
      </p:sp>
      <p:cxnSp>
        <p:nvCxnSpPr>
          <p:cNvPr id="26" name="Connector 25"/>
          <p:cNvCxnSpPr/>
          <p:nvPr/>
        </p:nvCxnSpPr>
        <p:spPr>
          <a:xfrm>
            <a:off x="9144000" y="2606040"/>
            <a:ext cx="0" cy="5532120"/>
          </a:xfrm>
          <a:prstGeom prst="line">
            <a:avLst/>
          </a:prstGeom>
          <a:ln>
            <a:solidFill>
              <a:srgbClr val="E3C9C9"/>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22960" y="8823960"/>
            <a:ext cx="16642080" cy="457200"/>
          </a:xfrm>
          <a:prstGeom prst="rect">
            <a:avLst/>
          </a:prstGeom>
          <a:noFill/>
        </p:spPr>
        <p:txBody>
          <a:bodyPr wrap="square" anchor="t">
            <a:spAutoFit/>
          </a:bodyPr>
          <a:lstStyle/>
          <a:p>
            <a:pPr algn="ctr">
              <a:spcAft>
                <a:spcPts val="720"/>
              </a:spcAft>
            </a:pPr>
            <a:r>
              <a:rPr sz="1600" b="0">
                <a:solidFill>
                  <a:srgbClr val="6A5656"/>
                </a:solidFill>
                <a:latin typeface="ITC Avant Garde Gothic"/>
              </a:rPr>
              <a:t>The study supports SDG 3 (good health), SDG 9 (innovation), and SDG 10 (reduced inequalities).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104983" y="0"/>
            <a:ext cx="18497965" cy="10416667"/>
          </a:xfrm>
          <a:custGeom>
            <a:avLst/>
            <a:gdLst/>
            <a:ahLst/>
            <a:cxnLst/>
            <a:rect r="r" b="b" t="t" l="l"/>
            <a:pathLst>
              <a:path h="10416667" w="18497965">
                <a:moveTo>
                  <a:pt x="0" y="0"/>
                </a:moveTo>
                <a:lnTo>
                  <a:pt x="18497966" y="0"/>
                </a:lnTo>
                <a:lnTo>
                  <a:pt x="18497966" y="10416667"/>
                </a:lnTo>
                <a:lnTo>
                  <a:pt x="0" y="10416667"/>
                </a:lnTo>
                <a:lnTo>
                  <a:pt x="0" y="0"/>
                </a:lnTo>
                <a:close/>
              </a:path>
            </a:pathLst>
          </a:custGeom>
          <a:blipFill>
            <a:blip r:embed="rId2">
              <a:alphaModFix amt="26000"/>
            </a:blip>
            <a:stretch>
              <a:fillRect l="0" t="0" r="0" b="0"/>
            </a:stretch>
          </a:blipFill>
        </p:spPr>
      </p:sp>
      <p:grpSp>
        <p:nvGrpSpPr>
          <p:cNvPr name="Group 3" id="3"/>
          <p:cNvGrpSpPr/>
          <p:nvPr/>
        </p:nvGrpSpPr>
        <p:grpSpPr>
          <a:xfrm rot="0">
            <a:off x="-514350" y="-959494"/>
            <a:ext cx="19524889" cy="2664593"/>
            <a:chOff x="0" y="0"/>
            <a:chExt cx="5142358" cy="701786"/>
          </a:xfrm>
        </p:grpSpPr>
        <p:sp>
          <p:nvSpPr>
            <p:cNvPr name="Freeform 4" id="4"/>
            <p:cNvSpPr/>
            <p:nvPr/>
          </p:nvSpPr>
          <p:spPr>
            <a:xfrm flipH="false" flipV="false" rot="0">
              <a:off x="0" y="0"/>
              <a:ext cx="5142357" cy="701786"/>
            </a:xfrm>
            <a:custGeom>
              <a:avLst/>
              <a:gdLst/>
              <a:ahLst/>
              <a:cxnLst/>
              <a:rect r="r" b="b" t="t" l="l"/>
              <a:pathLst>
                <a:path h="701786" w="5142357">
                  <a:moveTo>
                    <a:pt x="0" y="0"/>
                  </a:moveTo>
                  <a:lnTo>
                    <a:pt x="5142357" y="0"/>
                  </a:lnTo>
                  <a:lnTo>
                    <a:pt x="5142357" y="701786"/>
                  </a:lnTo>
                  <a:lnTo>
                    <a:pt x="0" y="701786"/>
                  </a:lnTo>
                  <a:close/>
                </a:path>
              </a:pathLst>
            </a:custGeom>
            <a:solidFill>
              <a:srgbClr val="8B0707"/>
            </a:solidFill>
          </p:spPr>
        </p:sp>
        <p:sp>
          <p:nvSpPr>
            <p:cNvPr name="TextBox 5" id="5"/>
            <p:cNvSpPr txBox="true"/>
            <p:nvPr/>
          </p:nvSpPr>
          <p:spPr>
            <a:xfrm>
              <a:off x="0" y="-76200"/>
              <a:ext cx="5142358" cy="777986"/>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13886" y="324392"/>
            <a:ext cx="17376398" cy="1229762"/>
          </a:xfrm>
          <a:prstGeom prst="rect">
            <a:avLst/>
          </a:prstGeom>
        </p:spPr>
        <p:txBody>
          <a:bodyPr anchor="t" rtlCol="false" tIns="0" lIns="0" bIns="0" rIns="0">
            <a:spAutoFit/>
          </a:bodyPr>
          <a:lstStyle/>
          <a:p>
            <a:pPr algn="l">
              <a:lnSpc>
                <a:spcPts val="7720"/>
              </a:lnSpc>
            </a:pPr>
            <a:r>
              <a:rPr lang="en-US" sz="6000">
                <a:solidFill>
                  <a:srgbClr val="FFFFFF"/>
                </a:solidFill>
                <a:latin typeface="ITC Avant Garde Gothic"/>
                <a:ea typeface="ITC Avant Garde Gothic"/>
                <a:cs typeface="ITC Avant Garde Gothic"/>
                <a:sym typeface="ITC Avant Garde Gothic"/>
              </a:rPr>
              <a:t>OBJECTIVES OF THE STUDY / SOP</a:t>
            </a:r>
          </a:p>
        </p:txBody>
      </p:sp>
      <p:sp>
        <p:nvSpPr>
          <p:cNvPr id="22" name="Slide number"/>
          <p:cNvSpPr txBox="1"/>
          <p:nvPr/>
        </p:nvSpPr>
        <p:spPr>
          <a:xfrm>
            <a:off x="17007840" y="9710928"/>
            <a:ext cx="914400" cy="384048"/>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1600" dirty="0">
                <a:solidFill>
                  <a:srgbClr val="8B0707">
                    <a:alpha val="75000"/>
                  </a:srgbClr>
                </a:solidFill>
                <a:latin typeface="ITC Avant Garde Gothic"/>
                <a:ea typeface="ITC Avant Garde Gothic"/>
                <a:cs typeface="ITC Avant Garde Gothic"/>
                <a:sym typeface="ITC Avant Garde Gothic"/>
              </a:rPr>
              <a:t>8</a:t>
            </a:r>
            <a:endParaRPr lang="en-US" sz="1600" dirty="0">
              <a:latin typeface="ITC Avant Garde Gothic"/>
            </a:endParaRPr>
          </a:p>
        </p:txBody>
      </p:sp>
      <p:sp>
        <p:nvSpPr>
          <p:cNvPr id="23" name="Rectangle 22"/>
          <p:cNvSpPr/>
          <p:nvPr/>
        </p:nvSpPr>
        <p:spPr>
          <a:xfrm>
            <a:off x="822960" y="2103120"/>
            <a:ext cx="16642080" cy="1600200"/>
          </a:xfrm>
          <a:prstGeom prst="rect">
            <a:avLst/>
          </a:prstGeom>
          <a:solidFill>
            <a:srgbClr val="F8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34440" y="2176272"/>
            <a:ext cx="15819120" cy="1463040"/>
          </a:xfrm>
          <a:prstGeom prst="rect">
            <a:avLst/>
          </a:prstGeom>
          <a:noFill/>
        </p:spPr>
        <p:txBody>
          <a:bodyPr wrap="square" anchor="ctr">
            <a:spAutoFit/>
          </a:bodyPr>
          <a:lstStyle/>
          <a:p>
            <a:pPr algn="l">
              <a:spcAft>
                <a:spcPts val="855"/>
              </a:spcAft>
            </a:pPr>
            <a:r>
              <a:rPr b="1" sz="1900">
                <a:solidFill>
                  <a:srgbClr val="8B0707"/>
                </a:solidFill>
                <a:latin typeface="ITC Avant Garde Gothic"/>
              </a:rPr>
              <a:t>General objective.</a:t>
            </a:r>
            <a:r>
              <a:rPr sz="1900" b="0">
                <a:solidFill>
                  <a:srgbClr val="2B2020"/>
                </a:solidFill>
                <a:latin typeface="ITC Avant Garde Gothic"/>
              </a:rPr>
              <a:t> This study aimed to develop and evaluate KALINGA, a low-cost Baymax-inspired wearable health pendant with vital-sign checks, fall alerts, timed pill dispensing, and a family monitoring app.</a:t>
            </a:r>
          </a:p>
        </p:txBody>
      </p:sp>
      <p:sp>
        <p:nvSpPr>
          <p:cNvPr id="25" name="TextBox 24"/>
          <p:cNvSpPr txBox="1"/>
          <p:nvPr/>
        </p:nvSpPr>
        <p:spPr>
          <a:xfrm>
            <a:off x="822960" y="3840480"/>
            <a:ext cx="16642080" cy="457200"/>
          </a:xfrm>
          <a:prstGeom prst="rect">
            <a:avLst/>
          </a:prstGeom>
          <a:noFill/>
        </p:spPr>
        <p:txBody>
          <a:bodyPr wrap="square" anchor="t">
            <a:spAutoFit/>
          </a:bodyPr>
          <a:lstStyle/>
          <a:p>
            <a:pPr algn="l">
              <a:spcAft>
                <a:spcPts val="810"/>
              </a:spcAft>
            </a:pPr>
            <a:r>
              <a:rPr sz="1800">
                <a:solidFill>
                  <a:srgbClr val="6A5656"/>
                </a:solidFill>
                <a:latin typeface="ITC Avant Garde Gothic"/>
              </a:rPr>
              <a:t>Specifically, it seeks to answer the following questions:</a:t>
            </a:r>
          </a:p>
        </p:txBody>
      </p:sp>
      <p:sp>
        <p:nvSpPr>
          <p:cNvPr id="26" name="Rectangle 25"/>
          <p:cNvSpPr/>
          <p:nvPr/>
        </p:nvSpPr>
        <p:spPr>
          <a:xfrm>
            <a:off x="822960" y="4389120"/>
            <a:ext cx="8165592" cy="5166360"/>
          </a:xfrm>
          <a:prstGeom prst="rect">
            <a:avLst/>
          </a:prstGeom>
          <a:solidFill>
            <a:srgbClr val="FFFFFF"/>
          </a:solidFill>
          <a:ln w="12700">
            <a:solidFill>
              <a:srgbClr val="E3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308592" y="4389120"/>
            <a:ext cx="8165592" cy="5166360"/>
          </a:xfrm>
          <a:prstGeom prst="rect">
            <a:avLst/>
          </a:prstGeom>
          <a:solidFill>
            <a:srgbClr val="FFFFFF"/>
          </a:solidFill>
          <a:ln w="12700">
            <a:solidFill>
              <a:srgbClr val="E3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43000" y="4663440"/>
            <a:ext cx="7571231" cy="4754880"/>
          </a:xfrm>
          <a:prstGeom prst="rect">
            <a:avLst/>
          </a:prstGeom>
          <a:noFill/>
        </p:spPr>
        <p:txBody>
          <a:bodyPr wrap="square" anchor="t">
            <a:spAutoFit/>
          </a:bodyPr>
          <a:lstStyle/>
          <a:p>
            <a:pPr algn="l">
              <a:spcAft>
                <a:spcPts val="765"/>
              </a:spcAft>
            </a:pPr>
            <a:r>
              <a:rPr sz="1700" b="0">
                <a:solidFill>
                  <a:srgbClr val="2B2020"/>
                </a:solidFill>
                <a:latin typeface="ITC Avant Garde Gothic"/>
              </a:rPr>
              <a:t>1.  How closely do its temperature, pulse rate, and SpO₂ agree with reference instruments?</a:t>
            </a:r>
          </a:p>
          <a:p>
            <a:pPr algn="l">
              <a:spcAft>
                <a:spcPts val="765"/>
              </a:spcAft>
            </a:pPr>
            <a:r>
              <a:rPr sz="1700" b="0">
                <a:solidFill>
                  <a:srgbClr val="2B2020"/>
                </a:solidFill>
                <a:latin typeface="ITC Avant Garde Gothic"/>
              </a:rPr>
              <a:t>2.  How accurately does it detect falls, and how fast do alerts reach the app?</a:t>
            </a:r>
          </a:p>
          <a:p>
            <a:pPr algn="l">
              <a:spcAft>
                <a:spcPts val="765"/>
              </a:spcAft>
            </a:pPr>
            <a:r>
              <a:rPr sz="1700" b="0">
                <a:solidFill>
                  <a:srgbClr val="2B2020"/>
                </a:solidFill>
                <a:latin typeface="ITC Avant Garde Gothic"/>
              </a:rPr>
              <a:t>3.  How accurately and on time does the carousel present each dose?</a:t>
            </a:r>
          </a:p>
        </p:txBody>
      </p:sp>
      <p:sp>
        <p:nvSpPr>
          <p:cNvPr id="29" name="TextBox 28"/>
          <p:cNvSpPr txBox="1"/>
          <p:nvPr/>
        </p:nvSpPr>
        <p:spPr>
          <a:xfrm>
            <a:off x="9628632" y="4663440"/>
            <a:ext cx="7571231" cy="4754880"/>
          </a:xfrm>
          <a:prstGeom prst="rect">
            <a:avLst/>
          </a:prstGeom>
          <a:noFill/>
        </p:spPr>
        <p:txBody>
          <a:bodyPr wrap="square" anchor="t">
            <a:spAutoFit/>
          </a:bodyPr>
          <a:lstStyle/>
          <a:p>
            <a:pPr algn="l">
              <a:spcAft>
                <a:spcPts val="765"/>
              </a:spcAft>
            </a:pPr>
            <a:r>
              <a:rPr sz="1700" b="0">
                <a:solidFill>
                  <a:srgbClr val="2B2020"/>
                </a:solidFill>
                <a:latin typeface="ITC Avant Garde Gothic"/>
              </a:rPr>
              <a:t>4.  What share of data reaches the app, and how long does the battery last?</a:t>
            </a:r>
          </a:p>
          <a:p>
            <a:pPr algn="l">
              <a:spcAft>
                <a:spcPts val="765"/>
              </a:spcAft>
            </a:pPr>
            <a:r>
              <a:rPr sz="1700" b="0">
                <a:solidFill>
                  <a:srgbClr val="2B2020"/>
                </a:solidFill>
                <a:latin typeface="ITC Avant Garde Gothic"/>
              </a:rPr>
              <a:t>5.  How do older adults and caregivers rate its usability (SUS)?</a:t>
            </a:r>
          </a:p>
          <a:p>
            <a:pPr algn="l">
              <a:spcAft>
                <a:spcPts val="765"/>
              </a:spcAft>
            </a:pPr>
            <a:r>
              <a:rPr sz="1700" b="0">
                <a:solidFill>
                  <a:srgbClr val="2B2020"/>
                </a:solidFill>
                <a:latin typeface="ITC Avant Garde Gothic"/>
              </a:rPr>
              <a:t>6.  How does its cost compare with commercial products?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104983" y="0"/>
            <a:ext cx="18497965" cy="10416667"/>
          </a:xfrm>
          <a:custGeom>
            <a:avLst/>
            <a:gdLst/>
            <a:ahLst/>
            <a:cxnLst/>
            <a:rect r="r" b="b" t="t" l="l"/>
            <a:pathLst>
              <a:path h="10416667" w="18497965">
                <a:moveTo>
                  <a:pt x="0" y="0"/>
                </a:moveTo>
                <a:lnTo>
                  <a:pt x="18497966" y="0"/>
                </a:lnTo>
                <a:lnTo>
                  <a:pt x="18497966" y="10416667"/>
                </a:lnTo>
                <a:lnTo>
                  <a:pt x="0" y="10416667"/>
                </a:lnTo>
                <a:lnTo>
                  <a:pt x="0" y="0"/>
                </a:lnTo>
                <a:close/>
              </a:path>
            </a:pathLst>
          </a:custGeom>
          <a:blipFill>
            <a:blip r:embed="rId2">
              <a:alphaModFix amt="26000"/>
            </a:blip>
            <a:stretch>
              <a:fillRect l="0" t="0" r="0" b="0"/>
            </a:stretch>
          </a:blipFill>
        </p:spPr>
      </p:sp>
      <p:grpSp>
        <p:nvGrpSpPr>
          <p:cNvPr name="Group 3" id="3"/>
          <p:cNvGrpSpPr/>
          <p:nvPr/>
        </p:nvGrpSpPr>
        <p:grpSpPr>
          <a:xfrm rot="0">
            <a:off x="-514350" y="-959494"/>
            <a:ext cx="19524889" cy="2664593"/>
            <a:chOff x="0" y="0"/>
            <a:chExt cx="5142358" cy="701786"/>
          </a:xfrm>
        </p:grpSpPr>
        <p:sp>
          <p:nvSpPr>
            <p:cNvPr name="Freeform 4" id="4"/>
            <p:cNvSpPr/>
            <p:nvPr/>
          </p:nvSpPr>
          <p:spPr>
            <a:xfrm flipH="false" flipV="false" rot="0">
              <a:off x="0" y="0"/>
              <a:ext cx="5142357" cy="701786"/>
            </a:xfrm>
            <a:custGeom>
              <a:avLst/>
              <a:gdLst/>
              <a:ahLst/>
              <a:cxnLst/>
              <a:rect r="r" b="b" t="t" l="l"/>
              <a:pathLst>
                <a:path h="701786" w="5142357">
                  <a:moveTo>
                    <a:pt x="0" y="0"/>
                  </a:moveTo>
                  <a:lnTo>
                    <a:pt x="5142357" y="0"/>
                  </a:lnTo>
                  <a:lnTo>
                    <a:pt x="5142357" y="701786"/>
                  </a:lnTo>
                  <a:lnTo>
                    <a:pt x="0" y="701786"/>
                  </a:lnTo>
                  <a:close/>
                </a:path>
              </a:pathLst>
            </a:custGeom>
            <a:solidFill>
              <a:srgbClr val="8B0707"/>
            </a:solidFill>
          </p:spPr>
        </p:sp>
        <p:sp>
          <p:nvSpPr>
            <p:cNvPr name="TextBox 5" id="5"/>
            <p:cNvSpPr txBox="true"/>
            <p:nvPr/>
          </p:nvSpPr>
          <p:spPr>
            <a:xfrm>
              <a:off x="0" y="-76200"/>
              <a:ext cx="5142358" cy="777986"/>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13886" y="324392"/>
            <a:ext cx="17376398" cy="1229762"/>
          </a:xfrm>
          <a:prstGeom prst="rect">
            <a:avLst/>
          </a:prstGeom>
        </p:spPr>
        <p:txBody>
          <a:bodyPr anchor="t" rtlCol="false" tIns="0" lIns="0" bIns="0" rIns="0">
            <a:spAutoFit/>
          </a:bodyPr>
          <a:lstStyle/>
          <a:p>
            <a:pPr algn="l">
              <a:lnSpc>
                <a:spcPts val="7720"/>
              </a:lnSpc>
            </a:pPr>
            <a:r>
              <a:rPr lang="en-US" sz="8579">
                <a:solidFill>
                  <a:srgbClr val="FFFFFF"/>
                </a:solidFill>
                <a:latin typeface="ITC Avant Garde Gothic"/>
                <a:ea typeface="ITC Avant Garde Gothic"/>
                <a:cs typeface="ITC Avant Garde Gothic"/>
                <a:sym typeface="ITC Avant Garde Gothic"/>
              </a:rPr>
              <a:t>HYPOTHESES</a:t>
            </a:r>
          </a:p>
        </p:txBody>
      </p:sp>
      <p:sp>
        <p:nvSpPr>
          <p:cNvPr id="21" name="Subtitle"/>
          <p:cNvSpPr txBox="1"/>
          <p:nvPr/>
        </p:nvSpPr>
        <p:spPr>
          <a:xfrm>
            <a:off x="9509760" y="475488"/>
            <a:ext cx="8366760" cy="731520"/>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2600" dirty="0">
                <a:solidFill>
                  <a:srgbClr val="FFFFFF">
                    <a:alpha val="92000"/>
                  </a:srgbClr>
                </a:solidFill>
                <a:latin typeface="ITC Avant Garde Gothic"/>
                <a:ea typeface="ITC Avant Garde Gothic"/>
                <a:cs typeface="ITC Avant Garde Gothic"/>
                <a:sym typeface="ITC Avant Garde Gothic"/>
              </a:rPr>
              <a:t>Null Hypotheses</a:t>
            </a:r>
            <a:endParaRPr lang="en-US" sz="2600" dirty="0">
              <a:latin typeface="ITC Avant Garde Gothic"/>
            </a:endParaRPr>
          </a:p>
        </p:txBody>
      </p:sp>
      <p:sp>
        <p:nvSpPr>
          <p:cNvPr id="22" name="Slide number"/>
          <p:cNvSpPr txBox="1"/>
          <p:nvPr/>
        </p:nvSpPr>
        <p:spPr>
          <a:xfrm>
            <a:off x="17007840" y="9710928"/>
            <a:ext cx="914400" cy="384048"/>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1600" dirty="0">
                <a:solidFill>
                  <a:srgbClr val="8B0707">
                    <a:alpha val="75000"/>
                  </a:srgbClr>
                </a:solidFill>
                <a:latin typeface="ITC Avant Garde Gothic"/>
                <a:ea typeface="ITC Avant Garde Gothic"/>
                <a:cs typeface="ITC Avant Garde Gothic"/>
                <a:sym typeface="ITC Avant Garde Gothic"/>
              </a:rPr>
              <a:t>9</a:t>
            </a:r>
            <a:endParaRPr lang="en-US" sz="1600" dirty="0">
              <a:latin typeface="ITC Avant Garde Gothic"/>
            </a:endParaRPr>
          </a:p>
        </p:txBody>
      </p:sp>
      <p:sp>
        <p:nvSpPr>
          <p:cNvPr id="23" name="TextBox 22"/>
          <p:cNvSpPr txBox="1"/>
          <p:nvPr/>
        </p:nvSpPr>
        <p:spPr>
          <a:xfrm>
            <a:off x="822960" y="2011680"/>
            <a:ext cx="16642080" cy="566928"/>
          </a:xfrm>
          <a:prstGeom prst="rect">
            <a:avLst/>
          </a:prstGeom>
          <a:noFill/>
        </p:spPr>
        <p:txBody>
          <a:bodyPr wrap="square" anchor="t">
            <a:spAutoFit/>
          </a:bodyPr>
          <a:lstStyle/>
          <a:p>
            <a:pPr algn="l">
              <a:spcAft>
                <a:spcPts val="765"/>
              </a:spcAft>
            </a:pPr>
            <a:r>
              <a:rPr sz="1700">
                <a:solidFill>
                  <a:srgbClr val="6A5656"/>
                </a:solidFill>
                <a:latin typeface="ITC Avant Garde Gothic"/>
              </a:rPr>
              <a:t>The hypotheses were stated before testing and are tested at the 0.05 level of significance.</a:t>
            </a:r>
          </a:p>
        </p:txBody>
      </p:sp>
      <p:graphicFrame>
        <p:nvGraphicFramePr>
          <p:cNvPr id="24" name="Table 23"/>
          <p:cNvGraphicFramePr>
            <a:graphicFrameLocks noGrp="1"/>
          </p:cNvGraphicFramePr>
          <p:nvPr/>
        </p:nvGraphicFramePr>
        <p:xfrm>
          <a:off x="822960" y="2670048"/>
          <a:ext cx="16642080" cy="3429000"/>
        </p:xfrm>
        <a:graphic>
          <a:graphicData uri="http://schemas.openxmlformats.org/drawingml/2006/table">
            <a:tbl>
              <a:tblPr firstRow="1" bandRow="1">
                <a:tableStyleId>{5C22544A-7EE6-4342-B048-85BDC9FD1C3A}</a:tableStyleId>
              </a:tblPr>
              <a:tblGrid>
                <a:gridCol w="1463040"/>
                <a:gridCol w="9692640"/>
                <a:gridCol w="5486400"/>
              </a:tblGrid>
              <a:tr h="502920">
                <a:tc>
                  <a:txBody>
                    <a:bodyPr/>
                    <a:lstStyle/>
                    <a:p>
                      <a:r>
                        <a:rPr sz="1800" b="1">
                          <a:solidFill>
                            <a:srgbClr val="FFFFFF"/>
                          </a:solidFill>
                          <a:latin typeface="ITC Avant Garde Gothic"/>
                        </a:rPr>
                        <a:t>Code</a:t>
                      </a:r>
                    </a:p>
                  </a:txBody>
                  <a:tcPr>
                    <a:solidFill>
                      <a:srgbClr val="8B0707"/>
                    </a:solidFill>
                  </a:tcPr>
                </a:tc>
                <a:tc>
                  <a:txBody>
                    <a:bodyPr/>
                    <a:lstStyle/>
                    <a:p>
                      <a:r>
                        <a:rPr sz="1800" b="1">
                          <a:solidFill>
                            <a:srgbClr val="FFFFFF"/>
                          </a:solidFill>
                          <a:latin typeface="ITC Avant Garde Gothic"/>
                        </a:rPr>
                        <a:t>Hypothesis</a:t>
                      </a:r>
                    </a:p>
                  </a:txBody>
                  <a:tcPr>
                    <a:solidFill>
                      <a:srgbClr val="8B0707"/>
                    </a:solidFill>
                  </a:tcPr>
                </a:tc>
                <a:tc>
                  <a:txBody>
                    <a:bodyPr/>
                    <a:lstStyle/>
                    <a:p>
                      <a:r>
                        <a:rPr sz="1800" b="1">
                          <a:solidFill>
                            <a:srgbClr val="FFFFFF"/>
                          </a:solidFill>
                          <a:latin typeface="ITC Avant Garde Gothic"/>
                        </a:rPr>
                        <a:t>Test or decision rule</a:t>
                      </a:r>
                    </a:p>
                  </a:txBody>
                  <a:tcPr>
                    <a:solidFill>
                      <a:srgbClr val="8B0707"/>
                    </a:solidFill>
                  </a:tcPr>
                </a:tc>
              </a:tr>
              <a:tr h="1463040">
                <a:tc>
                  <a:txBody>
                    <a:bodyPr/>
                    <a:lstStyle/>
                    <a:p>
                      <a:r>
                        <a:rPr sz="1800" b="0">
                          <a:solidFill>
                            <a:srgbClr val="8B0707"/>
                          </a:solidFill>
                          <a:latin typeface="ITC Avant Garde Gothic"/>
                        </a:rPr>
                        <a:t>H₀1</a:t>
                      </a:r>
                    </a:p>
                  </a:txBody>
                  <a:tcPr>
                    <a:solidFill>
                      <a:srgbClr val="FFFFFF"/>
                    </a:solidFill>
                  </a:tcPr>
                </a:tc>
                <a:tc>
                  <a:txBody>
                    <a:bodyPr/>
                    <a:lstStyle/>
                    <a:p>
                      <a:r>
                        <a:rPr sz="1800" b="0">
                          <a:solidFill>
                            <a:srgbClr val="2B2020"/>
                          </a:solidFill>
                          <a:latin typeface="ITC Avant Garde Gothic"/>
                        </a:rPr>
                        <a:t>There is no significant difference between KALINGA's readings and the reference readings.</a:t>
                      </a:r>
                    </a:p>
                  </a:txBody>
                  <a:tcPr>
                    <a:solidFill>
                      <a:srgbClr val="FFFFFF"/>
                    </a:solidFill>
                  </a:tcPr>
                </a:tc>
                <a:tc>
                  <a:txBody>
                    <a:bodyPr/>
                    <a:lstStyle/>
                    <a:p>
                      <a:r>
                        <a:rPr sz="1800" b="0">
                          <a:solidFill>
                            <a:srgbClr val="2B2020"/>
                          </a:solidFill>
                          <a:latin typeface="ITC Avant Garde Gothic"/>
                        </a:rPr>
                        <a:t>Paired t-test; Bland–Altman</a:t>
                      </a:r>
                    </a:p>
                  </a:txBody>
                  <a:tcPr>
                    <a:solidFill>
                      <a:srgbClr val="FFFFFF"/>
                    </a:solidFill>
                  </a:tcPr>
                </a:tc>
              </a:tr>
              <a:tr h="1463040">
                <a:tc>
                  <a:txBody>
                    <a:bodyPr/>
                    <a:lstStyle/>
                    <a:p>
                      <a:r>
                        <a:rPr sz="1800" b="0">
                          <a:solidFill>
                            <a:srgbClr val="8B0707"/>
                          </a:solidFill>
                          <a:latin typeface="ITC Avant Garde Gothic"/>
                        </a:rPr>
                        <a:t>H₀2</a:t>
                      </a:r>
                    </a:p>
                  </a:txBody>
                  <a:tcPr>
                    <a:solidFill>
                      <a:srgbClr val="F8EAEA"/>
                    </a:solidFill>
                  </a:tcPr>
                </a:tc>
                <a:tc>
                  <a:txBody>
                    <a:bodyPr/>
                    <a:lstStyle/>
                    <a:p>
                      <a:r>
                        <a:rPr sz="1800" b="0">
                          <a:solidFill>
                            <a:srgbClr val="2B2020"/>
                          </a:solidFill>
                          <a:latin typeface="ITC Avant Garde Gothic"/>
                        </a:rPr>
                        <a:t>KALINGA's fall decision is not associated with the true event type.</a:t>
                      </a:r>
                    </a:p>
                  </a:txBody>
                  <a:tcPr>
                    <a:solidFill>
                      <a:srgbClr val="F8EAEA"/>
                    </a:solidFill>
                  </a:tcPr>
                </a:tc>
                <a:tc>
                  <a:txBody>
                    <a:bodyPr/>
                    <a:lstStyle/>
                    <a:p>
                      <a:r>
                        <a:rPr sz="1800" b="0">
                          <a:solidFill>
                            <a:srgbClr val="2B2020"/>
                          </a:solidFill>
                          <a:latin typeface="ITC Avant Garde Gothic"/>
                        </a:rPr>
                        <a:t>Chi-square test</a:t>
                      </a:r>
                    </a:p>
                  </a:txBody>
                  <a:tcPr>
                    <a:solidFill>
                      <a:srgbClr val="F8EAEA"/>
                    </a:solidFill>
                  </a:tcPr>
                </a:tc>
              </a:tr>
              <a:tr h="1463040">
                <a:tc>
                  <a:txBody>
                    <a:bodyPr/>
                    <a:lstStyle/>
                    <a:p>
                      <a:r>
                        <a:rPr sz="1800" b="0">
                          <a:solidFill>
                            <a:srgbClr val="8B0707"/>
                          </a:solidFill>
                          <a:latin typeface="ITC Avant Garde Gothic"/>
                        </a:rPr>
                        <a:t>H₀3</a:t>
                      </a:r>
                    </a:p>
                  </a:txBody>
                  <a:tcPr>
                    <a:solidFill>
                      <a:srgbClr val="F8EAEA"/>
                    </a:solidFill>
                  </a:tcPr>
                </a:tc>
                <a:tc>
                  <a:txBody>
                    <a:bodyPr/>
                    <a:lstStyle/>
                    <a:p>
                      <a:r>
                        <a:rPr sz="1800" b="0">
                          <a:solidFill>
                            <a:srgbClr val="2B2020"/>
                          </a:solidFill>
                          <a:latin typeface="ITC Avant Garde Gothic"/>
                        </a:rPr>
                        <a:t>The mean SUS score of KALINGA is not significantly different from 68.</a:t>
                      </a:r>
                    </a:p>
                  </a:txBody>
                  <a:tcPr>
                    <a:solidFill>
                      <a:srgbClr val="F8EAEA"/>
                    </a:solidFill>
                  </a:tcPr>
                </a:tc>
                <a:tc>
                  <a:txBody>
                    <a:bodyPr/>
                    <a:lstStyle/>
                    <a:p>
                      <a:r>
                        <a:rPr sz="1800" b="0">
                          <a:solidFill>
                            <a:srgbClr val="2B2020"/>
                          </a:solidFill>
                          <a:latin typeface="ITC Avant Garde Gothic"/>
                        </a:rPr>
                        <a:t>One-sample t-test</a:t>
                      </a:r>
                    </a:p>
                  </a:txBody>
                  <a:tcPr>
                    <a:solidFill>
                      <a:srgbClr val="F8EAEA"/>
                    </a:solidFill>
                  </a:tcPr>
                </a:tc>
              </a:tr>
            </a:tbl>
          </a:graphicData>
        </a:graphic>
      </p:graphicFrame>
      <p:sp>
        <p:nvSpPr>
          <p:cNvPr id="25" name="TextBox 24"/>
          <p:cNvSpPr txBox="1"/>
          <p:nvPr/>
        </p:nvSpPr>
        <p:spPr>
          <a:xfrm>
            <a:off x="822960" y="9089136"/>
            <a:ext cx="16642080" cy="466344"/>
          </a:xfrm>
          <a:prstGeom prst="rect">
            <a:avLst/>
          </a:prstGeom>
          <a:noFill/>
        </p:spPr>
        <p:txBody>
          <a:bodyPr wrap="square" anchor="t">
            <a:spAutoFit/>
          </a:bodyPr>
          <a:lstStyle/>
          <a:p>
            <a:pPr algn="l">
              <a:spcAft>
                <a:spcPts val="720"/>
              </a:spcAft>
            </a:pPr>
            <a:r>
              <a:rPr sz="1600">
                <a:solidFill>
                  <a:srgbClr val="6A5656"/>
                </a:solidFill>
                <a:latin typeface="ITC Avant Garde Gothic"/>
              </a:rPr>
              <a:t>Reject H₀ when p &lt; 0.05.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104983" y="0"/>
            <a:ext cx="18497965" cy="10416667"/>
          </a:xfrm>
          <a:custGeom>
            <a:avLst/>
            <a:gdLst/>
            <a:ahLst/>
            <a:cxnLst/>
            <a:rect r="r" b="b" t="t" l="l"/>
            <a:pathLst>
              <a:path h="10416667" w="18497965">
                <a:moveTo>
                  <a:pt x="0" y="0"/>
                </a:moveTo>
                <a:lnTo>
                  <a:pt x="18497966" y="0"/>
                </a:lnTo>
                <a:lnTo>
                  <a:pt x="18497966" y="10416667"/>
                </a:lnTo>
                <a:lnTo>
                  <a:pt x="0" y="10416667"/>
                </a:lnTo>
                <a:lnTo>
                  <a:pt x="0" y="0"/>
                </a:lnTo>
                <a:close/>
              </a:path>
            </a:pathLst>
          </a:custGeom>
          <a:blipFill>
            <a:blip r:embed="rId2">
              <a:alphaModFix amt="26000"/>
            </a:blip>
            <a:stretch>
              <a:fillRect l="0" t="0" r="0" b="0"/>
            </a:stretch>
          </a:blipFill>
        </p:spPr>
      </p:sp>
      <p:grpSp>
        <p:nvGrpSpPr>
          <p:cNvPr name="Group 3" id="3"/>
          <p:cNvGrpSpPr/>
          <p:nvPr/>
        </p:nvGrpSpPr>
        <p:grpSpPr>
          <a:xfrm rot="0">
            <a:off x="-514350" y="-959494"/>
            <a:ext cx="19524889" cy="2664593"/>
            <a:chOff x="0" y="0"/>
            <a:chExt cx="5142358" cy="701786"/>
          </a:xfrm>
        </p:grpSpPr>
        <p:sp>
          <p:nvSpPr>
            <p:cNvPr name="Freeform 4" id="4"/>
            <p:cNvSpPr/>
            <p:nvPr/>
          </p:nvSpPr>
          <p:spPr>
            <a:xfrm flipH="false" flipV="false" rot="0">
              <a:off x="0" y="0"/>
              <a:ext cx="5142357" cy="701786"/>
            </a:xfrm>
            <a:custGeom>
              <a:avLst/>
              <a:gdLst/>
              <a:ahLst/>
              <a:cxnLst/>
              <a:rect r="r" b="b" t="t" l="l"/>
              <a:pathLst>
                <a:path h="701786" w="5142357">
                  <a:moveTo>
                    <a:pt x="0" y="0"/>
                  </a:moveTo>
                  <a:lnTo>
                    <a:pt x="5142357" y="0"/>
                  </a:lnTo>
                  <a:lnTo>
                    <a:pt x="5142357" y="701786"/>
                  </a:lnTo>
                  <a:lnTo>
                    <a:pt x="0" y="701786"/>
                  </a:lnTo>
                  <a:close/>
                </a:path>
              </a:pathLst>
            </a:custGeom>
            <a:solidFill>
              <a:srgbClr val="8B0707"/>
            </a:solidFill>
          </p:spPr>
        </p:sp>
        <p:sp>
          <p:nvSpPr>
            <p:cNvPr name="TextBox 5" id="5"/>
            <p:cNvSpPr txBox="true"/>
            <p:nvPr/>
          </p:nvSpPr>
          <p:spPr>
            <a:xfrm>
              <a:off x="0" y="-76200"/>
              <a:ext cx="5142358" cy="777986"/>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13886" y="324392"/>
            <a:ext cx="17376398" cy="1229762"/>
          </a:xfrm>
          <a:prstGeom prst="rect">
            <a:avLst/>
          </a:prstGeom>
        </p:spPr>
        <p:txBody>
          <a:bodyPr anchor="t" rtlCol="false" tIns="0" lIns="0" bIns="0" rIns="0">
            <a:spAutoFit/>
          </a:bodyPr>
          <a:lstStyle/>
          <a:p>
            <a:pPr algn="l">
              <a:lnSpc>
                <a:spcPts val="7720"/>
              </a:lnSpc>
            </a:pPr>
            <a:r>
              <a:rPr lang="en-US" sz="6000">
                <a:solidFill>
                  <a:srgbClr val="FFFFFF"/>
                </a:solidFill>
                <a:latin typeface="ITC Avant Garde Gothic"/>
                <a:ea typeface="ITC Avant Garde Gothic"/>
                <a:cs typeface="ITC Avant Garde Gothic"/>
                <a:sym typeface="ITC Avant Garde Gothic"/>
              </a:rPr>
              <a:t>SCOPE AND DELIMITATION</a:t>
            </a:r>
          </a:p>
        </p:txBody>
      </p:sp>
      <p:sp>
        <p:nvSpPr>
          <p:cNvPr id="22" name="Slide number"/>
          <p:cNvSpPr txBox="1"/>
          <p:nvPr/>
        </p:nvSpPr>
        <p:spPr>
          <a:xfrm>
            <a:off x="17007840" y="9710928"/>
            <a:ext cx="914400" cy="384048"/>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1600" dirty="0">
                <a:solidFill>
                  <a:srgbClr val="8B0707">
                    <a:alpha val="75000"/>
                  </a:srgbClr>
                </a:solidFill>
                <a:latin typeface="ITC Avant Garde Gothic"/>
                <a:ea typeface="ITC Avant Garde Gothic"/>
                <a:cs typeface="ITC Avant Garde Gothic"/>
                <a:sym typeface="ITC Avant Garde Gothic"/>
              </a:rPr>
              <a:t>10</a:t>
            </a:r>
            <a:endParaRPr lang="en-US" sz="1600" dirty="0">
              <a:latin typeface="ITC Avant Garde Gothic"/>
            </a:endParaRPr>
          </a:p>
        </p:txBody>
      </p:sp>
      <p:sp>
        <p:nvSpPr>
          <p:cNvPr id="23" name="Rectangle 22"/>
          <p:cNvSpPr/>
          <p:nvPr/>
        </p:nvSpPr>
        <p:spPr>
          <a:xfrm>
            <a:off x="822960" y="2103120"/>
            <a:ext cx="8165592" cy="4069080"/>
          </a:xfrm>
          <a:prstGeom prst="rect">
            <a:avLst/>
          </a:prstGeom>
          <a:solidFill>
            <a:srgbClr val="FFFFFF"/>
          </a:solidFill>
          <a:ln w="12700">
            <a:solidFill>
              <a:srgbClr val="E3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88720" y="2286000"/>
            <a:ext cx="7424927" cy="457200"/>
          </a:xfrm>
          <a:prstGeom prst="rect">
            <a:avLst/>
          </a:prstGeom>
          <a:noFill/>
        </p:spPr>
        <p:txBody>
          <a:bodyPr wrap="square" anchor="t">
            <a:spAutoFit/>
          </a:bodyPr>
          <a:lstStyle/>
          <a:p>
            <a:pPr algn="l">
              <a:spcAft>
                <a:spcPts val="900"/>
              </a:spcAft>
            </a:pPr>
            <a:r>
              <a:rPr sz="2000" b="1">
                <a:solidFill>
                  <a:srgbClr val="8B0707"/>
                </a:solidFill>
                <a:latin typeface="ITC Avant Garde Gothic"/>
              </a:rPr>
              <a:t>Scope</a:t>
            </a:r>
          </a:p>
        </p:txBody>
      </p:sp>
      <p:sp>
        <p:nvSpPr>
          <p:cNvPr id="25" name="TextBox 24"/>
          <p:cNvSpPr txBox="1"/>
          <p:nvPr/>
        </p:nvSpPr>
        <p:spPr>
          <a:xfrm>
            <a:off x="1234440" y="2834640"/>
            <a:ext cx="7424927" cy="3200400"/>
          </a:xfrm>
          <a:prstGeom prst="rect">
            <a:avLst/>
          </a:prstGeom>
          <a:noFill/>
        </p:spPr>
        <p:txBody>
          <a:bodyPr wrap="square" anchor="t">
            <a:spAutoFit/>
          </a:bodyPr>
          <a:lstStyle/>
          <a:p>
            <a:pPr algn="l">
              <a:spcAft>
                <a:spcPts val="720"/>
              </a:spcAft>
            </a:pPr>
            <a:r>
              <a:rPr sz="1600" b="0">
                <a:solidFill>
                  <a:srgbClr val="2B2020"/>
                </a:solidFill>
                <a:latin typeface="ITC Avant Garde Gothic"/>
              </a:rPr>
              <a:t>•  One 3D-printed pendant and the KALINGA Monitor app</a:t>
            </a:r>
          </a:p>
          <a:p>
            <a:pPr algn="l">
              <a:spcAft>
                <a:spcPts val="720"/>
              </a:spcAft>
            </a:pPr>
            <a:r>
              <a:rPr sz="1600" b="0">
                <a:solidFill>
                  <a:srgbClr val="2B2020"/>
                </a:solidFill>
                <a:latin typeface="ITC Avant Garde Gothic"/>
              </a:rPr>
              <a:t>•  Temperature, pulse rate, SpO₂ spot checks</a:t>
            </a:r>
          </a:p>
          <a:p>
            <a:pPr algn="l">
              <a:spcAft>
                <a:spcPts val="720"/>
              </a:spcAft>
            </a:pPr>
            <a:r>
              <a:rPr sz="1600" b="0">
                <a:solidFill>
                  <a:srgbClr val="2B2020"/>
                </a:solidFill>
                <a:latin typeface="ITC Avant Garde Gothic"/>
              </a:rPr>
              <a:t>•  Fall, SOS, no-movement, missed-dose alerts</a:t>
            </a:r>
          </a:p>
          <a:p>
            <a:pPr algn="l">
              <a:spcAft>
                <a:spcPts val="720"/>
              </a:spcAft>
            </a:pPr>
            <a:r>
              <a:rPr sz="1600" b="0">
                <a:solidFill>
                  <a:srgbClr val="2B2020"/>
                </a:solidFill>
                <a:latin typeface="ITC Avant Garde Gothic"/>
              </a:rPr>
              <a:t>•  Four-slot carousel; placebo tablets in tests</a:t>
            </a:r>
          </a:p>
          <a:p>
            <a:pPr algn="l">
              <a:spcAft>
                <a:spcPts val="720"/>
              </a:spcAft>
            </a:pPr>
            <a:r>
              <a:rPr sz="1600" b="0">
                <a:solidFill>
                  <a:srgbClr val="2B2020"/>
                </a:solidFill>
                <a:latin typeface="ITC Avant Garde Gothic"/>
              </a:rPr>
              <a:t>•  Volunteers and older adults after IRB approval</a:t>
            </a:r>
          </a:p>
        </p:txBody>
      </p:sp>
      <p:sp>
        <p:nvSpPr>
          <p:cNvPr id="26" name="Rectangle 25"/>
          <p:cNvSpPr/>
          <p:nvPr/>
        </p:nvSpPr>
        <p:spPr>
          <a:xfrm>
            <a:off x="9308592" y="2103120"/>
            <a:ext cx="8165592" cy="4069080"/>
          </a:xfrm>
          <a:prstGeom prst="rect">
            <a:avLst/>
          </a:prstGeom>
          <a:solidFill>
            <a:srgbClr val="FFFFFF"/>
          </a:solidFill>
          <a:ln w="12700">
            <a:solidFill>
              <a:srgbClr val="E3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74352" y="2286000"/>
            <a:ext cx="7424927" cy="457200"/>
          </a:xfrm>
          <a:prstGeom prst="rect">
            <a:avLst/>
          </a:prstGeom>
          <a:noFill/>
        </p:spPr>
        <p:txBody>
          <a:bodyPr wrap="square" anchor="t">
            <a:spAutoFit/>
          </a:bodyPr>
          <a:lstStyle/>
          <a:p>
            <a:pPr algn="l">
              <a:spcAft>
                <a:spcPts val="900"/>
              </a:spcAft>
            </a:pPr>
            <a:r>
              <a:rPr sz="2000" b="1">
                <a:solidFill>
                  <a:srgbClr val="8B0707"/>
                </a:solidFill>
                <a:latin typeface="ITC Avant Garde Gothic"/>
              </a:rPr>
              <a:t>Delimitation</a:t>
            </a:r>
          </a:p>
        </p:txBody>
      </p:sp>
      <p:sp>
        <p:nvSpPr>
          <p:cNvPr id="28" name="TextBox 27"/>
          <p:cNvSpPr txBox="1"/>
          <p:nvPr/>
        </p:nvSpPr>
        <p:spPr>
          <a:xfrm>
            <a:off x="9720072" y="2834640"/>
            <a:ext cx="7424927" cy="3200400"/>
          </a:xfrm>
          <a:prstGeom prst="rect">
            <a:avLst/>
          </a:prstGeom>
          <a:noFill/>
        </p:spPr>
        <p:txBody>
          <a:bodyPr wrap="square" anchor="t">
            <a:spAutoFit/>
          </a:bodyPr>
          <a:lstStyle/>
          <a:p>
            <a:pPr algn="l">
              <a:spcAft>
                <a:spcPts val="720"/>
              </a:spcAft>
            </a:pPr>
            <a:r>
              <a:rPr sz="1600" b="0">
                <a:solidFill>
                  <a:srgbClr val="2B2020"/>
                </a:solidFill>
                <a:latin typeface="ITC Avant Garde Gothic"/>
              </a:rPr>
              <a:t>•  Not a medical device; no diagnosis</a:t>
            </a:r>
          </a:p>
          <a:p>
            <a:pPr algn="l">
              <a:spcAft>
                <a:spcPts val="720"/>
              </a:spcAft>
            </a:pPr>
            <a:r>
              <a:rPr sz="1600" b="0">
                <a:solidFill>
                  <a:srgbClr val="2B2020"/>
                </a:solidFill>
                <a:latin typeface="ITC Avant Garde Gothic"/>
              </a:rPr>
              <a:t>•  Spot checks only, not continuous ECG or BP</a:t>
            </a:r>
          </a:p>
          <a:p>
            <a:pPr algn="l">
              <a:spcAft>
                <a:spcPts val="720"/>
              </a:spcAft>
            </a:pPr>
            <a:r>
              <a:rPr sz="1600" b="0">
                <a:solidFill>
                  <a:srgbClr val="2B2020"/>
                </a:solidFill>
                <a:latin typeface="ITC Avant Garde Gothic"/>
              </a:rPr>
              <a:t>•  Needs Wi-Fi to send alerts</a:t>
            </a:r>
          </a:p>
          <a:p>
            <a:pPr algn="l">
              <a:spcAft>
                <a:spcPts val="720"/>
              </a:spcAft>
            </a:pPr>
            <a:r>
              <a:rPr sz="1600" b="0">
                <a:solidFill>
                  <a:srgbClr val="2B2020"/>
                </a:solidFill>
                <a:latin typeface="ITC Avant Garde Gothic"/>
              </a:rPr>
              <a:t>•  Falls simulated only by researchers on mats</a:t>
            </a:r>
          </a:p>
          <a:p>
            <a:pPr algn="l">
              <a:spcAft>
                <a:spcPts val="720"/>
              </a:spcAft>
            </a:pPr>
            <a:r>
              <a:rPr sz="1600" b="0">
                <a:solidFill>
                  <a:srgbClr val="2B2020"/>
                </a:solidFill>
                <a:latin typeface="ITC Avant Garde Gothic"/>
              </a:rPr>
              <a:t>•  One day of doses per filling</a:t>
            </a:r>
          </a:p>
        </p:txBody>
      </p:sp>
      <p:sp>
        <p:nvSpPr>
          <p:cNvPr id="29" name="TextBox 28"/>
          <p:cNvSpPr txBox="1"/>
          <p:nvPr/>
        </p:nvSpPr>
        <p:spPr>
          <a:xfrm>
            <a:off x="822960" y="6355080"/>
            <a:ext cx="16642080" cy="384048"/>
          </a:xfrm>
          <a:prstGeom prst="rect">
            <a:avLst/>
          </a:prstGeom>
          <a:noFill/>
        </p:spPr>
        <p:txBody>
          <a:bodyPr wrap="square" anchor="t">
            <a:spAutoFit/>
          </a:bodyPr>
          <a:lstStyle/>
          <a:p>
            <a:pPr algn="l">
              <a:spcAft>
                <a:spcPts val="720"/>
              </a:spcAft>
            </a:pPr>
            <a:r>
              <a:rPr sz="1600" b="0">
                <a:solidFill>
                  <a:srgbClr val="6A5656"/>
                </a:solidFill>
                <a:latin typeface="ITC Avant Garde Gothic"/>
              </a:rPr>
              <a:t>Table 4. Trials Conducted in the Study</a:t>
            </a:r>
          </a:p>
        </p:txBody>
      </p:sp>
      <p:graphicFrame>
        <p:nvGraphicFramePr>
          <p:cNvPr id="30" name="Table 29"/>
          <p:cNvGraphicFramePr>
            <a:graphicFrameLocks noGrp="1"/>
          </p:cNvGraphicFramePr>
          <p:nvPr/>
        </p:nvGraphicFramePr>
        <p:xfrm>
          <a:off x="822960" y="6739128"/>
          <a:ext cx="16642080" cy="1920240"/>
        </p:xfrm>
        <a:graphic>
          <a:graphicData uri="http://schemas.openxmlformats.org/drawingml/2006/table">
            <a:tbl>
              <a:tblPr firstRow="1" bandRow="1">
                <a:tableStyleId>{5C22544A-7EE6-4342-B048-85BDC9FD1C3A}</a:tableStyleId>
              </a:tblPr>
              <a:tblGrid>
                <a:gridCol w="4160520"/>
                <a:gridCol w="4160520"/>
                <a:gridCol w="4160520"/>
                <a:gridCol w="4160520"/>
              </a:tblGrid>
              <a:tr h="384048">
                <a:tc>
                  <a:txBody>
                    <a:bodyPr/>
                    <a:lstStyle/>
                    <a:p>
                      <a:r>
                        <a:rPr sz="1400" b="0">
                          <a:solidFill>
                            <a:srgbClr val="FFFFFF"/>
                          </a:solidFill>
                          <a:latin typeface="ITC Avant Garde Gothic"/>
                        </a:rPr>
                        <a:t>Trial set</a:t>
                      </a:r>
                    </a:p>
                  </a:txBody>
                  <a:tcPr>
                    <a:solidFill>
                      <a:srgbClr val="8B0707"/>
                    </a:solidFill>
                  </a:tcPr>
                </a:tc>
                <a:tc>
                  <a:txBody>
                    <a:bodyPr/>
                    <a:lstStyle/>
                    <a:p>
                      <a:r>
                        <a:rPr sz="1400" b="0">
                          <a:solidFill>
                            <a:srgbClr val="FFFFFF"/>
                          </a:solidFill>
                          <a:latin typeface="ITC Avant Garde Gothic"/>
                        </a:rPr>
                        <a:t>Measures</a:t>
                      </a:r>
                    </a:p>
                  </a:txBody>
                  <a:tcPr>
                    <a:solidFill>
                      <a:srgbClr val="8B0707"/>
                    </a:solidFill>
                  </a:tcPr>
                </a:tc>
                <a:tc>
                  <a:txBody>
                    <a:bodyPr/>
                    <a:lstStyle/>
                    <a:p>
                      <a:r>
                        <a:rPr sz="1400" b="0">
                          <a:solidFill>
                            <a:srgbClr val="FFFFFF"/>
                          </a:solidFill>
                          <a:latin typeface="ITC Avant Garde Gothic"/>
                        </a:rPr>
                        <a:t>Number</a:t>
                      </a:r>
                    </a:p>
                  </a:txBody>
                  <a:tcPr>
                    <a:solidFill>
                      <a:srgbClr val="8B0707"/>
                    </a:solidFill>
                  </a:tcPr>
                </a:tc>
                <a:tc>
                  <a:txBody>
                    <a:bodyPr/>
                    <a:lstStyle/>
                    <a:p>
                      <a:r>
                        <a:rPr sz="1400" b="0">
                          <a:solidFill>
                            <a:srgbClr val="FFFFFF"/>
                          </a:solidFill>
                          <a:latin typeface="ITC Avant Garde Gothic"/>
                        </a:rPr>
                        <a:t>Reference</a:t>
                      </a:r>
                    </a:p>
                  </a:txBody>
                  <a:tcPr>
                    <a:solidFill>
                      <a:srgbClr val="8B0707"/>
                    </a:solidFill>
                  </a:tcPr>
                </a:tc>
              </a:tr>
              <a:tr h="384048">
                <a:tc>
                  <a:txBody>
                    <a:bodyPr/>
                    <a:lstStyle/>
                    <a:p>
                      <a:r>
                        <a:rPr sz="1400" b="0">
                          <a:solidFill>
                            <a:srgbClr val="8B0707"/>
                          </a:solidFill>
                          <a:latin typeface="ITC Avant Garde Gothic"/>
                        </a:rPr>
                        <a:t>Health checks</a:t>
                      </a:r>
                    </a:p>
                  </a:txBody>
                  <a:tcPr>
                    <a:solidFill>
                      <a:srgbClr val="FFFFFF"/>
                    </a:solidFill>
                  </a:tcPr>
                </a:tc>
                <a:tc>
                  <a:txBody>
                    <a:bodyPr/>
                    <a:lstStyle/>
                    <a:p>
                      <a:r>
                        <a:rPr sz="1400" b="0">
                          <a:solidFill>
                            <a:srgbClr val="2B2020"/>
                          </a:solidFill>
                          <a:latin typeface="ITC Avant Garde Gothic"/>
                        </a:rPr>
                        <a:t>Temperature, PR, SpO₂</a:t>
                      </a:r>
                    </a:p>
                  </a:txBody>
                  <a:tcPr>
                    <a:solidFill>
                      <a:srgbClr val="FFFFFF"/>
                    </a:solidFill>
                  </a:tcPr>
                </a:tc>
                <a:tc>
                  <a:txBody>
                    <a:bodyPr/>
                    <a:lstStyle/>
                    <a:p>
                      <a:r>
                        <a:rPr sz="1400" b="0">
                          <a:solidFill>
                            <a:srgbClr val="2B2020"/>
                          </a:solidFill>
                          <a:latin typeface="ITC Avant Garde Gothic"/>
                        </a:rPr>
                        <a:t>10 + ____ volunteers</a:t>
                      </a:r>
                    </a:p>
                  </a:txBody>
                  <a:tcPr>
                    <a:solidFill>
                      <a:srgbClr val="FFFFFF"/>
                    </a:solidFill>
                  </a:tcPr>
                </a:tc>
                <a:tc>
                  <a:txBody>
                    <a:bodyPr/>
                    <a:lstStyle/>
                    <a:p>
                      <a:r>
                        <a:rPr sz="1400" b="0">
                          <a:solidFill>
                            <a:srgbClr val="2B2020"/>
                          </a:solidFill>
                          <a:latin typeface="ITC Avant Garde Gothic"/>
                        </a:rPr>
                        <a:t>Clinic instruments</a:t>
                      </a:r>
                    </a:p>
                  </a:txBody>
                  <a:tcPr>
                    <a:solidFill>
                      <a:srgbClr val="FFFFFF"/>
                    </a:solidFill>
                  </a:tcPr>
                </a:tc>
              </a:tr>
              <a:tr h="384048">
                <a:tc>
                  <a:txBody>
                    <a:bodyPr/>
                    <a:lstStyle/>
                    <a:p>
                      <a:r>
                        <a:rPr sz="1400" b="0">
                          <a:solidFill>
                            <a:srgbClr val="8B0707"/>
                          </a:solidFill>
                          <a:latin typeface="ITC Avant Garde Gothic"/>
                        </a:rPr>
                        <a:t>Falls</a:t>
                      </a:r>
                    </a:p>
                  </a:txBody>
                  <a:tcPr>
                    <a:solidFill>
                      <a:srgbClr val="F8EAEA"/>
                    </a:solidFill>
                  </a:tcPr>
                </a:tc>
                <a:tc>
                  <a:txBody>
                    <a:bodyPr/>
                    <a:lstStyle/>
                    <a:p>
                      <a:r>
                        <a:rPr sz="1400" b="0">
                          <a:solidFill>
                            <a:srgbClr val="2B2020"/>
                          </a:solidFill>
                          <a:latin typeface="ITC Avant Garde Gothic"/>
                        </a:rPr>
                        <a:t>Decision, alert time</a:t>
                      </a:r>
                    </a:p>
                  </a:txBody>
                  <a:tcPr>
                    <a:solidFill>
                      <a:srgbClr val="F8EAEA"/>
                    </a:solidFill>
                  </a:tcPr>
                </a:tc>
                <a:tc>
                  <a:txBody>
                    <a:bodyPr/>
                    <a:lstStyle/>
                    <a:p>
                      <a:r>
                        <a:rPr sz="1400" b="0">
                          <a:solidFill>
                            <a:srgbClr val="2B2020"/>
                          </a:solidFill>
                          <a:latin typeface="ITC Avant Garde Gothic"/>
                        </a:rPr>
                        <a:t>____ falls; ____ activities</a:t>
                      </a:r>
                    </a:p>
                  </a:txBody>
                  <a:tcPr>
                    <a:solidFill>
                      <a:srgbClr val="F8EAEA"/>
                    </a:solidFill>
                  </a:tcPr>
                </a:tc>
                <a:tc>
                  <a:txBody>
                    <a:bodyPr/>
                    <a:lstStyle/>
                    <a:p>
                      <a:r>
                        <a:rPr sz="1400" b="0">
                          <a:solidFill>
                            <a:srgbClr val="2B2020"/>
                          </a:solidFill>
                          <a:latin typeface="ITC Avant Garde Gothic"/>
                        </a:rPr>
                        <a:t>Video</a:t>
                      </a:r>
                    </a:p>
                  </a:txBody>
                  <a:tcPr>
                    <a:solidFill>
                      <a:srgbClr val="F8EAEA"/>
                    </a:solidFill>
                  </a:tcPr>
                </a:tc>
              </a:tr>
              <a:tr h="384048">
                <a:tc>
                  <a:txBody>
                    <a:bodyPr/>
                    <a:lstStyle/>
                    <a:p>
                      <a:r>
                        <a:rPr sz="1400" b="0">
                          <a:solidFill>
                            <a:srgbClr val="8B0707"/>
                          </a:solidFill>
                          <a:latin typeface="ITC Avant Garde Gothic"/>
                        </a:rPr>
                        <a:t>Doses</a:t>
                      </a:r>
                    </a:p>
                  </a:txBody>
                  <a:tcPr>
                    <a:solidFill>
                      <a:srgbClr val="FFFFFF"/>
                    </a:solidFill>
                  </a:tcPr>
                </a:tc>
                <a:tc>
                  <a:txBody>
                    <a:bodyPr/>
                    <a:lstStyle/>
                    <a:p>
                      <a:r>
                        <a:rPr sz="1400" b="0">
                          <a:solidFill>
                            <a:srgbClr val="2B2020"/>
                          </a:solidFill>
                          <a:latin typeface="ITC Avant Garde Gothic"/>
                        </a:rPr>
                        <a:t>Slot, timing, record</a:t>
                      </a:r>
                    </a:p>
                  </a:txBody>
                  <a:tcPr>
                    <a:solidFill>
                      <a:srgbClr val="FFFFFF"/>
                    </a:solidFill>
                  </a:tcPr>
                </a:tc>
                <a:tc>
                  <a:txBody>
                    <a:bodyPr/>
                    <a:lstStyle/>
                    <a:p>
                      <a:r>
                        <a:rPr sz="1400" b="0">
                          <a:solidFill>
                            <a:srgbClr val="2B2020"/>
                          </a:solidFill>
                          <a:latin typeface="ITC Avant Garde Gothic"/>
                        </a:rPr>
                        <a:t>5 days × 4 slots</a:t>
                      </a:r>
                    </a:p>
                  </a:txBody>
                  <a:tcPr>
                    <a:solidFill>
                      <a:srgbClr val="FFFFFF"/>
                    </a:solidFill>
                  </a:tcPr>
                </a:tc>
                <a:tc>
                  <a:txBody>
                    <a:bodyPr/>
                    <a:lstStyle/>
                    <a:p>
                      <a:r>
                        <a:rPr sz="1400" b="0">
                          <a:solidFill>
                            <a:srgbClr val="2B2020"/>
                          </a:solidFill>
                          <a:latin typeface="ITC Avant Garde Gothic"/>
                        </a:rPr>
                        <a:t>Observer log</a:t>
                      </a:r>
                    </a:p>
                  </a:txBody>
                  <a:tcPr>
                    <a:solidFill>
                      <a:srgbClr val="FFFFFF"/>
                    </a:solidFill>
                  </a:tcPr>
                </a:tc>
              </a:tr>
              <a:tr h="384048">
                <a:tc>
                  <a:txBody>
                    <a:bodyPr/>
                    <a:lstStyle/>
                    <a:p>
                      <a:r>
                        <a:rPr sz="1400" b="0">
                          <a:solidFill>
                            <a:srgbClr val="8B0707"/>
                          </a:solidFill>
                          <a:latin typeface="ITC Avant Garde Gothic"/>
                        </a:rPr>
                        <a:t>Delivery, battery, SUS</a:t>
                      </a:r>
                    </a:p>
                  </a:txBody>
                  <a:tcPr>
                    <a:solidFill>
                      <a:srgbClr val="F8EAEA"/>
                    </a:solidFill>
                  </a:tcPr>
                </a:tc>
                <a:tc>
                  <a:txBody>
                    <a:bodyPr/>
                    <a:lstStyle/>
                    <a:p>
                      <a:r>
                        <a:rPr sz="1400" b="0">
                          <a:solidFill>
                            <a:srgbClr val="2B2020"/>
                          </a:solidFill>
                          <a:latin typeface="ITC Avant Garde Gothic"/>
                        </a:rPr>
                        <a:t>Messages, hours, SUS</a:t>
                      </a:r>
                    </a:p>
                  </a:txBody>
                  <a:tcPr>
                    <a:solidFill>
                      <a:srgbClr val="F8EAEA"/>
                    </a:solidFill>
                  </a:tcPr>
                </a:tc>
                <a:tc>
                  <a:txBody>
                    <a:bodyPr/>
                    <a:lstStyle/>
                    <a:p>
                      <a:r>
                        <a:rPr sz="1400" b="0">
                          <a:solidFill>
                            <a:srgbClr val="2B2020"/>
                          </a:solidFill>
                          <a:latin typeface="ITC Avant Garde Gothic"/>
                        </a:rPr>
                        <a:t>5 days; ____ users</a:t>
                      </a:r>
                    </a:p>
                  </a:txBody>
                  <a:tcPr>
                    <a:solidFill>
                      <a:srgbClr val="F8EAEA"/>
                    </a:solidFill>
                  </a:tcPr>
                </a:tc>
                <a:tc>
                  <a:txBody>
                    <a:bodyPr/>
                    <a:lstStyle/>
                    <a:p>
                      <a:r>
                        <a:rPr sz="1400" b="0">
                          <a:solidFill>
                            <a:srgbClr val="2B2020"/>
                          </a:solidFill>
                          <a:latin typeface="ITC Avant Garde Gothic"/>
                        </a:rPr>
                        <a:t>App log; survey</a:t>
                      </a:r>
                    </a:p>
                  </a:txBody>
                  <a:tcPr>
                    <a:solidFill>
                      <a:srgbClr val="F8EAEA"/>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104983" y="0"/>
            <a:ext cx="18497965" cy="10416667"/>
          </a:xfrm>
          <a:custGeom>
            <a:avLst/>
            <a:gdLst/>
            <a:ahLst/>
            <a:cxnLst/>
            <a:rect r="r" b="b" t="t" l="l"/>
            <a:pathLst>
              <a:path h="10416667" w="18497965">
                <a:moveTo>
                  <a:pt x="0" y="0"/>
                </a:moveTo>
                <a:lnTo>
                  <a:pt x="18497966" y="0"/>
                </a:lnTo>
                <a:lnTo>
                  <a:pt x="18497966" y="10416667"/>
                </a:lnTo>
                <a:lnTo>
                  <a:pt x="0" y="10416667"/>
                </a:lnTo>
                <a:lnTo>
                  <a:pt x="0" y="0"/>
                </a:lnTo>
                <a:close/>
              </a:path>
            </a:pathLst>
          </a:custGeom>
          <a:blipFill>
            <a:blip r:embed="rId2">
              <a:alphaModFix amt="26000"/>
            </a:blip>
            <a:stretch>
              <a:fillRect l="0" t="0" r="0" b="0"/>
            </a:stretch>
          </a:blipFill>
        </p:spPr>
      </p:sp>
      <p:grpSp>
        <p:nvGrpSpPr>
          <p:cNvPr name="Group 3" id="3"/>
          <p:cNvGrpSpPr/>
          <p:nvPr/>
        </p:nvGrpSpPr>
        <p:grpSpPr>
          <a:xfrm rot="0">
            <a:off x="-514350" y="-959494"/>
            <a:ext cx="19524889" cy="2664593"/>
            <a:chOff x="0" y="0"/>
            <a:chExt cx="5142358" cy="701786"/>
          </a:xfrm>
        </p:grpSpPr>
        <p:sp>
          <p:nvSpPr>
            <p:cNvPr name="Freeform 4" id="4"/>
            <p:cNvSpPr/>
            <p:nvPr/>
          </p:nvSpPr>
          <p:spPr>
            <a:xfrm flipH="false" flipV="false" rot="0">
              <a:off x="0" y="0"/>
              <a:ext cx="5142357" cy="701786"/>
            </a:xfrm>
            <a:custGeom>
              <a:avLst/>
              <a:gdLst/>
              <a:ahLst/>
              <a:cxnLst/>
              <a:rect r="r" b="b" t="t" l="l"/>
              <a:pathLst>
                <a:path h="701786" w="5142357">
                  <a:moveTo>
                    <a:pt x="0" y="0"/>
                  </a:moveTo>
                  <a:lnTo>
                    <a:pt x="5142357" y="0"/>
                  </a:lnTo>
                  <a:lnTo>
                    <a:pt x="5142357" y="701786"/>
                  </a:lnTo>
                  <a:lnTo>
                    <a:pt x="0" y="701786"/>
                  </a:lnTo>
                  <a:close/>
                </a:path>
              </a:pathLst>
            </a:custGeom>
            <a:solidFill>
              <a:srgbClr val="8B0707"/>
            </a:solidFill>
          </p:spPr>
        </p:sp>
        <p:sp>
          <p:nvSpPr>
            <p:cNvPr name="TextBox 5" id="5"/>
            <p:cNvSpPr txBox="true"/>
            <p:nvPr/>
          </p:nvSpPr>
          <p:spPr>
            <a:xfrm>
              <a:off x="0" y="-76200"/>
              <a:ext cx="5142358" cy="777986"/>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13886" y="324392"/>
            <a:ext cx="17376398" cy="1229762"/>
          </a:xfrm>
          <a:prstGeom prst="rect">
            <a:avLst/>
          </a:prstGeom>
        </p:spPr>
        <p:txBody>
          <a:bodyPr anchor="t" rtlCol="false" tIns="0" lIns="0" bIns="0" rIns="0">
            <a:spAutoFit/>
          </a:bodyPr>
          <a:lstStyle/>
          <a:p>
            <a:pPr algn="l">
              <a:lnSpc>
                <a:spcPts val="7720"/>
              </a:lnSpc>
            </a:pPr>
            <a:r>
              <a:rPr lang="en-US" sz="8579">
                <a:solidFill>
                  <a:srgbClr val="FFFFFF"/>
                </a:solidFill>
                <a:latin typeface="ITC Avant Garde Gothic"/>
                <a:ea typeface="ITC Avant Garde Gothic"/>
                <a:cs typeface="ITC Avant Garde Gothic"/>
                <a:sym typeface="ITC Avant Garde Gothic"/>
              </a:rPr>
              <a:t>METHODOLOGY</a:t>
            </a:r>
          </a:p>
        </p:txBody>
      </p:sp>
      <p:sp>
        <p:nvSpPr>
          <p:cNvPr id="21" name="Subtitle"/>
          <p:cNvSpPr txBox="1"/>
          <p:nvPr/>
        </p:nvSpPr>
        <p:spPr>
          <a:xfrm>
            <a:off x="9509760" y="475488"/>
            <a:ext cx="8366760" cy="731520"/>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2600" dirty="0">
                <a:solidFill>
                  <a:srgbClr val="FFFFFF">
                    <a:alpha val="92000"/>
                  </a:srgbClr>
                </a:solidFill>
                <a:latin typeface="ITC Avant Garde Gothic"/>
                <a:ea typeface="ITC Avant Garde Gothic"/>
                <a:cs typeface="ITC Avant Garde Gothic"/>
                <a:sym typeface="ITC Avant Garde Gothic"/>
              </a:rPr>
              <a:t>Research Design</a:t>
            </a:r>
            <a:endParaRPr lang="en-US" sz="2600" dirty="0">
              <a:latin typeface="ITC Avant Garde Gothic"/>
            </a:endParaRPr>
          </a:p>
        </p:txBody>
      </p:sp>
      <p:sp>
        <p:nvSpPr>
          <p:cNvPr id="22" name="Slide number"/>
          <p:cNvSpPr txBox="1"/>
          <p:nvPr/>
        </p:nvSpPr>
        <p:spPr>
          <a:xfrm>
            <a:off x="17007840" y="9710928"/>
            <a:ext cx="914400" cy="384048"/>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1600" dirty="0">
                <a:solidFill>
                  <a:srgbClr val="8B0707">
                    <a:alpha val="75000"/>
                  </a:srgbClr>
                </a:solidFill>
                <a:latin typeface="ITC Avant Garde Gothic"/>
                <a:ea typeface="ITC Avant Garde Gothic"/>
                <a:cs typeface="ITC Avant Garde Gothic"/>
                <a:sym typeface="ITC Avant Garde Gothic"/>
              </a:rPr>
              <a:t>11</a:t>
            </a:r>
            <a:endParaRPr lang="en-US" sz="1600" dirty="0">
              <a:latin typeface="ITC Avant Garde Gothic"/>
            </a:endParaRPr>
          </a:p>
        </p:txBody>
      </p:sp>
      <p:sp>
        <p:nvSpPr>
          <p:cNvPr id="23" name="TextBox 22"/>
          <p:cNvSpPr txBox="1"/>
          <p:nvPr/>
        </p:nvSpPr>
        <p:spPr>
          <a:xfrm>
            <a:off x="822960" y="2011680"/>
            <a:ext cx="16642080" cy="1097280"/>
          </a:xfrm>
          <a:prstGeom prst="rect">
            <a:avLst/>
          </a:prstGeom>
          <a:noFill/>
        </p:spPr>
        <p:txBody>
          <a:bodyPr wrap="square" anchor="t">
            <a:spAutoFit/>
          </a:bodyPr>
          <a:lstStyle/>
          <a:p>
            <a:pPr algn="l">
              <a:spcAft>
                <a:spcPts val="765"/>
              </a:spcAft>
            </a:pPr>
            <a:r>
              <a:rPr sz="1700" b="0">
                <a:solidFill>
                  <a:srgbClr val="2B2020"/>
                </a:solidFill>
                <a:latin typeface="ITC Avant Garde Gothic"/>
              </a:rPr>
              <a:t>This is a quantitative developmental study with method-comparison and usability tests. The pendant is built and calibrated first, then tested against reference instruments and in daily use.</a:t>
            </a:r>
          </a:p>
        </p:txBody>
      </p:sp>
      <p:sp>
        <p:nvSpPr>
          <p:cNvPr id="24" name="Rectangle 23"/>
          <p:cNvSpPr/>
          <p:nvPr/>
        </p:nvSpPr>
        <p:spPr>
          <a:xfrm>
            <a:off x="822960" y="3246120"/>
            <a:ext cx="3520440" cy="658368"/>
          </a:xfrm>
          <a:prstGeom prst="rect">
            <a:avLst/>
          </a:prstGeom>
          <a:solidFill>
            <a:srgbClr val="8B07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TC Avant Garde Gothic"/>
              </a:rPr>
              <a:t>1. Build and calibrate</a:t>
            </a:r>
          </a:p>
        </p:txBody>
      </p:sp>
      <p:sp>
        <p:nvSpPr>
          <p:cNvPr id="25" name="Right Arrow 24"/>
          <p:cNvSpPr/>
          <p:nvPr/>
        </p:nvSpPr>
        <p:spPr>
          <a:xfrm>
            <a:off x="4434840" y="3410712"/>
            <a:ext cx="685800" cy="329184"/>
          </a:xfrm>
          <a:prstGeom prst="rightArrow">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193792" y="3246120"/>
            <a:ext cx="3520440" cy="658368"/>
          </a:xfrm>
          <a:prstGeom prst="rect">
            <a:avLst/>
          </a:prstGeom>
          <a:solidFill>
            <a:srgbClr val="8B07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TC Avant Garde Gothic"/>
              </a:rPr>
              <a:t>2. Program logic</a:t>
            </a:r>
          </a:p>
        </p:txBody>
      </p:sp>
      <p:sp>
        <p:nvSpPr>
          <p:cNvPr id="27" name="Right Arrow 26"/>
          <p:cNvSpPr/>
          <p:nvPr/>
        </p:nvSpPr>
        <p:spPr>
          <a:xfrm>
            <a:off x="8805672" y="3410712"/>
            <a:ext cx="685800" cy="329184"/>
          </a:xfrm>
          <a:prstGeom prst="rightArrow">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64624" y="3246120"/>
            <a:ext cx="3520440" cy="658368"/>
          </a:xfrm>
          <a:prstGeom prst="rect">
            <a:avLst/>
          </a:prstGeom>
          <a:solidFill>
            <a:srgbClr val="8B07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0">
                <a:solidFill>
                  <a:srgbClr val="FFFFFF"/>
                </a:solidFill>
                <a:latin typeface="ITC Avant Garde Gothic"/>
              </a:rPr>
              <a:t>3. Run the trials</a:t>
            </a:r>
          </a:p>
        </p:txBody>
      </p:sp>
      <p:sp>
        <p:nvSpPr>
          <p:cNvPr id="29" name="Right Arrow 28"/>
          <p:cNvSpPr/>
          <p:nvPr/>
        </p:nvSpPr>
        <p:spPr>
          <a:xfrm>
            <a:off x="13176504" y="3410712"/>
            <a:ext cx="685800" cy="329184"/>
          </a:xfrm>
          <a:prstGeom prst="rightArrow">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3935456" y="3246120"/>
            <a:ext cx="3520440" cy="658368"/>
          </a:xfrm>
          <a:prstGeom prst="rect">
            <a:avLst/>
          </a:prstGeom>
          <a:solidFill>
            <a:srgbClr val="8B07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TC Avant Garde Gothic"/>
              </a:rPr>
              <a:t>4. Analyze results</a:t>
            </a:r>
          </a:p>
        </p:txBody>
      </p:sp>
      <p:sp>
        <p:nvSpPr>
          <p:cNvPr id="31" name="TextBox 30"/>
          <p:cNvSpPr txBox="1"/>
          <p:nvPr/>
        </p:nvSpPr>
        <p:spPr>
          <a:xfrm>
            <a:off x="822960" y="4160520"/>
            <a:ext cx="16642080" cy="384048"/>
          </a:xfrm>
          <a:prstGeom prst="rect">
            <a:avLst/>
          </a:prstGeom>
          <a:noFill/>
        </p:spPr>
        <p:txBody>
          <a:bodyPr wrap="square" anchor="t">
            <a:spAutoFit/>
          </a:bodyPr>
          <a:lstStyle/>
          <a:p>
            <a:pPr algn="l">
              <a:spcAft>
                <a:spcPts val="720"/>
              </a:spcAft>
            </a:pPr>
            <a:r>
              <a:rPr sz="1600">
                <a:solidFill>
                  <a:srgbClr val="6A5656"/>
                </a:solidFill>
                <a:latin typeface="ITC Avant Garde Gothic"/>
              </a:rPr>
              <a:t>Table 5. Variables of the study</a:t>
            </a:r>
          </a:p>
        </p:txBody>
      </p:sp>
      <p:graphicFrame>
        <p:nvGraphicFramePr>
          <p:cNvPr id="32" name="Table 31"/>
          <p:cNvGraphicFramePr>
            <a:graphicFrameLocks noGrp="1"/>
          </p:cNvGraphicFramePr>
          <p:nvPr/>
        </p:nvGraphicFramePr>
        <p:xfrm>
          <a:off x="822960" y="4572000"/>
          <a:ext cx="16642080" cy="4434840"/>
        </p:xfrm>
        <a:graphic>
          <a:graphicData uri="http://schemas.openxmlformats.org/drawingml/2006/table">
            <a:tbl>
              <a:tblPr firstRow="1" bandRow="1">
                <a:tableStyleId>{5C22544A-7EE6-4342-B048-85BDC9FD1C3A}</a:tableStyleId>
              </a:tblPr>
              <a:tblGrid>
                <a:gridCol w="5547360"/>
                <a:gridCol w="5547360"/>
                <a:gridCol w="5547360"/>
              </a:tblGrid>
              <a:tr h="502920">
                <a:tc>
                  <a:txBody>
                    <a:bodyPr/>
                    <a:lstStyle/>
                    <a:p>
                      <a:r>
                        <a:rPr sz="1500" b="1">
                          <a:solidFill>
                            <a:srgbClr val="FFFFFF"/>
                          </a:solidFill>
                          <a:latin typeface="ITC Avant Garde Gothic"/>
                        </a:rPr>
                        <a:t>Independent (varied)</a:t>
                      </a:r>
                    </a:p>
                  </a:txBody>
                  <a:tcPr>
                    <a:solidFill>
                      <a:srgbClr val="8B0707"/>
                    </a:solidFill>
                  </a:tcPr>
                </a:tc>
                <a:tc>
                  <a:txBody>
                    <a:bodyPr/>
                    <a:lstStyle/>
                    <a:p>
                      <a:r>
                        <a:rPr sz="1500" b="1">
                          <a:solidFill>
                            <a:srgbClr val="FFFFFF"/>
                          </a:solidFill>
                          <a:latin typeface="ITC Avant Garde Gothic"/>
                        </a:rPr>
                        <a:t>Dependent (measured)</a:t>
                      </a:r>
                    </a:p>
                  </a:txBody>
                  <a:tcPr>
                    <a:solidFill>
                      <a:srgbClr val="8B0707"/>
                    </a:solidFill>
                  </a:tcPr>
                </a:tc>
                <a:tc>
                  <a:txBody>
                    <a:bodyPr/>
                    <a:lstStyle/>
                    <a:p>
                      <a:r>
                        <a:rPr sz="1500" b="1">
                          <a:solidFill>
                            <a:srgbClr val="FFFFFF"/>
                          </a:solidFill>
                          <a:latin typeface="ITC Avant Garde Gothic"/>
                        </a:rPr>
                        <a:t>Controlled (held fixed)</a:t>
                      </a:r>
                    </a:p>
                  </a:txBody>
                  <a:tcPr>
                    <a:solidFill>
                      <a:srgbClr val="8B0707"/>
                    </a:solidFill>
                  </a:tcPr>
                </a:tc>
              </a:tr>
              <a:tr h="3931920">
                <a:tc>
                  <a:txBody>
                    <a:bodyPr/>
                    <a:lstStyle/>
                    <a:p>
                      <a:r>
                        <a:rPr sz="1500" b="0">
                          <a:solidFill>
                            <a:srgbClr val="2B2020"/>
                          </a:solidFill>
                          <a:latin typeface="ITC Avant Garde Gothic"/>
                        </a:rPr>
                        <a:t>Method (KALINGA; reference)</a:t>
                      </a:r>
                    </a:p>
                    <a:p>
                      <a:r>
                        <a:rPr sz="1500" b="0">
                          <a:solidFill>
                            <a:srgbClr val="2B2020"/>
                          </a:solidFill>
                          <a:latin typeface="ITC Avant Garde Gothic"/>
                        </a:rPr>
                        <a:t>Event (fall; activity)</a:t>
                      </a:r>
                    </a:p>
                    <a:p>
                      <a:r>
                        <a:rPr sz="1500" b="0">
                          <a:solidFill>
                            <a:srgbClr val="2B2020"/>
                          </a:solidFill>
                          <a:latin typeface="ITC Avant Garde Gothic"/>
                        </a:rPr>
                        <a:t>Dose slot and time</a:t>
                      </a:r>
                    </a:p>
                  </a:txBody>
                  <a:tcPr>
                    <a:solidFill>
                      <a:srgbClr val="FFFFFF"/>
                    </a:solidFill>
                  </a:tcPr>
                </a:tc>
                <a:tc>
                  <a:txBody>
                    <a:bodyPr/>
                    <a:lstStyle/>
                    <a:p>
                      <a:r>
                        <a:rPr sz="1500" b="0">
                          <a:solidFill>
                            <a:srgbClr val="2B2020"/>
                          </a:solidFill>
                          <a:latin typeface="ITC Avant Garde Gothic"/>
                        </a:rPr>
                        <a:t>Bias, LoA, Arms</a:t>
                      </a:r>
                    </a:p>
                    <a:p>
                      <a:r>
                        <a:rPr sz="1500" b="0">
                          <a:solidFill>
                            <a:srgbClr val="2B2020"/>
                          </a:solidFill>
                          <a:latin typeface="ITC Avant Garde Gothic"/>
                        </a:rPr>
                        <a:t>Sensitivity, specificity, alert time</a:t>
                      </a:r>
                    </a:p>
                    <a:p>
                      <a:r>
                        <a:rPr sz="1500" b="0">
                          <a:solidFill>
                            <a:srgbClr val="2B2020"/>
                          </a:solidFill>
                          <a:latin typeface="ITC Avant Garde Gothic"/>
                        </a:rPr>
                        <a:t>Correct slot, on time; SUS</a:t>
                      </a:r>
                    </a:p>
                  </a:txBody>
                  <a:tcPr>
                    <a:solidFill>
                      <a:srgbClr val="FFFFFF"/>
                    </a:solidFill>
                  </a:tcPr>
                </a:tc>
                <a:tc>
                  <a:txBody>
                    <a:bodyPr/>
                    <a:lstStyle/>
                    <a:p>
                      <a:r>
                        <a:rPr sz="1500" b="0">
                          <a:solidFill>
                            <a:srgbClr val="2B2020"/>
                          </a:solidFill>
                          <a:latin typeface="ITC Avant Garde Gothic"/>
                        </a:rPr>
                        <a:t>Room 26–30 °C; 5-min rest</a:t>
                      </a:r>
                    </a:p>
                    <a:p>
                      <a:r>
                        <a:rPr sz="1500" b="0">
                          <a:solidFill>
                            <a:srgbClr val="2B2020"/>
                          </a:solidFill>
                          <a:latin typeface="ITC Avant Garde Gothic"/>
                        </a:rPr>
                        <a:t>Forehead 3–5 cm; same finger</a:t>
                      </a:r>
                    </a:p>
                    <a:p>
                      <a:r>
                        <a:rPr sz="1500" b="0">
                          <a:solidFill>
                            <a:srgbClr val="2B2020"/>
                          </a:solidFill>
                          <a:latin typeface="ITC Avant Garde Gothic"/>
                        </a:rPr>
                        <a:t>Same Wi-Fi; placebo tablets</a:t>
                      </a:r>
                    </a:p>
                  </a:txBody>
                  <a:tcP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104983" y="0"/>
            <a:ext cx="18497965" cy="10416667"/>
          </a:xfrm>
          <a:custGeom>
            <a:avLst/>
            <a:gdLst/>
            <a:ahLst/>
            <a:cxnLst/>
            <a:rect r="r" b="b" t="t" l="l"/>
            <a:pathLst>
              <a:path h="10416667" w="18497965">
                <a:moveTo>
                  <a:pt x="0" y="0"/>
                </a:moveTo>
                <a:lnTo>
                  <a:pt x="18497966" y="0"/>
                </a:lnTo>
                <a:lnTo>
                  <a:pt x="18497966" y="10416667"/>
                </a:lnTo>
                <a:lnTo>
                  <a:pt x="0" y="10416667"/>
                </a:lnTo>
                <a:lnTo>
                  <a:pt x="0" y="0"/>
                </a:lnTo>
                <a:close/>
              </a:path>
            </a:pathLst>
          </a:custGeom>
          <a:blipFill>
            <a:blip r:embed="rId2">
              <a:alphaModFix amt="26000"/>
            </a:blip>
            <a:stretch>
              <a:fillRect l="0" t="0" r="0" b="0"/>
            </a:stretch>
          </a:blipFill>
        </p:spPr>
      </p:sp>
      <p:grpSp>
        <p:nvGrpSpPr>
          <p:cNvPr name="Group 3" id="3"/>
          <p:cNvGrpSpPr/>
          <p:nvPr/>
        </p:nvGrpSpPr>
        <p:grpSpPr>
          <a:xfrm rot="0">
            <a:off x="-514350" y="-959494"/>
            <a:ext cx="19524889" cy="2664593"/>
            <a:chOff x="0" y="0"/>
            <a:chExt cx="5142358" cy="701786"/>
          </a:xfrm>
        </p:grpSpPr>
        <p:sp>
          <p:nvSpPr>
            <p:cNvPr name="Freeform 4" id="4"/>
            <p:cNvSpPr/>
            <p:nvPr/>
          </p:nvSpPr>
          <p:spPr>
            <a:xfrm flipH="false" flipV="false" rot="0">
              <a:off x="0" y="0"/>
              <a:ext cx="5142357" cy="701786"/>
            </a:xfrm>
            <a:custGeom>
              <a:avLst/>
              <a:gdLst/>
              <a:ahLst/>
              <a:cxnLst/>
              <a:rect r="r" b="b" t="t" l="l"/>
              <a:pathLst>
                <a:path h="701786" w="5142357">
                  <a:moveTo>
                    <a:pt x="0" y="0"/>
                  </a:moveTo>
                  <a:lnTo>
                    <a:pt x="5142357" y="0"/>
                  </a:lnTo>
                  <a:lnTo>
                    <a:pt x="5142357" y="701786"/>
                  </a:lnTo>
                  <a:lnTo>
                    <a:pt x="0" y="701786"/>
                  </a:lnTo>
                  <a:close/>
                </a:path>
              </a:pathLst>
            </a:custGeom>
            <a:solidFill>
              <a:srgbClr val="8B0707"/>
            </a:solidFill>
          </p:spPr>
        </p:sp>
        <p:sp>
          <p:nvSpPr>
            <p:cNvPr name="TextBox 5" id="5"/>
            <p:cNvSpPr txBox="true"/>
            <p:nvPr/>
          </p:nvSpPr>
          <p:spPr>
            <a:xfrm>
              <a:off x="0" y="-76200"/>
              <a:ext cx="5142358" cy="777986"/>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13886" y="324392"/>
            <a:ext cx="17376398" cy="1229762"/>
          </a:xfrm>
          <a:prstGeom prst="rect">
            <a:avLst/>
          </a:prstGeom>
        </p:spPr>
        <p:txBody>
          <a:bodyPr anchor="t" rtlCol="false" tIns="0" lIns="0" bIns="0" rIns="0">
            <a:spAutoFit/>
          </a:bodyPr>
          <a:lstStyle/>
          <a:p>
            <a:pPr algn="l">
              <a:lnSpc>
                <a:spcPts val="7720"/>
              </a:lnSpc>
            </a:pPr>
            <a:r>
              <a:rPr lang="en-US" sz="8579">
                <a:solidFill>
                  <a:srgbClr val="FFFFFF"/>
                </a:solidFill>
                <a:latin typeface="ITC Avant Garde Gothic"/>
                <a:ea typeface="ITC Avant Garde Gothic"/>
                <a:cs typeface="ITC Avant Garde Gothic"/>
                <a:sym typeface="ITC Avant Garde Gothic"/>
              </a:rPr>
              <a:t>METHODOLOGY</a:t>
            </a:r>
          </a:p>
        </p:txBody>
      </p:sp>
      <p:sp>
        <p:nvSpPr>
          <p:cNvPr id="21" name="Subtitle"/>
          <p:cNvSpPr txBox="1"/>
          <p:nvPr/>
        </p:nvSpPr>
        <p:spPr>
          <a:xfrm>
            <a:off x="9509760" y="475488"/>
            <a:ext cx="8366760" cy="731520"/>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2600" dirty="0">
                <a:solidFill>
                  <a:srgbClr val="FFFFFF">
                    <a:alpha val="92000"/>
                  </a:srgbClr>
                </a:solidFill>
                <a:latin typeface="ITC Avant Garde Gothic"/>
                <a:ea typeface="ITC Avant Garde Gothic"/>
                <a:cs typeface="ITC Avant Garde Gothic"/>
                <a:sym typeface="ITC Avant Garde Gothic"/>
              </a:rPr>
              <a:t>Materials and Device</a:t>
            </a:r>
            <a:endParaRPr lang="en-US" sz="2600" dirty="0">
              <a:latin typeface="ITC Avant Garde Gothic"/>
            </a:endParaRPr>
          </a:p>
        </p:txBody>
      </p:sp>
      <p:sp>
        <p:nvSpPr>
          <p:cNvPr id="22" name="Slide number"/>
          <p:cNvSpPr txBox="1"/>
          <p:nvPr/>
        </p:nvSpPr>
        <p:spPr>
          <a:xfrm>
            <a:off x="17007840" y="9710928"/>
            <a:ext cx="914400" cy="384048"/>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1600" dirty="0">
                <a:solidFill>
                  <a:srgbClr val="8B0707">
                    <a:alpha val="75000"/>
                  </a:srgbClr>
                </a:solidFill>
                <a:latin typeface="ITC Avant Garde Gothic"/>
                <a:ea typeface="ITC Avant Garde Gothic"/>
                <a:cs typeface="ITC Avant Garde Gothic"/>
                <a:sym typeface="ITC Avant Garde Gothic"/>
              </a:rPr>
              <a:t>12</a:t>
            </a:r>
            <a:endParaRPr lang="en-US" sz="1600" dirty="0">
              <a:latin typeface="ITC Avant Garde Gothic"/>
            </a:endParaRPr>
          </a:p>
        </p:txBody>
      </p:sp>
      <p:sp>
        <p:nvSpPr>
          <p:cNvPr id="23" name="Rectangle 22"/>
          <p:cNvSpPr/>
          <p:nvPr/>
        </p:nvSpPr>
        <p:spPr>
          <a:xfrm>
            <a:off x="822960" y="2103120"/>
            <a:ext cx="6766560" cy="7452360"/>
          </a:xfrm>
          <a:prstGeom prst="rect">
            <a:avLst/>
          </a:prstGeom>
          <a:solidFill>
            <a:srgbClr val="FFFFFF"/>
          </a:solidFill>
          <a:ln w="12700">
            <a:solidFill>
              <a:srgbClr val="E3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43000" y="2240280"/>
            <a:ext cx="6217920" cy="457200"/>
          </a:xfrm>
          <a:prstGeom prst="rect">
            <a:avLst/>
          </a:prstGeom>
          <a:noFill/>
        </p:spPr>
        <p:txBody>
          <a:bodyPr wrap="square" anchor="t">
            <a:spAutoFit/>
          </a:bodyPr>
          <a:lstStyle/>
          <a:p>
            <a:pPr algn="l">
              <a:spcAft>
                <a:spcPts val="855"/>
              </a:spcAft>
            </a:pPr>
            <a:r>
              <a:rPr sz="1900" b="1">
                <a:solidFill>
                  <a:srgbClr val="8B0707"/>
                </a:solidFill>
                <a:latin typeface="ITC Avant Garde Gothic"/>
              </a:rPr>
              <a:t>Device specification</a:t>
            </a:r>
          </a:p>
        </p:txBody>
      </p:sp>
      <p:sp>
        <p:nvSpPr>
          <p:cNvPr id="25" name="TextBox 24"/>
          <p:cNvSpPr txBox="1"/>
          <p:nvPr/>
        </p:nvSpPr>
        <p:spPr>
          <a:xfrm>
            <a:off x="1143000" y="2788920"/>
            <a:ext cx="6217920" cy="6675120"/>
          </a:xfrm>
          <a:prstGeom prst="rect">
            <a:avLst/>
          </a:prstGeom>
          <a:noFill/>
        </p:spPr>
        <p:txBody>
          <a:bodyPr wrap="square" anchor="t">
            <a:spAutoFit/>
          </a:bodyPr>
          <a:lstStyle/>
          <a:p>
            <a:pPr algn="l">
              <a:spcAft>
                <a:spcPts val="630"/>
              </a:spcAft>
            </a:pPr>
            <a:r>
              <a:rPr sz="1400" b="0">
                <a:solidFill>
                  <a:srgbClr val="2B2020"/>
                </a:solidFill>
                <a:latin typeface="ITC Avant Garde Gothic"/>
              </a:rPr>
              <a:t>•  Shell: Baymax-inspired, 3D-printed white PLA, about 60 × 83 × 39 mm, breakaway cord.</a:t>
            </a:r>
          </a:p>
          <a:p>
            <a:pPr algn="l">
              <a:spcAft>
                <a:spcPts val="630"/>
              </a:spcAft>
            </a:pPr>
            <a:r>
              <a:rPr sz="1400" b="0">
                <a:solidFill>
                  <a:srgbClr val="2B2020"/>
                </a:solidFill>
                <a:latin typeface="ITC Avant Garde Gothic"/>
              </a:rPr>
              <a:t>•  Checks: MLX90614 forehead temperature; MAX30102 finger pad for pulse rate and SpO₂.</a:t>
            </a:r>
          </a:p>
          <a:p>
            <a:pPr algn="l">
              <a:spcAft>
                <a:spcPts val="630"/>
              </a:spcAft>
            </a:pPr>
            <a:r>
              <a:rPr sz="1400" b="0">
                <a:solidFill>
                  <a:srgbClr val="2B2020"/>
                </a:solidFill>
                <a:latin typeface="ITC Avant Garde Gothic"/>
              </a:rPr>
              <a:t>•  Safety: MPU6050 fall and no-movement sensing; SOS button; 10-s cancel window.</a:t>
            </a:r>
          </a:p>
          <a:p>
            <a:pPr algn="l">
              <a:spcAft>
                <a:spcPts val="630"/>
              </a:spcAft>
            </a:pPr>
            <a:r>
              <a:rPr sz="1400" b="0">
                <a:solidFill>
                  <a:srgbClr val="2B2020"/>
                </a:solidFill>
                <a:latin typeface="ITC Avant Garde Gothic"/>
              </a:rPr>
              <a:t>•  Medicine: 4-slot carousel turned by an SG90 servo; vibration, beeps, OLED message.</a:t>
            </a:r>
          </a:p>
          <a:p>
            <a:pPr algn="l">
              <a:spcAft>
                <a:spcPts val="630"/>
              </a:spcAft>
            </a:pPr>
            <a:r>
              <a:rPr sz="1400" b="0">
                <a:solidFill>
                  <a:srgbClr val="2B2020"/>
                </a:solidFill>
                <a:latin typeface="ITC Avant Garde Gothic"/>
              </a:rPr>
              <a:t>•  ESP32-C3 with Wi-Fi to Firebase; KALINGA Monitor app; 1000 mAh USB-C battery.</a:t>
            </a:r>
          </a:p>
        </p:txBody>
      </p:sp>
      <p:sp>
        <p:nvSpPr>
          <p:cNvPr id="26" name="TextBox 25"/>
          <p:cNvSpPr txBox="1"/>
          <p:nvPr/>
        </p:nvSpPr>
        <p:spPr>
          <a:xfrm>
            <a:off x="7863840" y="2075688"/>
            <a:ext cx="9601200" cy="384048"/>
          </a:xfrm>
          <a:prstGeom prst="rect">
            <a:avLst/>
          </a:prstGeom>
          <a:noFill/>
        </p:spPr>
        <p:txBody>
          <a:bodyPr wrap="square" anchor="t">
            <a:spAutoFit/>
          </a:bodyPr>
          <a:lstStyle/>
          <a:p>
            <a:pPr algn="l">
              <a:spcAft>
                <a:spcPts val="630"/>
              </a:spcAft>
            </a:pPr>
            <a:r>
              <a:rPr sz="1400" b="0">
                <a:solidFill>
                  <a:srgbClr val="6A5656"/>
                </a:solidFill>
                <a:latin typeface="ITC Avant Garde Gothic"/>
              </a:rPr>
              <a:t>Table 6. Materials and Components of KALINGA</a:t>
            </a:r>
          </a:p>
        </p:txBody>
      </p:sp>
      <p:graphicFrame>
        <p:nvGraphicFramePr>
          <p:cNvPr id="27" name="Table 26"/>
          <p:cNvGraphicFramePr>
            <a:graphicFrameLocks noGrp="1"/>
          </p:cNvGraphicFramePr>
          <p:nvPr/>
        </p:nvGraphicFramePr>
        <p:xfrm>
          <a:off x="7863840" y="2514600"/>
          <a:ext cx="9601200" cy="6537960"/>
        </p:xfrm>
        <a:graphic>
          <a:graphicData uri="http://schemas.openxmlformats.org/drawingml/2006/table">
            <a:tbl>
              <a:tblPr firstRow="1" bandRow="1">
                <a:tableStyleId>{5C22544A-7EE6-4342-B048-85BDC9FD1C3A}</a:tableStyleId>
              </a:tblPr>
              <a:tblGrid>
                <a:gridCol w="3931920"/>
                <a:gridCol w="1554480"/>
                <a:gridCol w="4114800"/>
              </a:tblGrid>
              <a:tr h="502920">
                <a:tc>
                  <a:txBody>
                    <a:bodyPr/>
                    <a:lstStyle/>
                    <a:p>
                      <a:r>
                        <a:rPr sz="1200" b="1">
                          <a:solidFill>
                            <a:srgbClr val="FFFFFF"/>
                          </a:solidFill>
                          <a:latin typeface="ITC Avant Garde Gothic"/>
                        </a:rPr>
                        <a:t>Material / Component</a:t>
                      </a:r>
                    </a:p>
                  </a:txBody>
                  <a:tcPr>
                    <a:solidFill>
                      <a:srgbClr val="8B0707"/>
                    </a:solidFill>
                  </a:tcPr>
                </a:tc>
                <a:tc>
                  <a:txBody>
                    <a:bodyPr/>
                    <a:lstStyle/>
                    <a:p>
                      <a:r>
                        <a:rPr sz="1200" b="1">
                          <a:solidFill>
                            <a:srgbClr val="FFFFFF"/>
                          </a:solidFill>
                          <a:latin typeface="ITC Avant Garde Gothic"/>
                        </a:rPr>
                        <a:t>Quantity</a:t>
                      </a:r>
                    </a:p>
                  </a:txBody>
                  <a:tcPr>
                    <a:solidFill>
                      <a:srgbClr val="8B0707"/>
                    </a:solidFill>
                  </a:tcPr>
                </a:tc>
                <a:tc>
                  <a:txBody>
                    <a:bodyPr/>
                    <a:lstStyle/>
                    <a:p>
                      <a:r>
                        <a:rPr sz="1200" b="1">
                          <a:solidFill>
                            <a:srgbClr val="FFFFFF"/>
                          </a:solidFill>
                          <a:latin typeface="ITC Avant Garde Gothic"/>
                        </a:rPr>
                        <a:t>Purpose</a:t>
                      </a:r>
                    </a:p>
                  </a:txBody>
                  <a:tcPr>
                    <a:solidFill>
                      <a:srgbClr val="8B0707"/>
                    </a:solidFill>
                  </a:tcPr>
                </a:tc>
              </a:tr>
              <a:tr h="502920">
                <a:tc>
                  <a:txBody>
                    <a:bodyPr/>
                    <a:lstStyle/>
                    <a:p>
                      <a:r>
                        <a:rPr sz="1200" b="0">
                          <a:solidFill>
                            <a:srgbClr val="8B0707"/>
                          </a:solidFill>
                          <a:latin typeface="ITC Avant Garde Gothic"/>
                        </a:rPr>
                        <a:t>ESP32-C3 SuperMini</a:t>
                      </a:r>
                    </a:p>
                  </a:txBody>
                  <a:tcPr>
                    <a:solidFill>
                      <a:srgbClr val="FFFFFF"/>
                    </a:solidFill>
                  </a:tcPr>
                </a:tc>
                <a:tc>
                  <a:txBody>
                    <a:bodyPr/>
                    <a:lstStyle/>
                    <a:p>
                      <a:r>
                        <a:rPr sz="1200" b="0">
                          <a:solidFill>
                            <a:srgbClr val="2B2020"/>
                          </a:solidFill>
                          <a:latin typeface="ITC Avant Garde Gothic"/>
                        </a:rPr>
                        <a:t>1</a:t>
                      </a:r>
                    </a:p>
                  </a:txBody>
                  <a:tcPr>
                    <a:solidFill>
                      <a:srgbClr val="FFFFFF"/>
                    </a:solidFill>
                  </a:tcPr>
                </a:tc>
                <a:tc>
                  <a:txBody>
                    <a:bodyPr/>
                    <a:lstStyle/>
                    <a:p>
                      <a:r>
                        <a:rPr sz="1200" b="0">
                          <a:solidFill>
                            <a:srgbClr val="2B2020"/>
                          </a:solidFill>
                          <a:latin typeface="ITC Avant Garde Gothic"/>
                        </a:rPr>
                        <a:t>Controller, Wi-Fi</a:t>
                      </a:r>
                    </a:p>
                  </a:txBody>
                  <a:tcPr>
                    <a:solidFill>
                      <a:srgbClr val="FFFFFF"/>
                    </a:solidFill>
                  </a:tcPr>
                </a:tc>
              </a:tr>
              <a:tr h="502920">
                <a:tc>
                  <a:txBody>
                    <a:bodyPr/>
                    <a:lstStyle/>
                    <a:p>
                      <a:r>
                        <a:rPr sz="1200" b="0">
                          <a:solidFill>
                            <a:srgbClr val="8B0707"/>
                          </a:solidFill>
                          <a:latin typeface="ITC Avant Garde Gothic"/>
                        </a:rPr>
                        <a:t>MLX90614 infrared thermometer</a:t>
                      </a:r>
                    </a:p>
                  </a:txBody>
                  <a:tcPr>
                    <a:solidFill>
                      <a:srgbClr val="F8EAEA"/>
                    </a:solidFill>
                  </a:tcPr>
                </a:tc>
                <a:tc>
                  <a:txBody>
                    <a:bodyPr/>
                    <a:lstStyle/>
                    <a:p>
                      <a:r>
                        <a:rPr sz="1200" b="0">
                          <a:solidFill>
                            <a:srgbClr val="2B2020"/>
                          </a:solidFill>
                          <a:latin typeface="ITC Avant Garde Gothic"/>
                        </a:rPr>
                        <a:t>1</a:t>
                      </a:r>
                    </a:p>
                  </a:txBody>
                  <a:tcPr>
                    <a:solidFill>
                      <a:srgbClr val="F8EAEA"/>
                    </a:solidFill>
                  </a:tcPr>
                </a:tc>
                <a:tc>
                  <a:txBody>
                    <a:bodyPr/>
                    <a:lstStyle/>
                    <a:p>
                      <a:r>
                        <a:rPr sz="1200" b="0">
                          <a:solidFill>
                            <a:srgbClr val="2B2020"/>
                          </a:solidFill>
                          <a:latin typeface="ITC Avant Garde Gothic"/>
                        </a:rPr>
                        <a:t>Forehead temperature</a:t>
                      </a:r>
                    </a:p>
                  </a:txBody>
                  <a:tcPr>
                    <a:solidFill>
                      <a:srgbClr val="F8EAEA"/>
                    </a:solidFill>
                  </a:tcPr>
                </a:tc>
              </a:tr>
              <a:tr h="502920">
                <a:tc>
                  <a:txBody>
                    <a:bodyPr/>
                    <a:lstStyle/>
                    <a:p>
                      <a:r>
                        <a:rPr sz="1200" b="0">
                          <a:solidFill>
                            <a:srgbClr val="8B0707"/>
                          </a:solidFill>
                          <a:latin typeface="ITC Avant Garde Gothic"/>
                        </a:rPr>
                        <a:t>MAX30102 pulse oximeter module</a:t>
                      </a:r>
                    </a:p>
                  </a:txBody>
                  <a:tcPr>
                    <a:solidFill>
                      <a:srgbClr val="FFFFFF"/>
                    </a:solidFill>
                  </a:tcPr>
                </a:tc>
                <a:tc>
                  <a:txBody>
                    <a:bodyPr/>
                    <a:lstStyle/>
                    <a:p>
                      <a:r>
                        <a:rPr sz="1200" b="0">
                          <a:solidFill>
                            <a:srgbClr val="2B2020"/>
                          </a:solidFill>
                          <a:latin typeface="ITC Avant Garde Gothic"/>
                        </a:rPr>
                        <a:t>1</a:t>
                      </a:r>
                    </a:p>
                  </a:txBody>
                  <a:tcPr>
                    <a:solidFill>
                      <a:srgbClr val="FFFFFF"/>
                    </a:solidFill>
                  </a:tcPr>
                </a:tc>
                <a:tc>
                  <a:txBody>
                    <a:bodyPr/>
                    <a:lstStyle/>
                    <a:p>
                      <a:r>
                        <a:rPr sz="1200" b="0">
                          <a:solidFill>
                            <a:srgbClr val="2B2020"/>
                          </a:solidFill>
                          <a:latin typeface="ITC Avant Garde Gothic"/>
                        </a:rPr>
                        <a:t>Pulse rate and SpO₂</a:t>
                      </a:r>
                    </a:p>
                  </a:txBody>
                  <a:tcPr>
                    <a:solidFill>
                      <a:srgbClr val="FFFFFF"/>
                    </a:solidFill>
                  </a:tcPr>
                </a:tc>
              </a:tr>
              <a:tr h="502920">
                <a:tc>
                  <a:txBody>
                    <a:bodyPr/>
                    <a:lstStyle/>
                    <a:p>
                      <a:r>
                        <a:rPr sz="1200" b="0">
                          <a:solidFill>
                            <a:srgbClr val="8B0707"/>
                          </a:solidFill>
                          <a:latin typeface="ITC Avant Garde Gothic"/>
                        </a:rPr>
                        <a:t>MPU6050 accelerometer</a:t>
                      </a:r>
                    </a:p>
                  </a:txBody>
                  <a:tcPr>
                    <a:solidFill>
                      <a:srgbClr val="F8EAEA"/>
                    </a:solidFill>
                  </a:tcPr>
                </a:tc>
                <a:tc>
                  <a:txBody>
                    <a:bodyPr/>
                    <a:lstStyle/>
                    <a:p>
                      <a:r>
                        <a:rPr sz="1200" b="0">
                          <a:solidFill>
                            <a:srgbClr val="2B2020"/>
                          </a:solidFill>
                          <a:latin typeface="ITC Avant Garde Gothic"/>
                        </a:rPr>
                        <a:t>1</a:t>
                      </a:r>
                    </a:p>
                  </a:txBody>
                  <a:tcPr>
                    <a:solidFill>
                      <a:srgbClr val="F8EAEA"/>
                    </a:solidFill>
                  </a:tcPr>
                </a:tc>
                <a:tc>
                  <a:txBody>
                    <a:bodyPr/>
                    <a:lstStyle/>
                    <a:p>
                      <a:r>
                        <a:rPr sz="1200" b="0">
                          <a:solidFill>
                            <a:srgbClr val="2B2020"/>
                          </a:solidFill>
                          <a:latin typeface="ITC Avant Garde Gothic"/>
                        </a:rPr>
                        <a:t>Falls and inactivity</a:t>
                      </a:r>
                    </a:p>
                  </a:txBody>
                  <a:tcPr>
                    <a:solidFill>
                      <a:srgbClr val="F8EAEA"/>
                    </a:solidFill>
                  </a:tcPr>
                </a:tc>
              </a:tr>
              <a:tr h="502920">
                <a:tc>
                  <a:txBody>
                    <a:bodyPr/>
                    <a:lstStyle/>
                    <a:p>
                      <a:r>
                        <a:rPr sz="1200" b="0">
                          <a:solidFill>
                            <a:srgbClr val="8B0707"/>
                          </a:solidFill>
                          <a:latin typeface="ITC Avant Garde Gothic"/>
                        </a:rPr>
                        <a:t>0.91-in OLED display</a:t>
                      </a:r>
                    </a:p>
                  </a:txBody>
                  <a:tcPr>
                    <a:solidFill>
                      <a:srgbClr val="FFFFFF"/>
                    </a:solidFill>
                  </a:tcPr>
                </a:tc>
                <a:tc>
                  <a:txBody>
                    <a:bodyPr/>
                    <a:lstStyle/>
                    <a:p>
                      <a:r>
                        <a:rPr sz="1200" b="0">
                          <a:solidFill>
                            <a:srgbClr val="2B2020"/>
                          </a:solidFill>
                          <a:latin typeface="ITC Avant Garde Gothic"/>
                        </a:rPr>
                        <a:t>1</a:t>
                      </a:r>
                    </a:p>
                  </a:txBody>
                  <a:tcPr>
                    <a:solidFill>
                      <a:srgbClr val="FFFFFF"/>
                    </a:solidFill>
                  </a:tcPr>
                </a:tc>
                <a:tc>
                  <a:txBody>
                    <a:bodyPr/>
                    <a:lstStyle/>
                    <a:p>
                      <a:r>
                        <a:rPr sz="1200" b="0">
                          <a:solidFill>
                            <a:srgbClr val="2B2020"/>
                          </a:solidFill>
                          <a:latin typeface="ITC Avant Garde Gothic"/>
                        </a:rPr>
                        <a:t>Time, doses, results</a:t>
                      </a:r>
                    </a:p>
                  </a:txBody>
                  <a:tcPr>
                    <a:solidFill>
                      <a:srgbClr val="FFFFFF"/>
                    </a:solidFill>
                  </a:tcPr>
                </a:tc>
              </a:tr>
              <a:tr h="502920">
                <a:tc>
                  <a:txBody>
                    <a:bodyPr/>
                    <a:lstStyle/>
                    <a:p>
                      <a:r>
                        <a:rPr sz="1200" b="0">
                          <a:solidFill>
                            <a:srgbClr val="8B0707"/>
                          </a:solidFill>
                          <a:latin typeface="ITC Avant Garde Gothic"/>
                        </a:rPr>
                        <a:t>SG90 micro servo and printed carousel</a:t>
                      </a:r>
                    </a:p>
                  </a:txBody>
                  <a:tcPr>
                    <a:solidFill>
                      <a:srgbClr val="F8EAEA"/>
                    </a:solidFill>
                  </a:tcPr>
                </a:tc>
                <a:tc>
                  <a:txBody>
                    <a:bodyPr/>
                    <a:lstStyle/>
                    <a:p>
                      <a:r>
                        <a:rPr sz="1200" b="0">
                          <a:solidFill>
                            <a:srgbClr val="2B2020"/>
                          </a:solidFill>
                          <a:latin typeface="ITC Avant Garde Gothic"/>
                        </a:rPr>
                        <a:t>1</a:t>
                      </a:r>
                    </a:p>
                  </a:txBody>
                  <a:tcPr>
                    <a:solidFill>
                      <a:srgbClr val="F8EAEA"/>
                    </a:solidFill>
                  </a:tcPr>
                </a:tc>
                <a:tc>
                  <a:txBody>
                    <a:bodyPr/>
                    <a:lstStyle/>
                    <a:p>
                      <a:r>
                        <a:rPr sz="1200" b="0">
                          <a:solidFill>
                            <a:srgbClr val="2B2020"/>
                          </a:solidFill>
                          <a:latin typeface="ITC Avant Garde Gothic"/>
                        </a:rPr>
                        <a:t>Pill dispensing</a:t>
                      </a:r>
                    </a:p>
                  </a:txBody>
                  <a:tcPr>
                    <a:solidFill>
                      <a:srgbClr val="F8EAEA"/>
                    </a:solidFill>
                  </a:tcPr>
                </a:tc>
              </a:tr>
              <a:tr h="502920">
                <a:tc>
                  <a:txBody>
                    <a:bodyPr/>
                    <a:lstStyle/>
                    <a:p>
                      <a:r>
                        <a:rPr sz="1200" b="0">
                          <a:solidFill>
                            <a:srgbClr val="8B0707"/>
                          </a:solidFill>
                          <a:latin typeface="ITC Avant Garde Gothic"/>
                        </a:rPr>
                        <a:t>Vibration motor and buzzer</a:t>
                      </a:r>
                    </a:p>
                  </a:txBody>
                  <a:tcPr>
                    <a:solidFill>
                      <a:srgbClr val="FFFFFF"/>
                    </a:solidFill>
                  </a:tcPr>
                </a:tc>
                <a:tc>
                  <a:txBody>
                    <a:bodyPr/>
                    <a:lstStyle/>
                    <a:p>
                      <a:r>
                        <a:rPr sz="1200" b="0">
                          <a:solidFill>
                            <a:srgbClr val="2B2020"/>
                          </a:solidFill>
                          <a:latin typeface="ITC Avant Garde Gothic"/>
                        </a:rPr>
                        <a:t>1 each</a:t>
                      </a:r>
                    </a:p>
                  </a:txBody>
                  <a:tcPr>
                    <a:solidFill>
                      <a:srgbClr val="FFFFFF"/>
                    </a:solidFill>
                  </a:tcPr>
                </a:tc>
                <a:tc>
                  <a:txBody>
                    <a:bodyPr/>
                    <a:lstStyle/>
                    <a:p>
                      <a:r>
                        <a:rPr sz="1200" b="0">
                          <a:solidFill>
                            <a:srgbClr val="2B2020"/>
                          </a:solidFill>
                          <a:latin typeface="ITC Avant Garde Gothic"/>
                        </a:rPr>
                        <a:t>Reminders and alarms</a:t>
                      </a:r>
                    </a:p>
                  </a:txBody>
                  <a:tcPr>
                    <a:solidFill>
                      <a:srgbClr val="FFFFFF"/>
                    </a:solidFill>
                  </a:tcPr>
                </a:tc>
              </a:tr>
              <a:tr h="502920">
                <a:tc>
                  <a:txBody>
                    <a:bodyPr/>
                    <a:lstStyle/>
                    <a:p>
                      <a:r>
                        <a:rPr sz="1200" b="0">
                          <a:solidFill>
                            <a:srgbClr val="8B0707"/>
                          </a:solidFill>
                          <a:latin typeface="ITC Avant Garde Gothic"/>
                        </a:rPr>
                        <a:t>LiPo 1000 mAh, TP4056 USB-C charger</a:t>
                      </a:r>
                    </a:p>
                  </a:txBody>
                  <a:tcPr>
                    <a:solidFill>
                      <a:srgbClr val="F8EAEA"/>
                    </a:solidFill>
                  </a:tcPr>
                </a:tc>
                <a:tc>
                  <a:txBody>
                    <a:bodyPr/>
                    <a:lstStyle/>
                    <a:p>
                      <a:r>
                        <a:rPr sz="1200" b="0">
                          <a:solidFill>
                            <a:srgbClr val="2B2020"/>
                          </a:solidFill>
                          <a:latin typeface="ITC Avant Garde Gothic"/>
                        </a:rPr>
                        <a:t>1 each</a:t>
                      </a:r>
                    </a:p>
                  </a:txBody>
                  <a:tcPr>
                    <a:solidFill>
                      <a:srgbClr val="F8EAEA"/>
                    </a:solidFill>
                  </a:tcPr>
                </a:tc>
                <a:tc>
                  <a:txBody>
                    <a:bodyPr/>
                    <a:lstStyle/>
                    <a:p>
                      <a:r>
                        <a:rPr sz="1200" b="0">
                          <a:solidFill>
                            <a:srgbClr val="2B2020"/>
                          </a:solidFill>
                          <a:latin typeface="ITC Avant Garde Gothic"/>
                        </a:rPr>
                        <a:t>Power</a:t>
                      </a:r>
                    </a:p>
                  </a:txBody>
                  <a:tcPr>
                    <a:solidFill>
                      <a:srgbClr val="F8EAEA"/>
                    </a:solidFill>
                  </a:tcPr>
                </a:tc>
              </a:tr>
              <a:tr h="502920">
                <a:tc>
                  <a:txBody>
                    <a:bodyPr/>
                    <a:lstStyle/>
                    <a:p>
                      <a:r>
                        <a:rPr sz="1200" b="0">
                          <a:solidFill>
                            <a:srgbClr val="8B0707"/>
                          </a:solidFill>
                          <a:latin typeface="ITC Avant Garde Gothic"/>
                        </a:rPr>
                        <a:t>White PLA, black paint</a:t>
                      </a:r>
                    </a:p>
                  </a:txBody>
                  <a:tcPr>
                    <a:solidFill>
                      <a:srgbClr val="FFFFFF"/>
                    </a:solidFill>
                  </a:tcPr>
                </a:tc>
                <a:tc>
                  <a:txBody>
                    <a:bodyPr/>
                    <a:lstStyle/>
                    <a:p>
                      <a:r>
                        <a:rPr sz="1200" b="0">
                          <a:solidFill>
                            <a:srgbClr val="2B2020"/>
                          </a:solidFill>
                          <a:latin typeface="ITC Avant Garde Gothic"/>
                        </a:rPr>
                        <a:t>60 g</a:t>
                      </a:r>
                    </a:p>
                  </a:txBody>
                  <a:tcPr>
                    <a:solidFill>
                      <a:srgbClr val="FFFFFF"/>
                    </a:solidFill>
                  </a:tcPr>
                </a:tc>
                <a:tc>
                  <a:txBody>
                    <a:bodyPr/>
                    <a:lstStyle/>
                    <a:p>
                      <a:r>
                        <a:rPr sz="1200" b="0">
                          <a:solidFill>
                            <a:srgbClr val="2B2020"/>
                          </a:solidFill>
                          <a:latin typeface="ITC Avant Garde Gothic"/>
                        </a:rPr>
                        <a:t>3D-printed shell</a:t>
                      </a:r>
                    </a:p>
                  </a:txBody>
                  <a:tcPr>
                    <a:solidFill>
                      <a:srgbClr val="FFFFFF"/>
                    </a:solidFill>
                  </a:tcPr>
                </a:tc>
              </a:tr>
              <a:tr h="502920">
                <a:tc>
                  <a:txBody>
                    <a:bodyPr/>
                    <a:lstStyle/>
                    <a:p>
                      <a:r>
                        <a:rPr sz="1200" b="0">
                          <a:solidFill>
                            <a:srgbClr val="8B0707"/>
                          </a:solidFill>
                          <a:latin typeface="ITC Avant Garde Gothic"/>
                        </a:rPr>
                        <a:t>Reference thermometer and pulse oximeter</a:t>
                      </a:r>
                    </a:p>
                  </a:txBody>
                  <a:tcPr>
                    <a:solidFill>
                      <a:srgbClr val="F8EAEA"/>
                    </a:solidFill>
                  </a:tcPr>
                </a:tc>
                <a:tc>
                  <a:txBody>
                    <a:bodyPr/>
                    <a:lstStyle/>
                    <a:p>
                      <a:r>
                        <a:rPr sz="1200" b="0">
                          <a:solidFill>
                            <a:srgbClr val="2B2020"/>
                          </a:solidFill>
                          <a:latin typeface="ITC Avant Garde Gothic"/>
                        </a:rPr>
                        <a:t>1 each</a:t>
                      </a:r>
                    </a:p>
                  </a:txBody>
                  <a:tcPr>
                    <a:solidFill>
                      <a:srgbClr val="F8EAEA"/>
                    </a:solidFill>
                  </a:tcPr>
                </a:tc>
                <a:tc>
                  <a:txBody>
                    <a:bodyPr/>
                    <a:lstStyle/>
                    <a:p>
                      <a:r>
                        <a:rPr sz="1200" b="0">
                          <a:solidFill>
                            <a:srgbClr val="2B2020"/>
                          </a:solidFill>
                          <a:latin typeface="ITC Avant Garde Gothic"/>
                        </a:rPr>
                        <a:t>Reference readings (borrowed)</a:t>
                      </a:r>
                    </a:p>
                  </a:txBody>
                  <a:tcPr>
                    <a:solidFill>
                      <a:srgbClr val="F8EAEA"/>
                    </a:solidFill>
                  </a:tcPr>
                </a:tc>
              </a:tr>
              <a:tr h="502920">
                <a:tc>
                  <a:txBody>
                    <a:bodyPr/>
                    <a:lstStyle/>
                    <a:p>
                      <a:r>
                        <a:rPr sz="1200" b="0">
                          <a:solidFill>
                            <a:srgbClr val="8B0707"/>
                          </a:solidFill>
                          <a:latin typeface="ITC Avant Garde Gothic"/>
                        </a:rPr>
                        <a:t>20-cm gym mats, knee and elbow pads</a:t>
                      </a:r>
                    </a:p>
                  </a:txBody>
                  <a:tcPr>
                    <a:solidFill>
                      <a:srgbClr val="FFFFFF"/>
                    </a:solidFill>
                  </a:tcPr>
                </a:tc>
                <a:tc>
                  <a:txBody>
                    <a:bodyPr/>
                    <a:lstStyle/>
                    <a:p>
                      <a:r>
                        <a:rPr sz="1200" b="0">
                          <a:solidFill>
                            <a:srgbClr val="2B2020"/>
                          </a:solidFill>
                          <a:latin typeface="ITC Avant Garde Gothic"/>
                        </a:rPr>
                        <a:t>2; 1 set</a:t>
                      </a:r>
                    </a:p>
                  </a:txBody>
                  <a:tcPr>
                    <a:solidFill>
                      <a:srgbClr val="FFFFFF"/>
                    </a:solidFill>
                  </a:tcPr>
                </a:tc>
                <a:tc>
                  <a:txBody>
                    <a:bodyPr/>
                    <a:lstStyle/>
                    <a:p>
                      <a:r>
                        <a:rPr sz="1200" b="0">
                          <a:solidFill>
                            <a:srgbClr val="2B2020"/>
                          </a:solidFill>
                          <a:latin typeface="ITC Avant Garde Gothic"/>
                        </a:rPr>
                        <a:t>Simulated falls</a:t>
                      </a:r>
                    </a:p>
                  </a:txBody>
                  <a:tcP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104983" y="0"/>
            <a:ext cx="18497965" cy="10416667"/>
          </a:xfrm>
          <a:custGeom>
            <a:avLst/>
            <a:gdLst/>
            <a:ahLst/>
            <a:cxnLst/>
            <a:rect r="r" b="b" t="t" l="l"/>
            <a:pathLst>
              <a:path h="10416667" w="18497965">
                <a:moveTo>
                  <a:pt x="0" y="0"/>
                </a:moveTo>
                <a:lnTo>
                  <a:pt x="18497966" y="0"/>
                </a:lnTo>
                <a:lnTo>
                  <a:pt x="18497966" y="10416667"/>
                </a:lnTo>
                <a:lnTo>
                  <a:pt x="0" y="10416667"/>
                </a:lnTo>
                <a:lnTo>
                  <a:pt x="0" y="0"/>
                </a:lnTo>
                <a:close/>
              </a:path>
            </a:pathLst>
          </a:custGeom>
          <a:blipFill>
            <a:blip r:embed="rId2">
              <a:alphaModFix amt="26000"/>
            </a:blip>
            <a:stretch>
              <a:fillRect l="0" t="0" r="0" b="0"/>
            </a:stretch>
          </a:blipFill>
        </p:spPr>
        <p:txBody>
          <a:bodyPr/>
          <a:p/>
        </p:txBody>
      </p:sp>
      <p:grpSp>
        <p:nvGrpSpPr>
          <p:cNvPr name="Group 3" id="3"/>
          <p:cNvGrpSpPr/>
          <p:nvPr/>
        </p:nvGrpSpPr>
        <p:grpSpPr>
          <a:xfrm rot="0">
            <a:off x="-514350" y="-959494"/>
            <a:ext cx="19524889" cy="2664593"/>
            <a:chOff x="0" y="0"/>
            <a:chExt cx="5142358" cy="701786"/>
          </a:xfrm>
        </p:grpSpPr>
        <p:sp>
          <p:nvSpPr>
            <p:cNvPr name="Freeform 4" id="4"/>
            <p:cNvSpPr/>
            <p:nvPr/>
          </p:nvSpPr>
          <p:spPr>
            <a:xfrm flipH="false" flipV="false" rot="0">
              <a:off x="0" y="0"/>
              <a:ext cx="5142357" cy="701786"/>
            </a:xfrm>
            <a:custGeom>
              <a:avLst/>
              <a:gdLst/>
              <a:ahLst/>
              <a:cxnLst/>
              <a:rect r="r" b="b" t="t" l="l"/>
              <a:pathLst>
                <a:path h="701786" w="5142357">
                  <a:moveTo>
                    <a:pt x="0" y="0"/>
                  </a:moveTo>
                  <a:lnTo>
                    <a:pt x="5142357" y="0"/>
                  </a:lnTo>
                  <a:lnTo>
                    <a:pt x="5142357" y="701786"/>
                  </a:lnTo>
                  <a:lnTo>
                    <a:pt x="0" y="701786"/>
                  </a:lnTo>
                  <a:close/>
                </a:path>
              </a:pathLst>
            </a:custGeom>
            <a:solidFill>
              <a:srgbClr val="8B0707"/>
            </a:solidFill>
          </p:spPr>
        </p:sp>
        <p:sp>
          <p:nvSpPr>
            <p:cNvPr name="TextBox 5" id="5"/>
            <p:cNvSpPr txBox="true"/>
            <p:nvPr/>
          </p:nvSpPr>
          <p:spPr>
            <a:xfrm>
              <a:off x="0" y="-76200"/>
              <a:ext cx="5142358" cy="777986"/>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13886" y="324392"/>
            <a:ext cx="17376398" cy="1229762"/>
          </a:xfrm>
          <a:prstGeom prst="rect">
            <a:avLst/>
          </a:prstGeom>
        </p:spPr>
        <p:txBody>
          <a:bodyPr anchor="t" rtlCol="false" tIns="0" lIns="0" bIns="0" rIns="0">
            <a:spAutoFit/>
          </a:bodyPr>
          <a:lstStyle/>
          <a:p>
            <a:pPr algn="l">
              <a:lnSpc>
                <a:spcPts val="7720"/>
              </a:lnSpc>
            </a:pPr>
            <a:r>
              <a:rPr lang="en-US" sz="8579">
                <a:solidFill>
                  <a:srgbClr val="FFFFFF"/>
                </a:solidFill>
                <a:latin typeface="ITC Avant Garde Gothic"/>
                <a:ea typeface="ITC Avant Garde Gothic"/>
                <a:cs typeface="ITC Avant Garde Gothic"/>
                <a:sym typeface="ITC Avant Garde Gothic"/>
              </a:rPr>
              <a:t>METHODOLOGY</a:t>
            </a:r>
          </a:p>
        </p:txBody>
      </p:sp>
      <p:sp>
        <p:nvSpPr>
          <p:cNvPr id="21" name="Subtitle"/>
          <p:cNvSpPr txBox="1"/>
          <p:nvPr/>
        </p:nvSpPr>
        <p:spPr>
          <a:xfrm>
            <a:off x="9509760" y="475488"/>
            <a:ext cx="8366760" cy="731520"/>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2600" dirty="0">
                <a:solidFill>
                  <a:srgbClr val="FFFFFF">
                    <a:alpha val="92000"/>
                  </a:srgbClr>
                </a:solidFill>
                <a:latin typeface="ITC Avant Garde Gothic"/>
                <a:ea typeface="ITC Avant Garde Gothic"/>
                <a:cs typeface="ITC Avant Garde Gothic"/>
                <a:sym typeface="ITC Avant Garde Gothic"/>
              </a:rPr>
              <a:t>Data Gathering Procedure</a:t>
            </a:r>
            <a:endParaRPr lang="en-US" sz="2600" dirty="0">
              <a:latin typeface="ITC Avant Garde Gothic"/>
            </a:endParaRPr>
          </a:p>
        </p:txBody>
      </p:sp>
      <p:sp>
        <p:nvSpPr>
          <p:cNvPr id="22" name="Slide number"/>
          <p:cNvSpPr txBox="1"/>
          <p:nvPr/>
        </p:nvSpPr>
        <p:spPr>
          <a:xfrm>
            <a:off x="17007840" y="9710928"/>
            <a:ext cx="914400" cy="384048"/>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1600" dirty="0">
                <a:solidFill>
                  <a:srgbClr val="8B0707">
                    <a:alpha val="75000"/>
                  </a:srgbClr>
                </a:solidFill>
                <a:latin typeface="ITC Avant Garde Gothic"/>
                <a:ea typeface="ITC Avant Garde Gothic"/>
                <a:cs typeface="ITC Avant Garde Gothic"/>
                <a:sym typeface="ITC Avant Garde Gothic"/>
              </a:rPr>
              <a:t>13</a:t>
            </a:r>
            <a:endParaRPr lang="en-US" sz="1600" dirty="0">
              <a:latin typeface="ITC Avant Garde Gothic"/>
            </a:endParaRPr>
          </a:p>
        </p:txBody>
      </p:sp>
      <p:sp>
        <p:nvSpPr>
          <p:cNvPr id="23" name="Rectangle 22"/>
          <p:cNvSpPr/>
          <p:nvPr/>
        </p:nvSpPr>
        <p:spPr>
          <a:xfrm>
            <a:off x="822960" y="2194560"/>
            <a:ext cx="3108960" cy="2743200"/>
          </a:xfrm>
          <a:prstGeom prst="rect">
            <a:avLst/>
          </a:prstGeom>
          <a:solidFill>
            <a:srgbClr val="FFFFFF"/>
          </a:solidFill>
          <a:ln w="12700">
            <a:solidFill>
              <a:srgbClr val="8B07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2331720"/>
            <a:ext cx="2743200" cy="457200"/>
          </a:xfrm>
          <a:prstGeom prst="rect">
            <a:avLst/>
          </a:prstGeom>
          <a:noFill/>
        </p:spPr>
        <p:txBody>
          <a:bodyPr wrap="square" anchor="t">
            <a:spAutoFit/>
          </a:bodyPr>
          <a:lstStyle/>
          <a:p>
            <a:pPr algn="l">
              <a:spcAft>
                <a:spcPts val="630"/>
              </a:spcAft>
            </a:pPr>
            <a:r>
              <a:rPr sz="1400" b="1">
                <a:solidFill>
                  <a:srgbClr val="8B0707"/>
                </a:solidFill>
                <a:latin typeface="ITC Avant Garde Gothic"/>
              </a:rPr>
              <a:t>Step 1</a:t>
            </a:r>
          </a:p>
        </p:txBody>
      </p:sp>
      <p:sp>
        <p:nvSpPr>
          <p:cNvPr id="25" name="TextBox 24"/>
          <p:cNvSpPr txBox="1"/>
          <p:nvPr/>
        </p:nvSpPr>
        <p:spPr>
          <a:xfrm>
            <a:off x="1005840" y="2880360"/>
            <a:ext cx="2743200" cy="1920240"/>
          </a:xfrm>
          <a:prstGeom prst="rect">
            <a:avLst/>
          </a:prstGeom>
          <a:noFill/>
        </p:spPr>
        <p:txBody>
          <a:bodyPr wrap="square" anchor="t">
            <a:spAutoFit/>
          </a:bodyPr>
          <a:lstStyle/>
          <a:p>
            <a:pPr algn="l">
              <a:spcAft>
                <a:spcPts val="810"/>
              </a:spcAft>
            </a:pPr>
            <a:r>
              <a:rPr sz="1800" b="0">
                <a:solidFill>
                  <a:srgbClr val="2B2020"/>
                </a:solidFill>
                <a:latin typeface="ITC Avant Garde Gothic"/>
              </a:rPr>
              <a:t>Secure IRB approval, consent</a:t>
            </a:r>
          </a:p>
        </p:txBody>
      </p:sp>
      <p:sp>
        <p:nvSpPr>
          <p:cNvPr id="26" name="Right Arrow 25"/>
          <p:cNvSpPr/>
          <p:nvPr/>
        </p:nvSpPr>
        <p:spPr>
          <a:xfrm>
            <a:off x="3950207" y="3383280"/>
            <a:ext cx="237744" cy="365760"/>
          </a:xfrm>
          <a:prstGeom prst="rightArrow">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06240" y="2194560"/>
            <a:ext cx="3108960" cy="2743200"/>
          </a:xfrm>
          <a:prstGeom prst="rect">
            <a:avLst/>
          </a:prstGeom>
          <a:solidFill>
            <a:srgbClr val="FFFFFF"/>
          </a:solidFill>
          <a:ln w="12700">
            <a:solidFill>
              <a:srgbClr val="8B07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9120" y="2331720"/>
            <a:ext cx="2743200" cy="457200"/>
          </a:xfrm>
          <a:prstGeom prst="rect">
            <a:avLst/>
          </a:prstGeom>
          <a:noFill/>
        </p:spPr>
        <p:txBody>
          <a:bodyPr wrap="square" anchor="t">
            <a:spAutoFit/>
          </a:bodyPr>
          <a:lstStyle/>
          <a:p>
            <a:pPr algn="l">
              <a:spcAft>
                <a:spcPts val="630"/>
              </a:spcAft>
            </a:pPr>
            <a:r>
              <a:rPr sz="1400" b="1">
                <a:solidFill>
                  <a:srgbClr val="8B0707"/>
                </a:solidFill>
                <a:latin typeface="ITC Avant Garde Gothic"/>
              </a:rPr>
              <a:t>Step 2</a:t>
            </a:r>
          </a:p>
        </p:txBody>
      </p:sp>
      <p:sp>
        <p:nvSpPr>
          <p:cNvPr id="29" name="TextBox 28"/>
          <p:cNvSpPr txBox="1"/>
          <p:nvPr/>
        </p:nvSpPr>
        <p:spPr>
          <a:xfrm>
            <a:off x="4389120" y="2880360"/>
            <a:ext cx="2743200" cy="1920240"/>
          </a:xfrm>
          <a:prstGeom prst="rect">
            <a:avLst/>
          </a:prstGeom>
          <a:noFill/>
        </p:spPr>
        <p:txBody>
          <a:bodyPr wrap="square" anchor="t">
            <a:spAutoFit/>
          </a:bodyPr>
          <a:lstStyle/>
          <a:p>
            <a:pPr algn="l">
              <a:spcAft>
                <a:spcPts val="810"/>
              </a:spcAft>
            </a:pPr>
            <a:r>
              <a:rPr sz="1800" b="0">
                <a:solidFill>
                  <a:srgbClr val="2B2020"/>
                </a:solidFill>
                <a:latin typeface="ITC Avant Garde Gothic"/>
              </a:rPr>
              <a:t>Design the shell in CAD</a:t>
            </a:r>
          </a:p>
        </p:txBody>
      </p:sp>
      <p:sp>
        <p:nvSpPr>
          <p:cNvPr id="30" name="Right Arrow 29"/>
          <p:cNvSpPr/>
          <p:nvPr/>
        </p:nvSpPr>
        <p:spPr>
          <a:xfrm>
            <a:off x="7333488" y="3383280"/>
            <a:ext cx="237744" cy="365760"/>
          </a:xfrm>
          <a:prstGeom prst="rightArrow">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589520" y="2194560"/>
            <a:ext cx="3108960" cy="2743200"/>
          </a:xfrm>
          <a:prstGeom prst="rect">
            <a:avLst/>
          </a:prstGeom>
          <a:solidFill>
            <a:srgbClr val="FFFFFF"/>
          </a:solidFill>
          <a:ln w="12700">
            <a:solidFill>
              <a:srgbClr val="8B07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0" y="2331720"/>
            <a:ext cx="2743200" cy="457200"/>
          </a:xfrm>
          <a:prstGeom prst="rect">
            <a:avLst/>
          </a:prstGeom>
          <a:noFill/>
        </p:spPr>
        <p:txBody>
          <a:bodyPr wrap="square" anchor="t">
            <a:spAutoFit/>
          </a:bodyPr>
          <a:lstStyle/>
          <a:p>
            <a:pPr algn="l">
              <a:spcAft>
                <a:spcPts val="630"/>
              </a:spcAft>
            </a:pPr>
            <a:r>
              <a:rPr sz="1400" b="1">
                <a:solidFill>
                  <a:srgbClr val="8B0707"/>
                </a:solidFill>
                <a:latin typeface="ITC Avant Garde Gothic"/>
              </a:rPr>
              <a:t>Step 3</a:t>
            </a:r>
          </a:p>
        </p:txBody>
      </p:sp>
      <p:sp>
        <p:nvSpPr>
          <p:cNvPr id="33" name="TextBox 32"/>
          <p:cNvSpPr txBox="1"/>
          <p:nvPr/>
        </p:nvSpPr>
        <p:spPr>
          <a:xfrm>
            <a:off x="7772400" y="2880360"/>
            <a:ext cx="2743200" cy="1920240"/>
          </a:xfrm>
          <a:prstGeom prst="rect">
            <a:avLst/>
          </a:prstGeom>
          <a:noFill/>
        </p:spPr>
        <p:txBody>
          <a:bodyPr wrap="square" anchor="t">
            <a:spAutoFit/>
          </a:bodyPr>
          <a:lstStyle/>
          <a:p>
            <a:pPr algn="l">
              <a:spcAft>
                <a:spcPts val="810"/>
              </a:spcAft>
            </a:pPr>
            <a:r>
              <a:rPr sz="1800" b="0">
                <a:solidFill>
                  <a:srgbClr val="2B2020"/>
                </a:solidFill>
                <a:latin typeface="ITC Avant Garde Gothic"/>
              </a:rPr>
              <a:t>3D-print, sand, paint</a:t>
            </a:r>
          </a:p>
        </p:txBody>
      </p:sp>
      <p:sp>
        <p:nvSpPr>
          <p:cNvPr id="34" name="Right Arrow 33"/>
          <p:cNvSpPr/>
          <p:nvPr/>
        </p:nvSpPr>
        <p:spPr>
          <a:xfrm>
            <a:off x="10716768" y="3383280"/>
            <a:ext cx="237744" cy="365760"/>
          </a:xfrm>
          <a:prstGeom prst="rightArrow">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972800" y="2194560"/>
            <a:ext cx="3108960" cy="2743200"/>
          </a:xfrm>
          <a:prstGeom prst="rect">
            <a:avLst/>
          </a:prstGeom>
          <a:solidFill>
            <a:srgbClr val="FFFFFF"/>
          </a:solidFill>
          <a:ln w="12700">
            <a:solidFill>
              <a:srgbClr val="8B07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155680" y="2331720"/>
            <a:ext cx="2743200" cy="457200"/>
          </a:xfrm>
          <a:prstGeom prst="rect">
            <a:avLst/>
          </a:prstGeom>
          <a:noFill/>
        </p:spPr>
        <p:txBody>
          <a:bodyPr wrap="square" anchor="t">
            <a:spAutoFit/>
          </a:bodyPr>
          <a:lstStyle/>
          <a:p>
            <a:pPr algn="l">
              <a:spcAft>
                <a:spcPts val="630"/>
              </a:spcAft>
            </a:pPr>
            <a:r>
              <a:rPr sz="1400" b="1">
                <a:solidFill>
                  <a:srgbClr val="8B0707"/>
                </a:solidFill>
                <a:latin typeface="ITC Avant Garde Gothic"/>
              </a:rPr>
              <a:t>Step 4</a:t>
            </a:r>
          </a:p>
        </p:txBody>
      </p:sp>
      <p:sp>
        <p:nvSpPr>
          <p:cNvPr id="37" name="TextBox 36"/>
          <p:cNvSpPr txBox="1"/>
          <p:nvPr/>
        </p:nvSpPr>
        <p:spPr>
          <a:xfrm>
            <a:off x="11155680" y="2880360"/>
            <a:ext cx="2743200" cy="1920240"/>
          </a:xfrm>
          <a:prstGeom prst="rect">
            <a:avLst/>
          </a:prstGeom>
          <a:noFill/>
        </p:spPr>
        <p:txBody>
          <a:bodyPr wrap="square" anchor="t">
            <a:spAutoFit/>
          </a:bodyPr>
          <a:lstStyle/>
          <a:p>
            <a:pPr algn="l">
              <a:spcAft>
                <a:spcPts val="810"/>
              </a:spcAft>
            </a:pPr>
            <a:r>
              <a:rPr sz="1800" b="0">
                <a:solidFill>
                  <a:srgbClr val="2B2020"/>
                </a:solidFill>
                <a:latin typeface="ITC Avant Garde Gothic"/>
              </a:rPr>
              <a:t>Wire and test electronics</a:t>
            </a:r>
          </a:p>
        </p:txBody>
      </p:sp>
      <p:sp>
        <p:nvSpPr>
          <p:cNvPr id="38" name="Right Arrow 37"/>
          <p:cNvSpPr/>
          <p:nvPr/>
        </p:nvSpPr>
        <p:spPr>
          <a:xfrm>
            <a:off x="14100048" y="3383280"/>
            <a:ext cx="237744" cy="365760"/>
          </a:xfrm>
          <a:prstGeom prst="rightArrow">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4356080" y="2194560"/>
            <a:ext cx="3108960" cy="2743200"/>
          </a:xfrm>
          <a:prstGeom prst="rect">
            <a:avLst/>
          </a:prstGeom>
          <a:solidFill>
            <a:srgbClr val="FFFFFF"/>
          </a:solidFill>
          <a:ln w="12700">
            <a:solidFill>
              <a:srgbClr val="8B07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4538960" y="2331720"/>
            <a:ext cx="2743200" cy="457200"/>
          </a:xfrm>
          <a:prstGeom prst="rect">
            <a:avLst/>
          </a:prstGeom>
          <a:noFill/>
        </p:spPr>
        <p:txBody>
          <a:bodyPr wrap="square" anchor="t">
            <a:spAutoFit/>
          </a:bodyPr>
          <a:lstStyle/>
          <a:p>
            <a:pPr algn="l">
              <a:spcAft>
                <a:spcPts val="630"/>
              </a:spcAft>
            </a:pPr>
            <a:r>
              <a:rPr sz="1400" b="1">
                <a:solidFill>
                  <a:srgbClr val="8B0707"/>
                </a:solidFill>
                <a:latin typeface="ITC Avant Garde Gothic"/>
              </a:rPr>
              <a:t>Step 5</a:t>
            </a:r>
          </a:p>
        </p:txBody>
      </p:sp>
      <p:sp>
        <p:nvSpPr>
          <p:cNvPr id="41" name="TextBox 40"/>
          <p:cNvSpPr txBox="1"/>
          <p:nvPr/>
        </p:nvSpPr>
        <p:spPr>
          <a:xfrm>
            <a:off x="14538960" y="2880360"/>
            <a:ext cx="2743200" cy="1920240"/>
          </a:xfrm>
          <a:prstGeom prst="rect">
            <a:avLst/>
          </a:prstGeom>
          <a:noFill/>
        </p:spPr>
        <p:txBody>
          <a:bodyPr wrap="square" anchor="t">
            <a:spAutoFit/>
          </a:bodyPr>
          <a:lstStyle/>
          <a:p>
            <a:pPr algn="l">
              <a:spcAft>
                <a:spcPts val="810"/>
              </a:spcAft>
            </a:pPr>
            <a:r>
              <a:rPr sz="1800" b="0">
                <a:solidFill>
                  <a:srgbClr val="2B2020"/>
                </a:solidFill>
                <a:latin typeface="ITC Avant Garde Gothic"/>
              </a:rPr>
              <a:t>Program; set up app</a:t>
            </a:r>
          </a:p>
        </p:txBody>
      </p:sp>
      <p:sp>
        <p:nvSpPr>
          <p:cNvPr id="42" name="Rectangle 41"/>
          <p:cNvSpPr/>
          <p:nvPr/>
        </p:nvSpPr>
        <p:spPr>
          <a:xfrm>
            <a:off x="822960" y="5623560"/>
            <a:ext cx="3108960" cy="2743200"/>
          </a:xfrm>
          <a:prstGeom prst="rect">
            <a:avLst/>
          </a:prstGeom>
          <a:solidFill>
            <a:srgbClr val="FFFFFF"/>
          </a:solidFill>
          <a:ln w="12700">
            <a:solidFill>
              <a:srgbClr val="8B07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5840" y="5760720"/>
            <a:ext cx="2743200" cy="457200"/>
          </a:xfrm>
          <a:prstGeom prst="rect">
            <a:avLst/>
          </a:prstGeom>
          <a:noFill/>
        </p:spPr>
        <p:txBody>
          <a:bodyPr wrap="square" anchor="t">
            <a:spAutoFit/>
          </a:bodyPr>
          <a:lstStyle/>
          <a:p>
            <a:pPr algn="l">
              <a:spcAft>
                <a:spcPts val="630"/>
              </a:spcAft>
            </a:pPr>
            <a:r>
              <a:rPr sz="1400" b="1">
                <a:solidFill>
                  <a:srgbClr val="8B0707"/>
                </a:solidFill>
                <a:latin typeface="ITC Avant Garde Gothic"/>
              </a:rPr>
              <a:t>Step 6</a:t>
            </a:r>
          </a:p>
        </p:txBody>
      </p:sp>
      <p:sp>
        <p:nvSpPr>
          <p:cNvPr id="44" name="TextBox 43"/>
          <p:cNvSpPr txBox="1"/>
          <p:nvPr/>
        </p:nvSpPr>
        <p:spPr>
          <a:xfrm>
            <a:off x="1005840" y="6309360"/>
            <a:ext cx="2743200" cy="1920240"/>
          </a:xfrm>
          <a:prstGeom prst="rect">
            <a:avLst/>
          </a:prstGeom>
          <a:noFill/>
        </p:spPr>
        <p:txBody>
          <a:bodyPr wrap="square" anchor="t">
            <a:spAutoFit/>
          </a:bodyPr>
          <a:lstStyle/>
          <a:p>
            <a:pPr algn="l">
              <a:spcAft>
                <a:spcPts val="810"/>
              </a:spcAft>
            </a:pPr>
            <a:r>
              <a:rPr sz="1800" b="0">
                <a:solidFill>
                  <a:srgbClr val="2B2020"/>
                </a:solidFill>
                <a:latin typeface="ITC Avant Garde Gothic"/>
              </a:rPr>
              <a:t>Calibrate sensors, fall rule</a:t>
            </a:r>
          </a:p>
        </p:txBody>
      </p:sp>
      <p:sp>
        <p:nvSpPr>
          <p:cNvPr id="45" name="Right Arrow 44"/>
          <p:cNvSpPr/>
          <p:nvPr/>
        </p:nvSpPr>
        <p:spPr>
          <a:xfrm>
            <a:off x="3950207" y="6812280"/>
            <a:ext cx="237744" cy="365760"/>
          </a:xfrm>
          <a:prstGeom prst="rightArrow">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206240" y="5623560"/>
            <a:ext cx="3108960" cy="2743200"/>
          </a:xfrm>
          <a:prstGeom prst="rect">
            <a:avLst/>
          </a:prstGeom>
          <a:solidFill>
            <a:srgbClr val="FFFFFF"/>
          </a:solidFill>
          <a:ln w="12700">
            <a:solidFill>
              <a:srgbClr val="8B07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389120" y="5760720"/>
            <a:ext cx="2743200" cy="457200"/>
          </a:xfrm>
          <a:prstGeom prst="rect">
            <a:avLst/>
          </a:prstGeom>
          <a:noFill/>
        </p:spPr>
        <p:txBody>
          <a:bodyPr wrap="square" anchor="t">
            <a:spAutoFit/>
          </a:bodyPr>
          <a:lstStyle/>
          <a:p>
            <a:pPr algn="l">
              <a:spcAft>
                <a:spcPts val="630"/>
              </a:spcAft>
            </a:pPr>
            <a:r>
              <a:rPr sz="1400" b="1">
                <a:solidFill>
                  <a:srgbClr val="8B0707"/>
                </a:solidFill>
                <a:latin typeface="ITC Avant Garde Gothic"/>
              </a:rPr>
              <a:t>Step 7</a:t>
            </a:r>
          </a:p>
        </p:txBody>
      </p:sp>
      <p:sp>
        <p:nvSpPr>
          <p:cNvPr id="48" name="TextBox 47"/>
          <p:cNvSpPr txBox="1"/>
          <p:nvPr/>
        </p:nvSpPr>
        <p:spPr>
          <a:xfrm>
            <a:off x="4389120" y="6309360"/>
            <a:ext cx="2743200" cy="1920240"/>
          </a:xfrm>
          <a:prstGeom prst="rect">
            <a:avLst/>
          </a:prstGeom>
          <a:noFill/>
        </p:spPr>
        <p:txBody>
          <a:bodyPr wrap="square" anchor="t">
            <a:spAutoFit/>
          </a:bodyPr>
          <a:lstStyle/>
          <a:p>
            <a:pPr algn="l">
              <a:spcAft>
                <a:spcPts val="810"/>
              </a:spcAft>
            </a:pPr>
            <a:r>
              <a:rPr sz="1800" b="0">
                <a:solidFill>
                  <a:srgbClr val="2B2020"/>
                </a:solidFill>
                <a:latin typeface="ITC Avant Garde Gothic"/>
              </a:rPr>
              <a:t>Vital-sign agreement trials</a:t>
            </a:r>
          </a:p>
        </p:txBody>
      </p:sp>
      <p:sp>
        <p:nvSpPr>
          <p:cNvPr id="49" name="Right Arrow 48"/>
          <p:cNvSpPr/>
          <p:nvPr/>
        </p:nvSpPr>
        <p:spPr>
          <a:xfrm>
            <a:off x="7333488" y="6812280"/>
            <a:ext cx="237744" cy="365760"/>
          </a:xfrm>
          <a:prstGeom prst="rightArrow">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589520" y="5623560"/>
            <a:ext cx="3108960" cy="2743200"/>
          </a:xfrm>
          <a:prstGeom prst="rect">
            <a:avLst/>
          </a:prstGeom>
          <a:solidFill>
            <a:srgbClr val="FFFFFF"/>
          </a:solidFill>
          <a:ln w="12700">
            <a:solidFill>
              <a:srgbClr val="8B07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772400" y="5760720"/>
            <a:ext cx="2743200" cy="457200"/>
          </a:xfrm>
          <a:prstGeom prst="rect">
            <a:avLst/>
          </a:prstGeom>
          <a:noFill/>
        </p:spPr>
        <p:txBody>
          <a:bodyPr wrap="square" anchor="t">
            <a:spAutoFit/>
          </a:bodyPr>
          <a:lstStyle/>
          <a:p>
            <a:pPr algn="l">
              <a:spcAft>
                <a:spcPts val="630"/>
              </a:spcAft>
            </a:pPr>
            <a:r>
              <a:rPr sz="1400" b="1">
                <a:solidFill>
                  <a:srgbClr val="8B0707"/>
                </a:solidFill>
                <a:latin typeface="ITC Avant Garde Gothic"/>
              </a:rPr>
              <a:t>Step 8</a:t>
            </a:r>
          </a:p>
        </p:txBody>
      </p:sp>
      <p:sp>
        <p:nvSpPr>
          <p:cNvPr id="52" name="TextBox 51"/>
          <p:cNvSpPr txBox="1"/>
          <p:nvPr/>
        </p:nvSpPr>
        <p:spPr>
          <a:xfrm>
            <a:off x="7772400" y="6309360"/>
            <a:ext cx="2743200" cy="1920240"/>
          </a:xfrm>
          <a:prstGeom prst="rect">
            <a:avLst/>
          </a:prstGeom>
          <a:noFill/>
        </p:spPr>
        <p:txBody>
          <a:bodyPr wrap="square" anchor="t">
            <a:spAutoFit/>
          </a:bodyPr>
          <a:lstStyle/>
          <a:p>
            <a:pPr algn="l">
              <a:spcAft>
                <a:spcPts val="810"/>
              </a:spcAft>
            </a:pPr>
            <a:r>
              <a:rPr sz="1800" b="0">
                <a:solidFill>
                  <a:srgbClr val="2B2020"/>
                </a:solidFill>
                <a:latin typeface="ITC Avant Garde Gothic"/>
              </a:rPr>
              <a:t>Simulated falls, activities</a:t>
            </a:r>
          </a:p>
        </p:txBody>
      </p:sp>
      <p:sp>
        <p:nvSpPr>
          <p:cNvPr id="53" name="Right Arrow 52"/>
          <p:cNvSpPr/>
          <p:nvPr/>
        </p:nvSpPr>
        <p:spPr>
          <a:xfrm>
            <a:off x="10716768" y="6812280"/>
            <a:ext cx="237744" cy="365760"/>
          </a:xfrm>
          <a:prstGeom prst="rightArrow">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0972800" y="5623560"/>
            <a:ext cx="3108960" cy="2743200"/>
          </a:xfrm>
          <a:prstGeom prst="rect">
            <a:avLst/>
          </a:prstGeom>
          <a:solidFill>
            <a:srgbClr val="FFFFFF"/>
          </a:solidFill>
          <a:ln w="12700">
            <a:solidFill>
              <a:srgbClr val="8B07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155680" y="5760720"/>
            <a:ext cx="2743200" cy="457200"/>
          </a:xfrm>
          <a:prstGeom prst="rect">
            <a:avLst/>
          </a:prstGeom>
          <a:noFill/>
        </p:spPr>
        <p:txBody>
          <a:bodyPr wrap="square" anchor="t">
            <a:spAutoFit/>
          </a:bodyPr>
          <a:lstStyle/>
          <a:p>
            <a:pPr algn="l">
              <a:spcAft>
                <a:spcPts val="630"/>
              </a:spcAft>
            </a:pPr>
            <a:r>
              <a:rPr sz="1400" b="1">
                <a:solidFill>
                  <a:srgbClr val="8B0707"/>
                </a:solidFill>
                <a:latin typeface="ITC Avant Garde Gothic"/>
              </a:rPr>
              <a:t>Step 9</a:t>
            </a:r>
          </a:p>
        </p:txBody>
      </p:sp>
      <p:sp>
        <p:nvSpPr>
          <p:cNvPr id="56" name="TextBox 55"/>
          <p:cNvSpPr txBox="1"/>
          <p:nvPr/>
        </p:nvSpPr>
        <p:spPr>
          <a:xfrm>
            <a:off x="11155680" y="6309360"/>
            <a:ext cx="2743200" cy="1920240"/>
          </a:xfrm>
          <a:prstGeom prst="rect">
            <a:avLst/>
          </a:prstGeom>
          <a:noFill/>
        </p:spPr>
        <p:txBody>
          <a:bodyPr wrap="square" anchor="t">
            <a:spAutoFit/>
          </a:bodyPr>
          <a:lstStyle/>
          <a:p>
            <a:pPr algn="l">
              <a:spcAft>
                <a:spcPts val="810"/>
              </a:spcAft>
            </a:pPr>
            <a:r>
              <a:rPr sz="1800" b="0">
                <a:solidFill>
                  <a:srgbClr val="2B2020"/>
                </a:solidFill>
                <a:latin typeface="ITC Avant Garde Gothic"/>
              </a:rPr>
              <a:t>Dose, battery, usability tests</a:t>
            </a:r>
          </a:p>
        </p:txBody>
      </p:sp>
      <p:sp>
        <p:nvSpPr>
          <p:cNvPr id="57" name="Right Arrow 56"/>
          <p:cNvSpPr/>
          <p:nvPr/>
        </p:nvSpPr>
        <p:spPr>
          <a:xfrm>
            <a:off x="14100048" y="6812280"/>
            <a:ext cx="237744" cy="365760"/>
          </a:xfrm>
          <a:prstGeom prst="rightArrow">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4356080" y="5623560"/>
            <a:ext cx="3108960" cy="2743200"/>
          </a:xfrm>
          <a:prstGeom prst="rect">
            <a:avLst/>
          </a:prstGeom>
          <a:solidFill>
            <a:srgbClr val="FFFFFF"/>
          </a:solidFill>
          <a:ln w="12700">
            <a:solidFill>
              <a:srgbClr val="8B07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4538960" y="5760720"/>
            <a:ext cx="2743200" cy="457200"/>
          </a:xfrm>
          <a:prstGeom prst="rect">
            <a:avLst/>
          </a:prstGeom>
          <a:noFill/>
        </p:spPr>
        <p:txBody>
          <a:bodyPr wrap="square" anchor="t">
            <a:spAutoFit/>
          </a:bodyPr>
          <a:lstStyle/>
          <a:p>
            <a:pPr algn="l">
              <a:spcAft>
                <a:spcPts val="630"/>
              </a:spcAft>
            </a:pPr>
            <a:r>
              <a:rPr sz="1400" b="1">
                <a:solidFill>
                  <a:srgbClr val="8B0707"/>
                </a:solidFill>
                <a:latin typeface="ITC Avant Garde Gothic"/>
              </a:rPr>
              <a:t>Step 10</a:t>
            </a:r>
          </a:p>
        </p:txBody>
      </p:sp>
      <p:sp>
        <p:nvSpPr>
          <p:cNvPr id="60" name="TextBox 59"/>
          <p:cNvSpPr txBox="1"/>
          <p:nvPr/>
        </p:nvSpPr>
        <p:spPr>
          <a:xfrm>
            <a:off x="14538960" y="6309360"/>
            <a:ext cx="2743200" cy="1920240"/>
          </a:xfrm>
          <a:prstGeom prst="rect">
            <a:avLst/>
          </a:prstGeom>
          <a:noFill/>
        </p:spPr>
        <p:txBody>
          <a:bodyPr wrap="square" anchor="t">
            <a:spAutoFit/>
          </a:bodyPr>
          <a:lstStyle/>
          <a:p>
            <a:pPr algn="l">
              <a:spcAft>
                <a:spcPts val="810"/>
              </a:spcAft>
            </a:pPr>
            <a:r>
              <a:rPr sz="1800" b="0">
                <a:solidFill>
                  <a:srgbClr val="2B2020"/>
                </a:solidFill>
                <a:latin typeface="ITC Avant Garde Gothic"/>
              </a:rPr>
              <a:t>Bland–Altman, t-tests, χ²</a:t>
            </a:r>
          </a:p>
        </p:txBody>
      </p:sp>
      <p:sp>
        <p:nvSpPr>
          <p:cNvPr id="61" name="TextBox 60"/>
          <p:cNvSpPr txBox="1"/>
          <p:nvPr/>
        </p:nvSpPr>
        <p:spPr>
          <a:xfrm>
            <a:off x="822960" y="9098280"/>
            <a:ext cx="16642080" cy="384048"/>
          </a:xfrm>
          <a:prstGeom prst="rect">
            <a:avLst/>
          </a:prstGeom>
          <a:noFill/>
        </p:spPr>
        <p:txBody>
          <a:bodyPr wrap="square" anchor="t">
            <a:spAutoFit/>
          </a:bodyPr>
          <a:lstStyle/>
          <a:p>
            <a:pPr algn="l">
              <a:spcAft>
                <a:spcPts val="720"/>
              </a:spcAft>
            </a:pPr>
            <a:r>
              <a:rPr sz="1600">
                <a:solidFill>
                  <a:srgbClr val="6A5656"/>
                </a:solidFill>
                <a:latin typeface="ITC Avant Garde Gothic"/>
              </a:rPr>
              <a:t>Figure 3. Data gathering procedure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104983" y="0"/>
            <a:ext cx="18497965" cy="10416667"/>
          </a:xfrm>
          <a:custGeom>
            <a:avLst/>
            <a:gdLst/>
            <a:ahLst/>
            <a:cxnLst/>
            <a:rect r="r" b="b" t="t" l="l"/>
            <a:pathLst>
              <a:path h="10416667" w="18497965">
                <a:moveTo>
                  <a:pt x="0" y="0"/>
                </a:moveTo>
                <a:lnTo>
                  <a:pt x="18497966" y="0"/>
                </a:lnTo>
                <a:lnTo>
                  <a:pt x="18497966" y="10416667"/>
                </a:lnTo>
                <a:lnTo>
                  <a:pt x="0" y="10416667"/>
                </a:lnTo>
                <a:lnTo>
                  <a:pt x="0" y="0"/>
                </a:lnTo>
                <a:close/>
              </a:path>
            </a:pathLst>
          </a:custGeom>
          <a:blipFill>
            <a:blip r:embed="rId2">
              <a:alphaModFix amt="26000"/>
            </a:blip>
            <a:stretch>
              <a:fillRect l="0" t="0" r="0" b="0"/>
            </a:stretch>
          </a:blipFill>
        </p:spPr>
      </p:sp>
      <p:grpSp>
        <p:nvGrpSpPr>
          <p:cNvPr name="Group 3" id="3"/>
          <p:cNvGrpSpPr/>
          <p:nvPr/>
        </p:nvGrpSpPr>
        <p:grpSpPr>
          <a:xfrm rot="0">
            <a:off x="-514350" y="-959494"/>
            <a:ext cx="19524889" cy="2664593"/>
            <a:chOff x="0" y="0"/>
            <a:chExt cx="5142358" cy="701786"/>
          </a:xfrm>
        </p:grpSpPr>
        <p:sp>
          <p:nvSpPr>
            <p:cNvPr name="Freeform 4" id="4"/>
            <p:cNvSpPr/>
            <p:nvPr/>
          </p:nvSpPr>
          <p:spPr>
            <a:xfrm flipH="false" flipV="false" rot="0">
              <a:off x="0" y="0"/>
              <a:ext cx="5142357" cy="701786"/>
            </a:xfrm>
            <a:custGeom>
              <a:avLst/>
              <a:gdLst/>
              <a:ahLst/>
              <a:cxnLst/>
              <a:rect r="r" b="b" t="t" l="l"/>
              <a:pathLst>
                <a:path h="701786" w="5142357">
                  <a:moveTo>
                    <a:pt x="0" y="0"/>
                  </a:moveTo>
                  <a:lnTo>
                    <a:pt x="5142357" y="0"/>
                  </a:lnTo>
                  <a:lnTo>
                    <a:pt x="5142357" y="701786"/>
                  </a:lnTo>
                  <a:lnTo>
                    <a:pt x="0" y="701786"/>
                  </a:lnTo>
                  <a:close/>
                </a:path>
              </a:pathLst>
            </a:custGeom>
            <a:solidFill>
              <a:srgbClr val="8B0707"/>
            </a:solidFill>
          </p:spPr>
        </p:sp>
        <p:sp>
          <p:nvSpPr>
            <p:cNvPr name="TextBox 5" id="5"/>
            <p:cNvSpPr txBox="true"/>
            <p:nvPr/>
          </p:nvSpPr>
          <p:spPr>
            <a:xfrm>
              <a:off x="0" y="-76200"/>
              <a:ext cx="5142358" cy="777986"/>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13886" y="324392"/>
            <a:ext cx="17376398" cy="1229762"/>
          </a:xfrm>
          <a:prstGeom prst="rect">
            <a:avLst/>
          </a:prstGeom>
        </p:spPr>
        <p:txBody>
          <a:bodyPr anchor="t" rtlCol="false" tIns="0" lIns="0" bIns="0" rIns="0">
            <a:spAutoFit/>
          </a:bodyPr>
          <a:lstStyle/>
          <a:p>
            <a:pPr algn="l">
              <a:lnSpc>
                <a:spcPts val="7720"/>
              </a:lnSpc>
            </a:pPr>
            <a:r>
              <a:rPr lang="en-US" sz="8579">
                <a:solidFill>
                  <a:srgbClr val="FFFFFF"/>
                </a:solidFill>
                <a:latin typeface="ITC Avant Garde Gothic"/>
                <a:ea typeface="ITC Avant Garde Gothic"/>
                <a:cs typeface="ITC Avant Garde Gothic"/>
                <a:sym typeface="ITC Avant Garde Gothic"/>
              </a:rPr>
              <a:t>METHODOLOGY</a:t>
            </a:r>
          </a:p>
        </p:txBody>
      </p:sp>
      <p:sp>
        <p:nvSpPr>
          <p:cNvPr id="21" name="Subtitle"/>
          <p:cNvSpPr txBox="1"/>
          <p:nvPr/>
        </p:nvSpPr>
        <p:spPr>
          <a:xfrm>
            <a:off x="9509760" y="475488"/>
            <a:ext cx="8366760" cy="731520"/>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2600" dirty="0">
                <a:solidFill>
                  <a:srgbClr val="FFFFFF">
                    <a:alpha val="92000"/>
                  </a:srgbClr>
                </a:solidFill>
                <a:latin typeface="ITC Avant Garde Gothic"/>
                <a:ea typeface="ITC Avant Garde Gothic"/>
                <a:cs typeface="ITC Avant Garde Gothic"/>
                <a:sym typeface="ITC Avant Garde Gothic"/>
              </a:rPr>
              <a:t>Treatment of Data</a:t>
            </a:r>
            <a:endParaRPr lang="en-US" sz="2600" dirty="0">
              <a:latin typeface="ITC Avant Garde Gothic"/>
            </a:endParaRPr>
          </a:p>
        </p:txBody>
      </p:sp>
      <p:sp>
        <p:nvSpPr>
          <p:cNvPr id="22" name="Slide number"/>
          <p:cNvSpPr txBox="1"/>
          <p:nvPr/>
        </p:nvSpPr>
        <p:spPr>
          <a:xfrm>
            <a:off x="17007840" y="9710928"/>
            <a:ext cx="914400" cy="384048"/>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1600" dirty="0">
                <a:solidFill>
                  <a:srgbClr val="8B0707">
                    <a:alpha val="75000"/>
                  </a:srgbClr>
                </a:solidFill>
                <a:latin typeface="ITC Avant Garde Gothic"/>
                <a:ea typeface="ITC Avant Garde Gothic"/>
                <a:cs typeface="ITC Avant Garde Gothic"/>
                <a:sym typeface="ITC Avant Garde Gothic"/>
              </a:rPr>
              <a:t>14</a:t>
            </a:r>
            <a:endParaRPr lang="en-US" sz="1600" dirty="0">
              <a:latin typeface="ITC Avant Garde Gothic"/>
            </a:endParaRPr>
          </a:p>
        </p:txBody>
      </p:sp>
      <p:sp>
        <p:nvSpPr>
          <p:cNvPr id="23" name="Rectangle 22"/>
          <p:cNvSpPr/>
          <p:nvPr/>
        </p:nvSpPr>
        <p:spPr>
          <a:xfrm>
            <a:off x="822960" y="2103120"/>
            <a:ext cx="8229600" cy="7406640"/>
          </a:xfrm>
          <a:prstGeom prst="rect">
            <a:avLst/>
          </a:prstGeom>
          <a:solidFill>
            <a:srgbClr val="FFFFFF"/>
          </a:solidFill>
          <a:ln w="12700">
            <a:solidFill>
              <a:srgbClr val="E3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43000" y="2240280"/>
            <a:ext cx="7680960" cy="457200"/>
          </a:xfrm>
          <a:prstGeom prst="rect">
            <a:avLst/>
          </a:prstGeom>
          <a:noFill/>
        </p:spPr>
        <p:txBody>
          <a:bodyPr wrap="square" anchor="t">
            <a:spAutoFit/>
          </a:bodyPr>
          <a:lstStyle/>
          <a:p>
            <a:pPr algn="l">
              <a:spcAft>
                <a:spcPts val="855"/>
              </a:spcAft>
            </a:pPr>
            <a:r>
              <a:rPr sz="1900" b="1">
                <a:solidFill>
                  <a:srgbClr val="8B0707"/>
                </a:solidFill>
                <a:latin typeface="ITC Avant Garde Gothic"/>
              </a:rPr>
              <a:t>Formulas</a:t>
            </a:r>
          </a:p>
        </p:txBody>
      </p:sp>
      <p:sp>
        <p:nvSpPr>
          <p:cNvPr id="25" name="TextBox 24"/>
          <p:cNvSpPr txBox="1"/>
          <p:nvPr/>
        </p:nvSpPr>
        <p:spPr>
          <a:xfrm>
            <a:off x="1143000" y="2834640"/>
            <a:ext cx="7680960" cy="914400"/>
          </a:xfrm>
          <a:prstGeom prst="rect">
            <a:avLst/>
          </a:prstGeom>
          <a:noFill/>
        </p:spPr>
        <p:txBody>
          <a:bodyPr wrap="square" anchor="t">
            <a:spAutoFit/>
          </a:bodyPr>
          <a:lstStyle/>
          <a:p>
            <a:pPr algn="l">
              <a:spcAft>
                <a:spcPts val="765"/>
              </a:spcAft>
            </a:pPr>
            <a:r>
              <a:rPr sz="1700" b="0">
                <a:solidFill>
                  <a:srgbClr val="2B2020"/>
                </a:solidFill>
                <a:latin typeface="ITC Avant Garde Gothic"/>
              </a:rPr>
              <a:t>d = KALINGA − reference</a:t>
            </a:r>
          </a:p>
        </p:txBody>
      </p:sp>
      <p:sp>
        <p:nvSpPr>
          <p:cNvPr id="26" name="TextBox 25"/>
          <p:cNvSpPr txBox="1"/>
          <p:nvPr/>
        </p:nvSpPr>
        <p:spPr>
          <a:xfrm>
            <a:off x="1143000" y="3383280"/>
            <a:ext cx="7680960" cy="548640"/>
          </a:xfrm>
          <a:prstGeom prst="rect">
            <a:avLst/>
          </a:prstGeom>
          <a:noFill/>
        </p:spPr>
        <p:txBody>
          <a:bodyPr wrap="square" anchor="t">
            <a:spAutoFit/>
          </a:bodyPr>
          <a:lstStyle/>
          <a:p>
            <a:pPr algn="l">
              <a:spcAft>
                <a:spcPts val="585"/>
              </a:spcAft>
            </a:pPr>
            <a:r>
              <a:rPr sz="1300" b="0">
                <a:solidFill>
                  <a:srgbClr val="6A5656"/>
                </a:solidFill>
                <a:latin typeface="ITC Avant Garde Gothic"/>
              </a:rPr>
              <a:t>difference per paired reading</a:t>
            </a:r>
          </a:p>
        </p:txBody>
      </p:sp>
      <p:sp>
        <p:nvSpPr>
          <p:cNvPr id="27" name="TextBox 26"/>
          <p:cNvSpPr txBox="1"/>
          <p:nvPr/>
        </p:nvSpPr>
        <p:spPr>
          <a:xfrm>
            <a:off x="1143000" y="4297680"/>
            <a:ext cx="7680960" cy="914400"/>
          </a:xfrm>
          <a:prstGeom prst="rect">
            <a:avLst/>
          </a:prstGeom>
          <a:noFill/>
        </p:spPr>
        <p:txBody>
          <a:bodyPr wrap="square" anchor="t">
            <a:spAutoFit/>
          </a:bodyPr>
          <a:lstStyle/>
          <a:p>
            <a:pPr algn="l">
              <a:spcAft>
                <a:spcPts val="765"/>
              </a:spcAft>
            </a:pPr>
            <a:r>
              <a:rPr sz="1700" b="0">
                <a:solidFill>
                  <a:srgbClr val="2B2020"/>
                </a:solidFill>
                <a:latin typeface="ITC Avant Garde Gothic"/>
              </a:rPr>
              <a:t>Bias = Σd ÷ n;  LoA = Bias ± 1.96 SD</a:t>
            </a:r>
          </a:p>
        </p:txBody>
      </p:sp>
      <p:sp>
        <p:nvSpPr>
          <p:cNvPr id="28" name="TextBox 27"/>
          <p:cNvSpPr txBox="1"/>
          <p:nvPr/>
        </p:nvSpPr>
        <p:spPr>
          <a:xfrm>
            <a:off x="1143000" y="4846320"/>
            <a:ext cx="7680960" cy="548640"/>
          </a:xfrm>
          <a:prstGeom prst="rect">
            <a:avLst/>
          </a:prstGeom>
          <a:noFill/>
        </p:spPr>
        <p:txBody>
          <a:bodyPr wrap="square" anchor="t">
            <a:spAutoFit/>
          </a:bodyPr>
          <a:lstStyle/>
          <a:p>
            <a:pPr algn="l">
              <a:spcAft>
                <a:spcPts val="585"/>
              </a:spcAft>
            </a:pPr>
            <a:r>
              <a:rPr sz="1300" b="0">
                <a:solidFill>
                  <a:srgbClr val="6A5656"/>
                </a:solidFill>
                <a:latin typeface="ITC Avant Garde Gothic"/>
              </a:rPr>
              <a:t>mean bias, 95% limits of agreement</a:t>
            </a:r>
          </a:p>
        </p:txBody>
      </p:sp>
      <p:sp>
        <p:nvSpPr>
          <p:cNvPr id="29" name="TextBox 28"/>
          <p:cNvSpPr txBox="1"/>
          <p:nvPr/>
        </p:nvSpPr>
        <p:spPr>
          <a:xfrm>
            <a:off x="1143000" y="5760720"/>
            <a:ext cx="7680960" cy="914400"/>
          </a:xfrm>
          <a:prstGeom prst="rect">
            <a:avLst/>
          </a:prstGeom>
          <a:noFill/>
        </p:spPr>
        <p:txBody>
          <a:bodyPr wrap="square" anchor="t">
            <a:spAutoFit/>
          </a:bodyPr>
          <a:lstStyle/>
          <a:p>
            <a:pPr algn="l">
              <a:spcAft>
                <a:spcPts val="765"/>
              </a:spcAft>
            </a:pPr>
            <a:r>
              <a:rPr sz="1700" b="0">
                <a:solidFill>
                  <a:srgbClr val="2B2020"/>
                </a:solidFill>
                <a:latin typeface="ITC Avant Garde Gothic"/>
              </a:rPr>
              <a:t>Arms = √(Σd² ÷ n)</a:t>
            </a:r>
          </a:p>
        </p:txBody>
      </p:sp>
      <p:sp>
        <p:nvSpPr>
          <p:cNvPr id="30" name="TextBox 29"/>
          <p:cNvSpPr txBox="1"/>
          <p:nvPr/>
        </p:nvSpPr>
        <p:spPr>
          <a:xfrm>
            <a:off x="1143000" y="6309360"/>
            <a:ext cx="7680960" cy="548640"/>
          </a:xfrm>
          <a:prstGeom prst="rect">
            <a:avLst/>
          </a:prstGeom>
          <a:noFill/>
        </p:spPr>
        <p:txBody>
          <a:bodyPr wrap="square" anchor="t">
            <a:spAutoFit/>
          </a:bodyPr>
          <a:lstStyle/>
          <a:p>
            <a:pPr algn="l">
              <a:spcAft>
                <a:spcPts val="585"/>
              </a:spcAft>
            </a:pPr>
            <a:r>
              <a:rPr sz="1300" b="0">
                <a:solidFill>
                  <a:srgbClr val="6A5656"/>
                </a:solidFill>
                <a:latin typeface="ITC Avant Garde Gothic"/>
              </a:rPr>
              <a:t>SpO₂ root-mean-square error (≤ 4%)</a:t>
            </a:r>
          </a:p>
        </p:txBody>
      </p:sp>
      <p:sp>
        <p:nvSpPr>
          <p:cNvPr id="31" name="TextBox 30"/>
          <p:cNvSpPr txBox="1"/>
          <p:nvPr/>
        </p:nvSpPr>
        <p:spPr>
          <a:xfrm>
            <a:off x="1143000" y="7223760"/>
            <a:ext cx="7680960" cy="914400"/>
          </a:xfrm>
          <a:prstGeom prst="rect">
            <a:avLst/>
          </a:prstGeom>
          <a:noFill/>
        </p:spPr>
        <p:txBody>
          <a:bodyPr wrap="square" anchor="t">
            <a:spAutoFit/>
          </a:bodyPr>
          <a:lstStyle/>
          <a:p>
            <a:pPr algn="l">
              <a:spcAft>
                <a:spcPts val="765"/>
              </a:spcAft>
            </a:pPr>
            <a:r>
              <a:rPr sz="1700" b="0">
                <a:solidFill>
                  <a:srgbClr val="2B2020"/>
                </a:solidFill>
                <a:latin typeface="ITC Avant Garde Gothic"/>
              </a:rPr>
              <a:t>Sens. = TP ÷ (TP + FN); Spec. = TN ÷ (TN + FP)</a:t>
            </a:r>
          </a:p>
        </p:txBody>
      </p:sp>
      <p:sp>
        <p:nvSpPr>
          <p:cNvPr id="32" name="TextBox 31"/>
          <p:cNvSpPr txBox="1"/>
          <p:nvPr/>
        </p:nvSpPr>
        <p:spPr>
          <a:xfrm>
            <a:off x="1143000" y="7772400"/>
            <a:ext cx="7680960" cy="548640"/>
          </a:xfrm>
          <a:prstGeom prst="rect">
            <a:avLst/>
          </a:prstGeom>
          <a:noFill/>
        </p:spPr>
        <p:txBody>
          <a:bodyPr wrap="square" anchor="t">
            <a:spAutoFit/>
          </a:bodyPr>
          <a:lstStyle/>
          <a:p>
            <a:pPr algn="l">
              <a:spcAft>
                <a:spcPts val="585"/>
              </a:spcAft>
            </a:pPr>
            <a:r>
              <a:rPr sz="1300" b="0">
                <a:solidFill>
                  <a:srgbClr val="6A5656"/>
                </a:solidFill>
                <a:latin typeface="ITC Avant Garde Gothic"/>
              </a:rPr>
              <a:t>falls detected; activities ignored</a:t>
            </a:r>
          </a:p>
        </p:txBody>
      </p:sp>
      <p:sp>
        <p:nvSpPr>
          <p:cNvPr id="33" name="TextBox 32"/>
          <p:cNvSpPr txBox="1"/>
          <p:nvPr/>
        </p:nvSpPr>
        <p:spPr>
          <a:xfrm>
            <a:off x="1143000" y="8686800"/>
            <a:ext cx="7680960" cy="914400"/>
          </a:xfrm>
          <a:prstGeom prst="rect">
            <a:avLst/>
          </a:prstGeom>
          <a:noFill/>
        </p:spPr>
        <p:txBody>
          <a:bodyPr wrap="square" anchor="t">
            <a:spAutoFit/>
          </a:bodyPr>
          <a:lstStyle/>
          <a:p>
            <a:pPr algn="l">
              <a:spcAft>
                <a:spcPts val="765"/>
              </a:spcAft>
            </a:pPr>
            <a:r>
              <a:rPr sz="1700" b="0">
                <a:solidFill>
                  <a:srgbClr val="2B2020"/>
                </a:solidFill>
                <a:latin typeface="ITC Avant Garde Gothic"/>
              </a:rPr>
              <a:t>t_alert = t_app − t_event</a:t>
            </a:r>
          </a:p>
        </p:txBody>
      </p:sp>
      <p:sp>
        <p:nvSpPr>
          <p:cNvPr id="34" name="TextBox 33"/>
          <p:cNvSpPr txBox="1"/>
          <p:nvPr/>
        </p:nvSpPr>
        <p:spPr>
          <a:xfrm>
            <a:off x="1143000" y="9235440"/>
            <a:ext cx="7680960" cy="548640"/>
          </a:xfrm>
          <a:prstGeom prst="rect">
            <a:avLst/>
          </a:prstGeom>
          <a:noFill/>
        </p:spPr>
        <p:txBody>
          <a:bodyPr wrap="square" anchor="t">
            <a:spAutoFit/>
          </a:bodyPr>
          <a:lstStyle/>
          <a:p>
            <a:pPr algn="l">
              <a:spcAft>
                <a:spcPts val="585"/>
              </a:spcAft>
            </a:pPr>
            <a:r>
              <a:rPr sz="1300" b="0">
                <a:solidFill>
                  <a:srgbClr val="6A5656"/>
                </a:solidFill>
                <a:latin typeface="ITC Avant Garde Gothic"/>
              </a:rPr>
              <a:t>alert time (s)</a:t>
            </a:r>
          </a:p>
        </p:txBody>
      </p:sp>
      <p:sp>
        <p:nvSpPr>
          <p:cNvPr id="35" name="TextBox 34"/>
          <p:cNvSpPr txBox="1"/>
          <p:nvPr/>
        </p:nvSpPr>
        <p:spPr>
          <a:xfrm>
            <a:off x="9326880" y="2075688"/>
            <a:ext cx="8138160" cy="384048"/>
          </a:xfrm>
          <a:prstGeom prst="rect">
            <a:avLst/>
          </a:prstGeom>
          <a:noFill/>
        </p:spPr>
        <p:txBody>
          <a:bodyPr wrap="square" anchor="t">
            <a:spAutoFit/>
          </a:bodyPr>
          <a:lstStyle/>
          <a:p>
            <a:pPr algn="l">
              <a:spcAft>
                <a:spcPts val="855"/>
              </a:spcAft>
            </a:pPr>
            <a:r>
              <a:rPr sz="1900" b="1">
                <a:solidFill>
                  <a:srgbClr val="8B0707"/>
                </a:solidFill>
                <a:latin typeface="ITC Avant Garde Gothic"/>
              </a:rPr>
              <a:t>Statistical treatment</a:t>
            </a:r>
          </a:p>
        </p:txBody>
      </p:sp>
      <p:graphicFrame>
        <p:nvGraphicFramePr>
          <p:cNvPr id="36" name="Table 35"/>
          <p:cNvGraphicFramePr>
            <a:graphicFrameLocks noGrp="1"/>
          </p:cNvGraphicFramePr>
          <p:nvPr/>
        </p:nvGraphicFramePr>
        <p:xfrm>
          <a:off x="9326880" y="2560320"/>
          <a:ext cx="8138160" cy="6446520"/>
        </p:xfrm>
        <a:graphic>
          <a:graphicData uri="http://schemas.openxmlformats.org/drawingml/2006/table">
            <a:tbl>
              <a:tblPr firstRow="1" bandRow="1">
                <a:tableStyleId>{5C22544A-7EE6-4342-B048-85BDC9FD1C3A}</a:tableStyleId>
              </a:tblPr>
              <a:tblGrid>
                <a:gridCol w="822960"/>
                <a:gridCol w="4846320"/>
                <a:gridCol w="2468880"/>
              </a:tblGrid>
              <a:tr h="502920">
                <a:tc>
                  <a:txBody>
                    <a:bodyPr/>
                    <a:lstStyle/>
                    <a:p>
                      <a:r>
                        <a:rPr sz="1200" b="1">
                          <a:solidFill>
                            <a:srgbClr val="FFFFFF"/>
                          </a:solidFill>
                          <a:latin typeface="ITC Avant Garde Gothic"/>
                        </a:rPr>
                        <a:t>SOP</a:t>
                      </a:r>
                    </a:p>
                  </a:txBody>
                  <a:tcPr>
                    <a:solidFill>
                      <a:srgbClr val="8B0707"/>
                    </a:solidFill>
                  </a:tcPr>
                </a:tc>
                <a:tc>
                  <a:txBody>
                    <a:bodyPr/>
                    <a:lstStyle/>
                    <a:p>
                      <a:r>
                        <a:rPr sz="1200" b="1">
                          <a:solidFill>
                            <a:srgbClr val="FFFFFF"/>
                          </a:solidFill>
                          <a:latin typeface="ITC Avant Garde Gothic"/>
                        </a:rPr>
                        <a:t>Question</a:t>
                      </a:r>
                    </a:p>
                  </a:txBody>
                  <a:tcPr>
                    <a:solidFill>
                      <a:srgbClr val="8B0707"/>
                    </a:solidFill>
                  </a:tcPr>
                </a:tc>
                <a:tc>
                  <a:txBody>
                    <a:bodyPr/>
                    <a:lstStyle/>
                    <a:p>
                      <a:r>
                        <a:rPr sz="1200" b="1">
                          <a:solidFill>
                            <a:srgbClr val="FFFFFF"/>
                          </a:solidFill>
                          <a:latin typeface="ITC Avant Garde Gothic"/>
                        </a:rPr>
                        <a:t>Tool</a:t>
                      </a:r>
                    </a:p>
                  </a:txBody>
                  <a:tcPr>
                    <a:solidFill>
                      <a:srgbClr val="8B0707"/>
                    </a:solidFill>
                  </a:tcPr>
                </a:tc>
              </a:tr>
              <a:tr h="1188720">
                <a:tc>
                  <a:txBody>
                    <a:bodyPr/>
                    <a:lstStyle/>
                    <a:p>
                      <a:r>
                        <a:rPr sz="1200" b="0">
                          <a:solidFill>
                            <a:srgbClr val="8B0707"/>
                          </a:solidFill>
                          <a:latin typeface="ITC Avant Garde Gothic"/>
                        </a:rPr>
                        <a:t>S1</a:t>
                      </a:r>
                    </a:p>
                  </a:txBody>
                  <a:tcPr>
                    <a:solidFill>
                      <a:srgbClr val="FFFFFF"/>
                    </a:solidFill>
                  </a:tcPr>
                </a:tc>
                <a:tc>
                  <a:txBody>
                    <a:bodyPr/>
                    <a:lstStyle/>
                    <a:p>
                      <a:r>
                        <a:rPr sz="1200" b="0">
                          <a:solidFill>
                            <a:srgbClr val="2B2020"/>
                          </a:solidFill>
                          <a:latin typeface="ITC Avant Garde Gothic"/>
                        </a:rPr>
                        <a:t>Agreement with reference</a:t>
                      </a:r>
                    </a:p>
                  </a:txBody>
                  <a:tcPr>
                    <a:solidFill>
                      <a:srgbClr val="FFFFFF"/>
                    </a:solidFill>
                  </a:tcPr>
                </a:tc>
                <a:tc>
                  <a:txBody>
                    <a:bodyPr/>
                    <a:lstStyle/>
                    <a:p>
                      <a:r>
                        <a:rPr sz="1200" b="0">
                          <a:solidFill>
                            <a:srgbClr val="2B2020"/>
                          </a:solidFill>
                          <a:latin typeface="ITC Avant Garde Gothic"/>
                        </a:rPr>
                        <a:t>Bias, LoA, Arms; paired t-test</a:t>
                      </a:r>
                    </a:p>
                  </a:txBody>
                  <a:tcPr>
                    <a:solidFill>
                      <a:srgbClr val="FFFFFF"/>
                    </a:solidFill>
                  </a:tcPr>
                </a:tc>
              </a:tr>
              <a:tr h="1188720">
                <a:tc>
                  <a:txBody>
                    <a:bodyPr/>
                    <a:lstStyle/>
                    <a:p>
                      <a:r>
                        <a:rPr sz="1200" b="0">
                          <a:solidFill>
                            <a:srgbClr val="8B0707"/>
                          </a:solidFill>
                          <a:latin typeface="ITC Avant Garde Gothic"/>
                        </a:rPr>
                        <a:t>S2</a:t>
                      </a:r>
                    </a:p>
                  </a:txBody>
                  <a:tcPr>
                    <a:solidFill>
                      <a:srgbClr val="F8EAEA"/>
                    </a:solidFill>
                  </a:tcPr>
                </a:tc>
                <a:tc>
                  <a:txBody>
                    <a:bodyPr/>
                    <a:lstStyle/>
                    <a:p>
                      <a:r>
                        <a:rPr sz="1200" b="0">
                          <a:solidFill>
                            <a:srgbClr val="2B2020"/>
                          </a:solidFill>
                          <a:latin typeface="ITC Avant Garde Gothic"/>
                        </a:rPr>
                        <a:t>Falls and alerts</a:t>
                      </a:r>
                    </a:p>
                  </a:txBody>
                  <a:tcPr>
                    <a:solidFill>
                      <a:srgbClr val="F8EAEA"/>
                    </a:solidFill>
                  </a:tcPr>
                </a:tc>
                <a:tc>
                  <a:txBody>
                    <a:bodyPr/>
                    <a:lstStyle/>
                    <a:p>
                      <a:r>
                        <a:rPr sz="1200" b="0">
                          <a:solidFill>
                            <a:srgbClr val="2B2020"/>
                          </a:solidFill>
                          <a:latin typeface="ITC Avant Garde Gothic"/>
                        </a:rPr>
                        <a:t>Sensitivity, specificity; χ²</a:t>
                      </a:r>
                    </a:p>
                  </a:txBody>
                  <a:tcPr>
                    <a:solidFill>
                      <a:srgbClr val="F8EAEA"/>
                    </a:solidFill>
                  </a:tcPr>
                </a:tc>
              </a:tr>
              <a:tr h="1188720">
                <a:tc>
                  <a:txBody>
                    <a:bodyPr/>
                    <a:lstStyle/>
                    <a:p>
                      <a:r>
                        <a:rPr sz="1200" b="0">
                          <a:solidFill>
                            <a:srgbClr val="8B0707"/>
                          </a:solidFill>
                          <a:latin typeface="ITC Avant Garde Gothic"/>
                        </a:rPr>
                        <a:t>S3–S4</a:t>
                      </a:r>
                    </a:p>
                  </a:txBody>
                  <a:tcPr>
                    <a:solidFill>
                      <a:srgbClr val="FFFFFF"/>
                    </a:solidFill>
                  </a:tcPr>
                </a:tc>
                <a:tc>
                  <a:txBody>
                    <a:bodyPr/>
                    <a:lstStyle/>
                    <a:p>
                      <a:r>
                        <a:rPr sz="1200" b="0">
                          <a:solidFill>
                            <a:srgbClr val="2B2020"/>
                          </a:solidFill>
                          <a:latin typeface="ITC Avant Garde Gothic"/>
                        </a:rPr>
                        <a:t>Doses; delivery; battery</a:t>
                      </a:r>
                    </a:p>
                  </a:txBody>
                  <a:tcPr>
                    <a:solidFill>
                      <a:srgbClr val="FFFFFF"/>
                    </a:solidFill>
                  </a:tcPr>
                </a:tc>
                <a:tc>
                  <a:txBody>
                    <a:bodyPr/>
                    <a:lstStyle/>
                    <a:p>
                      <a:r>
                        <a:rPr sz="1200" b="0">
                          <a:solidFill>
                            <a:srgbClr val="2B2020"/>
                          </a:solidFill>
                          <a:latin typeface="ITC Avant Garde Gothic"/>
                        </a:rPr>
                        <a:t>Percentages; mean ± SD</a:t>
                      </a:r>
                    </a:p>
                  </a:txBody>
                  <a:tcPr>
                    <a:solidFill>
                      <a:srgbClr val="FFFFFF"/>
                    </a:solidFill>
                  </a:tcPr>
                </a:tc>
              </a:tr>
              <a:tr h="1188720">
                <a:tc>
                  <a:txBody>
                    <a:bodyPr/>
                    <a:lstStyle/>
                    <a:p>
                      <a:r>
                        <a:rPr sz="1200" b="0">
                          <a:solidFill>
                            <a:srgbClr val="8B0707"/>
                          </a:solidFill>
                          <a:latin typeface="ITC Avant Garde Gothic"/>
                        </a:rPr>
                        <a:t>S5</a:t>
                      </a:r>
                    </a:p>
                  </a:txBody>
                  <a:tcPr>
                    <a:solidFill>
                      <a:srgbClr val="F8EAEA"/>
                    </a:solidFill>
                  </a:tcPr>
                </a:tc>
                <a:tc>
                  <a:txBody>
                    <a:bodyPr/>
                    <a:lstStyle/>
                    <a:p>
                      <a:r>
                        <a:rPr sz="1200" b="0">
                          <a:solidFill>
                            <a:srgbClr val="2B2020"/>
                          </a:solidFill>
                          <a:latin typeface="ITC Avant Garde Gothic"/>
                        </a:rPr>
                        <a:t>Usability</a:t>
                      </a:r>
                    </a:p>
                  </a:txBody>
                  <a:tcPr>
                    <a:solidFill>
                      <a:srgbClr val="F8EAEA"/>
                    </a:solidFill>
                  </a:tcPr>
                </a:tc>
                <a:tc>
                  <a:txBody>
                    <a:bodyPr/>
                    <a:lstStyle/>
                    <a:p>
                      <a:r>
                        <a:rPr sz="1200" b="0">
                          <a:solidFill>
                            <a:srgbClr val="2B2020"/>
                          </a:solidFill>
                          <a:latin typeface="ITC Avant Garde Gothic"/>
                        </a:rPr>
                        <a:t>SUS; one-sample t-test vs 68</a:t>
                      </a:r>
                    </a:p>
                  </a:txBody>
                  <a:tcPr>
                    <a:solidFill>
                      <a:srgbClr val="F8EAEA"/>
                    </a:solidFill>
                  </a:tcPr>
                </a:tc>
              </a:tr>
              <a:tr h="1188720">
                <a:tc>
                  <a:txBody>
                    <a:bodyPr/>
                    <a:lstStyle/>
                    <a:p>
                      <a:r>
                        <a:rPr sz="1200" b="0">
                          <a:solidFill>
                            <a:srgbClr val="8B0707"/>
                          </a:solidFill>
                          <a:latin typeface="ITC Avant Garde Gothic"/>
                        </a:rPr>
                        <a:t>S6</a:t>
                      </a:r>
                    </a:p>
                  </a:txBody>
                  <a:tcPr>
                    <a:solidFill>
                      <a:srgbClr val="FFFFFF"/>
                    </a:solidFill>
                  </a:tcPr>
                </a:tc>
                <a:tc>
                  <a:txBody>
                    <a:bodyPr/>
                    <a:lstStyle/>
                    <a:p>
                      <a:r>
                        <a:rPr sz="1200" b="0">
                          <a:solidFill>
                            <a:srgbClr val="2B2020"/>
                          </a:solidFill>
                          <a:latin typeface="ITC Avant Garde Gothic"/>
                        </a:rPr>
                        <a:t>Cost</a:t>
                      </a:r>
                    </a:p>
                  </a:txBody>
                  <a:tcPr>
                    <a:solidFill>
                      <a:srgbClr val="FFFFFF"/>
                    </a:solidFill>
                  </a:tcPr>
                </a:tc>
                <a:tc>
                  <a:txBody>
                    <a:bodyPr/>
                    <a:lstStyle/>
                    <a:p>
                      <a:r>
                        <a:rPr sz="1200" b="0">
                          <a:solidFill>
                            <a:srgbClr val="2B2020"/>
                          </a:solidFill>
                          <a:latin typeface="ITC Avant Garde Gothic"/>
                        </a:rPr>
                        <a:t>Comparison with Table 1</a:t>
                      </a:r>
                    </a:p>
                  </a:txBody>
                  <a:tcPr>
                    <a:solidFill>
                      <a:srgbClr val="FFFFFF"/>
                    </a:solidFill>
                  </a:tcPr>
                </a:tc>
              </a:tr>
            </a:tbl>
          </a:graphicData>
        </a:graphic>
      </p:graphicFrame>
      <p:sp>
        <p:nvSpPr>
          <p:cNvPr id="37" name="TextBox 36"/>
          <p:cNvSpPr txBox="1"/>
          <p:nvPr/>
        </p:nvSpPr>
        <p:spPr>
          <a:xfrm>
            <a:off x="9326880" y="8869680"/>
            <a:ext cx="8138160" cy="548640"/>
          </a:xfrm>
          <a:prstGeom prst="rect">
            <a:avLst/>
          </a:prstGeom>
          <a:noFill/>
        </p:spPr>
        <p:txBody>
          <a:bodyPr wrap="square" anchor="t">
            <a:spAutoFit/>
          </a:bodyPr>
          <a:lstStyle/>
          <a:p>
            <a:pPr algn="l">
              <a:spcAft>
                <a:spcPts val="630"/>
              </a:spcAft>
            </a:pPr>
            <a:r>
              <a:rPr sz="1400">
                <a:solidFill>
                  <a:srgbClr val="6A5656"/>
                </a:solidFill>
                <a:latin typeface="ITC Avant Garde Gothic"/>
              </a:rPr>
              <a:t>α = 0.05; software: Microsoft Excel and JASP.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104983" y="0"/>
            <a:ext cx="18497965" cy="10416667"/>
          </a:xfrm>
          <a:custGeom>
            <a:avLst/>
            <a:gdLst/>
            <a:ahLst/>
            <a:cxnLst/>
            <a:rect r="r" b="b" t="t" l="l"/>
            <a:pathLst>
              <a:path h="10416667" w="18497965">
                <a:moveTo>
                  <a:pt x="0" y="0"/>
                </a:moveTo>
                <a:lnTo>
                  <a:pt x="18497966" y="0"/>
                </a:lnTo>
                <a:lnTo>
                  <a:pt x="18497966" y="10416667"/>
                </a:lnTo>
                <a:lnTo>
                  <a:pt x="0" y="10416667"/>
                </a:lnTo>
                <a:lnTo>
                  <a:pt x="0" y="0"/>
                </a:lnTo>
                <a:close/>
              </a:path>
            </a:pathLst>
          </a:custGeom>
          <a:blipFill>
            <a:blip r:embed="rId2">
              <a:alphaModFix amt="26000"/>
            </a:blip>
            <a:stretch>
              <a:fillRect l="0" t="0" r="0" b="0"/>
            </a:stretch>
          </a:blipFill>
        </p:spPr>
      </p:sp>
      <p:grpSp>
        <p:nvGrpSpPr>
          <p:cNvPr name="Group 3" id="3"/>
          <p:cNvGrpSpPr/>
          <p:nvPr/>
        </p:nvGrpSpPr>
        <p:grpSpPr>
          <a:xfrm rot="0">
            <a:off x="-514350" y="-959494"/>
            <a:ext cx="19524889" cy="2664593"/>
            <a:chOff x="0" y="0"/>
            <a:chExt cx="5142358" cy="701786"/>
          </a:xfrm>
        </p:grpSpPr>
        <p:sp>
          <p:nvSpPr>
            <p:cNvPr name="Freeform 4" id="4"/>
            <p:cNvSpPr/>
            <p:nvPr/>
          </p:nvSpPr>
          <p:spPr>
            <a:xfrm flipH="false" flipV="false" rot="0">
              <a:off x="0" y="0"/>
              <a:ext cx="5142357" cy="701786"/>
            </a:xfrm>
            <a:custGeom>
              <a:avLst/>
              <a:gdLst/>
              <a:ahLst/>
              <a:cxnLst/>
              <a:rect r="r" b="b" t="t" l="l"/>
              <a:pathLst>
                <a:path h="701786" w="5142357">
                  <a:moveTo>
                    <a:pt x="0" y="0"/>
                  </a:moveTo>
                  <a:lnTo>
                    <a:pt x="5142357" y="0"/>
                  </a:lnTo>
                  <a:lnTo>
                    <a:pt x="5142357" y="701786"/>
                  </a:lnTo>
                  <a:lnTo>
                    <a:pt x="0" y="701786"/>
                  </a:lnTo>
                  <a:close/>
                </a:path>
              </a:pathLst>
            </a:custGeom>
            <a:solidFill>
              <a:srgbClr val="8B0707"/>
            </a:solidFill>
          </p:spPr>
        </p:sp>
        <p:sp>
          <p:nvSpPr>
            <p:cNvPr name="TextBox 5" id="5"/>
            <p:cNvSpPr txBox="true"/>
            <p:nvPr/>
          </p:nvSpPr>
          <p:spPr>
            <a:xfrm>
              <a:off x="0" y="-76200"/>
              <a:ext cx="5142358" cy="777986"/>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13886" y="324392"/>
            <a:ext cx="17376398" cy="1229762"/>
          </a:xfrm>
          <a:prstGeom prst="rect">
            <a:avLst/>
          </a:prstGeom>
        </p:spPr>
        <p:txBody>
          <a:bodyPr anchor="t" rtlCol="false" tIns="0" lIns="0" bIns="0" rIns="0">
            <a:spAutoFit/>
          </a:bodyPr>
          <a:lstStyle/>
          <a:p>
            <a:pPr algn="l">
              <a:lnSpc>
                <a:spcPts val="7720"/>
              </a:lnSpc>
            </a:pPr>
            <a:r>
              <a:rPr lang="en-US" sz="8579">
                <a:solidFill>
                  <a:srgbClr val="FFFFFF"/>
                </a:solidFill>
                <a:latin typeface="ITC Avant Garde Gothic"/>
                <a:ea typeface="ITC Avant Garde Gothic"/>
                <a:cs typeface="ITC Avant Garde Gothic"/>
                <a:sym typeface="ITC Avant Garde Gothic"/>
              </a:rPr>
              <a:t>METHODOLOGY</a:t>
            </a:r>
          </a:p>
        </p:txBody>
      </p:sp>
      <p:sp>
        <p:nvSpPr>
          <p:cNvPr id="21" name="Subtitle"/>
          <p:cNvSpPr txBox="1"/>
          <p:nvPr/>
        </p:nvSpPr>
        <p:spPr>
          <a:xfrm>
            <a:off x="9509760" y="475488"/>
            <a:ext cx="8366760" cy="731520"/>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2600" dirty="0">
                <a:solidFill>
                  <a:srgbClr val="FFFFFF">
                    <a:alpha val="92000"/>
                  </a:srgbClr>
                </a:solidFill>
                <a:latin typeface="ITC Avant Garde Gothic"/>
                <a:ea typeface="ITC Avant Garde Gothic"/>
                <a:cs typeface="ITC Avant Garde Gothic"/>
                <a:sym typeface="ITC Avant Garde Gothic"/>
              </a:rPr>
              <a:t>Ethical Considerations and Safety</a:t>
            </a:r>
            <a:endParaRPr lang="en-US" sz="2600" dirty="0">
              <a:latin typeface="ITC Avant Garde Gothic"/>
            </a:endParaRPr>
          </a:p>
        </p:txBody>
      </p:sp>
      <p:sp>
        <p:nvSpPr>
          <p:cNvPr id="22" name="Slide number"/>
          <p:cNvSpPr txBox="1"/>
          <p:nvPr/>
        </p:nvSpPr>
        <p:spPr>
          <a:xfrm>
            <a:off x="17007840" y="9710928"/>
            <a:ext cx="914400" cy="384048"/>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1600" dirty="0">
                <a:solidFill>
                  <a:srgbClr val="8B0707">
                    <a:alpha val="75000"/>
                  </a:srgbClr>
                </a:solidFill>
                <a:latin typeface="ITC Avant Garde Gothic"/>
                <a:ea typeface="ITC Avant Garde Gothic"/>
                <a:cs typeface="ITC Avant Garde Gothic"/>
                <a:sym typeface="ITC Avant Garde Gothic"/>
              </a:rPr>
              <a:t>15</a:t>
            </a:r>
            <a:endParaRPr lang="en-US" sz="1600" dirty="0">
              <a:latin typeface="ITC Avant Garde Gothic"/>
            </a:endParaRPr>
          </a:p>
        </p:txBody>
      </p:sp>
      <p:sp>
        <p:nvSpPr>
          <p:cNvPr id="23" name="Rectangle 22"/>
          <p:cNvSpPr/>
          <p:nvPr/>
        </p:nvSpPr>
        <p:spPr>
          <a:xfrm>
            <a:off x="822960" y="2103120"/>
            <a:ext cx="16642080" cy="7406640"/>
          </a:xfrm>
          <a:prstGeom prst="rect">
            <a:avLst/>
          </a:prstGeom>
          <a:solidFill>
            <a:srgbClr val="FFFFFF"/>
          </a:solidFill>
          <a:ln w="12700">
            <a:solidFill>
              <a:srgbClr val="E3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80160" y="2377440"/>
            <a:ext cx="7680960" cy="6949440"/>
          </a:xfrm>
          <a:prstGeom prst="rect">
            <a:avLst/>
          </a:prstGeom>
          <a:noFill/>
        </p:spPr>
        <p:txBody>
          <a:bodyPr wrap="square" anchor="t">
            <a:spAutoFit/>
          </a:bodyPr>
          <a:lstStyle/>
          <a:p>
            <a:pPr algn="l">
              <a:spcAft>
                <a:spcPts val="765"/>
              </a:spcAft>
            </a:pPr>
            <a:r>
              <a:rPr b="1" sz="1700">
                <a:solidFill>
                  <a:srgbClr val="8B0707"/>
                </a:solidFill>
                <a:latin typeface="ITC Avant Garde Gothic"/>
              </a:rPr>
              <a:t>Ethics.</a:t>
            </a:r>
            <a:r>
              <a:rPr sz="1700" b="0">
                <a:solidFill>
                  <a:srgbClr val="2B2020"/>
                </a:solidFill>
                <a:latin typeface="ITC Avant Garde Gothic"/>
              </a:rPr>
              <a:t/>
            </a:r>
          </a:p>
          <a:p>
            <a:pPr algn="l">
              <a:spcAft>
                <a:spcPts val="765"/>
              </a:spcAft>
            </a:pPr>
            <a:r>
              <a:rPr sz="1700" b="0">
                <a:solidFill>
                  <a:srgbClr val="2B2020"/>
                </a:solidFill>
                <a:latin typeface="ITC Avant Garde Gothic"/>
              </a:rPr>
              <a:t>IRB approval first; consent and assent from every participant (ISEF Form 4).</a:t>
            </a:r>
          </a:p>
          <a:p>
            <a:pPr algn="l">
              <a:spcAft>
                <a:spcPts val="765"/>
              </a:spcAft>
            </a:pPr>
            <a:r>
              <a:rPr sz="1700" b="0">
                <a:solidFill>
                  <a:srgbClr val="2B2020"/>
                </a:solidFill>
                <a:latin typeface="ITC Avant Garde Gothic"/>
              </a:rPr>
              <a:t>Non-invasive checks only; placebo candy tablets; no real medicine given.</a:t>
            </a:r>
          </a:p>
          <a:p>
            <a:pPr algn="l">
              <a:spcAft>
                <a:spcPts val="765"/>
              </a:spcAft>
            </a:pPr>
            <a:r>
              <a:rPr sz="1700" b="0">
                <a:solidFill>
                  <a:srgbClr val="2B2020"/>
                </a:solidFill>
                <a:latin typeface="ITC Avant Garde Gothic"/>
              </a:rPr>
              <a:t>Falls simulated only by researchers on 20-cm mats, with pads and supervision.</a:t>
            </a:r>
          </a:p>
          <a:p>
            <a:pPr algn="l">
              <a:spcAft>
                <a:spcPts val="765"/>
              </a:spcAft>
            </a:pPr>
            <a:r>
              <a:rPr sz="1700" b="0">
                <a:solidFill>
                  <a:srgbClr val="2B2020"/>
                </a:solidFill>
                <a:latin typeface="ITC Avant Garde Gothic"/>
              </a:rPr>
              <a:t>Private Firebase account; coded ids; data deleted after the fair (RA 10173).</a:t>
            </a:r>
          </a:p>
        </p:txBody>
      </p:sp>
      <p:cxnSp>
        <p:nvCxnSpPr>
          <p:cNvPr id="25" name="Connector 24"/>
          <p:cNvCxnSpPr/>
          <p:nvPr/>
        </p:nvCxnSpPr>
        <p:spPr>
          <a:xfrm>
            <a:off x="9144000" y="2468880"/>
            <a:ext cx="0" cy="6675120"/>
          </a:xfrm>
          <a:prstGeom prst="line">
            <a:avLst/>
          </a:prstGeom>
          <a:ln>
            <a:solidFill>
              <a:srgbClr val="E3C9C9"/>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418320" y="2377440"/>
            <a:ext cx="7680960" cy="6949440"/>
          </a:xfrm>
          <a:prstGeom prst="rect">
            <a:avLst/>
          </a:prstGeom>
          <a:noFill/>
        </p:spPr>
        <p:txBody>
          <a:bodyPr wrap="square" anchor="t">
            <a:spAutoFit/>
          </a:bodyPr>
          <a:lstStyle/>
          <a:p>
            <a:pPr algn="l">
              <a:spcAft>
                <a:spcPts val="765"/>
              </a:spcAft>
            </a:pPr>
            <a:r>
              <a:rPr b="1" sz="1700">
                <a:solidFill>
                  <a:srgbClr val="8B0707"/>
                </a:solidFill>
                <a:latin typeface="ITC Avant Garde Gothic"/>
              </a:rPr>
              <a:t>Risk and safety.</a:t>
            </a:r>
            <a:r>
              <a:rPr sz="1700" b="0">
                <a:solidFill>
                  <a:srgbClr val="2B2020"/>
                </a:solidFill>
                <a:latin typeface="ITC Avant Garde Gothic"/>
              </a:rPr>
              <a:t/>
            </a:r>
          </a:p>
          <a:p>
            <a:pPr algn="l">
              <a:spcAft>
                <a:spcPts val="765"/>
              </a:spcAft>
            </a:pPr>
            <a:r>
              <a:rPr sz="1700" b="0">
                <a:solidFill>
                  <a:srgbClr val="2B2020"/>
                </a:solidFill>
                <a:latin typeface="ITC Avant Garde Gothic"/>
              </a:rPr>
              <a:t>LiPo battery: protected USB-C charger; no puncture or heat.</a:t>
            </a:r>
          </a:p>
          <a:p>
            <a:pPr algn="l">
              <a:spcAft>
                <a:spcPts val="765"/>
              </a:spcAft>
            </a:pPr>
            <a:r>
              <a:rPr sz="1700" b="0">
                <a:solidFill>
                  <a:srgbClr val="2B2020"/>
                </a:solidFill>
                <a:latin typeface="ITC Avant Garde Gothic"/>
              </a:rPr>
              <a:t>3D printer and soldering: adult supervision and ventilation.</a:t>
            </a:r>
          </a:p>
          <a:p>
            <a:pPr algn="l">
              <a:spcAft>
                <a:spcPts val="765"/>
              </a:spcAft>
            </a:pPr>
            <a:r>
              <a:rPr sz="1700" b="0">
                <a:solidFill>
                  <a:srgbClr val="2B2020"/>
                </a:solidFill>
                <a:latin typeface="ITC Avant Garde Gothic"/>
              </a:rPr>
              <a:t>Neck cord: breakaway clasp to prevent choking or strangling.</a:t>
            </a:r>
          </a:p>
          <a:p>
            <a:pPr algn="l">
              <a:spcAft>
                <a:spcPts val="765"/>
              </a:spcAft>
            </a:pPr>
            <a:r>
              <a:rPr sz="1700" b="0">
                <a:solidFill>
                  <a:srgbClr val="2B2020"/>
                </a:solidFill>
                <a:latin typeface="ITC Avant Garde Gothic"/>
              </a:rPr>
              <a:t>Shared sensors: wiped with 70% alcohol between participants.</a:t>
            </a:r>
          </a:p>
          <a:p>
            <a:pPr algn="l">
              <a:spcAft>
                <a:spcPts val="765"/>
              </a:spcAft>
            </a:pPr>
            <a:r>
              <a:rPr sz="1700" b="0">
                <a:solidFill>
                  <a:srgbClr val="2B2020"/>
                </a:solidFill>
                <a:latin typeface="ITC Avant Garde Gothic"/>
              </a:rPr>
              <a:t>No data were fabricated; all sources cited in APA 7th edition.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8B0707"/>
        </a:solidFill>
      </p:bgPr>
    </p:bg>
    <p:spTree>
      <p:nvGrpSpPr>
        <p:cNvPr id="1" name=""/>
        <p:cNvGrpSpPr/>
        <p:nvPr/>
      </p:nvGrpSpPr>
      <p:grpSpPr>
        <a:xfrm>
          <a:off x="0" y="0"/>
          <a:ext cx="0" cy="0"/>
          <a:chOff x="0" y="0"/>
          <a:chExt cx="0" cy="0"/>
        </a:xfrm>
      </p:grpSpPr>
      <p:sp>
        <p:nvSpPr>
          <p:cNvPr name="Freeform 2" id="2"/>
          <p:cNvSpPr/>
          <p:nvPr/>
        </p:nvSpPr>
        <p:spPr>
          <a:xfrm flipH="false" flipV="true" rot="0">
            <a:off x="-308939" y="-440152"/>
            <a:ext cx="3942365" cy="3942365"/>
          </a:xfrm>
          <a:custGeom>
            <a:avLst/>
            <a:gdLst/>
            <a:ahLst/>
            <a:cxnLst/>
            <a:rect r="r" b="b" t="t" l="l"/>
            <a:pathLst>
              <a:path h="3942365" w="3942365">
                <a:moveTo>
                  <a:pt x="0" y="3942365"/>
                </a:moveTo>
                <a:lnTo>
                  <a:pt x="3942365" y="3942365"/>
                </a:lnTo>
                <a:lnTo>
                  <a:pt x="3942365" y="0"/>
                </a:lnTo>
                <a:lnTo>
                  <a:pt x="0" y="0"/>
                </a:lnTo>
                <a:lnTo>
                  <a:pt x="0" y="394236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71600" y="3089694"/>
            <a:ext cx="15544800" cy="4250486"/>
          </a:xfrm>
          <a:prstGeom prst="rect">
            <a:avLst/>
          </a:prstGeom>
        </p:spPr>
        <p:txBody>
          <a:bodyPr anchor="t" rtlCol="false" tIns="0" lIns="0" bIns="0" rIns="0">
            <a:spAutoFit/>
          </a:bodyPr>
          <a:lstStyle/>
          <a:p>
            <a:pPr algn="ctr">
              <a:lnSpc>
                <a:spcPts val="14833"/>
              </a:lnSpc>
            </a:pPr>
            <a:r>
              <a:rPr lang="en-US" sz="16481">
                <a:solidFill>
                  <a:srgbClr val="FFFFFF"/>
                </a:solidFill>
                <a:latin typeface="ITC Avant Garde Gothic"/>
                <a:ea typeface="ITC Avant Garde Gothic"/>
                <a:cs typeface="ITC Avant Garde Gothic"/>
                <a:sym typeface="ITC Avant Garde Gothic"/>
              </a:rPr>
              <a:t>QUESTIONS</a:t>
            </a:r>
          </a:p>
          <a:p>
            <a:pPr algn="ctr">
              <a:lnSpc>
                <a:spcPts val="14833"/>
              </a:lnSpc>
            </a:pPr>
            <a:r>
              <a:rPr lang="en-US" sz="16481">
                <a:solidFill>
                  <a:srgbClr val="FFFFFF"/>
                </a:solidFill>
                <a:latin typeface="ITC Avant Garde Gothic"/>
                <a:ea typeface="ITC Avant Garde Gothic"/>
                <a:cs typeface="ITC Avant Garde Gothic"/>
                <a:sym typeface="ITC Avant Garde Gothic"/>
              </a:rPr>
              <a:t>&amp; ANSWERS</a:t>
            </a:r>
          </a:p>
        </p:txBody>
      </p:sp>
      <p:sp>
        <p:nvSpPr>
          <p:cNvPr name="Freeform 4" id="4"/>
          <p:cNvSpPr/>
          <p:nvPr/>
        </p:nvSpPr>
        <p:spPr>
          <a:xfrm flipH="true" flipV="false" rot="0">
            <a:off x="15910979" y="7909979"/>
            <a:ext cx="2696641" cy="2696641"/>
          </a:xfrm>
          <a:custGeom>
            <a:avLst/>
            <a:gdLst/>
            <a:ahLst/>
            <a:cxnLst/>
            <a:rect r="r" b="b" t="t" l="l"/>
            <a:pathLst>
              <a:path h="2696641" w="2696641">
                <a:moveTo>
                  <a:pt x="2696642" y="0"/>
                </a:moveTo>
                <a:lnTo>
                  <a:pt x="0" y="0"/>
                </a:lnTo>
                <a:lnTo>
                  <a:pt x="0" y="2696642"/>
                </a:lnTo>
                <a:lnTo>
                  <a:pt x="2696642" y="2696642"/>
                </a:lnTo>
                <a:lnTo>
                  <a:pt x="269664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4983" y="0"/>
            <a:ext cx="18497965" cy="10416667"/>
          </a:xfrm>
          <a:custGeom>
            <a:avLst/>
            <a:gdLst/>
            <a:ahLst/>
            <a:cxnLst/>
            <a:rect r="r" b="b" t="t" l="l"/>
            <a:pathLst>
              <a:path h="10416667" w="18497965">
                <a:moveTo>
                  <a:pt x="0" y="0"/>
                </a:moveTo>
                <a:lnTo>
                  <a:pt x="18497966" y="0"/>
                </a:lnTo>
                <a:lnTo>
                  <a:pt x="18497966" y="10416667"/>
                </a:lnTo>
                <a:lnTo>
                  <a:pt x="0" y="10416667"/>
                </a:lnTo>
                <a:lnTo>
                  <a:pt x="0" y="0"/>
                </a:lnTo>
                <a:close/>
              </a:path>
            </a:pathLst>
          </a:custGeom>
          <a:blipFill>
            <a:blip r:embed="rId4">
              <a:alphaModFix amt="26000"/>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8B0707"/>
        </a:solidFill>
      </p:bgPr>
    </p:bg>
    <p:spTree>
      <p:nvGrpSpPr>
        <p:cNvPr id="1" name=""/>
        <p:cNvGrpSpPr/>
        <p:nvPr/>
      </p:nvGrpSpPr>
      <p:grpSpPr>
        <a:xfrm>
          <a:off x="0" y="0"/>
          <a:ext cx="0" cy="0"/>
          <a:chOff x="0" y="0"/>
          <a:chExt cx="0" cy="0"/>
        </a:xfrm>
      </p:grpSpPr>
      <p:sp>
        <p:nvSpPr>
          <p:cNvPr name="Freeform 2" id="2"/>
          <p:cNvSpPr/>
          <p:nvPr/>
        </p:nvSpPr>
        <p:spPr>
          <a:xfrm flipH="false" flipV="true" rot="0">
            <a:off x="-308939" y="-440152"/>
            <a:ext cx="3942365" cy="3942365"/>
          </a:xfrm>
          <a:custGeom>
            <a:avLst/>
            <a:gdLst/>
            <a:ahLst/>
            <a:cxnLst/>
            <a:rect r="r" b="b" t="t" l="l"/>
            <a:pathLst>
              <a:path h="3942365" w="3942365">
                <a:moveTo>
                  <a:pt x="0" y="3942365"/>
                </a:moveTo>
                <a:lnTo>
                  <a:pt x="3942365" y="3942365"/>
                </a:lnTo>
                <a:lnTo>
                  <a:pt x="3942365" y="0"/>
                </a:lnTo>
                <a:lnTo>
                  <a:pt x="0" y="0"/>
                </a:lnTo>
                <a:lnTo>
                  <a:pt x="0" y="394236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691817" y="4031050"/>
            <a:ext cx="12904366" cy="2367775"/>
          </a:xfrm>
          <a:prstGeom prst="rect">
            <a:avLst/>
          </a:prstGeom>
        </p:spPr>
        <p:txBody>
          <a:bodyPr anchor="t" rtlCol="false" tIns="0" lIns="0" bIns="0" rIns="0">
            <a:spAutoFit/>
          </a:bodyPr>
          <a:lstStyle/>
          <a:p>
            <a:pPr algn="ctr">
              <a:lnSpc>
                <a:spcPts val="14833"/>
              </a:lnSpc>
            </a:pPr>
            <a:r>
              <a:rPr lang="en-US" sz="16481">
                <a:solidFill>
                  <a:srgbClr val="FFFFFF"/>
                </a:solidFill>
                <a:latin typeface="ITC Avant Garde Gothic"/>
                <a:ea typeface="ITC Avant Garde Gothic"/>
                <a:cs typeface="ITC Avant Garde Gothic"/>
                <a:sym typeface="ITC Avant Garde Gothic"/>
              </a:rPr>
              <a:t>THANK YOU</a:t>
            </a:r>
          </a:p>
        </p:txBody>
      </p:sp>
      <p:sp>
        <p:nvSpPr>
          <p:cNvPr name="Freeform 4" id="4"/>
          <p:cNvSpPr/>
          <p:nvPr/>
        </p:nvSpPr>
        <p:spPr>
          <a:xfrm flipH="true" flipV="false" rot="0">
            <a:off x="15910979" y="7909979"/>
            <a:ext cx="2696641" cy="2696641"/>
          </a:xfrm>
          <a:custGeom>
            <a:avLst/>
            <a:gdLst/>
            <a:ahLst/>
            <a:cxnLst/>
            <a:rect r="r" b="b" t="t" l="l"/>
            <a:pathLst>
              <a:path h="2696641" w="2696641">
                <a:moveTo>
                  <a:pt x="2696642" y="0"/>
                </a:moveTo>
                <a:lnTo>
                  <a:pt x="0" y="0"/>
                </a:lnTo>
                <a:lnTo>
                  <a:pt x="0" y="2696642"/>
                </a:lnTo>
                <a:lnTo>
                  <a:pt x="2696642" y="2696642"/>
                </a:lnTo>
                <a:lnTo>
                  <a:pt x="269664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5486400" y="7677223"/>
            <a:ext cx="7315200" cy="465513"/>
          </a:xfrm>
          <a:custGeom>
            <a:avLst/>
            <a:gdLst/>
            <a:ahLst/>
            <a:cxnLst/>
            <a:rect r="r" b="b" t="t" l="l"/>
            <a:pathLst>
              <a:path h="465513" w="7315200">
                <a:moveTo>
                  <a:pt x="0" y="0"/>
                </a:moveTo>
                <a:lnTo>
                  <a:pt x="7315200" y="0"/>
                </a:lnTo>
                <a:lnTo>
                  <a:pt x="7315200" y="465513"/>
                </a:lnTo>
                <a:lnTo>
                  <a:pt x="0" y="4655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7534466" y="-2049686"/>
            <a:ext cx="3219068" cy="3219068"/>
          </a:xfrm>
          <a:custGeom>
            <a:avLst/>
            <a:gdLst/>
            <a:ahLst/>
            <a:cxnLst/>
            <a:rect r="r" b="b" t="t" l="l"/>
            <a:pathLst>
              <a:path h="3219068" w="3219068">
                <a:moveTo>
                  <a:pt x="0" y="0"/>
                </a:moveTo>
                <a:lnTo>
                  <a:pt x="3219068" y="0"/>
                </a:lnTo>
                <a:lnTo>
                  <a:pt x="3219068" y="3219068"/>
                </a:lnTo>
                <a:lnTo>
                  <a:pt x="0" y="3219068"/>
                </a:lnTo>
                <a:lnTo>
                  <a:pt x="0" y="0"/>
                </a:lnTo>
                <a:close/>
              </a:path>
            </a:pathLst>
          </a:custGeom>
          <a:blipFill>
            <a:blip r:embed="rId6">
              <a:alphaModFix amt="24000"/>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37818" y="7909979"/>
            <a:ext cx="3219068" cy="3219068"/>
          </a:xfrm>
          <a:custGeom>
            <a:avLst/>
            <a:gdLst/>
            <a:ahLst/>
            <a:cxnLst/>
            <a:rect r="r" b="b" t="t" l="l"/>
            <a:pathLst>
              <a:path h="3219068" w="3219068">
                <a:moveTo>
                  <a:pt x="0" y="0"/>
                </a:moveTo>
                <a:lnTo>
                  <a:pt x="3219068" y="0"/>
                </a:lnTo>
                <a:lnTo>
                  <a:pt x="3219068" y="3219069"/>
                </a:lnTo>
                <a:lnTo>
                  <a:pt x="0" y="3219069"/>
                </a:lnTo>
                <a:lnTo>
                  <a:pt x="0" y="0"/>
                </a:lnTo>
                <a:close/>
              </a:path>
            </a:pathLst>
          </a:custGeom>
          <a:blipFill>
            <a:blip r:embed="rId6">
              <a:alphaModFix amt="24000"/>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04983" y="0"/>
            <a:ext cx="18497965" cy="10416667"/>
          </a:xfrm>
          <a:custGeom>
            <a:avLst/>
            <a:gdLst/>
            <a:ahLst/>
            <a:cxnLst/>
            <a:rect r="r" b="b" t="t" l="l"/>
            <a:pathLst>
              <a:path h="10416667" w="18497965">
                <a:moveTo>
                  <a:pt x="0" y="0"/>
                </a:moveTo>
                <a:lnTo>
                  <a:pt x="18497966" y="0"/>
                </a:lnTo>
                <a:lnTo>
                  <a:pt x="18497966" y="10416667"/>
                </a:lnTo>
                <a:lnTo>
                  <a:pt x="0" y="10416667"/>
                </a:lnTo>
                <a:lnTo>
                  <a:pt x="0" y="0"/>
                </a:lnTo>
                <a:close/>
              </a:path>
            </a:pathLst>
          </a:custGeom>
          <a:blipFill>
            <a:blip r:embed="rId8">
              <a:alphaModFix amt="26000"/>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DAHXUrdeoSg</dc:identifier>
  <dcterms:modified xsi:type="dcterms:W3CDTF">2011-08-01T06:04:30Z</dcterms:modified>
  <cp:revision>1</cp:revision>
  <dc:title>KALINGA: A Low-Cost Baymax-Inspired Wearable Health Pendant with Vital-Sign Checks, Fall Alerts, Timed Pill Dispensing, and a Family Monitoring App</dc:title>
  <dc:creator>Brimbuela, P. J. A.; De Asis, D. J. Ll.; Shin, Y.</dc:creator>
  <dc:subject>Practical Research 2 proposal defense, Legazpi City Science High School</dc:subject>
  <cp:keywords>Albay; informal public transport; accessibility; GTFS; hospital bed capacity</cp:keywords>
  <cp:lastModifiedBy>Brimbuela, De Asis, Shin</cp:lastModifiedBy>
</cp:coreProperties>
</file>